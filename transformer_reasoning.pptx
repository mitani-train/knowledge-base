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本日は、Transformerが次の単語予測というシンプルなタスクしか学習していないにもかかわらず、なぜ推論しているかのような振る舞いを見せるのか、その理由を数式抜きで直感的に理解していきます。この問いを最後まで意識しながら聞いてくださ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まず全体を1枚で見てみましょう。文章が入り、内部でいくつかの変換が行われ、最後に次に来そうな単語の確率が出力されます。真ん中の内部処理の箱の中身を、これから順番に開けていきます。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コンピュータは文字をそのまま理解できないので、まず文章を単語や部分文字列の単位、トークンに分割します。これが処理の最初の入り口です。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各トークンIDは、まず数値のベクトル、Embeddingに変換されます。ここで注意したいのは、学習を始めた時点では、このベクトルはランダムな値だということです。最初から意味を持っているわけではありません。しかし、次の単語を予測するという学習を何度も繰り返す中で、一緒に使われやすい単語、意味が近い単語ほど、ベクトル空間の中で自然に近い位置へ移動していきます。つまり、意味イコール位置という関係は、最初からあるのではなく、学習によって後から作られるのです。この空間上の距離が、次に説明するAttentionで使われ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K・Vは、Embeddingベクトルからどうやって作られるのでしょうか。答えはシンプルで、同じEmbeddingベクトルを、3種類の異なる重み行列、WQ、WK、WVを使ってそれぞれ変換します。同じ入力を3つの異なるものさしで変換することで、質問を表すQ、見出しを表すK、中身を表すVという、3つの異なる特徴空間への射影が得られます。つまり、QもKもVも元をたどれば同じEmbeddingですが、それぞれ違う目的のために形を変えたベクトルだということです。この後のAttentionでは、このQとKが使われ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こがTransformerの中で最も重要な考え方です。前のSTEPで、各単語はQ・K・Vという3つのベクトルを持つようになりました。ポイントは、ある単語のQが、自分以外を含めた全ての単語のKと、内積という計算で比較されるという点です。内積は、2つのベクトルがどれだけ似た方向を向いているかを数値にする計算で、値が大きいほど関連が強いと考えてください。例えば「猫・公園・走る」という3つの単語があるとします。それぞれの単語のQを、猫のK、公園のK、走るのK、すべてと内積で見比べます。これを全単語分行うと、誰が誰をどれだけ参照しているかを表す表、Attention Matrixができあがります。例えば「走る」のQに注目すると、誰が走っているかを知るために「猫」のKと強く関連し、どこで走っているかを知るために「公園」のKともある程度関連します。この行の関連度にSoftmaxを適用すると、猫55%、公園35%、走る自身10%というように、合計100%の割合に変換されます。これが、その単語が他のどの単語をどれだけ参照するか、という重みになります。全ての単語がこれを同時に行う、つまり全単語が全単語を見るという点が、Self-Attentionの核心であり、この後のAttention MatrixやMulti-Head Attentionの理解に直結します。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lti-Headと聞くと、Attentionの結果を単に増やしているようなイメージを持たれるかもしれませんが、そうではありません。ここで一番大事なのは、Head1、Head2、Head3が、それぞれ異なる重み、WQ・WK・WVを持っているという点です。重みが異なれば、同じEmbeddingから出発しても、計算されるQ・K・Vの値そのものが変わります。その結果、どの単語に強く注目するか、つまりAttentionの計算結果も、Headごとに変わってきます。重みが違う、だから注目する箇所が違う、だから違った特徴が得られる、という因果関係がMulti-Headの肝です。それぞれのHeadの出力をConcat、つまり結合し、最後にLinearという変換をかけて1つにまとめます。なお、各Headが実際にどんな役割を持つか、例えば文法的な係り受けなのか、意味的な関連なのか、指示語の参照なのかは、人間が設計しているわけではなく、学習を繰り返す中で結果として自然に分化していくことが知られてい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Multi-Head Attentionの出力が、次にどう処理されるかを見ていきます。まず、元の情報を残しつつ新しい情報を足すResidualという仕組みを通り、その後、数値のばらつきを整えて安定させるLayerNormを通ります。次にFFN、つまり特徴を組み合わせて新しい特徴を作る処理を通り、もう一度ResidualとLayerNormを経ます。ここまでの一連の処理をひとまとめにしたものが、Transformer Blockと呼ばれる1つの単位です。そして、Transformerの「層」とは、実はこのBlockをN回、何十回も積み重ねたものなのです。層という言葉だけを聞くと抽象的に感じますが、実態はこのBlockの繰り返しだと考えると分かりやすいと思い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FNが、なぜ情報を抽象化できるのかを見ていきます。まず、ベクトルの次元を、例えば768次元から3072次元へと大きく広げます。次元を増やすことで、それまで1つにまとまっていた特徴を、より細かく分離して表現できるようになります。次に、活性化関数と線形変換を組み合わせて、これらの特徴の重みづけを行います。ここでのポイントは、不要なデータを消すのではなく、重要な特徴の値を強調し、重要でない特徴の影響を小さく弱める、という点です。すべての特徴はまだ残っています。最後に、この広げたベクトルを、再び元の768次元に圧縮します。これにより、文脈を反映した、より抽象的な意味表現が得られます。例えば、bankという単語の特徴も、周囲にriverがあれば川岸、moneyがあれば銀行という特徴が強調され、より具体的で抽象的な意味に仕上がっていき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先ほど説明した、Transformer Blockを、実際には何十個も積み重ねます。これが「層」の正体です。Blockを繰り返すたびに、単語の意味だけでなく、文法構造、さらには文章全体の意図といった、より抽象的な情報が捉えられるようになり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最後に、これまでの処理を経た情報をもとに、語彙の中のどの単語が次に来そうかの確率を計算します。一番高い確率の単語、あるいはそれに近いものが出力されます。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この学習には、人手でラベルを付ける必要がありません。文章そのものの次の単語が正解になるからです。だから膨大な文章データを使って学習できます。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予測が正解とどれくらいズレているかを測り、そのズレを減らす方向にモデル内部の数値を少しずつ調整します。これを何億回も繰り返すのが学習です。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次の単語を当てるというタスクは、実は単純ではありません。正しく当てるには、文の文法だけでなく、話の流れ、登場人物の関係、常識、時には論理的な整合性まで理解する必要があります。単なる丸暗記では、多様な文脈すべてに対応できません。</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モデルは推論のアルゴリズムを学習したわけではありません。学習したのは、あくまで次の単語を当て続けるという一点だけです。しかし、それを極めるためには、結果的に文法、世界に関する知識、常識、そして論理的な一貫性といったものを、内部の表現として獲得せざるを得ませんでした。膨大な文章でこれを繰り返した結果、それらが組み合わさり、あたかも推論しているかのように見える振る舞いが、副産物として現れます。これが、Transformerが推論できるように見える理由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学習は、モデルの中身、パラメータを作る一度きりの作業です。一方、私たちが普段使っている推論は、その完成したパラメータを使って、次の単語予測を繰り返しているだけです。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kenize、Embedding、Attentionで文脈を集め、層を重ねて抽象化し、次単語を予測する。これだけの仕組みですが、正確な予測のために言語や常識の構造を内部に取り込んだ結果、推論のような振る舞いが生まれます。以上で本日の講義を終わり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548640" y="640080"/>
            <a:ext cx="7315200" cy="320040"/>
          </a:xfrm>
          <a:prstGeom prst="rect">
            <a:avLst/>
          </a:prstGeom>
          <a:noFill/>
          <a:ln/>
        </p:spPr>
        <p:txBody>
          <a:bodyPr wrap="square" rtlCol="0" anchor="ctr"/>
          <a:lstStyle/>
          <a:p>
            <a:pPr indent="0" marL="0">
              <a:buNone/>
            </a:pPr>
            <a:r>
              <a:rPr lang="en-US" sz="1300" b="1" spc="300" kern="0" dirty="0">
                <a:solidFill>
                  <a:srgbClr val="CADCFC"/>
                </a:solidFill>
                <a:latin typeface="Calibri" pitchFamily="34" charset="0"/>
                <a:ea typeface="Calibri" pitchFamily="34" charset="-122"/>
                <a:cs typeface="Calibri" pitchFamily="34" charset="-120"/>
              </a:rPr>
              <a:t>TRANSFORMER LECTURE</a:t>
            </a:r>
            <a:endParaRPr lang="en-US" sz="1300" dirty="0"/>
          </a:p>
        </p:txBody>
      </p:sp>
      <p:sp>
        <p:nvSpPr>
          <p:cNvPr id="3" name="Text 1"/>
          <p:cNvSpPr/>
          <p:nvPr/>
        </p:nvSpPr>
        <p:spPr>
          <a:xfrm>
            <a:off x="548640" y="1051560"/>
            <a:ext cx="8046720" cy="1554480"/>
          </a:xfrm>
          <a:prstGeom prst="rect">
            <a:avLst/>
          </a:prstGeom>
          <a:noFill/>
          <a:ln/>
        </p:spPr>
        <p:txBody>
          <a:bodyPr wrap="square" rtlCol="0" anchor="ctr"/>
          <a:lstStyle/>
          <a:p>
            <a:pPr indent="0" marL="0">
              <a:lnSpc>
                <a:spcPct val="115000"/>
              </a:lnSpc>
              <a:buNone/>
            </a:pPr>
            <a:r>
              <a:rPr lang="en-US" sz="3800" b="1" dirty="0">
                <a:solidFill>
                  <a:srgbClr val="FFFFFF"/>
                </a:solidFill>
                <a:latin typeface="Cambria" pitchFamily="34" charset="0"/>
                <a:ea typeface="Cambria" pitchFamily="34" charset="-122"/>
                <a:cs typeface="Cambria" pitchFamily="34" charset="-120"/>
              </a:rPr>
              <a:t>Transformerは</a:t>
            </a:r>
            <a:endParaRPr lang="en-US" sz="3800" dirty="0"/>
          </a:p>
          <a:p>
            <a:pPr indent="0" marL="0">
              <a:lnSpc>
                <a:spcPct val="115000"/>
              </a:lnSpc>
              <a:buNone/>
            </a:pPr>
            <a:r>
              <a:rPr lang="en-US" sz="3800" b="1" dirty="0">
                <a:solidFill>
                  <a:srgbClr val="FFFFFF"/>
                </a:solidFill>
                <a:latin typeface="Cambria" pitchFamily="34" charset="0"/>
                <a:ea typeface="Cambria" pitchFamily="34" charset="-122"/>
                <a:cs typeface="Cambria" pitchFamily="34" charset="-120"/>
              </a:rPr>
              <a:t>なぜ推論できるのか</a:t>
            </a:r>
            <a:endParaRPr lang="en-US" sz="3800" dirty="0"/>
          </a:p>
        </p:txBody>
      </p:sp>
      <p:sp>
        <p:nvSpPr>
          <p:cNvPr id="4" name="Shape 2"/>
          <p:cNvSpPr/>
          <p:nvPr/>
        </p:nvSpPr>
        <p:spPr>
          <a:xfrm>
            <a:off x="548640" y="2788920"/>
            <a:ext cx="8046720" cy="1417320"/>
          </a:xfrm>
          <a:prstGeom prst="roundRect">
            <a:avLst>
              <a:gd name="adj" fmla="val 5161"/>
            </a:avLst>
          </a:prstGeom>
          <a:solidFill>
            <a:srgbClr val="273572"/>
          </a:solidFill>
          <a:ln/>
        </p:spPr>
      </p:sp>
      <p:sp>
        <p:nvSpPr>
          <p:cNvPr id="5" name="Shape 3"/>
          <p:cNvSpPr/>
          <p:nvPr/>
        </p:nvSpPr>
        <p:spPr>
          <a:xfrm>
            <a:off x="868680" y="3063240"/>
            <a:ext cx="822960" cy="822960"/>
          </a:xfrm>
          <a:prstGeom prst="ellipse">
            <a:avLst/>
          </a:prstGeom>
          <a:solidFill>
            <a:srgbClr val="0C7B93"/>
          </a:solidFill>
          <a:ln/>
        </p:spPr>
      </p:sp>
      <p:pic>
        <p:nvPicPr>
          <p:cNvPr id="6" name="Image 0" descr="preencoded.png">    </p:cNvPr>
          <p:cNvPicPr>
            <a:picLocks noChangeAspect="1"/>
          </p:cNvPicPr>
          <p:nvPr/>
        </p:nvPicPr>
        <p:blipFill>
          <a:blip r:embed="rId1"/>
          <a:stretch>
            <a:fillRect/>
          </a:stretch>
        </p:blipFill>
        <p:spPr>
          <a:xfrm>
            <a:off x="975665" y="3170225"/>
            <a:ext cx="608990" cy="608990"/>
          </a:xfrm>
          <a:prstGeom prst="rect">
            <a:avLst/>
          </a:prstGeom>
        </p:spPr>
      </p:pic>
      <p:sp>
        <p:nvSpPr>
          <p:cNvPr id="7" name="Text 4"/>
          <p:cNvSpPr/>
          <p:nvPr/>
        </p:nvSpPr>
        <p:spPr>
          <a:xfrm>
            <a:off x="1920240" y="3063240"/>
            <a:ext cx="6400800" cy="1005840"/>
          </a:xfrm>
          <a:prstGeom prst="rect">
            <a:avLst/>
          </a:prstGeom>
          <a:noFill/>
          <a:ln/>
        </p:spPr>
        <p:txBody>
          <a:bodyPr wrap="square" rtlCol="0" anchor="ctr"/>
          <a:lstStyle/>
          <a:p>
            <a:pPr indent="0" marL="0">
              <a:buNone/>
            </a:pPr>
            <a:r>
              <a:rPr lang="en-US" sz="1400" b="1" dirty="0">
                <a:solidFill>
                  <a:srgbClr val="CADCFC"/>
                </a:solidFill>
                <a:latin typeface="Calibri" pitchFamily="34" charset="0"/>
                <a:ea typeface="Calibri" pitchFamily="34" charset="-122"/>
                <a:cs typeface="Calibri" pitchFamily="34" charset="-120"/>
              </a:rPr>
              <a:t>今日の問い：</a:t>
            </a:r>
            <a:endParaRPr lang="en-US" sz="1400" dirty="0"/>
          </a:p>
          <a:p>
            <a:pPr indent="0" marL="0">
              <a:buNone/>
            </a:pPr>
            <a:r>
              <a:rPr lang="en-US" sz="1500" dirty="0">
                <a:solidFill>
                  <a:srgbClr val="FFFFFF"/>
                </a:solidFill>
                <a:latin typeface="Calibri" pitchFamily="34" charset="0"/>
                <a:ea typeface="Calibri" pitchFamily="34" charset="-122"/>
                <a:cs typeface="Calibri" pitchFamily="34" charset="-120"/>
              </a:rPr>
              <a:t>「次の単語を当てる」ことしか学習していないのに、</a:t>
            </a:r>
            <a:endParaRPr lang="en-US" sz="1400" dirty="0"/>
          </a:p>
          <a:p>
            <a:pPr indent="0" marL="0">
              <a:buNone/>
            </a:pPr>
            <a:r>
              <a:rPr lang="en-US" sz="1500" dirty="0">
                <a:solidFill>
                  <a:srgbClr val="FFFFFF"/>
                </a:solidFill>
                <a:latin typeface="Calibri" pitchFamily="34" charset="0"/>
                <a:ea typeface="Calibri" pitchFamily="34" charset="-122"/>
                <a:cs typeface="Calibri" pitchFamily="34" charset="-120"/>
              </a:rPr>
              <a:t>なぜ考えているように見える振る舞いが生まれるのか？</a:t>
            </a:r>
            <a:endParaRPr lang="en-US" sz="1400" dirty="0"/>
          </a:p>
        </p:txBody>
      </p:sp>
      <p:sp>
        <p:nvSpPr>
          <p:cNvPr id="8" name="Text 5"/>
          <p:cNvSpPr/>
          <p:nvPr/>
        </p:nvSpPr>
        <p:spPr>
          <a:xfrm>
            <a:off x="8138160" y="4828032"/>
            <a:ext cx="731520" cy="274320"/>
          </a:xfrm>
          <a:prstGeom prst="rect">
            <a:avLst/>
          </a:prstGeom>
          <a:noFill/>
          <a:ln/>
        </p:spPr>
        <p:txBody>
          <a:bodyPr wrap="square" rtlCol="0" anchor="ctr"/>
          <a:lstStyle/>
          <a:p>
            <a:pPr algn="r" indent="0" marL="0">
              <a:buNone/>
            </a:pPr>
            <a:r>
              <a:rPr lang="en-US" sz="1000" dirty="0">
                <a:solidFill>
                  <a:srgbClr val="8B9BC7"/>
                </a:solidFill>
                <a:latin typeface="Calibri" pitchFamily="34" charset="0"/>
                <a:ea typeface="Calibri" pitchFamily="34" charset="-122"/>
                <a:cs typeface="Calibri" pitchFamily="34" charset="-120"/>
              </a:rPr>
              <a:t>01 / 17</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7772400" cy="274320"/>
          </a:xfrm>
          <a:prstGeom prst="rect">
            <a:avLst/>
          </a:prstGeom>
          <a:noFill/>
          <a:ln/>
        </p:spPr>
        <p:txBody>
          <a:bodyPr wrap="square" rtlCol="0" anchor="ctr"/>
          <a:lstStyle/>
          <a:p>
            <a:pPr indent="0" marL="0">
              <a:buNone/>
            </a:pPr>
            <a:r>
              <a:rPr lang="en-US" sz="1200" b="1" spc="200" kern="0" dirty="0">
                <a:solidFill>
                  <a:srgbClr val="0C7B93"/>
                </a:solidFill>
                <a:latin typeface="Calibri" pitchFamily="34" charset="0"/>
                <a:ea typeface="Calibri" pitchFamily="34" charset="-122"/>
                <a:cs typeface="Calibri" pitchFamily="34" charset="-120"/>
              </a:rPr>
              <a:t>OVERVIEW</a:t>
            </a:r>
            <a:endParaRPr lang="en-US" sz="1200" dirty="0"/>
          </a:p>
        </p:txBody>
      </p:sp>
      <p:sp>
        <p:nvSpPr>
          <p:cNvPr id="3" name="Text 1"/>
          <p:cNvSpPr/>
          <p:nvPr/>
        </p:nvSpPr>
        <p:spPr>
          <a:xfrm>
            <a:off x="548640" y="566928"/>
            <a:ext cx="8046720" cy="64008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全体像：入力から出力まで</a:t>
            </a:r>
            <a:endParaRPr lang="en-US" sz="3000" dirty="0"/>
          </a:p>
        </p:txBody>
      </p:sp>
      <p:sp>
        <p:nvSpPr>
          <p:cNvPr id="4" name="Shape 2"/>
          <p:cNvSpPr/>
          <p:nvPr/>
        </p:nvSpPr>
        <p:spPr>
          <a:xfrm>
            <a:off x="548640" y="2286000"/>
            <a:ext cx="2286000" cy="1188720"/>
          </a:xfrm>
          <a:prstGeom prst="roundRect">
            <a:avLst>
              <a:gd name="adj" fmla="val 6154"/>
            </a:avLst>
          </a:prstGeom>
          <a:solidFill>
            <a:srgbClr val="EEF3FB"/>
          </a:solidFill>
          <a:ln/>
          <a:effectLst>
            <a:outerShdw sx="100000" sy="100000" kx="0" ky="0" algn="bl" rotWithShape="0" blurRad="76200" dist="25400" dir="2700000">
              <a:srgbClr val="000000">
                <a:alpha val="12000"/>
              </a:srgbClr>
            </a:outerShdw>
          </a:effectLst>
        </p:spPr>
      </p:sp>
      <p:sp>
        <p:nvSpPr>
          <p:cNvPr id="5" name="Text 3"/>
          <p:cNvSpPr/>
          <p:nvPr/>
        </p:nvSpPr>
        <p:spPr>
          <a:xfrm>
            <a:off x="548640" y="2286000"/>
            <a:ext cx="2286000" cy="1188720"/>
          </a:xfrm>
          <a:prstGeom prst="rect">
            <a:avLst/>
          </a:prstGeom>
          <a:noFill/>
          <a:ln/>
        </p:spPr>
        <p:txBody>
          <a:bodyPr wrap="square" rtlCol="0" anchor="ctr"/>
          <a:lstStyle/>
          <a:p>
            <a:pPr algn="ctr" indent="0" marL="0">
              <a:buNone/>
            </a:pPr>
            <a:r>
              <a:rPr lang="en-US" sz="1600" b="1" dirty="0">
                <a:solidFill>
                  <a:srgbClr val="1E2761"/>
                </a:solidFill>
                <a:latin typeface="Calibri" pitchFamily="34" charset="0"/>
                <a:ea typeface="Calibri" pitchFamily="34" charset="-122"/>
                <a:cs typeface="Calibri" pitchFamily="34" charset="-120"/>
              </a:rPr>
              <a:t>入力文</a:t>
            </a:r>
            <a:endParaRPr lang="en-US" sz="1600" dirty="0"/>
          </a:p>
          <a:p>
            <a:pPr algn="ctr" indent="0" marL="0">
              <a:buNone/>
            </a:pPr>
            <a:r>
              <a:rPr lang="en-US" sz="1200" dirty="0">
                <a:solidFill>
                  <a:srgbClr val="60728A"/>
                </a:solidFill>
                <a:latin typeface="Calibri" pitchFamily="34" charset="0"/>
                <a:ea typeface="Calibri" pitchFamily="34" charset="-122"/>
                <a:cs typeface="Calibri" pitchFamily="34" charset="-120"/>
              </a:rPr>
              <a:t>文章</a:t>
            </a:r>
            <a:endParaRPr lang="en-US" sz="1600" dirty="0"/>
          </a:p>
        </p:txBody>
      </p:sp>
      <p:sp>
        <p:nvSpPr>
          <p:cNvPr id="6" name="Shape 4"/>
          <p:cNvSpPr/>
          <p:nvPr/>
        </p:nvSpPr>
        <p:spPr>
          <a:xfrm>
            <a:off x="2852928" y="2761488"/>
            <a:ext cx="283464" cy="237744"/>
          </a:xfrm>
          <a:prstGeom prst="rightArrow">
            <a:avLst/>
          </a:prstGeom>
          <a:solidFill>
            <a:srgbClr val="60728A"/>
          </a:solidFill>
          <a:ln/>
        </p:spPr>
      </p:sp>
      <p:sp>
        <p:nvSpPr>
          <p:cNvPr id="7" name="Shape 5"/>
          <p:cNvSpPr/>
          <p:nvPr/>
        </p:nvSpPr>
        <p:spPr>
          <a:xfrm>
            <a:off x="3154680" y="2286000"/>
            <a:ext cx="2286000" cy="1188720"/>
          </a:xfrm>
          <a:prstGeom prst="roundRect">
            <a:avLst>
              <a:gd name="adj" fmla="val 6154"/>
            </a:avLst>
          </a:prstGeom>
          <a:solidFill>
            <a:srgbClr val="0C7B93"/>
          </a:solidFill>
          <a:ln/>
          <a:effectLst>
            <a:outerShdw sx="100000" sy="100000" kx="0" ky="0" algn="bl" rotWithShape="0" blurRad="76200" dist="25400" dir="2700000">
              <a:srgbClr val="000000">
                <a:alpha val="12000"/>
              </a:srgbClr>
            </a:outerShdw>
          </a:effectLst>
        </p:spPr>
      </p:sp>
      <p:sp>
        <p:nvSpPr>
          <p:cNvPr id="8" name="Text 6"/>
          <p:cNvSpPr/>
          <p:nvPr/>
        </p:nvSpPr>
        <p:spPr>
          <a:xfrm>
            <a:off x="3154680" y="2286000"/>
            <a:ext cx="2286000" cy="118872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内部処理</a:t>
            </a:r>
            <a:endParaRPr lang="en-US" sz="1600" dirty="0"/>
          </a:p>
          <a:p>
            <a:pPr algn="ctr" indent="0" marL="0">
              <a:buNone/>
            </a:pPr>
            <a:r>
              <a:rPr lang="en-US" sz="1200" dirty="0">
                <a:solidFill>
                  <a:srgbClr val="CADCFC"/>
                </a:solidFill>
                <a:latin typeface="Calibri" pitchFamily="34" charset="0"/>
                <a:ea typeface="Calibri" pitchFamily="34" charset="-122"/>
                <a:cs typeface="Calibri" pitchFamily="34" charset="-120"/>
              </a:rPr>
              <a:t>変換の繰り返し</a:t>
            </a:r>
            <a:endParaRPr lang="en-US" sz="1600" dirty="0"/>
          </a:p>
        </p:txBody>
      </p:sp>
      <p:sp>
        <p:nvSpPr>
          <p:cNvPr id="9" name="Shape 7"/>
          <p:cNvSpPr/>
          <p:nvPr/>
        </p:nvSpPr>
        <p:spPr>
          <a:xfrm>
            <a:off x="5458968" y="2761488"/>
            <a:ext cx="283464" cy="237744"/>
          </a:xfrm>
          <a:prstGeom prst="rightArrow">
            <a:avLst/>
          </a:prstGeom>
          <a:solidFill>
            <a:srgbClr val="60728A"/>
          </a:solidFill>
          <a:ln/>
        </p:spPr>
      </p:sp>
      <p:sp>
        <p:nvSpPr>
          <p:cNvPr id="10" name="Shape 8"/>
          <p:cNvSpPr/>
          <p:nvPr/>
        </p:nvSpPr>
        <p:spPr>
          <a:xfrm>
            <a:off x="5760720" y="2286000"/>
            <a:ext cx="2286000" cy="1188720"/>
          </a:xfrm>
          <a:prstGeom prst="roundRect">
            <a:avLst>
              <a:gd name="adj" fmla="val 6154"/>
            </a:avLst>
          </a:prstGeom>
          <a:solidFill>
            <a:srgbClr val="EEF3FB"/>
          </a:solidFill>
          <a:ln/>
          <a:effectLst>
            <a:outerShdw sx="100000" sy="100000" kx="0" ky="0" algn="bl" rotWithShape="0" blurRad="76200" dist="25400" dir="2700000">
              <a:srgbClr val="000000">
                <a:alpha val="12000"/>
              </a:srgbClr>
            </a:outerShdw>
          </a:effectLst>
        </p:spPr>
      </p:sp>
      <p:sp>
        <p:nvSpPr>
          <p:cNvPr id="11" name="Text 9"/>
          <p:cNvSpPr/>
          <p:nvPr/>
        </p:nvSpPr>
        <p:spPr>
          <a:xfrm>
            <a:off x="5760720" y="2286000"/>
            <a:ext cx="2286000" cy="1188720"/>
          </a:xfrm>
          <a:prstGeom prst="rect">
            <a:avLst/>
          </a:prstGeom>
          <a:noFill/>
          <a:ln/>
        </p:spPr>
        <p:txBody>
          <a:bodyPr wrap="square" rtlCol="0" anchor="ctr"/>
          <a:lstStyle/>
          <a:p>
            <a:pPr algn="ctr" indent="0" marL="0">
              <a:buNone/>
            </a:pPr>
            <a:r>
              <a:rPr lang="en-US" sz="1600" b="1" dirty="0">
                <a:solidFill>
                  <a:srgbClr val="1E2761"/>
                </a:solidFill>
                <a:latin typeface="Calibri" pitchFamily="34" charset="0"/>
                <a:ea typeface="Calibri" pitchFamily="34" charset="-122"/>
                <a:cs typeface="Calibri" pitchFamily="34" charset="-120"/>
              </a:rPr>
              <a:t>出力</a:t>
            </a:r>
            <a:endParaRPr lang="en-US" sz="1600" dirty="0"/>
          </a:p>
          <a:p>
            <a:pPr algn="ctr" indent="0" marL="0">
              <a:buNone/>
            </a:pPr>
            <a:r>
              <a:rPr lang="en-US" sz="1200" dirty="0">
                <a:solidFill>
                  <a:srgbClr val="60728A"/>
                </a:solidFill>
                <a:latin typeface="Calibri" pitchFamily="34" charset="0"/>
                <a:ea typeface="Calibri" pitchFamily="34" charset="-122"/>
                <a:cs typeface="Calibri" pitchFamily="34" charset="-120"/>
              </a:rPr>
              <a:t>次の単語の確率</a:t>
            </a:r>
            <a:endParaRPr lang="en-US" sz="1600" dirty="0"/>
          </a:p>
        </p:txBody>
      </p:sp>
      <p:sp>
        <p:nvSpPr>
          <p:cNvPr id="12" name="Text 10"/>
          <p:cNvSpPr/>
          <p:nvPr/>
        </p:nvSpPr>
        <p:spPr>
          <a:xfrm>
            <a:off x="548640" y="3794760"/>
            <a:ext cx="8046720" cy="457200"/>
          </a:xfrm>
          <a:prstGeom prst="rect">
            <a:avLst/>
          </a:prstGeom>
          <a:noFill/>
          <a:ln/>
        </p:spPr>
        <p:txBody>
          <a:bodyPr wrap="square" rtlCol="0" anchor="ctr"/>
          <a:lstStyle/>
          <a:p>
            <a:pPr indent="0" marL="0">
              <a:buNone/>
            </a:pPr>
            <a:r>
              <a:rPr lang="en-US" sz="1400" i="1" dirty="0">
                <a:solidFill>
                  <a:srgbClr val="60728A"/>
                </a:solidFill>
                <a:latin typeface="Calibri" pitchFamily="34" charset="0"/>
                <a:ea typeface="Calibri" pitchFamily="34" charset="-122"/>
                <a:cs typeface="Calibri" pitchFamily="34" charset="-120"/>
              </a:rPr>
              <a:t>この「内部処理」の箱の中身を、これから1つずつ開けていきます。</a:t>
            </a:r>
            <a:endParaRPr lang="en-US" sz="1400" dirty="0"/>
          </a:p>
        </p:txBody>
      </p:sp>
      <p:sp>
        <p:nvSpPr>
          <p:cNvPr id="13" name="Text 11"/>
          <p:cNvSpPr/>
          <p:nvPr/>
        </p:nvSpPr>
        <p:spPr>
          <a:xfrm>
            <a:off x="8138160" y="4828032"/>
            <a:ext cx="731520" cy="274320"/>
          </a:xfrm>
          <a:prstGeom prst="rect">
            <a:avLst/>
          </a:prstGeom>
          <a:noFill/>
          <a:ln/>
        </p:spPr>
        <p:txBody>
          <a:bodyPr wrap="square" rtlCol="0" anchor="ctr"/>
          <a:lstStyle/>
          <a:p>
            <a:pPr algn="r" indent="0" marL="0">
              <a:buNone/>
            </a:pPr>
            <a:r>
              <a:rPr lang="en-US" sz="1000" dirty="0">
                <a:solidFill>
                  <a:srgbClr val="60728A"/>
                </a:solidFill>
                <a:latin typeface="Calibri" pitchFamily="34" charset="0"/>
                <a:ea typeface="Calibri" pitchFamily="34" charset="-122"/>
                <a:cs typeface="Calibri" pitchFamily="34" charset="-120"/>
              </a:rPr>
              <a:t>02 / 17</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7772400" cy="274320"/>
          </a:xfrm>
          <a:prstGeom prst="rect">
            <a:avLst/>
          </a:prstGeom>
          <a:noFill/>
          <a:ln/>
        </p:spPr>
        <p:txBody>
          <a:bodyPr wrap="square" rtlCol="0" anchor="ctr"/>
          <a:lstStyle/>
          <a:p>
            <a:pPr indent="0" marL="0">
              <a:buNone/>
            </a:pPr>
            <a:r>
              <a:rPr lang="en-US" sz="1200" b="1" spc="200" kern="0" dirty="0">
                <a:solidFill>
                  <a:srgbClr val="0C7B93"/>
                </a:solidFill>
                <a:latin typeface="Calibri" pitchFamily="34" charset="0"/>
                <a:ea typeface="Calibri" pitchFamily="34" charset="-122"/>
                <a:cs typeface="Calibri" pitchFamily="34" charset="-120"/>
              </a:rPr>
              <a:t>STEP 1</a:t>
            </a:r>
            <a:endParaRPr lang="en-US" sz="1200" dirty="0"/>
          </a:p>
        </p:txBody>
      </p:sp>
      <p:sp>
        <p:nvSpPr>
          <p:cNvPr id="3" name="Text 1"/>
          <p:cNvSpPr/>
          <p:nvPr/>
        </p:nvSpPr>
        <p:spPr>
          <a:xfrm>
            <a:off x="548640" y="566928"/>
            <a:ext cx="8046720" cy="64008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Tokenizer：文章を単位に分ける</a:t>
            </a:r>
            <a:endParaRPr lang="en-US" sz="3000" dirty="0"/>
          </a:p>
        </p:txBody>
      </p:sp>
      <p:sp>
        <p:nvSpPr>
          <p:cNvPr id="4" name="Shape 2"/>
          <p:cNvSpPr/>
          <p:nvPr/>
        </p:nvSpPr>
        <p:spPr>
          <a:xfrm>
            <a:off x="548640" y="1417320"/>
            <a:ext cx="640080" cy="640080"/>
          </a:xfrm>
          <a:prstGeom prst="ellipse">
            <a:avLst/>
          </a:prstGeom>
          <a:solidFill>
            <a:srgbClr val="1E2761"/>
          </a:solidFill>
          <a:ln/>
        </p:spPr>
      </p:sp>
      <p:pic>
        <p:nvPicPr>
          <p:cNvPr id="5" name="Image 0" descr="preencoded.png">    </p:cNvPr>
          <p:cNvPicPr>
            <a:picLocks noChangeAspect="1"/>
          </p:cNvPicPr>
          <p:nvPr/>
        </p:nvPicPr>
        <p:blipFill>
          <a:blip r:embed="rId1"/>
          <a:stretch>
            <a:fillRect/>
          </a:stretch>
        </p:blipFill>
        <p:spPr>
          <a:xfrm>
            <a:off x="631850" y="1500530"/>
            <a:ext cx="473659" cy="473659"/>
          </a:xfrm>
          <a:prstGeom prst="rect">
            <a:avLst/>
          </a:prstGeom>
        </p:spPr>
      </p:pic>
      <p:sp>
        <p:nvSpPr>
          <p:cNvPr id="6" name="Text 3"/>
          <p:cNvSpPr/>
          <p:nvPr/>
        </p:nvSpPr>
        <p:spPr>
          <a:xfrm>
            <a:off x="1371600" y="1417320"/>
            <a:ext cx="7132320" cy="822960"/>
          </a:xfrm>
          <a:prstGeom prst="rect">
            <a:avLst/>
          </a:prstGeom>
          <a:noFill/>
          <a:ln/>
        </p:spPr>
        <p:txBody>
          <a:bodyPr wrap="square" rtlCol="0" anchor="ctr"/>
          <a:lstStyle/>
          <a:p>
            <a:pPr indent="0" marL="0">
              <a:buNone/>
            </a:pPr>
            <a:r>
              <a:rPr lang="en-US" sz="1500" dirty="0">
                <a:solidFill>
                  <a:srgbClr val="26324A"/>
                </a:solidFill>
                <a:latin typeface="Calibri" pitchFamily="34" charset="0"/>
                <a:ea typeface="Calibri" pitchFamily="34" charset="-122"/>
                <a:cs typeface="Calibri" pitchFamily="34" charset="-120"/>
              </a:rPr>
              <a:t>コンピュータは文字をそのまま理解できません。</a:t>
            </a:r>
            <a:endParaRPr lang="en-US" sz="1500" dirty="0"/>
          </a:p>
          <a:p>
            <a:pPr indent="0" marL="0">
              <a:buNone/>
            </a:pPr>
            <a:r>
              <a:rPr lang="en-US" sz="1500" dirty="0">
                <a:solidFill>
                  <a:srgbClr val="26324A"/>
                </a:solidFill>
                <a:latin typeface="Calibri" pitchFamily="34" charset="0"/>
                <a:ea typeface="Calibri" pitchFamily="34" charset="-122"/>
                <a:cs typeface="Calibri" pitchFamily="34" charset="-120"/>
              </a:rPr>
              <a:t>まず文章を「トークン」という単位に分割します。</a:t>
            </a:r>
            <a:endParaRPr lang="en-US" sz="1500" dirty="0"/>
          </a:p>
        </p:txBody>
      </p:sp>
      <p:sp>
        <p:nvSpPr>
          <p:cNvPr id="7" name="Text 4"/>
          <p:cNvSpPr/>
          <p:nvPr/>
        </p:nvSpPr>
        <p:spPr>
          <a:xfrm>
            <a:off x="548640" y="2606040"/>
            <a:ext cx="1828800" cy="274320"/>
          </a:xfrm>
          <a:prstGeom prst="rect">
            <a:avLst/>
          </a:prstGeom>
          <a:noFill/>
          <a:ln/>
        </p:spPr>
        <p:txBody>
          <a:bodyPr wrap="square" rtlCol="0" anchor="ctr"/>
          <a:lstStyle/>
          <a:p>
            <a:pPr indent="0" marL="0">
              <a:buNone/>
            </a:pPr>
            <a:r>
              <a:rPr lang="en-US" sz="1200" b="1" dirty="0">
                <a:solidFill>
                  <a:srgbClr val="60728A"/>
                </a:solidFill>
                <a:latin typeface="Calibri" pitchFamily="34" charset="0"/>
                <a:ea typeface="Calibri" pitchFamily="34" charset="-122"/>
                <a:cs typeface="Calibri" pitchFamily="34" charset="-120"/>
              </a:rPr>
              <a:t>入力文</a:t>
            </a:r>
            <a:endParaRPr lang="en-US" sz="1200" dirty="0"/>
          </a:p>
        </p:txBody>
      </p:sp>
      <p:sp>
        <p:nvSpPr>
          <p:cNvPr id="8" name="Shape 5"/>
          <p:cNvSpPr/>
          <p:nvPr/>
        </p:nvSpPr>
        <p:spPr>
          <a:xfrm>
            <a:off x="548640" y="2880360"/>
            <a:ext cx="8046720" cy="502920"/>
          </a:xfrm>
          <a:prstGeom prst="roundRect">
            <a:avLst>
              <a:gd name="adj" fmla="val 10909"/>
            </a:avLst>
          </a:prstGeom>
          <a:solidFill>
            <a:srgbClr val="EEF3FB"/>
          </a:solidFill>
          <a:ln/>
        </p:spPr>
      </p:sp>
      <p:sp>
        <p:nvSpPr>
          <p:cNvPr id="9" name="Text 6"/>
          <p:cNvSpPr/>
          <p:nvPr/>
        </p:nvSpPr>
        <p:spPr>
          <a:xfrm>
            <a:off x="548640" y="2880360"/>
            <a:ext cx="8046720" cy="502920"/>
          </a:xfrm>
          <a:prstGeom prst="rect">
            <a:avLst/>
          </a:prstGeom>
          <a:noFill/>
          <a:ln/>
        </p:spPr>
        <p:txBody>
          <a:bodyPr wrap="square" rtlCol="0" anchor="ctr"/>
          <a:lstStyle/>
          <a:p>
            <a:pPr algn="ctr" indent="0" marL="0">
              <a:buNone/>
            </a:pPr>
            <a:r>
              <a:rPr lang="en-US" sz="1500" dirty="0">
                <a:solidFill>
                  <a:srgbClr val="26324A"/>
                </a:solidFill>
                <a:latin typeface="Courier New" pitchFamily="34" charset="0"/>
                <a:ea typeface="Courier New" pitchFamily="34" charset="-122"/>
                <a:cs typeface="Courier New" pitchFamily="34" charset="-120"/>
              </a:rPr>
              <a:t>It rained, so she took the umbrella</a:t>
            </a:r>
            <a:endParaRPr lang="en-US" sz="1500" dirty="0"/>
          </a:p>
        </p:txBody>
      </p:sp>
      <p:sp>
        <p:nvSpPr>
          <p:cNvPr id="10" name="Shape 7"/>
          <p:cNvSpPr/>
          <p:nvPr/>
        </p:nvSpPr>
        <p:spPr>
          <a:xfrm>
            <a:off x="4343400" y="3456432"/>
            <a:ext cx="274320" cy="292608"/>
          </a:xfrm>
          <a:prstGeom prst="downArrow">
            <a:avLst/>
          </a:prstGeom>
          <a:solidFill>
            <a:srgbClr val="60728A"/>
          </a:solidFill>
          <a:ln/>
        </p:spPr>
      </p:sp>
      <p:sp>
        <p:nvSpPr>
          <p:cNvPr id="11" name="Text 8"/>
          <p:cNvSpPr/>
          <p:nvPr/>
        </p:nvSpPr>
        <p:spPr>
          <a:xfrm>
            <a:off x="548640" y="3794760"/>
            <a:ext cx="1828800" cy="274320"/>
          </a:xfrm>
          <a:prstGeom prst="rect">
            <a:avLst/>
          </a:prstGeom>
          <a:noFill/>
          <a:ln/>
        </p:spPr>
        <p:txBody>
          <a:bodyPr wrap="square" rtlCol="0" anchor="ctr"/>
          <a:lstStyle/>
          <a:p>
            <a:pPr indent="0" marL="0">
              <a:buNone/>
            </a:pPr>
            <a:r>
              <a:rPr lang="en-US" sz="1200" b="1" dirty="0">
                <a:solidFill>
                  <a:srgbClr val="60728A"/>
                </a:solidFill>
                <a:latin typeface="Calibri" pitchFamily="34" charset="0"/>
                <a:ea typeface="Calibri" pitchFamily="34" charset="-122"/>
                <a:cs typeface="Calibri" pitchFamily="34" charset="-120"/>
              </a:rPr>
              <a:t>トークン列</a:t>
            </a:r>
            <a:endParaRPr lang="en-US" sz="1200" dirty="0"/>
          </a:p>
        </p:txBody>
      </p:sp>
      <p:sp>
        <p:nvSpPr>
          <p:cNvPr id="12" name="Shape 9"/>
          <p:cNvSpPr/>
          <p:nvPr/>
        </p:nvSpPr>
        <p:spPr>
          <a:xfrm>
            <a:off x="548640" y="4069080"/>
            <a:ext cx="829056" cy="457200"/>
          </a:xfrm>
          <a:prstGeom prst="roundRect">
            <a:avLst>
              <a:gd name="adj" fmla="val 10000"/>
            </a:avLst>
          </a:prstGeom>
          <a:solidFill>
            <a:srgbClr val="0C7B93"/>
          </a:solidFill>
          <a:ln/>
        </p:spPr>
      </p:sp>
      <p:sp>
        <p:nvSpPr>
          <p:cNvPr id="13" name="Text 10"/>
          <p:cNvSpPr/>
          <p:nvPr/>
        </p:nvSpPr>
        <p:spPr>
          <a:xfrm>
            <a:off x="548640" y="4069080"/>
            <a:ext cx="829056" cy="457200"/>
          </a:xfrm>
          <a:prstGeom prst="rect">
            <a:avLst/>
          </a:prstGeom>
          <a:noFill/>
          <a:ln/>
        </p:spPr>
        <p:txBody>
          <a:bodyPr wrap="square" rtlCol="0" anchor="ctr"/>
          <a:lstStyle/>
          <a:p>
            <a:pPr algn="ctr" indent="0" marL="0">
              <a:buNone/>
            </a:pPr>
            <a:r>
              <a:rPr lang="en-US" sz="1050" dirty="0">
                <a:solidFill>
                  <a:srgbClr val="FFFFFF"/>
                </a:solidFill>
                <a:latin typeface="Courier New" pitchFamily="34" charset="0"/>
                <a:ea typeface="Courier New" pitchFamily="34" charset="-122"/>
                <a:cs typeface="Courier New" pitchFamily="34" charset="-120"/>
              </a:rPr>
              <a:t>It</a:t>
            </a:r>
            <a:endParaRPr lang="en-US" sz="1050" dirty="0"/>
          </a:p>
        </p:txBody>
      </p:sp>
      <p:sp>
        <p:nvSpPr>
          <p:cNvPr id="14" name="Shape 11"/>
          <p:cNvSpPr/>
          <p:nvPr/>
        </p:nvSpPr>
        <p:spPr>
          <a:xfrm>
            <a:off x="1450848" y="4069080"/>
            <a:ext cx="829056" cy="457200"/>
          </a:xfrm>
          <a:prstGeom prst="roundRect">
            <a:avLst>
              <a:gd name="adj" fmla="val 10000"/>
            </a:avLst>
          </a:prstGeom>
          <a:solidFill>
            <a:srgbClr val="0C7B93"/>
          </a:solidFill>
          <a:ln/>
        </p:spPr>
      </p:sp>
      <p:sp>
        <p:nvSpPr>
          <p:cNvPr id="15" name="Text 12"/>
          <p:cNvSpPr/>
          <p:nvPr/>
        </p:nvSpPr>
        <p:spPr>
          <a:xfrm>
            <a:off x="1450848" y="4069080"/>
            <a:ext cx="829056" cy="457200"/>
          </a:xfrm>
          <a:prstGeom prst="rect">
            <a:avLst/>
          </a:prstGeom>
          <a:noFill/>
          <a:ln/>
        </p:spPr>
        <p:txBody>
          <a:bodyPr wrap="square" rtlCol="0" anchor="ctr"/>
          <a:lstStyle/>
          <a:p>
            <a:pPr algn="ctr" indent="0" marL="0">
              <a:buNone/>
            </a:pPr>
            <a:r>
              <a:rPr lang="en-US" sz="1050" dirty="0">
                <a:solidFill>
                  <a:srgbClr val="FFFFFF"/>
                </a:solidFill>
                <a:latin typeface="Courier New" pitchFamily="34" charset="0"/>
                <a:ea typeface="Courier New" pitchFamily="34" charset="-122"/>
                <a:cs typeface="Courier New" pitchFamily="34" charset="-120"/>
              </a:rPr>
              <a:t>rain</a:t>
            </a:r>
            <a:endParaRPr lang="en-US" sz="1050" dirty="0"/>
          </a:p>
        </p:txBody>
      </p:sp>
      <p:sp>
        <p:nvSpPr>
          <p:cNvPr id="16" name="Shape 13"/>
          <p:cNvSpPr/>
          <p:nvPr/>
        </p:nvSpPr>
        <p:spPr>
          <a:xfrm>
            <a:off x="2353056" y="4069080"/>
            <a:ext cx="829056" cy="457200"/>
          </a:xfrm>
          <a:prstGeom prst="roundRect">
            <a:avLst>
              <a:gd name="adj" fmla="val 10000"/>
            </a:avLst>
          </a:prstGeom>
          <a:solidFill>
            <a:srgbClr val="0C7B93"/>
          </a:solidFill>
          <a:ln/>
        </p:spPr>
      </p:sp>
      <p:sp>
        <p:nvSpPr>
          <p:cNvPr id="17" name="Text 14"/>
          <p:cNvSpPr/>
          <p:nvPr/>
        </p:nvSpPr>
        <p:spPr>
          <a:xfrm>
            <a:off x="2353056" y="4069080"/>
            <a:ext cx="829056" cy="457200"/>
          </a:xfrm>
          <a:prstGeom prst="rect">
            <a:avLst/>
          </a:prstGeom>
          <a:noFill/>
          <a:ln/>
        </p:spPr>
        <p:txBody>
          <a:bodyPr wrap="square" rtlCol="0" anchor="ctr"/>
          <a:lstStyle/>
          <a:p>
            <a:pPr algn="ctr" indent="0" marL="0">
              <a:buNone/>
            </a:pPr>
            <a:r>
              <a:rPr lang="en-US" sz="1050" dirty="0">
                <a:solidFill>
                  <a:srgbClr val="FFFFFF"/>
                </a:solidFill>
                <a:latin typeface="Courier New" pitchFamily="34" charset="0"/>
                <a:ea typeface="Courier New" pitchFamily="34" charset="-122"/>
                <a:cs typeface="Courier New" pitchFamily="34" charset="-120"/>
              </a:rPr>
              <a:t>ed</a:t>
            </a:r>
            <a:endParaRPr lang="en-US" sz="1050" dirty="0"/>
          </a:p>
        </p:txBody>
      </p:sp>
      <p:sp>
        <p:nvSpPr>
          <p:cNvPr id="18" name="Shape 15"/>
          <p:cNvSpPr/>
          <p:nvPr/>
        </p:nvSpPr>
        <p:spPr>
          <a:xfrm>
            <a:off x="3255264" y="4069080"/>
            <a:ext cx="829056" cy="457200"/>
          </a:xfrm>
          <a:prstGeom prst="roundRect">
            <a:avLst>
              <a:gd name="adj" fmla="val 10000"/>
            </a:avLst>
          </a:prstGeom>
          <a:solidFill>
            <a:srgbClr val="0C7B93"/>
          </a:solidFill>
          <a:ln/>
        </p:spPr>
      </p:sp>
      <p:sp>
        <p:nvSpPr>
          <p:cNvPr id="19" name="Text 16"/>
          <p:cNvSpPr/>
          <p:nvPr/>
        </p:nvSpPr>
        <p:spPr>
          <a:xfrm>
            <a:off x="3255264" y="4069080"/>
            <a:ext cx="829056" cy="457200"/>
          </a:xfrm>
          <a:prstGeom prst="rect">
            <a:avLst/>
          </a:prstGeom>
          <a:noFill/>
          <a:ln/>
        </p:spPr>
        <p:txBody>
          <a:bodyPr wrap="square" rtlCol="0" anchor="ctr"/>
          <a:lstStyle/>
          <a:p>
            <a:pPr algn="ctr" indent="0" marL="0">
              <a:buNone/>
            </a:pPr>
            <a:r>
              <a:rPr lang="en-US" sz="1050" dirty="0">
                <a:solidFill>
                  <a:srgbClr val="FFFFFF"/>
                </a:solidFill>
                <a:latin typeface="Courier New" pitchFamily="34" charset="0"/>
                <a:ea typeface="Courier New" pitchFamily="34" charset="-122"/>
                <a:cs typeface="Courier New" pitchFamily="34" charset="-120"/>
              </a:rPr>
              <a:t>,</a:t>
            </a:r>
            <a:endParaRPr lang="en-US" sz="1050" dirty="0"/>
          </a:p>
        </p:txBody>
      </p:sp>
      <p:sp>
        <p:nvSpPr>
          <p:cNvPr id="20" name="Shape 17"/>
          <p:cNvSpPr/>
          <p:nvPr/>
        </p:nvSpPr>
        <p:spPr>
          <a:xfrm>
            <a:off x="4157472" y="4069080"/>
            <a:ext cx="829056" cy="457200"/>
          </a:xfrm>
          <a:prstGeom prst="roundRect">
            <a:avLst>
              <a:gd name="adj" fmla="val 10000"/>
            </a:avLst>
          </a:prstGeom>
          <a:solidFill>
            <a:srgbClr val="0C7B93"/>
          </a:solidFill>
          <a:ln/>
        </p:spPr>
      </p:sp>
      <p:sp>
        <p:nvSpPr>
          <p:cNvPr id="21" name="Text 18"/>
          <p:cNvSpPr/>
          <p:nvPr/>
        </p:nvSpPr>
        <p:spPr>
          <a:xfrm>
            <a:off x="4157472" y="4069080"/>
            <a:ext cx="829056" cy="457200"/>
          </a:xfrm>
          <a:prstGeom prst="rect">
            <a:avLst/>
          </a:prstGeom>
          <a:noFill/>
          <a:ln/>
        </p:spPr>
        <p:txBody>
          <a:bodyPr wrap="square" rtlCol="0" anchor="ctr"/>
          <a:lstStyle/>
          <a:p>
            <a:pPr algn="ctr" indent="0" marL="0">
              <a:buNone/>
            </a:pPr>
            <a:r>
              <a:rPr lang="en-US" sz="1050" dirty="0">
                <a:solidFill>
                  <a:srgbClr val="FFFFFF"/>
                </a:solidFill>
                <a:latin typeface="Courier New" pitchFamily="34" charset="0"/>
                <a:ea typeface="Courier New" pitchFamily="34" charset="-122"/>
                <a:cs typeface="Courier New" pitchFamily="34" charset="-120"/>
              </a:rPr>
              <a:t>so</a:t>
            </a:r>
            <a:endParaRPr lang="en-US" sz="1050" dirty="0"/>
          </a:p>
        </p:txBody>
      </p:sp>
      <p:sp>
        <p:nvSpPr>
          <p:cNvPr id="22" name="Shape 19"/>
          <p:cNvSpPr/>
          <p:nvPr/>
        </p:nvSpPr>
        <p:spPr>
          <a:xfrm>
            <a:off x="5059680" y="4069080"/>
            <a:ext cx="829056" cy="457200"/>
          </a:xfrm>
          <a:prstGeom prst="roundRect">
            <a:avLst>
              <a:gd name="adj" fmla="val 10000"/>
            </a:avLst>
          </a:prstGeom>
          <a:solidFill>
            <a:srgbClr val="0C7B93"/>
          </a:solidFill>
          <a:ln/>
        </p:spPr>
      </p:sp>
      <p:sp>
        <p:nvSpPr>
          <p:cNvPr id="23" name="Text 20"/>
          <p:cNvSpPr/>
          <p:nvPr/>
        </p:nvSpPr>
        <p:spPr>
          <a:xfrm>
            <a:off x="5059680" y="4069080"/>
            <a:ext cx="829056" cy="457200"/>
          </a:xfrm>
          <a:prstGeom prst="rect">
            <a:avLst/>
          </a:prstGeom>
          <a:noFill/>
          <a:ln/>
        </p:spPr>
        <p:txBody>
          <a:bodyPr wrap="square" rtlCol="0" anchor="ctr"/>
          <a:lstStyle/>
          <a:p>
            <a:pPr algn="ctr" indent="0" marL="0">
              <a:buNone/>
            </a:pPr>
            <a:r>
              <a:rPr lang="en-US" sz="1050" dirty="0">
                <a:solidFill>
                  <a:srgbClr val="FFFFFF"/>
                </a:solidFill>
                <a:latin typeface="Courier New" pitchFamily="34" charset="0"/>
                <a:ea typeface="Courier New" pitchFamily="34" charset="-122"/>
                <a:cs typeface="Courier New" pitchFamily="34" charset="-120"/>
              </a:rPr>
              <a:t>she</a:t>
            </a:r>
            <a:endParaRPr lang="en-US" sz="1050" dirty="0"/>
          </a:p>
        </p:txBody>
      </p:sp>
      <p:sp>
        <p:nvSpPr>
          <p:cNvPr id="24" name="Shape 21"/>
          <p:cNvSpPr/>
          <p:nvPr/>
        </p:nvSpPr>
        <p:spPr>
          <a:xfrm>
            <a:off x="5961888" y="4069080"/>
            <a:ext cx="829056" cy="457200"/>
          </a:xfrm>
          <a:prstGeom prst="roundRect">
            <a:avLst>
              <a:gd name="adj" fmla="val 10000"/>
            </a:avLst>
          </a:prstGeom>
          <a:solidFill>
            <a:srgbClr val="0C7B93"/>
          </a:solidFill>
          <a:ln/>
        </p:spPr>
      </p:sp>
      <p:sp>
        <p:nvSpPr>
          <p:cNvPr id="25" name="Text 22"/>
          <p:cNvSpPr/>
          <p:nvPr/>
        </p:nvSpPr>
        <p:spPr>
          <a:xfrm>
            <a:off x="5961888" y="4069080"/>
            <a:ext cx="829056" cy="457200"/>
          </a:xfrm>
          <a:prstGeom prst="rect">
            <a:avLst/>
          </a:prstGeom>
          <a:noFill/>
          <a:ln/>
        </p:spPr>
        <p:txBody>
          <a:bodyPr wrap="square" rtlCol="0" anchor="ctr"/>
          <a:lstStyle/>
          <a:p>
            <a:pPr algn="ctr" indent="0" marL="0">
              <a:buNone/>
            </a:pPr>
            <a:r>
              <a:rPr lang="en-US" sz="1050" dirty="0">
                <a:solidFill>
                  <a:srgbClr val="FFFFFF"/>
                </a:solidFill>
                <a:latin typeface="Courier New" pitchFamily="34" charset="0"/>
                <a:ea typeface="Courier New" pitchFamily="34" charset="-122"/>
                <a:cs typeface="Courier New" pitchFamily="34" charset="-120"/>
              </a:rPr>
              <a:t>took</a:t>
            </a:r>
            <a:endParaRPr lang="en-US" sz="1050" dirty="0"/>
          </a:p>
        </p:txBody>
      </p:sp>
      <p:sp>
        <p:nvSpPr>
          <p:cNvPr id="26" name="Shape 23"/>
          <p:cNvSpPr/>
          <p:nvPr/>
        </p:nvSpPr>
        <p:spPr>
          <a:xfrm>
            <a:off x="6864096" y="4069080"/>
            <a:ext cx="829056" cy="457200"/>
          </a:xfrm>
          <a:prstGeom prst="roundRect">
            <a:avLst>
              <a:gd name="adj" fmla="val 10000"/>
            </a:avLst>
          </a:prstGeom>
          <a:solidFill>
            <a:srgbClr val="0C7B93"/>
          </a:solidFill>
          <a:ln/>
        </p:spPr>
      </p:sp>
      <p:sp>
        <p:nvSpPr>
          <p:cNvPr id="27" name="Text 24"/>
          <p:cNvSpPr/>
          <p:nvPr/>
        </p:nvSpPr>
        <p:spPr>
          <a:xfrm>
            <a:off x="6864096" y="4069080"/>
            <a:ext cx="829056" cy="457200"/>
          </a:xfrm>
          <a:prstGeom prst="rect">
            <a:avLst/>
          </a:prstGeom>
          <a:noFill/>
          <a:ln/>
        </p:spPr>
        <p:txBody>
          <a:bodyPr wrap="square" rtlCol="0" anchor="ctr"/>
          <a:lstStyle/>
          <a:p>
            <a:pPr algn="ctr" indent="0" marL="0">
              <a:buNone/>
            </a:pPr>
            <a:r>
              <a:rPr lang="en-US" sz="1050" dirty="0">
                <a:solidFill>
                  <a:srgbClr val="FFFFFF"/>
                </a:solidFill>
                <a:latin typeface="Courier New" pitchFamily="34" charset="0"/>
                <a:ea typeface="Courier New" pitchFamily="34" charset="-122"/>
                <a:cs typeface="Courier New" pitchFamily="34" charset="-120"/>
              </a:rPr>
              <a:t>the</a:t>
            </a:r>
            <a:endParaRPr lang="en-US" sz="1050" dirty="0"/>
          </a:p>
        </p:txBody>
      </p:sp>
      <p:sp>
        <p:nvSpPr>
          <p:cNvPr id="28" name="Shape 25"/>
          <p:cNvSpPr/>
          <p:nvPr/>
        </p:nvSpPr>
        <p:spPr>
          <a:xfrm>
            <a:off x="7766304" y="4069080"/>
            <a:ext cx="829056" cy="457200"/>
          </a:xfrm>
          <a:prstGeom prst="roundRect">
            <a:avLst>
              <a:gd name="adj" fmla="val 10000"/>
            </a:avLst>
          </a:prstGeom>
          <a:solidFill>
            <a:srgbClr val="0C7B93"/>
          </a:solidFill>
          <a:ln/>
        </p:spPr>
      </p:sp>
      <p:sp>
        <p:nvSpPr>
          <p:cNvPr id="29" name="Text 26"/>
          <p:cNvSpPr/>
          <p:nvPr/>
        </p:nvSpPr>
        <p:spPr>
          <a:xfrm>
            <a:off x="7766304" y="4069080"/>
            <a:ext cx="829056" cy="457200"/>
          </a:xfrm>
          <a:prstGeom prst="rect">
            <a:avLst/>
          </a:prstGeom>
          <a:noFill/>
          <a:ln/>
        </p:spPr>
        <p:txBody>
          <a:bodyPr wrap="square" rtlCol="0" anchor="ctr"/>
          <a:lstStyle/>
          <a:p>
            <a:pPr algn="ctr" indent="0" marL="0">
              <a:buNone/>
            </a:pPr>
            <a:r>
              <a:rPr lang="en-US" sz="1050" dirty="0">
                <a:solidFill>
                  <a:srgbClr val="FFFFFF"/>
                </a:solidFill>
                <a:latin typeface="Courier New" pitchFamily="34" charset="0"/>
                <a:ea typeface="Courier New" pitchFamily="34" charset="-122"/>
                <a:cs typeface="Courier New" pitchFamily="34" charset="-120"/>
              </a:rPr>
              <a:t>umbrella</a:t>
            </a:r>
            <a:endParaRPr lang="en-US" sz="1050" dirty="0"/>
          </a:p>
        </p:txBody>
      </p:sp>
      <p:sp>
        <p:nvSpPr>
          <p:cNvPr id="30" name="Text 27"/>
          <p:cNvSpPr/>
          <p:nvPr/>
        </p:nvSpPr>
        <p:spPr>
          <a:xfrm>
            <a:off x="8138160" y="4828032"/>
            <a:ext cx="731520" cy="274320"/>
          </a:xfrm>
          <a:prstGeom prst="rect">
            <a:avLst/>
          </a:prstGeom>
          <a:noFill/>
          <a:ln/>
        </p:spPr>
        <p:txBody>
          <a:bodyPr wrap="square" rtlCol="0" anchor="ctr"/>
          <a:lstStyle/>
          <a:p>
            <a:pPr algn="r" indent="0" marL="0">
              <a:buNone/>
            </a:pPr>
            <a:r>
              <a:rPr lang="en-US" sz="1000" dirty="0">
                <a:solidFill>
                  <a:srgbClr val="60728A"/>
                </a:solidFill>
                <a:latin typeface="Calibri" pitchFamily="34" charset="0"/>
                <a:ea typeface="Calibri" pitchFamily="34" charset="-122"/>
                <a:cs typeface="Calibri" pitchFamily="34" charset="-120"/>
              </a:rPr>
              <a:t>03 / 17</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7772400" cy="274320"/>
          </a:xfrm>
          <a:prstGeom prst="rect">
            <a:avLst/>
          </a:prstGeom>
          <a:noFill/>
          <a:ln/>
        </p:spPr>
        <p:txBody>
          <a:bodyPr wrap="square" rtlCol="0" anchor="ctr"/>
          <a:lstStyle/>
          <a:p>
            <a:pPr indent="0" marL="0">
              <a:buNone/>
            </a:pPr>
            <a:r>
              <a:rPr lang="en-US" sz="1200" b="1" spc="200" kern="0" dirty="0">
                <a:solidFill>
                  <a:srgbClr val="0C7B93"/>
                </a:solidFill>
                <a:latin typeface="Calibri" pitchFamily="34" charset="0"/>
                <a:ea typeface="Calibri" pitchFamily="34" charset="-122"/>
                <a:cs typeface="Calibri" pitchFamily="34" charset="-120"/>
              </a:rPr>
              <a:t>STEP 2</a:t>
            </a:r>
            <a:endParaRPr lang="en-US" sz="1200" dirty="0"/>
          </a:p>
        </p:txBody>
      </p:sp>
      <p:sp>
        <p:nvSpPr>
          <p:cNvPr id="3" name="Text 1"/>
          <p:cNvSpPr/>
          <p:nvPr/>
        </p:nvSpPr>
        <p:spPr>
          <a:xfrm>
            <a:off x="548640" y="566928"/>
            <a:ext cx="8046720" cy="64008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Embedding：意味空間は学習で生まれる</a:t>
            </a:r>
            <a:endParaRPr lang="en-US" sz="3000" dirty="0"/>
          </a:p>
        </p:txBody>
      </p:sp>
      <p:sp>
        <p:nvSpPr>
          <p:cNvPr id="4" name="Text 2"/>
          <p:cNvSpPr/>
          <p:nvPr/>
        </p:nvSpPr>
        <p:spPr>
          <a:xfrm>
            <a:off x="548640" y="1207008"/>
            <a:ext cx="8046720" cy="566928"/>
          </a:xfrm>
          <a:prstGeom prst="rect">
            <a:avLst/>
          </a:prstGeom>
          <a:noFill/>
          <a:ln/>
        </p:spPr>
        <p:txBody>
          <a:bodyPr wrap="square" rtlCol="0" anchor="ctr"/>
          <a:lstStyle/>
          <a:p>
            <a:pPr indent="0" marL="0">
              <a:buNone/>
            </a:pPr>
            <a:r>
              <a:rPr lang="en-US" sz="1250" dirty="0">
                <a:solidFill>
                  <a:srgbClr val="26324A"/>
                </a:solidFill>
                <a:latin typeface="Calibri" pitchFamily="34" charset="0"/>
                <a:ea typeface="Calibri" pitchFamily="34" charset="-122"/>
                <a:cs typeface="Calibri" pitchFamily="34" charset="-120"/>
              </a:rPr>
              <a:t>各トークンIDはEmbeddingベクトルに変換されます。</a:t>
            </a:r>
            <a:endParaRPr lang="en-US" sz="1250" dirty="0"/>
          </a:p>
          <a:p>
            <a:pPr indent="0" marL="0">
              <a:buNone/>
            </a:pPr>
            <a:r>
              <a:rPr lang="en-US" sz="1250" b="1" dirty="0">
                <a:solidFill>
                  <a:srgbClr val="0C7B93"/>
                </a:solidFill>
                <a:latin typeface="Calibri" pitchFamily="34" charset="0"/>
                <a:ea typeface="Calibri" pitchFamily="34" charset="-122"/>
                <a:cs typeface="Calibri" pitchFamily="34" charset="-120"/>
              </a:rPr>
              <a:t>学習開始時はランダムな値ですが、学習を繰り返すと意味が近い単語ほど自然に近づいていきます。</a:t>
            </a:r>
            <a:endParaRPr lang="en-US" sz="1250" dirty="0"/>
          </a:p>
        </p:txBody>
      </p:sp>
      <p:sp>
        <p:nvSpPr>
          <p:cNvPr id="5" name="Shape 3"/>
          <p:cNvSpPr/>
          <p:nvPr/>
        </p:nvSpPr>
        <p:spPr>
          <a:xfrm>
            <a:off x="548640" y="1993392"/>
            <a:ext cx="3429000" cy="1965960"/>
          </a:xfrm>
          <a:prstGeom prst="roundRect">
            <a:avLst>
              <a:gd name="adj" fmla="val 2791"/>
            </a:avLst>
          </a:prstGeom>
          <a:solidFill>
            <a:srgbClr val="EEF3FB"/>
          </a:solidFill>
          <a:ln/>
        </p:spPr>
      </p:sp>
      <p:sp>
        <p:nvSpPr>
          <p:cNvPr id="6" name="Shape 4"/>
          <p:cNvSpPr/>
          <p:nvPr/>
        </p:nvSpPr>
        <p:spPr>
          <a:xfrm>
            <a:off x="1120140" y="3284525"/>
            <a:ext cx="91440" cy="91440"/>
          </a:xfrm>
          <a:prstGeom prst="ellipse">
            <a:avLst/>
          </a:prstGeom>
          <a:solidFill>
            <a:srgbClr val="0C7B93"/>
          </a:solidFill>
          <a:ln/>
        </p:spPr>
      </p:sp>
      <p:sp>
        <p:nvSpPr>
          <p:cNvPr id="7" name="Text 5"/>
          <p:cNvSpPr/>
          <p:nvPr/>
        </p:nvSpPr>
        <p:spPr>
          <a:xfrm>
            <a:off x="754380" y="3385109"/>
            <a:ext cx="914400" cy="201168"/>
          </a:xfrm>
          <a:prstGeom prst="rect">
            <a:avLst/>
          </a:prstGeom>
          <a:noFill/>
          <a:ln/>
        </p:spPr>
        <p:txBody>
          <a:bodyPr wrap="square" rtlCol="0" anchor="ctr"/>
          <a:lstStyle/>
          <a:p>
            <a:pPr indent="0" marL="0">
              <a:buNone/>
            </a:pPr>
            <a:r>
              <a:rPr lang="en-US" sz="950" dirty="0">
                <a:solidFill>
                  <a:srgbClr val="26324A"/>
                </a:solidFill>
                <a:latin typeface="Calibri" pitchFamily="34" charset="0"/>
                <a:ea typeface="Calibri" pitchFamily="34" charset="-122"/>
                <a:cs typeface="Calibri" pitchFamily="34" charset="-120"/>
              </a:rPr>
              <a:t>king</a:t>
            </a:r>
            <a:endParaRPr lang="en-US" sz="950" dirty="0"/>
          </a:p>
        </p:txBody>
      </p:sp>
      <p:sp>
        <p:nvSpPr>
          <p:cNvPr id="8" name="Shape 6"/>
          <p:cNvSpPr/>
          <p:nvPr/>
        </p:nvSpPr>
        <p:spPr>
          <a:xfrm>
            <a:off x="2971800" y="2301545"/>
            <a:ext cx="91440" cy="91440"/>
          </a:xfrm>
          <a:prstGeom prst="ellipse">
            <a:avLst/>
          </a:prstGeom>
          <a:solidFill>
            <a:srgbClr val="0C7B93"/>
          </a:solidFill>
          <a:ln/>
        </p:spPr>
      </p:sp>
      <p:sp>
        <p:nvSpPr>
          <p:cNvPr id="9" name="Text 7"/>
          <p:cNvSpPr/>
          <p:nvPr/>
        </p:nvSpPr>
        <p:spPr>
          <a:xfrm>
            <a:off x="2606040" y="2402129"/>
            <a:ext cx="914400" cy="201168"/>
          </a:xfrm>
          <a:prstGeom prst="rect">
            <a:avLst/>
          </a:prstGeom>
          <a:noFill/>
          <a:ln/>
        </p:spPr>
        <p:txBody>
          <a:bodyPr wrap="square" rtlCol="0" anchor="ctr"/>
          <a:lstStyle/>
          <a:p>
            <a:pPr indent="0" marL="0">
              <a:buNone/>
            </a:pPr>
            <a:r>
              <a:rPr lang="en-US" sz="950" dirty="0">
                <a:solidFill>
                  <a:srgbClr val="26324A"/>
                </a:solidFill>
                <a:latin typeface="Calibri" pitchFamily="34" charset="0"/>
                <a:ea typeface="Calibri" pitchFamily="34" charset="-122"/>
                <a:cs typeface="Calibri" pitchFamily="34" charset="-120"/>
              </a:rPr>
              <a:t>queen</a:t>
            </a:r>
            <a:endParaRPr lang="en-US" sz="950" dirty="0"/>
          </a:p>
        </p:txBody>
      </p:sp>
      <p:sp>
        <p:nvSpPr>
          <p:cNvPr id="10" name="Shape 8"/>
          <p:cNvSpPr/>
          <p:nvPr/>
        </p:nvSpPr>
        <p:spPr>
          <a:xfrm>
            <a:off x="1943100" y="3618738"/>
            <a:ext cx="91440" cy="91440"/>
          </a:xfrm>
          <a:prstGeom prst="ellipse">
            <a:avLst/>
          </a:prstGeom>
          <a:solidFill>
            <a:srgbClr val="0C7B93"/>
          </a:solidFill>
          <a:ln/>
        </p:spPr>
      </p:sp>
      <p:sp>
        <p:nvSpPr>
          <p:cNvPr id="11" name="Text 9"/>
          <p:cNvSpPr/>
          <p:nvPr/>
        </p:nvSpPr>
        <p:spPr>
          <a:xfrm>
            <a:off x="1577340" y="3719322"/>
            <a:ext cx="914400" cy="201168"/>
          </a:xfrm>
          <a:prstGeom prst="rect">
            <a:avLst/>
          </a:prstGeom>
          <a:noFill/>
          <a:ln/>
        </p:spPr>
        <p:txBody>
          <a:bodyPr wrap="square" rtlCol="0" anchor="ctr"/>
          <a:lstStyle/>
          <a:p>
            <a:pPr indent="0" marL="0">
              <a:buNone/>
            </a:pPr>
            <a:r>
              <a:rPr lang="en-US" sz="950" dirty="0">
                <a:solidFill>
                  <a:srgbClr val="26324A"/>
                </a:solidFill>
                <a:latin typeface="Calibri" pitchFamily="34" charset="0"/>
                <a:ea typeface="Calibri" pitchFamily="34" charset="-122"/>
                <a:cs typeface="Calibri" pitchFamily="34" charset="-120"/>
              </a:rPr>
              <a:t>prince</a:t>
            </a:r>
            <a:endParaRPr lang="en-US" sz="950" dirty="0"/>
          </a:p>
        </p:txBody>
      </p:sp>
      <p:sp>
        <p:nvSpPr>
          <p:cNvPr id="12" name="Shape 10"/>
          <p:cNvSpPr/>
          <p:nvPr/>
        </p:nvSpPr>
        <p:spPr>
          <a:xfrm>
            <a:off x="914400" y="2380183"/>
            <a:ext cx="91440" cy="91440"/>
          </a:xfrm>
          <a:prstGeom prst="ellipse">
            <a:avLst/>
          </a:prstGeom>
          <a:solidFill>
            <a:srgbClr val="0C7B93"/>
          </a:solidFill>
          <a:ln/>
        </p:spPr>
      </p:sp>
      <p:sp>
        <p:nvSpPr>
          <p:cNvPr id="13" name="Text 11"/>
          <p:cNvSpPr/>
          <p:nvPr/>
        </p:nvSpPr>
        <p:spPr>
          <a:xfrm>
            <a:off x="548640" y="2480767"/>
            <a:ext cx="914400" cy="201168"/>
          </a:xfrm>
          <a:prstGeom prst="rect">
            <a:avLst/>
          </a:prstGeom>
          <a:noFill/>
          <a:ln/>
        </p:spPr>
        <p:txBody>
          <a:bodyPr wrap="square" rtlCol="0" anchor="ctr"/>
          <a:lstStyle/>
          <a:p>
            <a:pPr indent="0" marL="0">
              <a:buNone/>
            </a:pPr>
            <a:r>
              <a:rPr lang="en-US" sz="950" dirty="0">
                <a:solidFill>
                  <a:srgbClr val="26324A"/>
                </a:solidFill>
                <a:latin typeface="Calibri" pitchFamily="34" charset="0"/>
                <a:ea typeface="Calibri" pitchFamily="34" charset="-122"/>
                <a:cs typeface="Calibri" pitchFamily="34" charset="-120"/>
              </a:rPr>
              <a:t>apple</a:t>
            </a:r>
            <a:endParaRPr lang="en-US" sz="950" dirty="0"/>
          </a:p>
        </p:txBody>
      </p:sp>
      <p:sp>
        <p:nvSpPr>
          <p:cNvPr id="14" name="Shape 12"/>
          <p:cNvSpPr/>
          <p:nvPr/>
        </p:nvSpPr>
        <p:spPr>
          <a:xfrm>
            <a:off x="3246120" y="3166567"/>
            <a:ext cx="91440" cy="91440"/>
          </a:xfrm>
          <a:prstGeom prst="ellipse">
            <a:avLst/>
          </a:prstGeom>
          <a:solidFill>
            <a:srgbClr val="0C7B93"/>
          </a:solidFill>
          <a:ln/>
        </p:spPr>
      </p:sp>
      <p:sp>
        <p:nvSpPr>
          <p:cNvPr id="15" name="Text 13"/>
          <p:cNvSpPr/>
          <p:nvPr/>
        </p:nvSpPr>
        <p:spPr>
          <a:xfrm>
            <a:off x="2880360" y="3267151"/>
            <a:ext cx="914400" cy="201168"/>
          </a:xfrm>
          <a:prstGeom prst="rect">
            <a:avLst/>
          </a:prstGeom>
          <a:noFill/>
          <a:ln/>
        </p:spPr>
        <p:txBody>
          <a:bodyPr wrap="square" rtlCol="0" anchor="ctr"/>
          <a:lstStyle/>
          <a:p>
            <a:pPr indent="0" marL="0">
              <a:buNone/>
            </a:pPr>
            <a:r>
              <a:rPr lang="en-US" sz="950" dirty="0">
                <a:solidFill>
                  <a:srgbClr val="26324A"/>
                </a:solidFill>
                <a:latin typeface="Calibri" pitchFamily="34" charset="0"/>
                <a:ea typeface="Calibri" pitchFamily="34" charset="-122"/>
                <a:cs typeface="Calibri" pitchFamily="34" charset="-120"/>
              </a:rPr>
              <a:t>banana</a:t>
            </a:r>
            <a:endParaRPr lang="en-US" sz="950" dirty="0"/>
          </a:p>
        </p:txBody>
      </p:sp>
      <p:sp>
        <p:nvSpPr>
          <p:cNvPr id="16" name="Shape 14"/>
          <p:cNvSpPr/>
          <p:nvPr/>
        </p:nvSpPr>
        <p:spPr>
          <a:xfrm>
            <a:off x="2217420" y="2832354"/>
            <a:ext cx="91440" cy="91440"/>
          </a:xfrm>
          <a:prstGeom prst="ellipse">
            <a:avLst/>
          </a:prstGeom>
          <a:solidFill>
            <a:srgbClr val="0C7B93"/>
          </a:solidFill>
          <a:ln/>
        </p:spPr>
      </p:sp>
      <p:sp>
        <p:nvSpPr>
          <p:cNvPr id="17" name="Text 15"/>
          <p:cNvSpPr/>
          <p:nvPr/>
        </p:nvSpPr>
        <p:spPr>
          <a:xfrm>
            <a:off x="1851660" y="2932938"/>
            <a:ext cx="914400" cy="201168"/>
          </a:xfrm>
          <a:prstGeom prst="rect">
            <a:avLst/>
          </a:prstGeom>
          <a:noFill/>
          <a:ln/>
        </p:spPr>
        <p:txBody>
          <a:bodyPr wrap="square" rtlCol="0" anchor="ctr"/>
          <a:lstStyle/>
          <a:p>
            <a:pPr indent="0" marL="0">
              <a:buNone/>
            </a:pPr>
            <a:r>
              <a:rPr lang="en-US" sz="950" dirty="0">
                <a:solidFill>
                  <a:srgbClr val="26324A"/>
                </a:solidFill>
                <a:latin typeface="Calibri" pitchFamily="34" charset="0"/>
                <a:ea typeface="Calibri" pitchFamily="34" charset="-122"/>
                <a:cs typeface="Calibri" pitchFamily="34" charset="-120"/>
              </a:rPr>
              <a:t>it</a:t>
            </a:r>
            <a:endParaRPr lang="en-US" sz="950" dirty="0"/>
          </a:p>
        </p:txBody>
      </p:sp>
      <p:sp>
        <p:nvSpPr>
          <p:cNvPr id="18" name="Shape 16"/>
          <p:cNvSpPr/>
          <p:nvPr/>
        </p:nvSpPr>
        <p:spPr>
          <a:xfrm>
            <a:off x="548640" y="1645920"/>
            <a:ext cx="3429000" cy="310896"/>
          </a:xfrm>
          <a:prstGeom prst="roundRect">
            <a:avLst>
              <a:gd name="adj" fmla="val 11765"/>
            </a:avLst>
          </a:prstGeom>
          <a:solidFill>
            <a:srgbClr val="60728A"/>
          </a:solidFill>
          <a:ln/>
        </p:spPr>
      </p:sp>
      <p:sp>
        <p:nvSpPr>
          <p:cNvPr id="19" name="Text 17"/>
          <p:cNvSpPr/>
          <p:nvPr/>
        </p:nvSpPr>
        <p:spPr>
          <a:xfrm>
            <a:off x="548640" y="1645920"/>
            <a:ext cx="3429000" cy="310896"/>
          </a:xfrm>
          <a:prstGeom prst="rect">
            <a:avLst/>
          </a:prstGeom>
          <a:noFill/>
          <a:ln/>
        </p:spPr>
        <p:txBody>
          <a:bodyPr wrap="square"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学習前：ランダムな配置</a:t>
            </a:r>
            <a:endParaRPr lang="en-US" sz="1150" dirty="0"/>
          </a:p>
        </p:txBody>
      </p:sp>
      <p:sp>
        <p:nvSpPr>
          <p:cNvPr id="20" name="Shape 18"/>
          <p:cNvSpPr/>
          <p:nvPr/>
        </p:nvSpPr>
        <p:spPr>
          <a:xfrm>
            <a:off x="5166360" y="1993392"/>
            <a:ext cx="3429000" cy="1965960"/>
          </a:xfrm>
          <a:prstGeom prst="roundRect">
            <a:avLst>
              <a:gd name="adj" fmla="val 2791"/>
            </a:avLst>
          </a:prstGeom>
          <a:solidFill>
            <a:srgbClr val="EEF3FB"/>
          </a:solidFill>
          <a:ln/>
        </p:spPr>
      </p:sp>
      <p:sp>
        <p:nvSpPr>
          <p:cNvPr id="21" name="Shape 19"/>
          <p:cNvSpPr/>
          <p:nvPr/>
        </p:nvSpPr>
        <p:spPr>
          <a:xfrm>
            <a:off x="5943600" y="2380183"/>
            <a:ext cx="91440" cy="91440"/>
          </a:xfrm>
          <a:prstGeom prst="ellipse">
            <a:avLst/>
          </a:prstGeom>
          <a:solidFill>
            <a:srgbClr val="0C7B93"/>
          </a:solidFill>
          <a:ln/>
        </p:spPr>
      </p:sp>
      <p:sp>
        <p:nvSpPr>
          <p:cNvPr id="22" name="Text 20"/>
          <p:cNvSpPr/>
          <p:nvPr/>
        </p:nvSpPr>
        <p:spPr>
          <a:xfrm>
            <a:off x="5577840" y="2480767"/>
            <a:ext cx="914400" cy="201168"/>
          </a:xfrm>
          <a:prstGeom prst="rect">
            <a:avLst/>
          </a:prstGeom>
          <a:noFill/>
          <a:ln/>
        </p:spPr>
        <p:txBody>
          <a:bodyPr wrap="square" rtlCol="0" anchor="ctr"/>
          <a:lstStyle/>
          <a:p>
            <a:pPr indent="0" marL="0">
              <a:buNone/>
            </a:pPr>
            <a:r>
              <a:rPr lang="en-US" sz="950" dirty="0">
                <a:solidFill>
                  <a:srgbClr val="26324A"/>
                </a:solidFill>
                <a:latin typeface="Calibri" pitchFamily="34" charset="0"/>
                <a:ea typeface="Calibri" pitchFamily="34" charset="-122"/>
                <a:cs typeface="Calibri" pitchFamily="34" charset="-120"/>
              </a:rPr>
              <a:t>king</a:t>
            </a:r>
            <a:endParaRPr lang="en-US" sz="950" dirty="0"/>
          </a:p>
        </p:txBody>
      </p:sp>
      <p:sp>
        <p:nvSpPr>
          <p:cNvPr id="23" name="Shape 21"/>
          <p:cNvSpPr/>
          <p:nvPr/>
        </p:nvSpPr>
        <p:spPr>
          <a:xfrm>
            <a:off x="6423660" y="2340864"/>
            <a:ext cx="91440" cy="91440"/>
          </a:xfrm>
          <a:prstGeom prst="ellipse">
            <a:avLst/>
          </a:prstGeom>
          <a:solidFill>
            <a:srgbClr val="0C7B93"/>
          </a:solidFill>
          <a:ln/>
        </p:spPr>
      </p:sp>
      <p:sp>
        <p:nvSpPr>
          <p:cNvPr id="24" name="Text 22"/>
          <p:cNvSpPr/>
          <p:nvPr/>
        </p:nvSpPr>
        <p:spPr>
          <a:xfrm>
            <a:off x="6057900" y="2441448"/>
            <a:ext cx="914400" cy="201168"/>
          </a:xfrm>
          <a:prstGeom prst="rect">
            <a:avLst/>
          </a:prstGeom>
          <a:noFill/>
          <a:ln/>
        </p:spPr>
        <p:txBody>
          <a:bodyPr wrap="square" rtlCol="0" anchor="ctr"/>
          <a:lstStyle/>
          <a:p>
            <a:pPr indent="0" marL="0">
              <a:buNone/>
            </a:pPr>
            <a:r>
              <a:rPr lang="en-US" sz="950" dirty="0">
                <a:solidFill>
                  <a:srgbClr val="26324A"/>
                </a:solidFill>
                <a:latin typeface="Calibri" pitchFamily="34" charset="0"/>
                <a:ea typeface="Calibri" pitchFamily="34" charset="-122"/>
                <a:cs typeface="Calibri" pitchFamily="34" charset="-120"/>
              </a:rPr>
              <a:t>queen</a:t>
            </a:r>
            <a:endParaRPr lang="en-US" sz="950" dirty="0"/>
          </a:p>
        </p:txBody>
      </p:sp>
      <p:sp>
        <p:nvSpPr>
          <p:cNvPr id="25" name="Shape 23"/>
          <p:cNvSpPr/>
          <p:nvPr/>
        </p:nvSpPr>
        <p:spPr>
          <a:xfrm>
            <a:off x="6080760" y="2734056"/>
            <a:ext cx="91440" cy="91440"/>
          </a:xfrm>
          <a:prstGeom prst="ellipse">
            <a:avLst/>
          </a:prstGeom>
          <a:solidFill>
            <a:srgbClr val="0C7B93"/>
          </a:solidFill>
          <a:ln/>
        </p:spPr>
      </p:sp>
      <p:sp>
        <p:nvSpPr>
          <p:cNvPr id="26" name="Text 24"/>
          <p:cNvSpPr/>
          <p:nvPr/>
        </p:nvSpPr>
        <p:spPr>
          <a:xfrm>
            <a:off x="5715000" y="2834640"/>
            <a:ext cx="914400" cy="201168"/>
          </a:xfrm>
          <a:prstGeom prst="rect">
            <a:avLst/>
          </a:prstGeom>
          <a:noFill/>
          <a:ln/>
        </p:spPr>
        <p:txBody>
          <a:bodyPr wrap="square" rtlCol="0" anchor="ctr"/>
          <a:lstStyle/>
          <a:p>
            <a:pPr indent="0" marL="0">
              <a:buNone/>
            </a:pPr>
            <a:r>
              <a:rPr lang="en-US" sz="950" dirty="0">
                <a:solidFill>
                  <a:srgbClr val="26324A"/>
                </a:solidFill>
                <a:latin typeface="Calibri" pitchFamily="34" charset="0"/>
                <a:ea typeface="Calibri" pitchFamily="34" charset="-122"/>
                <a:cs typeface="Calibri" pitchFamily="34" charset="-120"/>
              </a:rPr>
              <a:t>prince</a:t>
            </a:r>
            <a:endParaRPr lang="en-US" sz="950" dirty="0"/>
          </a:p>
        </p:txBody>
      </p:sp>
      <p:sp>
        <p:nvSpPr>
          <p:cNvPr id="27" name="Shape 25"/>
          <p:cNvSpPr/>
          <p:nvPr/>
        </p:nvSpPr>
        <p:spPr>
          <a:xfrm>
            <a:off x="7726680" y="3363163"/>
            <a:ext cx="91440" cy="91440"/>
          </a:xfrm>
          <a:prstGeom prst="ellipse">
            <a:avLst/>
          </a:prstGeom>
          <a:solidFill>
            <a:srgbClr val="0C7B93"/>
          </a:solidFill>
          <a:ln/>
        </p:spPr>
      </p:sp>
      <p:sp>
        <p:nvSpPr>
          <p:cNvPr id="28" name="Text 26"/>
          <p:cNvSpPr/>
          <p:nvPr/>
        </p:nvSpPr>
        <p:spPr>
          <a:xfrm>
            <a:off x="7360920" y="3463747"/>
            <a:ext cx="914400" cy="201168"/>
          </a:xfrm>
          <a:prstGeom prst="rect">
            <a:avLst/>
          </a:prstGeom>
          <a:noFill/>
          <a:ln/>
        </p:spPr>
        <p:txBody>
          <a:bodyPr wrap="square" rtlCol="0" anchor="ctr"/>
          <a:lstStyle/>
          <a:p>
            <a:pPr indent="0" marL="0">
              <a:buNone/>
            </a:pPr>
            <a:r>
              <a:rPr lang="en-US" sz="950" dirty="0">
                <a:solidFill>
                  <a:srgbClr val="26324A"/>
                </a:solidFill>
                <a:latin typeface="Calibri" pitchFamily="34" charset="0"/>
                <a:ea typeface="Calibri" pitchFamily="34" charset="-122"/>
                <a:cs typeface="Calibri" pitchFamily="34" charset="-120"/>
              </a:rPr>
              <a:t>apple</a:t>
            </a:r>
            <a:endParaRPr lang="en-US" sz="950" dirty="0"/>
          </a:p>
        </p:txBody>
      </p:sp>
      <p:sp>
        <p:nvSpPr>
          <p:cNvPr id="29" name="Shape 27"/>
          <p:cNvSpPr/>
          <p:nvPr/>
        </p:nvSpPr>
        <p:spPr>
          <a:xfrm>
            <a:off x="8069580" y="3166567"/>
            <a:ext cx="91440" cy="91440"/>
          </a:xfrm>
          <a:prstGeom prst="ellipse">
            <a:avLst/>
          </a:prstGeom>
          <a:solidFill>
            <a:srgbClr val="0C7B93"/>
          </a:solidFill>
          <a:ln/>
        </p:spPr>
      </p:sp>
      <p:sp>
        <p:nvSpPr>
          <p:cNvPr id="30" name="Text 28"/>
          <p:cNvSpPr/>
          <p:nvPr/>
        </p:nvSpPr>
        <p:spPr>
          <a:xfrm>
            <a:off x="7703820" y="3267151"/>
            <a:ext cx="914400" cy="201168"/>
          </a:xfrm>
          <a:prstGeom prst="rect">
            <a:avLst/>
          </a:prstGeom>
          <a:noFill/>
          <a:ln/>
        </p:spPr>
        <p:txBody>
          <a:bodyPr wrap="square" rtlCol="0" anchor="ctr"/>
          <a:lstStyle/>
          <a:p>
            <a:pPr indent="0" marL="0">
              <a:buNone/>
            </a:pPr>
            <a:r>
              <a:rPr lang="en-US" sz="950" dirty="0">
                <a:solidFill>
                  <a:srgbClr val="26324A"/>
                </a:solidFill>
                <a:latin typeface="Calibri" pitchFamily="34" charset="0"/>
                <a:ea typeface="Calibri" pitchFamily="34" charset="-122"/>
                <a:cs typeface="Calibri" pitchFamily="34" charset="-120"/>
              </a:rPr>
              <a:t>banana</a:t>
            </a:r>
            <a:endParaRPr lang="en-US" sz="950" dirty="0"/>
          </a:p>
        </p:txBody>
      </p:sp>
      <p:sp>
        <p:nvSpPr>
          <p:cNvPr id="31" name="Shape 29"/>
          <p:cNvSpPr/>
          <p:nvPr/>
        </p:nvSpPr>
        <p:spPr>
          <a:xfrm>
            <a:off x="7006590" y="3618738"/>
            <a:ext cx="91440" cy="91440"/>
          </a:xfrm>
          <a:prstGeom prst="ellipse">
            <a:avLst/>
          </a:prstGeom>
          <a:solidFill>
            <a:srgbClr val="0C7B93"/>
          </a:solidFill>
          <a:ln/>
        </p:spPr>
      </p:sp>
      <p:sp>
        <p:nvSpPr>
          <p:cNvPr id="32" name="Text 30"/>
          <p:cNvSpPr/>
          <p:nvPr/>
        </p:nvSpPr>
        <p:spPr>
          <a:xfrm>
            <a:off x="6640830" y="3719322"/>
            <a:ext cx="914400" cy="201168"/>
          </a:xfrm>
          <a:prstGeom prst="rect">
            <a:avLst/>
          </a:prstGeom>
          <a:noFill/>
          <a:ln/>
        </p:spPr>
        <p:txBody>
          <a:bodyPr wrap="square" rtlCol="0" anchor="ctr"/>
          <a:lstStyle/>
          <a:p>
            <a:pPr indent="0" marL="0">
              <a:buNone/>
            </a:pPr>
            <a:r>
              <a:rPr lang="en-US" sz="950" dirty="0">
                <a:solidFill>
                  <a:srgbClr val="26324A"/>
                </a:solidFill>
                <a:latin typeface="Calibri" pitchFamily="34" charset="0"/>
                <a:ea typeface="Calibri" pitchFamily="34" charset="-122"/>
                <a:cs typeface="Calibri" pitchFamily="34" charset="-120"/>
              </a:rPr>
              <a:t>it</a:t>
            </a:r>
            <a:endParaRPr lang="en-US" sz="950" dirty="0"/>
          </a:p>
        </p:txBody>
      </p:sp>
      <p:sp>
        <p:nvSpPr>
          <p:cNvPr id="33" name="Shape 31"/>
          <p:cNvSpPr/>
          <p:nvPr/>
        </p:nvSpPr>
        <p:spPr>
          <a:xfrm>
            <a:off x="5166360" y="1645920"/>
            <a:ext cx="3429000" cy="310896"/>
          </a:xfrm>
          <a:prstGeom prst="roundRect">
            <a:avLst>
              <a:gd name="adj" fmla="val 11765"/>
            </a:avLst>
          </a:prstGeom>
          <a:solidFill>
            <a:srgbClr val="0C7B93"/>
          </a:solidFill>
          <a:ln/>
        </p:spPr>
      </p:sp>
      <p:sp>
        <p:nvSpPr>
          <p:cNvPr id="34" name="Text 32"/>
          <p:cNvSpPr/>
          <p:nvPr/>
        </p:nvSpPr>
        <p:spPr>
          <a:xfrm>
            <a:off x="5166360" y="1645920"/>
            <a:ext cx="3429000" cy="310896"/>
          </a:xfrm>
          <a:prstGeom prst="rect">
            <a:avLst/>
          </a:prstGeom>
          <a:noFill/>
          <a:ln/>
        </p:spPr>
        <p:txBody>
          <a:bodyPr wrap="square"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学習後：意味が近い単語が集まる</a:t>
            </a:r>
            <a:endParaRPr lang="en-US" sz="1150" dirty="0"/>
          </a:p>
        </p:txBody>
      </p:sp>
      <p:sp>
        <p:nvSpPr>
          <p:cNvPr id="35" name="Shape 33"/>
          <p:cNvSpPr/>
          <p:nvPr/>
        </p:nvSpPr>
        <p:spPr>
          <a:xfrm>
            <a:off x="4087368" y="2775204"/>
            <a:ext cx="640080" cy="402336"/>
          </a:xfrm>
          <a:prstGeom prst="rightArrow">
            <a:avLst/>
          </a:prstGeom>
          <a:solidFill>
            <a:srgbClr val="E8A33D"/>
          </a:solidFill>
          <a:ln/>
        </p:spPr>
      </p:sp>
      <p:sp>
        <p:nvSpPr>
          <p:cNvPr id="36" name="Text 34"/>
          <p:cNvSpPr/>
          <p:nvPr/>
        </p:nvSpPr>
        <p:spPr>
          <a:xfrm>
            <a:off x="3995928" y="3232404"/>
            <a:ext cx="822960" cy="548640"/>
          </a:xfrm>
          <a:prstGeom prst="rect">
            <a:avLst/>
          </a:prstGeom>
          <a:noFill/>
          <a:ln/>
        </p:spPr>
        <p:txBody>
          <a:bodyPr wrap="square" rtlCol="0" anchor="ctr"/>
          <a:lstStyle/>
          <a:p>
            <a:pPr algn="ctr" indent="0" marL="0">
              <a:buNone/>
            </a:pPr>
            <a:r>
              <a:rPr lang="en-US" sz="850" b="1" dirty="0">
                <a:solidFill>
                  <a:srgbClr val="E8A33D"/>
                </a:solidFill>
                <a:latin typeface="Calibri" pitchFamily="34" charset="0"/>
                <a:ea typeface="Calibri" pitchFamily="34" charset="-122"/>
                <a:cs typeface="Calibri" pitchFamily="34" charset="-120"/>
              </a:rPr>
              <a:t>学習</a:t>
            </a:r>
            <a:endParaRPr lang="en-US" sz="850" dirty="0"/>
          </a:p>
          <a:p>
            <a:pPr algn="ctr" indent="0" marL="0">
              <a:buNone/>
            </a:pPr>
            <a:r>
              <a:rPr lang="en-US" sz="850" b="1" dirty="0">
                <a:solidFill>
                  <a:srgbClr val="E8A33D"/>
                </a:solidFill>
                <a:latin typeface="Calibri" pitchFamily="34" charset="0"/>
                <a:ea typeface="Calibri" pitchFamily="34" charset="-122"/>
                <a:cs typeface="Calibri" pitchFamily="34" charset="-120"/>
              </a:rPr>
              <a:t>（次単語予測を</a:t>
            </a:r>
            <a:endParaRPr lang="en-US" sz="850" dirty="0"/>
          </a:p>
          <a:p>
            <a:pPr algn="ctr" indent="0" marL="0">
              <a:buNone/>
            </a:pPr>
            <a:r>
              <a:rPr lang="en-US" sz="850" b="1" dirty="0">
                <a:solidFill>
                  <a:srgbClr val="E8A33D"/>
                </a:solidFill>
                <a:latin typeface="Calibri" pitchFamily="34" charset="0"/>
                <a:ea typeface="Calibri" pitchFamily="34" charset="-122"/>
                <a:cs typeface="Calibri" pitchFamily="34" charset="-120"/>
              </a:rPr>
              <a:t>何度も繰り返す）</a:t>
            </a:r>
            <a:endParaRPr lang="en-US" sz="850" dirty="0"/>
          </a:p>
        </p:txBody>
      </p:sp>
      <p:sp>
        <p:nvSpPr>
          <p:cNvPr id="37" name="Text 35"/>
          <p:cNvSpPr/>
          <p:nvPr/>
        </p:nvSpPr>
        <p:spPr>
          <a:xfrm>
            <a:off x="548640" y="4069080"/>
            <a:ext cx="8046720" cy="320040"/>
          </a:xfrm>
          <a:prstGeom prst="rect">
            <a:avLst/>
          </a:prstGeom>
          <a:noFill/>
          <a:ln/>
        </p:spPr>
        <p:txBody>
          <a:bodyPr wrap="square" rtlCol="0" anchor="ctr"/>
          <a:lstStyle/>
          <a:p>
            <a:pPr indent="0" marL="0">
              <a:buNone/>
            </a:pPr>
            <a:r>
              <a:rPr lang="en-US" sz="1200" i="1" dirty="0">
                <a:solidFill>
                  <a:srgbClr val="60728A"/>
                </a:solidFill>
                <a:latin typeface="Calibri" pitchFamily="34" charset="0"/>
                <a:ea typeface="Calibri" pitchFamily="34" charset="-122"/>
                <a:cs typeface="Calibri" pitchFamily="34" charset="-120"/>
              </a:rPr>
              <a:t>→ 「意味 = 位置」は最初から与えられているのではなく、学習の結果として作られます。</a:t>
            </a:r>
            <a:endParaRPr lang="en-US" sz="1200" dirty="0"/>
          </a:p>
        </p:txBody>
      </p:sp>
      <p:sp>
        <p:nvSpPr>
          <p:cNvPr id="38" name="Text 36"/>
          <p:cNvSpPr/>
          <p:nvPr/>
        </p:nvSpPr>
        <p:spPr>
          <a:xfrm>
            <a:off x="8138160" y="4828032"/>
            <a:ext cx="731520" cy="274320"/>
          </a:xfrm>
          <a:prstGeom prst="rect">
            <a:avLst/>
          </a:prstGeom>
          <a:noFill/>
          <a:ln/>
        </p:spPr>
        <p:txBody>
          <a:bodyPr wrap="square" rtlCol="0" anchor="ctr"/>
          <a:lstStyle/>
          <a:p>
            <a:pPr algn="r" indent="0" marL="0">
              <a:buNone/>
            </a:pPr>
            <a:r>
              <a:rPr lang="en-US" sz="1000" dirty="0">
                <a:solidFill>
                  <a:srgbClr val="60728A"/>
                </a:solidFill>
                <a:latin typeface="Calibri" pitchFamily="34" charset="0"/>
                <a:ea typeface="Calibri" pitchFamily="34" charset="-122"/>
                <a:cs typeface="Calibri" pitchFamily="34" charset="-120"/>
              </a:rPr>
              <a:t>04 / 17</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7772400" cy="274320"/>
          </a:xfrm>
          <a:prstGeom prst="rect">
            <a:avLst/>
          </a:prstGeom>
          <a:noFill/>
          <a:ln/>
        </p:spPr>
        <p:txBody>
          <a:bodyPr wrap="square" rtlCol="0" anchor="ctr"/>
          <a:lstStyle/>
          <a:p>
            <a:pPr indent="0" marL="0">
              <a:buNone/>
            </a:pPr>
            <a:r>
              <a:rPr lang="en-US" sz="1200" b="1" spc="200" kern="0" dirty="0">
                <a:solidFill>
                  <a:srgbClr val="0C7B93"/>
                </a:solidFill>
                <a:latin typeface="Calibri" pitchFamily="34" charset="0"/>
                <a:ea typeface="Calibri" pitchFamily="34" charset="-122"/>
                <a:cs typeface="Calibri" pitchFamily="34" charset="-120"/>
              </a:rPr>
              <a:t>STEP 3</a:t>
            </a:r>
            <a:endParaRPr lang="en-US" sz="1200" dirty="0"/>
          </a:p>
        </p:txBody>
      </p:sp>
      <p:sp>
        <p:nvSpPr>
          <p:cNvPr id="3" name="Text 1"/>
          <p:cNvSpPr/>
          <p:nvPr/>
        </p:nvSpPr>
        <p:spPr>
          <a:xfrm>
            <a:off x="548640" y="566928"/>
            <a:ext cx="8046720" cy="64008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Q・K・V：Embeddingを3つの見方に変換する</a:t>
            </a:r>
            <a:endParaRPr lang="en-US" sz="3000" dirty="0"/>
          </a:p>
        </p:txBody>
      </p:sp>
      <p:sp>
        <p:nvSpPr>
          <p:cNvPr id="4" name="Text 2"/>
          <p:cNvSpPr/>
          <p:nvPr/>
        </p:nvSpPr>
        <p:spPr>
          <a:xfrm>
            <a:off x="548640" y="1225296"/>
            <a:ext cx="8046720" cy="502920"/>
          </a:xfrm>
          <a:prstGeom prst="rect">
            <a:avLst/>
          </a:prstGeom>
          <a:noFill/>
          <a:ln/>
        </p:spPr>
        <p:txBody>
          <a:bodyPr wrap="square" rtlCol="0" anchor="ctr"/>
          <a:lstStyle/>
          <a:p>
            <a:pPr indent="0" marL="0">
              <a:buNone/>
            </a:pPr>
            <a:r>
              <a:rPr lang="en-US" sz="1250" dirty="0">
                <a:solidFill>
                  <a:srgbClr val="26324A"/>
                </a:solidFill>
                <a:latin typeface="Calibri" pitchFamily="34" charset="0"/>
                <a:ea typeface="Calibri" pitchFamily="34" charset="-122"/>
                <a:cs typeface="Calibri" pitchFamily="34" charset="-120"/>
              </a:rPr>
              <a:t>同じEmbeddingベクトルを、</a:t>
            </a:r>
            <a:pPr indent="0" marL="0">
              <a:buNone/>
            </a:pPr>
            <a:r>
              <a:rPr lang="en-US" sz="1250" b="1" dirty="0">
                <a:solidFill>
                  <a:srgbClr val="0C7B93"/>
                </a:solidFill>
                <a:latin typeface="Calibri" pitchFamily="34" charset="0"/>
                <a:ea typeface="Calibri" pitchFamily="34" charset="-122"/>
                <a:cs typeface="Calibri" pitchFamily="34" charset="-120"/>
              </a:rPr>
              <a:t>3種類の異なる重み行列（WQ・WK・WV）</a:t>
            </a:r>
            <a:pPr indent="0" marL="0">
              <a:buNone/>
            </a:pPr>
            <a:r>
              <a:rPr lang="en-US" sz="1250" dirty="0">
                <a:solidFill>
                  <a:srgbClr val="26324A"/>
                </a:solidFill>
                <a:latin typeface="Calibri" pitchFamily="34" charset="0"/>
                <a:ea typeface="Calibri" pitchFamily="34" charset="-122"/>
                <a:cs typeface="Calibri" pitchFamily="34" charset="-120"/>
              </a:rPr>
              <a:t>で変換すると、</a:t>
            </a:r>
            <a:endParaRPr lang="en-US" sz="1250" dirty="0"/>
          </a:p>
          <a:p>
            <a:pPr indent="0" marL="0">
              <a:buNone/>
            </a:pPr>
            <a:r>
              <a:rPr lang="en-US" sz="1250" dirty="0">
                <a:solidFill>
                  <a:srgbClr val="26324A"/>
                </a:solidFill>
                <a:latin typeface="Calibri" pitchFamily="34" charset="0"/>
                <a:ea typeface="Calibri" pitchFamily="34" charset="-122"/>
                <a:cs typeface="Calibri" pitchFamily="34" charset="-120"/>
              </a:rPr>
              <a:t>Q・K・Vという3つの特徴が得られます。</a:t>
            </a:r>
            <a:endParaRPr lang="en-US" sz="1250" dirty="0"/>
          </a:p>
        </p:txBody>
      </p:sp>
      <p:sp>
        <p:nvSpPr>
          <p:cNvPr id="5" name="Shape 3"/>
          <p:cNvSpPr/>
          <p:nvPr/>
        </p:nvSpPr>
        <p:spPr>
          <a:xfrm>
            <a:off x="3200400" y="1783080"/>
            <a:ext cx="2743200" cy="329184"/>
          </a:xfrm>
          <a:prstGeom prst="roundRect">
            <a:avLst>
              <a:gd name="adj" fmla="val 16667"/>
            </a:avLst>
          </a:prstGeom>
          <a:solidFill>
            <a:srgbClr val="1E2761"/>
          </a:solidFill>
          <a:ln/>
        </p:spPr>
      </p:sp>
      <p:sp>
        <p:nvSpPr>
          <p:cNvPr id="6" name="Text 4"/>
          <p:cNvSpPr/>
          <p:nvPr/>
        </p:nvSpPr>
        <p:spPr>
          <a:xfrm>
            <a:off x="3200400" y="1783080"/>
            <a:ext cx="2743200" cy="329184"/>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Embeddingベクトル</a:t>
            </a:r>
            <a:endParaRPr lang="en-US" sz="1200" dirty="0"/>
          </a:p>
        </p:txBody>
      </p:sp>
      <p:sp>
        <p:nvSpPr>
          <p:cNvPr id="7" name="Shape 5"/>
          <p:cNvSpPr/>
          <p:nvPr/>
        </p:nvSpPr>
        <p:spPr>
          <a:xfrm flipH="1">
            <a:off x="1783080" y="2112264"/>
            <a:ext cx="2788920" cy="128016"/>
          </a:xfrm>
          <a:prstGeom prst="line">
            <a:avLst/>
          </a:prstGeom>
          <a:noFill/>
          <a:ln w="15875">
            <a:solidFill>
              <a:srgbClr val="60728A"/>
            </a:solidFill>
            <a:prstDash val="solid"/>
          </a:ln>
        </p:spPr>
      </p:sp>
      <p:sp>
        <p:nvSpPr>
          <p:cNvPr id="8" name="Shape 6"/>
          <p:cNvSpPr/>
          <p:nvPr/>
        </p:nvSpPr>
        <p:spPr>
          <a:xfrm>
            <a:off x="4572000" y="2112264"/>
            <a:ext cx="0" cy="128016"/>
          </a:xfrm>
          <a:prstGeom prst="line">
            <a:avLst/>
          </a:prstGeom>
          <a:noFill/>
          <a:ln w="15875">
            <a:solidFill>
              <a:srgbClr val="60728A"/>
            </a:solidFill>
            <a:prstDash val="solid"/>
          </a:ln>
        </p:spPr>
      </p:sp>
      <p:sp>
        <p:nvSpPr>
          <p:cNvPr id="9" name="Shape 7"/>
          <p:cNvSpPr/>
          <p:nvPr/>
        </p:nvSpPr>
        <p:spPr>
          <a:xfrm>
            <a:off x="4572000" y="2112264"/>
            <a:ext cx="2788920" cy="128016"/>
          </a:xfrm>
          <a:prstGeom prst="line">
            <a:avLst/>
          </a:prstGeom>
          <a:noFill/>
          <a:ln w="15875">
            <a:solidFill>
              <a:srgbClr val="60728A"/>
            </a:solidFill>
            <a:prstDash val="solid"/>
          </a:ln>
        </p:spPr>
      </p:sp>
      <p:sp>
        <p:nvSpPr>
          <p:cNvPr id="10" name="Shape 8"/>
          <p:cNvSpPr/>
          <p:nvPr/>
        </p:nvSpPr>
        <p:spPr>
          <a:xfrm>
            <a:off x="548640" y="2240280"/>
            <a:ext cx="2468880" cy="329184"/>
          </a:xfrm>
          <a:prstGeom prst="roundRect">
            <a:avLst>
              <a:gd name="adj" fmla="val 16667"/>
            </a:avLst>
          </a:prstGeom>
          <a:solidFill>
            <a:srgbClr val="3A468C"/>
          </a:solidFill>
          <a:ln/>
        </p:spPr>
      </p:sp>
      <p:sp>
        <p:nvSpPr>
          <p:cNvPr id="11" name="Text 9"/>
          <p:cNvSpPr/>
          <p:nvPr/>
        </p:nvSpPr>
        <p:spPr>
          <a:xfrm>
            <a:off x="548640" y="2240280"/>
            <a:ext cx="2468880" cy="329184"/>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WQ で変換</a:t>
            </a:r>
            <a:endParaRPr lang="en-US" sz="1200" dirty="0"/>
          </a:p>
        </p:txBody>
      </p:sp>
      <p:sp>
        <p:nvSpPr>
          <p:cNvPr id="12" name="Shape 10"/>
          <p:cNvSpPr/>
          <p:nvPr/>
        </p:nvSpPr>
        <p:spPr>
          <a:xfrm>
            <a:off x="3337560" y="2240280"/>
            <a:ext cx="2468880" cy="329184"/>
          </a:xfrm>
          <a:prstGeom prst="roundRect">
            <a:avLst>
              <a:gd name="adj" fmla="val 16667"/>
            </a:avLst>
          </a:prstGeom>
          <a:solidFill>
            <a:srgbClr val="3A468C"/>
          </a:solidFill>
          <a:ln/>
        </p:spPr>
      </p:sp>
      <p:sp>
        <p:nvSpPr>
          <p:cNvPr id="13" name="Text 11"/>
          <p:cNvSpPr/>
          <p:nvPr/>
        </p:nvSpPr>
        <p:spPr>
          <a:xfrm>
            <a:off x="3337560" y="2240280"/>
            <a:ext cx="2468880" cy="329184"/>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WK で変換</a:t>
            </a:r>
            <a:endParaRPr lang="en-US" sz="1200" dirty="0"/>
          </a:p>
        </p:txBody>
      </p:sp>
      <p:sp>
        <p:nvSpPr>
          <p:cNvPr id="14" name="Shape 12"/>
          <p:cNvSpPr/>
          <p:nvPr/>
        </p:nvSpPr>
        <p:spPr>
          <a:xfrm>
            <a:off x="6126480" y="2240280"/>
            <a:ext cx="2468880" cy="329184"/>
          </a:xfrm>
          <a:prstGeom prst="roundRect">
            <a:avLst>
              <a:gd name="adj" fmla="val 16667"/>
            </a:avLst>
          </a:prstGeom>
          <a:solidFill>
            <a:srgbClr val="3A468C"/>
          </a:solidFill>
          <a:ln/>
        </p:spPr>
      </p:sp>
      <p:sp>
        <p:nvSpPr>
          <p:cNvPr id="15" name="Text 13"/>
          <p:cNvSpPr/>
          <p:nvPr/>
        </p:nvSpPr>
        <p:spPr>
          <a:xfrm>
            <a:off x="6126480" y="2240280"/>
            <a:ext cx="2468880" cy="329184"/>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WV で変換</a:t>
            </a:r>
            <a:endParaRPr lang="en-US" sz="1200" dirty="0"/>
          </a:p>
        </p:txBody>
      </p:sp>
      <p:sp>
        <p:nvSpPr>
          <p:cNvPr id="16" name="Shape 14"/>
          <p:cNvSpPr/>
          <p:nvPr/>
        </p:nvSpPr>
        <p:spPr>
          <a:xfrm>
            <a:off x="1664208" y="2587752"/>
            <a:ext cx="237744" cy="164592"/>
          </a:xfrm>
          <a:prstGeom prst="downArrow">
            <a:avLst/>
          </a:prstGeom>
          <a:solidFill>
            <a:srgbClr val="60728A"/>
          </a:solidFill>
          <a:ln/>
        </p:spPr>
      </p:sp>
      <p:sp>
        <p:nvSpPr>
          <p:cNvPr id="17" name="Shape 15"/>
          <p:cNvSpPr/>
          <p:nvPr/>
        </p:nvSpPr>
        <p:spPr>
          <a:xfrm>
            <a:off x="4453128" y="2587752"/>
            <a:ext cx="237744" cy="164592"/>
          </a:xfrm>
          <a:prstGeom prst="downArrow">
            <a:avLst/>
          </a:prstGeom>
          <a:solidFill>
            <a:srgbClr val="60728A"/>
          </a:solidFill>
          <a:ln/>
        </p:spPr>
      </p:sp>
      <p:sp>
        <p:nvSpPr>
          <p:cNvPr id="18" name="Shape 16"/>
          <p:cNvSpPr/>
          <p:nvPr/>
        </p:nvSpPr>
        <p:spPr>
          <a:xfrm>
            <a:off x="7242048" y="2587752"/>
            <a:ext cx="237744" cy="164592"/>
          </a:xfrm>
          <a:prstGeom prst="downArrow">
            <a:avLst/>
          </a:prstGeom>
          <a:solidFill>
            <a:srgbClr val="60728A"/>
          </a:solidFill>
          <a:ln/>
        </p:spPr>
      </p:sp>
      <p:sp>
        <p:nvSpPr>
          <p:cNvPr id="19" name="Shape 17"/>
          <p:cNvSpPr/>
          <p:nvPr/>
        </p:nvSpPr>
        <p:spPr>
          <a:xfrm>
            <a:off x="548640" y="2770632"/>
            <a:ext cx="2468880" cy="1234440"/>
          </a:xfrm>
          <a:prstGeom prst="roundRect">
            <a:avLst>
              <a:gd name="adj" fmla="val 5926"/>
            </a:avLst>
          </a:prstGeom>
          <a:solidFill>
            <a:srgbClr val="EEF3FB"/>
          </a:solidFill>
          <a:ln/>
        </p:spPr>
      </p:sp>
      <p:sp>
        <p:nvSpPr>
          <p:cNvPr id="20" name="Shape 18"/>
          <p:cNvSpPr/>
          <p:nvPr/>
        </p:nvSpPr>
        <p:spPr>
          <a:xfrm>
            <a:off x="1545336" y="2880360"/>
            <a:ext cx="475488" cy="475488"/>
          </a:xfrm>
          <a:prstGeom prst="ellipse">
            <a:avLst/>
          </a:prstGeom>
          <a:solidFill>
            <a:srgbClr val="1E2761"/>
          </a:solidFill>
          <a:ln/>
        </p:spPr>
      </p:sp>
      <p:sp>
        <p:nvSpPr>
          <p:cNvPr id="21" name="Text 19"/>
          <p:cNvSpPr/>
          <p:nvPr/>
        </p:nvSpPr>
        <p:spPr>
          <a:xfrm>
            <a:off x="1545336" y="2880360"/>
            <a:ext cx="475488" cy="475488"/>
          </a:xfrm>
          <a:prstGeom prst="rect">
            <a:avLst/>
          </a:prstGeom>
          <a:noFill/>
          <a:ln/>
        </p:spPr>
        <p:txBody>
          <a:bodyPr wrap="square"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Q</a:t>
            </a:r>
            <a:endParaRPr lang="en-US" sz="1700" dirty="0"/>
          </a:p>
        </p:txBody>
      </p:sp>
      <p:sp>
        <p:nvSpPr>
          <p:cNvPr id="22" name="Text 20"/>
          <p:cNvSpPr/>
          <p:nvPr/>
        </p:nvSpPr>
        <p:spPr>
          <a:xfrm>
            <a:off x="548640" y="3392424"/>
            <a:ext cx="2468880" cy="219456"/>
          </a:xfrm>
          <a:prstGeom prst="rect">
            <a:avLst/>
          </a:prstGeom>
          <a:noFill/>
          <a:ln/>
        </p:spPr>
        <p:txBody>
          <a:bodyPr wrap="square" rtlCol="0" anchor="ctr"/>
          <a:lstStyle/>
          <a:p>
            <a:pPr algn="ctr" indent="0" marL="0">
              <a:buNone/>
            </a:pPr>
            <a:r>
              <a:rPr lang="en-US" sz="1250" b="1" dirty="0">
                <a:solidFill>
                  <a:srgbClr val="1E2761"/>
                </a:solidFill>
                <a:latin typeface="Calibri" pitchFamily="34" charset="0"/>
                <a:ea typeface="Calibri" pitchFamily="34" charset="-122"/>
                <a:cs typeface="Calibri" pitchFamily="34" charset="-120"/>
              </a:rPr>
              <a:t>Query</a:t>
            </a:r>
            <a:endParaRPr lang="en-US" sz="1250" dirty="0"/>
          </a:p>
        </p:txBody>
      </p:sp>
      <p:sp>
        <p:nvSpPr>
          <p:cNvPr id="23" name="Text 21"/>
          <p:cNvSpPr/>
          <p:nvPr/>
        </p:nvSpPr>
        <p:spPr>
          <a:xfrm>
            <a:off x="640080" y="3621024"/>
            <a:ext cx="2286000" cy="365760"/>
          </a:xfrm>
          <a:prstGeom prst="rect">
            <a:avLst/>
          </a:prstGeom>
          <a:noFill/>
          <a:ln/>
        </p:spPr>
        <p:txBody>
          <a:bodyPr wrap="square" rtlCol="0" anchor="ctr"/>
          <a:lstStyle/>
          <a:p>
            <a:pPr algn="ctr" indent="0" marL="0">
              <a:buNone/>
            </a:pPr>
            <a:r>
              <a:rPr lang="en-US" sz="1000" dirty="0">
                <a:solidFill>
                  <a:srgbClr val="26324A"/>
                </a:solidFill>
                <a:latin typeface="Calibri" pitchFamily="34" charset="0"/>
                <a:ea typeface="Calibri" pitchFamily="34" charset="-122"/>
                <a:cs typeface="Calibri" pitchFamily="34" charset="-120"/>
              </a:rPr>
              <a:t>「何を知りたいか」＝質問</a:t>
            </a:r>
            <a:endParaRPr lang="en-US" sz="1000" dirty="0"/>
          </a:p>
        </p:txBody>
      </p:sp>
      <p:sp>
        <p:nvSpPr>
          <p:cNvPr id="24" name="Shape 22"/>
          <p:cNvSpPr/>
          <p:nvPr/>
        </p:nvSpPr>
        <p:spPr>
          <a:xfrm>
            <a:off x="3337560" y="2770632"/>
            <a:ext cx="2468880" cy="1234440"/>
          </a:xfrm>
          <a:prstGeom prst="roundRect">
            <a:avLst>
              <a:gd name="adj" fmla="val 5926"/>
            </a:avLst>
          </a:prstGeom>
          <a:solidFill>
            <a:srgbClr val="EEF3FB"/>
          </a:solidFill>
          <a:ln/>
        </p:spPr>
      </p:sp>
      <p:sp>
        <p:nvSpPr>
          <p:cNvPr id="25" name="Shape 23"/>
          <p:cNvSpPr/>
          <p:nvPr/>
        </p:nvSpPr>
        <p:spPr>
          <a:xfrm>
            <a:off x="4334256" y="2880360"/>
            <a:ext cx="475488" cy="475488"/>
          </a:xfrm>
          <a:prstGeom prst="ellipse">
            <a:avLst/>
          </a:prstGeom>
          <a:solidFill>
            <a:srgbClr val="1E2761"/>
          </a:solidFill>
          <a:ln/>
        </p:spPr>
      </p:sp>
      <p:sp>
        <p:nvSpPr>
          <p:cNvPr id="26" name="Text 24"/>
          <p:cNvSpPr/>
          <p:nvPr/>
        </p:nvSpPr>
        <p:spPr>
          <a:xfrm>
            <a:off x="4334256" y="2880360"/>
            <a:ext cx="475488" cy="475488"/>
          </a:xfrm>
          <a:prstGeom prst="rect">
            <a:avLst/>
          </a:prstGeom>
          <a:noFill/>
          <a:ln/>
        </p:spPr>
        <p:txBody>
          <a:bodyPr wrap="square"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K</a:t>
            </a:r>
            <a:endParaRPr lang="en-US" sz="1700" dirty="0"/>
          </a:p>
        </p:txBody>
      </p:sp>
      <p:sp>
        <p:nvSpPr>
          <p:cNvPr id="27" name="Text 25"/>
          <p:cNvSpPr/>
          <p:nvPr/>
        </p:nvSpPr>
        <p:spPr>
          <a:xfrm>
            <a:off x="3337560" y="3392424"/>
            <a:ext cx="2468880" cy="219456"/>
          </a:xfrm>
          <a:prstGeom prst="rect">
            <a:avLst/>
          </a:prstGeom>
          <a:noFill/>
          <a:ln/>
        </p:spPr>
        <p:txBody>
          <a:bodyPr wrap="square" rtlCol="0" anchor="ctr"/>
          <a:lstStyle/>
          <a:p>
            <a:pPr algn="ctr" indent="0" marL="0">
              <a:buNone/>
            </a:pPr>
            <a:r>
              <a:rPr lang="en-US" sz="1250" b="1" dirty="0">
                <a:solidFill>
                  <a:srgbClr val="1E2761"/>
                </a:solidFill>
                <a:latin typeface="Calibri" pitchFamily="34" charset="0"/>
                <a:ea typeface="Calibri" pitchFamily="34" charset="-122"/>
                <a:cs typeface="Calibri" pitchFamily="34" charset="-120"/>
              </a:rPr>
              <a:t>Key</a:t>
            </a:r>
            <a:endParaRPr lang="en-US" sz="1250" dirty="0"/>
          </a:p>
        </p:txBody>
      </p:sp>
      <p:sp>
        <p:nvSpPr>
          <p:cNvPr id="28" name="Text 26"/>
          <p:cNvSpPr/>
          <p:nvPr/>
        </p:nvSpPr>
        <p:spPr>
          <a:xfrm>
            <a:off x="3429000" y="3621024"/>
            <a:ext cx="2286000" cy="365760"/>
          </a:xfrm>
          <a:prstGeom prst="rect">
            <a:avLst/>
          </a:prstGeom>
          <a:noFill/>
          <a:ln/>
        </p:spPr>
        <p:txBody>
          <a:bodyPr wrap="square" rtlCol="0" anchor="ctr"/>
          <a:lstStyle/>
          <a:p>
            <a:pPr algn="ctr" indent="0" marL="0">
              <a:buNone/>
            </a:pPr>
            <a:r>
              <a:rPr lang="en-US" sz="1000" dirty="0">
                <a:solidFill>
                  <a:srgbClr val="26324A"/>
                </a:solidFill>
                <a:latin typeface="Calibri" pitchFamily="34" charset="0"/>
                <a:ea typeface="Calibri" pitchFamily="34" charset="-122"/>
                <a:cs typeface="Calibri" pitchFamily="34" charset="-120"/>
              </a:rPr>
              <a:t>「自分は何を提供できるか」＝見出し</a:t>
            </a:r>
            <a:endParaRPr lang="en-US" sz="1000" dirty="0"/>
          </a:p>
        </p:txBody>
      </p:sp>
      <p:sp>
        <p:nvSpPr>
          <p:cNvPr id="29" name="Shape 27"/>
          <p:cNvSpPr/>
          <p:nvPr/>
        </p:nvSpPr>
        <p:spPr>
          <a:xfrm>
            <a:off x="6126480" y="2770632"/>
            <a:ext cx="2468880" cy="1234440"/>
          </a:xfrm>
          <a:prstGeom prst="roundRect">
            <a:avLst>
              <a:gd name="adj" fmla="val 5926"/>
            </a:avLst>
          </a:prstGeom>
          <a:solidFill>
            <a:srgbClr val="EEF3FB"/>
          </a:solidFill>
          <a:ln/>
        </p:spPr>
      </p:sp>
      <p:sp>
        <p:nvSpPr>
          <p:cNvPr id="30" name="Shape 28"/>
          <p:cNvSpPr/>
          <p:nvPr/>
        </p:nvSpPr>
        <p:spPr>
          <a:xfrm>
            <a:off x="7123176" y="2880360"/>
            <a:ext cx="475488" cy="475488"/>
          </a:xfrm>
          <a:prstGeom prst="ellipse">
            <a:avLst/>
          </a:prstGeom>
          <a:solidFill>
            <a:srgbClr val="1E2761"/>
          </a:solidFill>
          <a:ln/>
        </p:spPr>
      </p:sp>
      <p:sp>
        <p:nvSpPr>
          <p:cNvPr id="31" name="Text 29"/>
          <p:cNvSpPr/>
          <p:nvPr/>
        </p:nvSpPr>
        <p:spPr>
          <a:xfrm>
            <a:off x="7123176" y="2880360"/>
            <a:ext cx="475488" cy="475488"/>
          </a:xfrm>
          <a:prstGeom prst="rect">
            <a:avLst/>
          </a:prstGeom>
          <a:noFill/>
          <a:ln/>
        </p:spPr>
        <p:txBody>
          <a:bodyPr wrap="square"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V</a:t>
            </a:r>
            <a:endParaRPr lang="en-US" sz="1700" dirty="0"/>
          </a:p>
        </p:txBody>
      </p:sp>
      <p:sp>
        <p:nvSpPr>
          <p:cNvPr id="32" name="Text 30"/>
          <p:cNvSpPr/>
          <p:nvPr/>
        </p:nvSpPr>
        <p:spPr>
          <a:xfrm>
            <a:off x="6126480" y="3392424"/>
            <a:ext cx="2468880" cy="219456"/>
          </a:xfrm>
          <a:prstGeom prst="rect">
            <a:avLst/>
          </a:prstGeom>
          <a:noFill/>
          <a:ln/>
        </p:spPr>
        <p:txBody>
          <a:bodyPr wrap="square" rtlCol="0" anchor="ctr"/>
          <a:lstStyle/>
          <a:p>
            <a:pPr algn="ctr" indent="0" marL="0">
              <a:buNone/>
            </a:pPr>
            <a:r>
              <a:rPr lang="en-US" sz="1250" b="1" dirty="0">
                <a:solidFill>
                  <a:srgbClr val="1E2761"/>
                </a:solidFill>
                <a:latin typeface="Calibri" pitchFamily="34" charset="0"/>
                <a:ea typeface="Calibri" pitchFamily="34" charset="-122"/>
                <a:cs typeface="Calibri" pitchFamily="34" charset="-120"/>
              </a:rPr>
              <a:t>Value</a:t>
            </a:r>
            <a:endParaRPr lang="en-US" sz="1250" dirty="0"/>
          </a:p>
        </p:txBody>
      </p:sp>
      <p:sp>
        <p:nvSpPr>
          <p:cNvPr id="33" name="Text 31"/>
          <p:cNvSpPr/>
          <p:nvPr/>
        </p:nvSpPr>
        <p:spPr>
          <a:xfrm>
            <a:off x="6217920" y="3621024"/>
            <a:ext cx="2286000" cy="365760"/>
          </a:xfrm>
          <a:prstGeom prst="rect">
            <a:avLst/>
          </a:prstGeom>
          <a:noFill/>
          <a:ln/>
        </p:spPr>
        <p:txBody>
          <a:bodyPr wrap="square" rtlCol="0" anchor="ctr"/>
          <a:lstStyle/>
          <a:p>
            <a:pPr algn="ctr" indent="0" marL="0">
              <a:buNone/>
            </a:pPr>
            <a:r>
              <a:rPr lang="en-US" sz="1000" dirty="0">
                <a:solidFill>
                  <a:srgbClr val="26324A"/>
                </a:solidFill>
                <a:latin typeface="Calibri" pitchFamily="34" charset="0"/>
                <a:ea typeface="Calibri" pitchFamily="34" charset="-122"/>
                <a:cs typeface="Calibri" pitchFamily="34" charset="-120"/>
              </a:rPr>
              <a:t>「実際の中身」＝情報そのもの</a:t>
            </a:r>
            <a:endParaRPr lang="en-US" sz="1000" dirty="0"/>
          </a:p>
        </p:txBody>
      </p:sp>
      <p:sp>
        <p:nvSpPr>
          <p:cNvPr id="34" name="Text 32"/>
          <p:cNvSpPr/>
          <p:nvPr/>
        </p:nvSpPr>
        <p:spPr>
          <a:xfrm>
            <a:off x="548640" y="4114800"/>
            <a:ext cx="8046720" cy="411480"/>
          </a:xfrm>
          <a:prstGeom prst="rect">
            <a:avLst/>
          </a:prstGeom>
          <a:noFill/>
          <a:ln/>
        </p:spPr>
        <p:txBody>
          <a:bodyPr wrap="square" rtlCol="0" anchor="ctr"/>
          <a:lstStyle/>
          <a:p>
            <a:pPr indent="0" marL="0">
              <a:buNone/>
            </a:pPr>
            <a:r>
              <a:rPr lang="en-US" sz="1100" b="1" i="1" dirty="0">
                <a:solidFill>
                  <a:srgbClr val="0C7B93"/>
                </a:solidFill>
                <a:latin typeface="Calibri" pitchFamily="34" charset="0"/>
                <a:ea typeface="Calibri" pitchFamily="34" charset="-122"/>
                <a:cs typeface="Calibri" pitchFamily="34" charset="-120"/>
              </a:rPr>
              <a:t>→ </a:t>
            </a:r>
            <a:pPr indent="0" marL="0">
              <a:buNone/>
            </a:pPr>
            <a:r>
              <a:rPr lang="en-US" sz="1100" i="1" dirty="0">
                <a:solidFill>
                  <a:srgbClr val="26324A"/>
                </a:solidFill>
                <a:latin typeface="Calibri" pitchFamily="34" charset="0"/>
                <a:ea typeface="Calibri" pitchFamily="34" charset="-122"/>
                <a:cs typeface="Calibri" pitchFamily="34" charset="-120"/>
              </a:rPr>
              <a:t>同じ「bank」という単語でも、Q・K・Vとしては異なるベクトルになります。この後のAttentionでは、あるQが全単語のKと比較されます。</a:t>
            </a:r>
            <a:endParaRPr lang="en-US" sz="1100" dirty="0"/>
          </a:p>
        </p:txBody>
      </p:sp>
      <p:sp>
        <p:nvSpPr>
          <p:cNvPr id="35" name="Text 33"/>
          <p:cNvSpPr/>
          <p:nvPr/>
        </p:nvSpPr>
        <p:spPr>
          <a:xfrm>
            <a:off x="8138160" y="4828032"/>
            <a:ext cx="731520" cy="274320"/>
          </a:xfrm>
          <a:prstGeom prst="rect">
            <a:avLst/>
          </a:prstGeom>
          <a:noFill/>
          <a:ln/>
        </p:spPr>
        <p:txBody>
          <a:bodyPr wrap="square" rtlCol="0" anchor="ctr"/>
          <a:lstStyle/>
          <a:p>
            <a:pPr algn="r" indent="0" marL="0">
              <a:buNone/>
            </a:pPr>
            <a:r>
              <a:rPr lang="en-US" sz="1000" dirty="0">
                <a:solidFill>
                  <a:srgbClr val="60728A"/>
                </a:solidFill>
                <a:latin typeface="Calibri" pitchFamily="34" charset="0"/>
                <a:ea typeface="Calibri" pitchFamily="34" charset="-122"/>
                <a:cs typeface="Calibri" pitchFamily="34" charset="-120"/>
              </a:rPr>
              <a:t>05 / 17</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7772400" cy="274320"/>
          </a:xfrm>
          <a:prstGeom prst="rect">
            <a:avLst/>
          </a:prstGeom>
          <a:noFill/>
          <a:ln/>
        </p:spPr>
        <p:txBody>
          <a:bodyPr wrap="square" rtlCol="0" anchor="ctr"/>
          <a:lstStyle/>
          <a:p>
            <a:pPr indent="0" marL="0">
              <a:buNone/>
            </a:pPr>
            <a:r>
              <a:rPr lang="en-US" sz="1200" b="1" spc="200" kern="0" dirty="0">
                <a:solidFill>
                  <a:srgbClr val="0C7B93"/>
                </a:solidFill>
                <a:latin typeface="Calibri" pitchFamily="34" charset="0"/>
                <a:ea typeface="Calibri" pitchFamily="34" charset="-122"/>
                <a:cs typeface="Calibri" pitchFamily="34" charset="-120"/>
              </a:rPr>
              <a:t>STEP 4</a:t>
            </a:r>
            <a:endParaRPr lang="en-US" sz="1200" dirty="0"/>
          </a:p>
        </p:txBody>
      </p:sp>
      <p:sp>
        <p:nvSpPr>
          <p:cNvPr id="3" name="Text 1"/>
          <p:cNvSpPr/>
          <p:nvPr/>
        </p:nvSpPr>
        <p:spPr>
          <a:xfrm>
            <a:off x="548640" y="566928"/>
            <a:ext cx="8046720" cy="64008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Attention：全単語が全単語を見る</a:t>
            </a:r>
            <a:endParaRPr lang="en-US" sz="3000" dirty="0"/>
          </a:p>
        </p:txBody>
      </p:sp>
      <p:sp>
        <p:nvSpPr>
          <p:cNvPr id="4" name="Text 2"/>
          <p:cNvSpPr/>
          <p:nvPr/>
        </p:nvSpPr>
        <p:spPr>
          <a:xfrm>
            <a:off x="548640" y="1042416"/>
            <a:ext cx="8046720" cy="548640"/>
          </a:xfrm>
          <a:prstGeom prst="rect">
            <a:avLst/>
          </a:prstGeom>
          <a:noFill/>
          <a:ln/>
        </p:spPr>
        <p:txBody>
          <a:bodyPr wrap="square" rtlCol="0" anchor="ctr"/>
          <a:lstStyle/>
          <a:p>
            <a:pPr indent="0" marL="0">
              <a:buNone/>
            </a:pPr>
            <a:r>
              <a:rPr lang="en-US" sz="1250" dirty="0">
                <a:solidFill>
                  <a:srgbClr val="26324A"/>
                </a:solidFill>
                <a:latin typeface="Calibri" pitchFamily="34" charset="0"/>
                <a:ea typeface="Calibri" pitchFamily="34" charset="-122"/>
                <a:cs typeface="Calibri" pitchFamily="34" charset="-120"/>
              </a:rPr>
              <a:t>前のSTEPで作ったQ・K・Vを使います。</a:t>
            </a:r>
            <a:pPr indent="0" marL="0">
              <a:buNone/>
            </a:pPr>
            <a:r>
              <a:rPr lang="en-US" sz="1250" b="1" dirty="0">
                <a:solidFill>
                  <a:srgbClr val="0C7B93"/>
                </a:solidFill>
                <a:latin typeface="Calibri" pitchFamily="34" charset="0"/>
                <a:ea typeface="Calibri" pitchFamily="34" charset="-122"/>
                <a:cs typeface="Calibri" pitchFamily="34" charset="-120"/>
              </a:rPr>
              <a:t>すべての単語のQが、自分以外を含む全単語のKと「内積（似ている度合いの計算）」で比較されます。</a:t>
            </a:r>
            <a:endParaRPr lang="en-US" sz="1250" dirty="0"/>
          </a:p>
        </p:txBody>
      </p:sp>
      <p:sp>
        <p:nvSpPr>
          <p:cNvPr id="5" name="Shape 3"/>
          <p:cNvSpPr/>
          <p:nvPr/>
        </p:nvSpPr>
        <p:spPr>
          <a:xfrm>
            <a:off x="548640" y="1700784"/>
            <a:ext cx="868680" cy="329184"/>
          </a:xfrm>
          <a:prstGeom prst="roundRect">
            <a:avLst>
              <a:gd name="adj" fmla="val 11111"/>
            </a:avLst>
          </a:prstGeom>
          <a:solidFill>
            <a:srgbClr val="1E2761"/>
          </a:solidFill>
          <a:ln/>
        </p:spPr>
      </p:sp>
      <p:sp>
        <p:nvSpPr>
          <p:cNvPr id="6" name="Text 4"/>
          <p:cNvSpPr/>
          <p:nvPr/>
        </p:nvSpPr>
        <p:spPr>
          <a:xfrm>
            <a:off x="548640" y="1700784"/>
            <a:ext cx="868680" cy="329184"/>
          </a:xfrm>
          <a:prstGeom prst="rect">
            <a:avLst/>
          </a:prstGeom>
          <a:no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Q ＼ K</a:t>
            </a:r>
            <a:endParaRPr lang="en-US" sz="1050" dirty="0"/>
          </a:p>
        </p:txBody>
      </p:sp>
      <p:sp>
        <p:nvSpPr>
          <p:cNvPr id="7" name="Shape 5"/>
          <p:cNvSpPr/>
          <p:nvPr/>
        </p:nvSpPr>
        <p:spPr>
          <a:xfrm>
            <a:off x="1417320" y="1700784"/>
            <a:ext cx="777240" cy="329184"/>
          </a:xfrm>
          <a:prstGeom prst="roundRect">
            <a:avLst>
              <a:gd name="adj" fmla="val 11111"/>
            </a:avLst>
          </a:prstGeom>
          <a:solidFill>
            <a:srgbClr val="3A468C"/>
          </a:solidFill>
          <a:ln/>
        </p:spPr>
      </p:sp>
      <p:sp>
        <p:nvSpPr>
          <p:cNvPr id="8" name="Text 6"/>
          <p:cNvSpPr/>
          <p:nvPr/>
        </p:nvSpPr>
        <p:spPr>
          <a:xfrm>
            <a:off x="1417320" y="1700784"/>
            <a:ext cx="777240" cy="329184"/>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猫</a:t>
            </a:r>
            <a:endParaRPr lang="en-US" sz="1200" dirty="0"/>
          </a:p>
        </p:txBody>
      </p:sp>
      <p:sp>
        <p:nvSpPr>
          <p:cNvPr id="9" name="Shape 7"/>
          <p:cNvSpPr/>
          <p:nvPr/>
        </p:nvSpPr>
        <p:spPr>
          <a:xfrm>
            <a:off x="2240280" y="1700784"/>
            <a:ext cx="777240" cy="329184"/>
          </a:xfrm>
          <a:prstGeom prst="roundRect">
            <a:avLst>
              <a:gd name="adj" fmla="val 11111"/>
            </a:avLst>
          </a:prstGeom>
          <a:solidFill>
            <a:srgbClr val="3A468C"/>
          </a:solidFill>
          <a:ln/>
        </p:spPr>
      </p:sp>
      <p:sp>
        <p:nvSpPr>
          <p:cNvPr id="10" name="Text 8"/>
          <p:cNvSpPr/>
          <p:nvPr/>
        </p:nvSpPr>
        <p:spPr>
          <a:xfrm>
            <a:off x="2240280" y="1700784"/>
            <a:ext cx="777240" cy="329184"/>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公園</a:t>
            </a:r>
            <a:endParaRPr lang="en-US" sz="1200" dirty="0"/>
          </a:p>
        </p:txBody>
      </p:sp>
      <p:sp>
        <p:nvSpPr>
          <p:cNvPr id="11" name="Shape 9"/>
          <p:cNvSpPr/>
          <p:nvPr/>
        </p:nvSpPr>
        <p:spPr>
          <a:xfrm>
            <a:off x="3063240" y="1700784"/>
            <a:ext cx="777240" cy="329184"/>
          </a:xfrm>
          <a:prstGeom prst="roundRect">
            <a:avLst>
              <a:gd name="adj" fmla="val 11111"/>
            </a:avLst>
          </a:prstGeom>
          <a:solidFill>
            <a:srgbClr val="3A468C"/>
          </a:solidFill>
          <a:ln/>
        </p:spPr>
      </p:sp>
      <p:sp>
        <p:nvSpPr>
          <p:cNvPr id="12" name="Text 10"/>
          <p:cNvSpPr/>
          <p:nvPr/>
        </p:nvSpPr>
        <p:spPr>
          <a:xfrm>
            <a:off x="3063240" y="1700784"/>
            <a:ext cx="777240" cy="329184"/>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走る</a:t>
            </a:r>
            <a:endParaRPr lang="en-US" sz="1200" dirty="0"/>
          </a:p>
        </p:txBody>
      </p:sp>
      <p:sp>
        <p:nvSpPr>
          <p:cNvPr id="13" name="Shape 11"/>
          <p:cNvSpPr/>
          <p:nvPr/>
        </p:nvSpPr>
        <p:spPr>
          <a:xfrm>
            <a:off x="548640" y="2075688"/>
            <a:ext cx="868680" cy="502920"/>
          </a:xfrm>
          <a:prstGeom prst="roundRect">
            <a:avLst>
              <a:gd name="adj" fmla="val 7273"/>
            </a:avLst>
          </a:prstGeom>
          <a:solidFill>
            <a:srgbClr val="3A468C"/>
          </a:solidFill>
          <a:ln/>
        </p:spPr>
      </p:sp>
      <p:sp>
        <p:nvSpPr>
          <p:cNvPr id="14" name="Text 12"/>
          <p:cNvSpPr/>
          <p:nvPr/>
        </p:nvSpPr>
        <p:spPr>
          <a:xfrm>
            <a:off x="548640" y="2075688"/>
            <a:ext cx="868680" cy="50292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猫</a:t>
            </a:r>
            <a:endParaRPr lang="en-US" sz="1200" dirty="0"/>
          </a:p>
        </p:txBody>
      </p:sp>
      <p:sp>
        <p:nvSpPr>
          <p:cNvPr id="15" name="Shape 13"/>
          <p:cNvSpPr/>
          <p:nvPr/>
        </p:nvSpPr>
        <p:spPr>
          <a:xfrm>
            <a:off x="1417320" y="2075688"/>
            <a:ext cx="777240" cy="502920"/>
          </a:xfrm>
          <a:prstGeom prst="rect">
            <a:avLst/>
          </a:prstGeom>
          <a:solidFill>
            <a:srgbClr val="8FC1CE"/>
          </a:solidFill>
          <a:ln w="12700">
            <a:solidFill>
              <a:srgbClr val="FFFFFF"/>
            </a:solidFill>
            <a:prstDash val="solid"/>
          </a:ln>
        </p:spPr>
      </p:sp>
      <p:sp>
        <p:nvSpPr>
          <p:cNvPr id="16" name="Shape 14"/>
          <p:cNvSpPr/>
          <p:nvPr/>
        </p:nvSpPr>
        <p:spPr>
          <a:xfrm>
            <a:off x="2240280" y="2075688"/>
            <a:ext cx="777240" cy="502920"/>
          </a:xfrm>
          <a:prstGeom prst="rect">
            <a:avLst/>
          </a:prstGeom>
          <a:solidFill>
            <a:srgbClr val="8FC1CE"/>
          </a:solidFill>
          <a:ln w="12700">
            <a:solidFill>
              <a:srgbClr val="FFFFFF"/>
            </a:solidFill>
            <a:prstDash val="solid"/>
          </a:ln>
        </p:spPr>
      </p:sp>
      <p:sp>
        <p:nvSpPr>
          <p:cNvPr id="17" name="Shape 15"/>
          <p:cNvSpPr/>
          <p:nvPr/>
        </p:nvSpPr>
        <p:spPr>
          <a:xfrm>
            <a:off x="3063240" y="2075688"/>
            <a:ext cx="777240" cy="502920"/>
          </a:xfrm>
          <a:prstGeom prst="rect">
            <a:avLst/>
          </a:prstGeom>
          <a:solidFill>
            <a:srgbClr val="0C7B93"/>
          </a:solidFill>
          <a:ln w="12700">
            <a:solidFill>
              <a:srgbClr val="FFFFFF"/>
            </a:solidFill>
            <a:prstDash val="solid"/>
          </a:ln>
        </p:spPr>
      </p:sp>
      <p:sp>
        <p:nvSpPr>
          <p:cNvPr id="18" name="Shape 16"/>
          <p:cNvSpPr/>
          <p:nvPr/>
        </p:nvSpPr>
        <p:spPr>
          <a:xfrm>
            <a:off x="548640" y="2624328"/>
            <a:ext cx="868680" cy="502920"/>
          </a:xfrm>
          <a:prstGeom prst="roundRect">
            <a:avLst>
              <a:gd name="adj" fmla="val 7273"/>
            </a:avLst>
          </a:prstGeom>
          <a:solidFill>
            <a:srgbClr val="3A468C"/>
          </a:solidFill>
          <a:ln/>
        </p:spPr>
      </p:sp>
      <p:sp>
        <p:nvSpPr>
          <p:cNvPr id="19" name="Text 17"/>
          <p:cNvSpPr/>
          <p:nvPr/>
        </p:nvSpPr>
        <p:spPr>
          <a:xfrm>
            <a:off x="548640" y="2624328"/>
            <a:ext cx="868680" cy="50292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公園</a:t>
            </a:r>
            <a:endParaRPr lang="en-US" sz="1200" dirty="0"/>
          </a:p>
        </p:txBody>
      </p:sp>
      <p:sp>
        <p:nvSpPr>
          <p:cNvPr id="20" name="Shape 18"/>
          <p:cNvSpPr/>
          <p:nvPr/>
        </p:nvSpPr>
        <p:spPr>
          <a:xfrm>
            <a:off x="1417320" y="2624328"/>
            <a:ext cx="777240" cy="502920"/>
          </a:xfrm>
          <a:prstGeom prst="rect">
            <a:avLst/>
          </a:prstGeom>
          <a:solidFill>
            <a:srgbClr val="8FC1CE"/>
          </a:solidFill>
          <a:ln w="12700">
            <a:solidFill>
              <a:srgbClr val="FFFFFF"/>
            </a:solidFill>
            <a:prstDash val="solid"/>
          </a:ln>
        </p:spPr>
      </p:sp>
      <p:sp>
        <p:nvSpPr>
          <p:cNvPr id="21" name="Shape 19"/>
          <p:cNvSpPr/>
          <p:nvPr/>
        </p:nvSpPr>
        <p:spPr>
          <a:xfrm>
            <a:off x="2240280" y="2624328"/>
            <a:ext cx="777240" cy="502920"/>
          </a:xfrm>
          <a:prstGeom prst="rect">
            <a:avLst/>
          </a:prstGeom>
          <a:solidFill>
            <a:srgbClr val="EEF3FB"/>
          </a:solidFill>
          <a:ln w="12700">
            <a:solidFill>
              <a:srgbClr val="FFFFFF"/>
            </a:solidFill>
            <a:prstDash val="solid"/>
          </a:ln>
        </p:spPr>
      </p:sp>
      <p:sp>
        <p:nvSpPr>
          <p:cNvPr id="22" name="Shape 20"/>
          <p:cNvSpPr/>
          <p:nvPr/>
        </p:nvSpPr>
        <p:spPr>
          <a:xfrm>
            <a:off x="3063240" y="2624328"/>
            <a:ext cx="777240" cy="502920"/>
          </a:xfrm>
          <a:prstGeom prst="rect">
            <a:avLst/>
          </a:prstGeom>
          <a:solidFill>
            <a:srgbClr val="8FC1CE"/>
          </a:solidFill>
          <a:ln w="12700">
            <a:solidFill>
              <a:srgbClr val="FFFFFF"/>
            </a:solidFill>
            <a:prstDash val="solid"/>
          </a:ln>
        </p:spPr>
      </p:sp>
      <p:sp>
        <p:nvSpPr>
          <p:cNvPr id="23" name="Shape 21"/>
          <p:cNvSpPr/>
          <p:nvPr/>
        </p:nvSpPr>
        <p:spPr>
          <a:xfrm>
            <a:off x="548640" y="3172968"/>
            <a:ext cx="868680" cy="502920"/>
          </a:xfrm>
          <a:prstGeom prst="roundRect">
            <a:avLst>
              <a:gd name="adj" fmla="val 7273"/>
            </a:avLst>
          </a:prstGeom>
          <a:solidFill>
            <a:srgbClr val="3A468C"/>
          </a:solidFill>
          <a:ln/>
        </p:spPr>
      </p:sp>
      <p:sp>
        <p:nvSpPr>
          <p:cNvPr id="24" name="Text 22"/>
          <p:cNvSpPr/>
          <p:nvPr/>
        </p:nvSpPr>
        <p:spPr>
          <a:xfrm>
            <a:off x="548640" y="3172968"/>
            <a:ext cx="868680" cy="50292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走る</a:t>
            </a:r>
            <a:endParaRPr lang="en-US" sz="1200" dirty="0"/>
          </a:p>
        </p:txBody>
      </p:sp>
      <p:sp>
        <p:nvSpPr>
          <p:cNvPr id="25" name="Shape 23"/>
          <p:cNvSpPr/>
          <p:nvPr/>
        </p:nvSpPr>
        <p:spPr>
          <a:xfrm>
            <a:off x="1417320" y="3172968"/>
            <a:ext cx="777240" cy="502920"/>
          </a:xfrm>
          <a:prstGeom prst="rect">
            <a:avLst/>
          </a:prstGeom>
          <a:solidFill>
            <a:srgbClr val="0C7B93"/>
          </a:solidFill>
          <a:ln w="12700">
            <a:solidFill>
              <a:srgbClr val="FFFFFF"/>
            </a:solidFill>
            <a:prstDash val="solid"/>
          </a:ln>
        </p:spPr>
      </p:sp>
      <p:sp>
        <p:nvSpPr>
          <p:cNvPr id="26" name="Shape 24"/>
          <p:cNvSpPr/>
          <p:nvPr/>
        </p:nvSpPr>
        <p:spPr>
          <a:xfrm>
            <a:off x="2240280" y="3172968"/>
            <a:ext cx="777240" cy="502920"/>
          </a:xfrm>
          <a:prstGeom prst="rect">
            <a:avLst/>
          </a:prstGeom>
          <a:solidFill>
            <a:srgbClr val="8FC1CE"/>
          </a:solidFill>
          <a:ln w="12700">
            <a:solidFill>
              <a:srgbClr val="FFFFFF"/>
            </a:solidFill>
            <a:prstDash val="solid"/>
          </a:ln>
        </p:spPr>
      </p:sp>
      <p:sp>
        <p:nvSpPr>
          <p:cNvPr id="27" name="Shape 25"/>
          <p:cNvSpPr/>
          <p:nvPr/>
        </p:nvSpPr>
        <p:spPr>
          <a:xfrm>
            <a:off x="3063240" y="3172968"/>
            <a:ext cx="777240" cy="502920"/>
          </a:xfrm>
          <a:prstGeom prst="rect">
            <a:avLst/>
          </a:prstGeom>
          <a:solidFill>
            <a:srgbClr val="EEF3FB"/>
          </a:solidFill>
          <a:ln w="12700">
            <a:solidFill>
              <a:srgbClr val="FFFFFF"/>
            </a:solidFill>
            <a:prstDash val="solid"/>
          </a:ln>
        </p:spPr>
      </p:sp>
      <p:sp>
        <p:nvSpPr>
          <p:cNvPr id="28" name="Shape 26"/>
          <p:cNvSpPr/>
          <p:nvPr/>
        </p:nvSpPr>
        <p:spPr>
          <a:xfrm>
            <a:off x="1417320" y="3172968"/>
            <a:ext cx="2423160" cy="502920"/>
          </a:xfrm>
          <a:prstGeom prst="rect">
            <a:avLst/>
          </a:prstGeom>
          <a:ln w="31750">
            <a:solidFill>
              <a:srgbClr val="E8A33D"/>
            </a:solidFill>
            <a:prstDash val="solid"/>
          </a:ln>
        </p:spPr>
      </p:sp>
      <p:sp>
        <p:nvSpPr>
          <p:cNvPr id="29" name="Shape 27"/>
          <p:cNvSpPr/>
          <p:nvPr/>
        </p:nvSpPr>
        <p:spPr>
          <a:xfrm>
            <a:off x="3950208" y="3300984"/>
            <a:ext cx="502920" cy="246888"/>
          </a:xfrm>
          <a:prstGeom prst="rightArrow">
            <a:avLst/>
          </a:prstGeom>
          <a:solidFill>
            <a:srgbClr val="E8A33D"/>
          </a:solidFill>
          <a:ln/>
        </p:spPr>
      </p:sp>
      <p:sp>
        <p:nvSpPr>
          <p:cNvPr id="30" name="Text 28"/>
          <p:cNvSpPr/>
          <p:nvPr/>
        </p:nvSpPr>
        <p:spPr>
          <a:xfrm>
            <a:off x="3877056" y="2916936"/>
            <a:ext cx="685800" cy="237744"/>
          </a:xfrm>
          <a:prstGeom prst="rect">
            <a:avLst/>
          </a:prstGeom>
          <a:noFill/>
          <a:ln/>
        </p:spPr>
        <p:txBody>
          <a:bodyPr wrap="square" rtlCol="0" anchor="ctr"/>
          <a:lstStyle/>
          <a:p>
            <a:pPr algn="ctr" indent="0" marL="0">
              <a:buNone/>
            </a:pPr>
            <a:r>
              <a:rPr lang="en-US" sz="950" b="1" dirty="0">
                <a:solidFill>
                  <a:srgbClr val="E8A33D"/>
                </a:solidFill>
                <a:latin typeface="Calibri" pitchFamily="34" charset="0"/>
                <a:ea typeface="Calibri" pitchFamily="34" charset="-122"/>
                <a:cs typeface="Calibri" pitchFamily="34" charset="-120"/>
              </a:rPr>
              <a:t>Softmax</a:t>
            </a:r>
            <a:endParaRPr lang="en-US" sz="950" dirty="0"/>
          </a:p>
        </p:txBody>
      </p:sp>
      <p:sp>
        <p:nvSpPr>
          <p:cNvPr id="31" name="Text 29"/>
          <p:cNvSpPr/>
          <p:nvPr/>
        </p:nvSpPr>
        <p:spPr>
          <a:xfrm>
            <a:off x="5212080" y="1700784"/>
            <a:ext cx="3383280" cy="329184"/>
          </a:xfrm>
          <a:prstGeom prst="rect">
            <a:avLst/>
          </a:prstGeom>
          <a:noFill/>
          <a:ln/>
        </p:spPr>
        <p:txBody>
          <a:bodyPr wrap="square"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「走る」のQ　→　Softmax（行を正規化）</a:t>
            </a:r>
            <a:endParaRPr lang="en-US" sz="1200" dirty="0"/>
          </a:p>
        </p:txBody>
      </p:sp>
      <p:sp>
        <p:nvSpPr>
          <p:cNvPr id="32" name="Text 30"/>
          <p:cNvSpPr/>
          <p:nvPr/>
        </p:nvSpPr>
        <p:spPr>
          <a:xfrm>
            <a:off x="5212080" y="2093976"/>
            <a:ext cx="960120" cy="384048"/>
          </a:xfrm>
          <a:prstGeom prst="rect">
            <a:avLst/>
          </a:prstGeom>
          <a:noFill/>
          <a:ln/>
        </p:spPr>
        <p:txBody>
          <a:bodyPr wrap="square" rtlCol="0" anchor="ctr"/>
          <a:lstStyle/>
          <a:p>
            <a:pPr indent="0" marL="0">
              <a:buNone/>
            </a:pPr>
            <a:r>
              <a:rPr lang="en-US" sz="1100" dirty="0">
                <a:solidFill>
                  <a:srgbClr val="26324A"/>
                </a:solidFill>
                <a:latin typeface="Calibri" pitchFamily="34" charset="0"/>
                <a:ea typeface="Calibri" pitchFamily="34" charset="-122"/>
                <a:cs typeface="Calibri" pitchFamily="34" charset="-120"/>
              </a:rPr>
              <a:t>猫</a:t>
            </a:r>
            <a:endParaRPr lang="en-US" sz="1100" dirty="0"/>
          </a:p>
        </p:txBody>
      </p:sp>
      <p:sp>
        <p:nvSpPr>
          <p:cNvPr id="33" name="Shape 31"/>
          <p:cNvSpPr/>
          <p:nvPr/>
        </p:nvSpPr>
        <p:spPr>
          <a:xfrm>
            <a:off x="6172200" y="2176272"/>
            <a:ext cx="1056132" cy="219456"/>
          </a:xfrm>
          <a:prstGeom prst="roundRect">
            <a:avLst>
              <a:gd name="adj" fmla="val 16667"/>
            </a:avLst>
          </a:prstGeom>
          <a:solidFill>
            <a:srgbClr val="0C7B93"/>
          </a:solidFill>
          <a:ln/>
        </p:spPr>
      </p:sp>
      <p:sp>
        <p:nvSpPr>
          <p:cNvPr id="34" name="Text 32"/>
          <p:cNvSpPr/>
          <p:nvPr/>
        </p:nvSpPr>
        <p:spPr>
          <a:xfrm>
            <a:off x="8138160" y="2093976"/>
            <a:ext cx="457200" cy="384048"/>
          </a:xfrm>
          <a:prstGeom prst="rect">
            <a:avLst/>
          </a:prstGeom>
          <a:noFill/>
          <a:ln/>
        </p:spPr>
        <p:txBody>
          <a:bodyPr wrap="square" rtlCol="0" anchor="ctr"/>
          <a:lstStyle/>
          <a:p>
            <a:pPr indent="0" marL="0">
              <a:buNone/>
            </a:pPr>
            <a:r>
              <a:rPr lang="en-US" sz="1150" b="1" dirty="0">
                <a:solidFill>
                  <a:srgbClr val="1E2761"/>
                </a:solidFill>
                <a:latin typeface="Calibri" pitchFamily="34" charset="0"/>
                <a:ea typeface="Calibri" pitchFamily="34" charset="-122"/>
                <a:cs typeface="Calibri" pitchFamily="34" charset="-120"/>
              </a:rPr>
              <a:t>55%</a:t>
            </a:r>
            <a:endParaRPr lang="en-US" sz="1150" dirty="0"/>
          </a:p>
        </p:txBody>
      </p:sp>
      <p:sp>
        <p:nvSpPr>
          <p:cNvPr id="35" name="Text 33"/>
          <p:cNvSpPr/>
          <p:nvPr/>
        </p:nvSpPr>
        <p:spPr>
          <a:xfrm>
            <a:off x="5212080" y="2551176"/>
            <a:ext cx="960120" cy="384048"/>
          </a:xfrm>
          <a:prstGeom prst="rect">
            <a:avLst/>
          </a:prstGeom>
          <a:noFill/>
          <a:ln/>
        </p:spPr>
        <p:txBody>
          <a:bodyPr wrap="square" rtlCol="0" anchor="ctr"/>
          <a:lstStyle/>
          <a:p>
            <a:pPr indent="0" marL="0">
              <a:buNone/>
            </a:pPr>
            <a:r>
              <a:rPr lang="en-US" sz="1100" dirty="0">
                <a:solidFill>
                  <a:srgbClr val="26324A"/>
                </a:solidFill>
                <a:latin typeface="Calibri" pitchFamily="34" charset="0"/>
                <a:ea typeface="Calibri" pitchFamily="34" charset="-122"/>
                <a:cs typeface="Calibri" pitchFamily="34" charset="-120"/>
              </a:rPr>
              <a:t>公園</a:t>
            </a:r>
            <a:endParaRPr lang="en-US" sz="1100" dirty="0"/>
          </a:p>
        </p:txBody>
      </p:sp>
      <p:sp>
        <p:nvSpPr>
          <p:cNvPr id="36" name="Shape 34"/>
          <p:cNvSpPr/>
          <p:nvPr/>
        </p:nvSpPr>
        <p:spPr>
          <a:xfrm>
            <a:off x="6172200" y="2633472"/>
            <a:ext cx="672084" cy="219456"/>
          </a:xfrm>
          <a:prstGeom prst="roundRect">
            <a:avLst>
              <a:gd name="adj" fmla="val 16667"/>
            </a:avLst>
          </a:prstGeom>
          <a:solidFill>
            <a:srgbClr val="8FC1CE"/>
          </a:solidFill>
          <a:ln/>
        </p:spPr>
      </p:sp>
      <p:sp>
        <p:nvSpPr>
          <p:cNvPr id="37" name="Text 35"/>
          <p:cNvSpPr/>
          <p:nvPr/>
        </p:nvSpPr>
        <p:spPr>
          <a:xfrm>
            <a:off x="8138160" y="2551176"/>
            <a:ext cx="457200" cy="384048"/>
          </a:xfrm>
          <a:prstGeom prst="rect">
            <a:avLst/>
          </a:prstGeom>
          <a:noFill/>
          <a:ln/>
        </p:spPr>
        <p:txBody>
          <a:bodyPr wrap="square" rtlCol="0" anchor="ctr"/>
          <a:lstStyle/>
          <a:p>
            <a:pPr indent="0" marL="0">
              <a:buNone/>
            </a:pPr>
            <a:r>
              <a:rPr lang="en-US" sz="1150" b="1" dirty="0">
                <a:solidFill>
                  <a:srgbClr val="1E2761"/>
                </a:solidFill>
                <a:latin typeface="Calibri" pitchFamily="34" charset="0"/>
                <a:ea typeface="Calibri" pitchFamily="34" charset="-122"/>
                <a:cs typeface="Calibri" pitchFamily="34" charset="-120"/>
              </a:rPr>
              <a:t>35%</a:t>
            </a:r>
            <a:endParaRPr lang="en-US" sz="1150" dirty="0"/>
          </a:p>
        </p:txBody>
      </p:sp>
      <p:sp>
        <p:nvSpPr>
          <p:cNvPr id="38" name="Text 36"/>
          <p:cNvSpPr/>
          <p:nvPr/>
        </p:nvSpPr>
        <p:spPr>
          <a:xfrm>
            <a:off x="5212080" y="3008376"/>
            <a:ext cx="960120" cy="384048"/>
          </a:xfrm>
          <a:prstGeom prst="rect">
            <a:avLst/>
          </a:prstGeom>
          <a:noFill/>
          <a:ln/>
        </p:spPr>
        <p:txBody>
          <a:bodyPr wrap="square" rtlCol="0" anchor="ctr"/>
          <a:lstStyle/>
          <a:p>
            <a:pPr indent="0" marL="0">
              <a:buNone/>
            </a:pPr>
            <a:r>
              <a:rPr lang="en-US" sz="1100" dirty="0">
                <a:solidFill>
                  <a:srgbClr val="26324A"/>
                </a:solidFill>
                <a:latin typeface="Calibri" pitchFamily="34" charset="0"/>
                <a:ea typeface="Calibri" pitchFamily="34" charset="-122"/>
                <a:cs typeface="Calibri" pitchFamily="34" charset="-120"/>
              </a:rPr>
              <a:t>走る（自身）</a:t>
            </a:r>
            <a:endParaRPr lang="en-US" sz="1100" dirty="0"/>
          </a:p>
        </p:txBody>
      </p:sp>
      <p:sp>
        <p:nvSpPr>
          <p:cNvPr id="39" name="Shape 37"/>
          <p:cNvSpPr/>
          <p:nvPr/>
        </p:nvSpPr>
        <p:spPr>
          <a:xfrm>
            <a:off x="6172200" y="3090672"/>
            <a:ext cx="192024" cy="219456"/>
          </a:xfrm>
          <a:prstGeom prst="roundRect">
            <a:avLst>
              <a:gd name="adj" fmla="val 19048"/>
            </a:avLst>
          </a:prstGeom>
          <a:solidFill>
            <a:srgbClr val="C7D3E8"/>
          </a:solidFill>
          <a:ln/>
        </p:spPr>
      </p:sp>
      <p:sp>
        <p:nvSpPr>
          <p:cNvPr id="40" name="Text 38"/>
          <p:cNvSpPr/>
          <p:nvPr/>
        </p:nvSpPr>
        <p:spPr>
          <a:xfrm>
            <a:off x="8138160" y="3008376"/>
            <a:ext cx="457200" cy="384048"/>
          </a:xfrm>
          <a:prstGeom prst="rect">
            <a:avLst/>
          </a:prstGeom>
          <a:noFill/>
          <a:ln/>
        </p:spPr>
        <p:txBody>
          <a:bodyPr wrap="square" rtlCol="0" anchor="ctr"/>
          <a:lstStyle/>
          <a:p>
            <a:pPr indent="0" marL="0">
              <a:buNone/>
            </a:pPr>
            <a:r>
              <a:rPr lang="en-US" sz="1150" b="1" dirty="0">
                <a:solidFill>
                  <a:srgbClr val="1E2761"/>
                </a:solidFill>
                <a:latin typeface="Calibri" pitchFamily="34" charset="0"/>
                <a:ea typeface="Calibri" pitchFamily="34" charset="-122"/>
                <a:cs typeface="Calibri" pitchFamily="34" charset="-120"/>
              </a:rPr>
              <a:t>10%</a:t>
            </a:r>
            <a:endParaRPr lang="en-US" sz="1150" dirty="0"/>
          </a:p>
        </p:txBody>
      </p:sp>
      <p:sp>
        <p:nvSpPr>
          <p:cNvPr id="41" name="Text 39"/>
          <p:cNvSpPr/>
          <p:nvPr/>
        </p:nvSpPr>
        <p:spPr>
          <a:xfrm>
            <a:off x="5212080" y="3483864"/>
            <a:ext cx="3383280" cy="274320"/>
          </a:xfrm>
          <a:prstGeom prst="rect">
            <a:avLst/>
          </a:prstGeom>
          <a:noFill/>
          <a:ln/>
        </p:spPr>
        <p:txBody>
          <a:bodyPr wrap="square" rtlCol="0" anchor="ctr"/>
          <a:lstStyle/>
          <a:p>
            <a:pPr indent="0" marL="0">
              <a:buNone/>
            </a:pPr>
            <a:r>
              <a:rPr lang="en-US" sz="1000" i="1" dirty="0">
                <a:solidFill>
                  <a:srgbClr val="60728A"/>
                </a:solidFill>
                <a:latin typeface="Calibri" pitchFamily="34" charset="0"/>
                <a:ea typeface="Calibri" pitchFamily="34" charset="-122"/>
                <a:cs typeface="Calibri" pitchFamily="34" charset="-120"/>
              </a:rPr>
              <a:t>合計 = 100%（どれだけ参照するかの割合）</a:t>
            </a:r>
            <a:endParaRPr lang="en-US" sz="1000" dirty="0"/>
          </a:p>
        </p:txBody>
      </p:sp>
      <p:sp>
        <p:nvSpPr>
          <p:cNvPr id="42" name="Shape 40"/>
          <p:cNvSpPr/>
          <p:nvPr/>
        </p:nvSpPr>
        <p:spPr>
          <a:xfrm>
            <a:off x="548640" y="3913632"/>
            <a:ext cx="64008" cy="658368"/>
          </a:xfrm>
          <a:prstGeom prst="rect">
            <a:avLst/>
          </a:prstGeom>
          <a:solidFill>
            <a:srgbClr val="E8A33D"/>
          </a:solidFill>
          <a:ln/>
        </p:spPr>
      </p:sp>
      <p:sp>
        <p:nvSpPr>
          <p:cNvPr id="43" name="Shape 41"/>
          <p:cNvSpPr/>
          <p:nvPr/>
        </p:nvSpPr>
        <p:spPr>
          <a:xfrm>
            <a:off x="612648" y="3913632"/>
            <a:ext cx="7982712" cy="658368"/>
          </a:xfrm>
          <a:prstGeom prst="rect">
            <a:avLst/>
          </a:prstGeom>
          <a:solidFill>
            <a:srgbClr val="EEF3FB"/>
          </a:solidFill>
          <a:ln/>
        </p:spPr>
      </p:sp>
      <p:sp>
        <p:nvSpPr>
          <p:cNvPr id="44" name="Text 42"/>
          <p:cNvSpPr/>
          <p:nvPr/>
        </p:nvSpPr>
        <p:spPr>
          <a:xfrm>
            <a:off x="822960" y="3913632"/>
            <a:ext cx="7589520" cy="658368"/>
          </a:xfrm>
          <a:prstGeom prst="rect">
            <a:avLst/>
          </a:prstGeom>
          <a:noFill/>
          <a:ln/>
        </p:spPr>
        <p:txBody>
          <a:bodyPr wrap="square" rtlCol="0" anchor="ctr"/>
          <a:lstStyle/>
          <a:p>
            <a:pPr indent="0" marL="0">
              <a:buNone/>
            </a:pPr>
            <a:r>
              <a:rPr lang="en-US" sz="1250" b="1" dirty="0">
                <a:solidFill>
                  <a:srgbClr val="1E2761"/>
                </a:solidFill>
                <a:latin typeface="Calibri" pitchFamily="34" charset="0"/>
                <a:ea typeface="Calibri" pitchFamily="34" charset="-122"/>
                <a:cs typeface="Calibri" pitchFamily="34" charset="-120"/>
              </a:rPr>
              <a:t>全単語のQが、全単語のKと比較される　＝　Self-Attention。これがAttention MatrixやMulti-Head Attentionの土台になります。</a:t>
            </a:r>
            <a:endParaRPr lang="en-US" sz="1250" dirty="0"/>
          </a:p>
        </p:txBody>
      </p:sp>
      <p:sp>
        <p:nvSpPr>
          <p:cNvPr id="45" name="Text 43"/>
          <p:cNvSpPr/>
          <p:nvPr/>
        </p:nvSpPr>
        <p:spPr>
          <a:xfrm>
            <a:off x="8138160" y="4828032"/>
            <a:ext cx="731520" cy="274320"/>
          </a:xfrm>
          <a:prstGeom prst="rect">
            <a:avLst/>
          </a:prstGeom>
          <a:noFill/>
          <a:ln/>
        </p:spPr>
        <p:txBody>
          <a:bodyPr wrap="square" rtlCol="0" anchor="ctr"/>
          <a:lstStyle/>
          <a:p>
            <a:pPr algn="r" indent="0" marL="0">
              <a:buNone/>
            </a:pPr>
            <a:r>
              <a:rPr lang="en-US" sz="1000" dirty="0">
                <a:solidFill>
                  <a:srgbClr val="60728A"/>
                </a:solidFill>
                <a:latin typeface="Calibri" pitchFamily="34" charset="0"/>
                <a:ea typeface="Calibri" pitchFamily="34" charset="-122"/>
                <a:cs typeface="Calibri" pitchFamily="34" charset="-120"/>
              </a:rPr>
              <a:t>06 / 17</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7772400" cy="274320"/>
          </a:xfrm>
          <a:prstGeom prst="rect">
            <a:avLst/>
          </a:prstGeom>
          <a:noFill/>
          <a:ln/>
        </p:spPr>
        <p:txBody>
          <a:bodyPr wrap="square" rtlCol="0" anchor="ctr"/>
          <a:lstStyle/>
          <a:p>
            <a:pPr indent="0" marL="0">
              <a:buNone/>
            </a:pPr>
            <a:r>
              <a:rPr lang="en-US" sz="1200" b="1" spc="200" kern="0" dirty="0">
                <a:solidFill>
                  <a:srgbClr val="0C7B93"/>
                </a:solidFill>
                <a:latin typeface="Calibri" pitchFamily="34" charset="0"/>
                <a:ea typeface="Calibri" pitchFamily="34" charset="-122"/>
                <a:cs typeface="Calibri" pitchFamily="34" charset="-120"/>
              </a:rPr>
              <a:t>STEP 5</a:t>
            </a:r>
            <a:endParaRPr lang="en-US" sz="1200" dirty="0"/>
          </a:p>
        </p:txBody>
      </p:sp>
      <p:sp>
        <p:nvSpPr>
          <p:cNvPr id="3" name="Text 1"/>
          <p:cNvSpPr/>
          <p:nvPr/>
        </p:nvSpPr>
        <p:spPr>
          <a:xfrm>
            <a:off x="548640" y="566928"/>
            <a:ext cx="8046720" cy="64008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Multi-Head：QKV生成から複数系統を並列実行</a:t>
            </a:r>
            <a:endParaRPr lang="en-US" sz="3000" dirty="0"/>
          </a:p>
        </p:txBody>
      </p:sp>
      <p:sp>
        <p:nvSpPr>
          <p:cNvPr id="4" name="Text 2"/>
          <p:cNvSpPr/>
          <p:nvPr/>
        </p:nvSpPr>
        <p:spPr>
          <a:xfrm>
            <a:off x="548640" y="1225296"/>
            <a:ext cx="8046720" cy="420624"/>
          </a:xfrm>
          <a:prstGeom prst="rect">
            <a:avLst/>
          </a:prstGeom>
          <a:noFill/>
          <a:ln/>
        </p:spPr>
        <p:txBody>
          <a:bodyPr wrap="square" rtlCol="0" anchor="ctr"/>
          <a:lstStyle/>
          <a:p>
            <a:pPr indent="0" marL="0">
              <a:buNone/>
            </a:pPr>
            <a:r>
              <a:rPr lang="en-US" sz="1100" dirty="0">
                <a:solidFill>
                  <a:srgbClr val="26324A"/>
                </a:solidFill>
                <a:latin typeface="Calibri" pitchFamily="34" charset="0"/>
                <a:ea typeface="Calibri" pitchFamily="34" charset="-122"/>
                <a:cs typeface="Calibri" pitchFamily="34" charset="-120"/>
              </a:rPr>
              <a:t>Attentionの結果を増やしているのではなく、</a:t>
            </a:r>
            <a:pPr indent="0" marL="0">
              <a:buNone/>
            </a:pPr>
            <a:r>
              <a:rPr lang="en-US" sz="1100" b="1" dirty="0">
                <a:solidFill>
                  <a:srgbClr val="0C7B93"/>
                </a:solidFill>
                <a:latin typeface="Calibri" pitchFamily="34" charset="0"/>
                <a:ea typeface="Calibri" pitchFamily="34" charset="-122"/>
                <a:cs typeface="Calibri" pitchFamily="34" charset="-120"/>
              </a:rPr>
              <a:t>各Headが異なる重み（WQ・WK・WV）を持つため、注目する箇所が異なり、違った特徴を生み出します。</a:t>
            </a:r>
            <a:endParaRPr lang="en-US" sz="1100" dirty="0"/>
          </a:p>
        </p:txBody>
      </p:sp>
      <p:sp>
        <p:nvSpPr>
          <p:cNvPr id="5" name="Shape 3"/>
          <p:cNvSpPr/>
          <p:nvPr/>
        </p:nvSpPr>
        <p:spPr>
          <a:xfrm>
            <a:off x="3200400" y="1700784"/>
            <a:ext cx="2743200" cy="274320"/>
          </a:xfrm>
          <a:prstGeom prst="roundRect">
            <a:avLst>
              <a:gd name="adj" fmla="val 16667"/>
            </a:avLst>
          </a:prstGeom>
          <a:solidFill>
            <a:srgbClr val="1E2761"/>
          </a:solidFill>
          <a:ln/>
        </p:spPr>
      </p:sp>
      <p:sp>
        <p:nvSpPr>
          <p:cNvPr id="6" name="Text 4"/>
          <p:cNvSpPr/>
          <p:nvPr/>
        </p:nvSpPr>
        <p:spPr>
          <a:xfrm>
            <a:off x="3200400" y="1700784"/>
            <a:ext cx="2743200" cy="27432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Embedding</a:t>
            </a:r>
            <a:endParaRPr lang="en-US" sz="1100" dirty="0"/>
          </a:p>
        </p:txBody>
      </p:sp>
      <p:sp>
        <p:nvSpPr>
          <p:cNvPr id="7" name="Shape 5"/>
          <p:cNvSpPr/>
          <p:nvPr/>
        </p:nvSpPr>
        <p:spPr>
          <a:xfrm flipH="1">
            <a:off x="1783080" y="1975104"/>
            <a:ext cx="2788920" cy="91440"/>
          </a:xfrm>
          <a:prstGeom prst="line">
            <a:avLst/>
          </a:prstGeom>
          <a:noFill/>
          <a:ln w="15875">
            <a:solidFill>
              <a:srgbClr val="60728A"/>
            </a:solidFill>
            <a:prstDash val="solid"/>
          </a:ln>
        </p:spPr>
      </p:sp>
      <p:sp>
        <p:nvSpPr>
          <p:cNvPr id="8" name="Shape 6"/>
          <p:cNvSpPr/>
          <p:nvPr/>
        </p:nvSpPr>
        <p:spPr>
          <a:xfrm>
            <a:off x="4572000" y="1975104"/>
            <a:ext cx="0" cy="91440"/>
          </a:xfrm>
          <a:prstGeom prst="line">
            <a:avLst/>
          </a:prstGeom>
          <a:noFill/>
          <a:ln w="15875">
            <a:solidFill>
              <a:srgbClr val="60728A"/>
            </a:solidFill>
            <a:prstDash val="solid"/>
          </a:ln>
        </p:spPr>
      </p:sp>
      <p:sp>
        <p:nvSpPr>
          <p:cNvPr id="9" name="Shape 7"/>
          <p:cNvSpPr/>
          <p:nvPr/>
        </p:nvSpPr>
        <p:spPr>
          <a:xfrm>
            <a:off x="4572000" y="1975104"/>
            <a:ext cx="2788920" cy="91440"/>
          </a:xfrm>
          <a:prstGeom prst="line">
            <a:avLst/>
          </a:prstGeom>
          <a:noFill/>
          <a:ln w="15875">
            <a:solidFill>
              <a:srgbClr val="60728A"/>
            </a:solidFill>
            <a:prstDash val="solid"/>
          </a:ln>
        </p:spPr>
      </p:sp>
      <p:sp>
        <p:nvSpPr>
          <p:cNvPr id="10" name="Shape 8"/>
          <p:cNvSpPr/>
          <p:nvPr/>
        </p:nvSpPr>
        <p:spPr>
          <a:xfrm>
            <a:off x="548640" y="2066544"/>
            <a:ext cx="2468880" cy="237744"/>
          </a:xfrm>
          <a:prstGeom prst="roundRect">
            <a:avLst>
              <a:gd name="adj" fmla="val 15385"/>
            </a:avLst>
          </a:prstGeom>
          <a:solidFill>
            <a:srgbClr val="0C7B93"/>
          </a:solidFill>
          <a:ln/>
        </p:spPr>
      </p:sp>
      <p:sp>
        <p:nvSpPr>
          <p:cNvPr id="11" name="Text 9"/>
          <p:cNvSpPr/>
          <p:nvPr/>
        </p:nvSpPr>
        <p:spPr>
          <a:xfrm>
            <a:off x="548640" y="2066544"/>
            <a:ext cx="2468880" cy="237744"/>
          </a:xfrm>
          <a:prstGeom prst="rect">
            <a:avLst/>
          </a:prstGeom>
          <a:no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Head 1</a:t>
            </a:r>
            <a:endParaRPr lang="en-US" sz="1050" dirty="0"/>
          </a:p>
        </p:txBody>
      </p:sp>
      <p:sp>
        <p:nvSpPr>
          <p:cNvPr id="12" name="Shape 10"/>
          <p:cNvSpPr/>
          <p:nvPr/>
        </p:nvSpPr>
        <p:spPr>
          <a:xfrm>
            <a:off x="548640" y="2350008"/>
            <a:ext cx="2468880" cy="274320"/>
          </a:xfrm>
          <a:prstGeom prst="roundRect">
            <a:avLst>
              <a:gd name="adj" fmla="val 13333"/>
            </a:avLst>
          </a:prstGeom>
          <a:solidFill>
            <a:srgbClr val="EEF3FB"/>
          </a:solidFill>
          <a:ln/>
        </p:spPr>
      </p:sp>
      <p:sp>
        <p:nvSpPr>
          <p:cNvPr id="13" name="Text 11"/>
          <p:cNvSpPr/>
          <p:nvPr/>
        </p:nvSpPr>
        <p:spPr>
          <a:xfrm>
            <a:off x="548640" y="2350008"/>
            <a:ext cx="2468880" cy="274320"/>
          </a:xfrm>
          <a:prstGeom prst="rect">
            <a:avLst/>
          </a:prstGeom>
          <a:noFill/>
          <a:ln/>
        </p:spPr>
        <p:txBody>
          <a:bodyPr wrap="square" rtlCol="0" anchor="ctr"/>
          <a:lstStyle/>
          <a:p>
            <a:pPr algn="ctr" indent="0" marL="0">
              <a:buNone/>
            </a:pPr>
            <a:r>
              <a:rPr lang="en-US" sz="900" b="1" dirty="0">
                <a:solidFill>
                  <a:srgbClr val="0C7B93"/>
                </a:solidFill>
                <a:latin typeface="Calibri" pitchFamily="34" charset="0"/>
                <a:ea typeface="Calibri" pitchFamily="34" charset="-122"/>
                <a:cs typeface="Calibri" pitchFamily="34" charset="-120"/>
              </a:rPr>
              <a:t>QKV生成（WQ¹・WK¹・WV¹）</a:t>
            </a:r>
            <a:endParaRPr lang="en-US" sz="900" dirty="0"/>
          </a:p>
        </p:txBody>
      </p:sp>
      <p:sp>
        <p:nvSpPr>
          <p:cNvPr id="14" name="Shape 12"/>
          <p:cNvSpPr/>
          <p:nvPr/>
        </p:nvSpPr>
        <p:spPr>
          <a:xfrm>
            <a:off x="1700784" y="2651760"/>
            <a:ext cx="164592" cy="91440"/>
          </a:xfrm>
          <a:prstGeom prst="downArrow">
            <a:avLst/>
          </a:prstGeom>
          <a:solidFill>
            <a:srgbClr val="60728A"/>
          </a:solidFill>
          <a:ln/>
        </p:spPr>
      </p:sp>
      <p:sp>
        <p:nvSpPr>
          <p:cNvPr id="15" name="Shape 13"/>
          <p:cNvSpPr/>
          <p:nvPr/>
        </p:nvSpPr>
        <p:spPr>
          <a:xfrm>
            <a:off x="548640" y="2770632"/>
            <a:ext cx="2468880" cy="274320"/>
          </a:xfrm>
          <a:prstGeom prst="roundRect">
            <a:avLst>
              <a:gd name="adj" fmla="val 13333"/>
            </a:avLst>
          </a:prstGeom>
          <a:solidFill>
            <a:srgbClr val="EEF3FB"/>
          </a:solidFill>
          <a:ln/>
        </p:spPr>
      </p:sp>
      <p:sp>
        <p:nvSpPr>
          <p:cNvPr id="16" name="Text 14"/>
          <p:cNvSpPr/>
          <p:nvPr/>
        </p:nvSpPr>
        <p:spPr>
          <a:xfrm>
            <a:off x="548640" y="2770632"/>
            <a:ext cx="2468880" cy="274320"/>
          </a:xfrm>
          <a:prstGeom prst="rect">
            <a:avLst/>
          </a:prstGeom>
          <a:noFill/>
          <a:ln/>
        </p:spPr>
        <p:txBody>
          <a:bodyPr wrap="square" rtlCol="0" anchor="ctr"/>
          <a:lstStyle/>
          <a:p>
            <a:pPr algn="ctr" indent="0" marL="0">
              <a:buNone/>
            </a:pPr>
            <a:r>
              <a:rPr lang="en-US" sz="1000" b="1" dirty="0">
                <a:solidFill>
                  <a:srgbClr val="26324A"/>
                </a:solidFill>
                <a:latin typeface="Calibri" pitchFamily="34" charset="0"/>
                <a:ea typeface="Calibri" pitchFamily="34" charset="-122"/>
                <a:cs typeface="Calibri" pitchFamily="34" charset="-120"/>
              </a:rPr>
              <a:t>Attention</a:t>
            </a:r>
            <a:endParaRPr lang="en-US" sz="1000" dirty="0"/>
          </a:p>
        </p:txBody>
      </p:sp>
      <p:sp>
        <p:nvSpPr>
          <p:cNvPr id="17" name="Shape 15"/>
          <p:cNvSpPr/>
          <p:nvPr/>
        </p:nvSpPr>
        <p:spPr>
          <a:xfrm>
            <a:off x="3337560" y="2066544"/>
            <a:ext cx="2468880" cy="237744"/>
          </a:xfrm>
          <a:prstGeom prst="roundRect">
            <a:avLst>
              <a:gd name="adj" fmla="val 15385"/>
            </a:avLst>
          </a:prstGeom>
          <a:solidFill>
            <a:srgbClr val="1E2761"/>
          </a:solidFill>
          <a:ln/>
        </p:spPr>
      </p:sp>
      <p:sp>
        <p:nvSpPr>
          <p:cNvPr id="18" name="Text 16"/>
          <p:cNvSpPr/>
          <p:nvPr/>
        </p:nvSpPr>
        <p:spPr>
          <a:xfrm>
            <a:off x="3337560" y="2066544"/>
            <a:ext cx="2468880" cy="237744"/>
          </a:xfrm>
          <a:prstGeom prst="rect">
            <a:avLst/>
          </a:prstGeom>
          <a:no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Head 2</a:t>
            </a:r>
            <a:endParaRPr lang="en-US" sz="1050" dirty="0"/>
          </a:p>
        </p:txBody>
      </p:sp>
      <p:sp>
        <p:nvSpPr>
          <p:cNvPr id="19" name="Shape 17"/>
          <p:cNvSpPr/>
          <p:nvPr/>
        </p:nvSpPr>
        <p:spPr>
          <a:xfrm>
            <a:off x="3337560" y="2350008"/>
            <a:ext cx="2468880" cy="274320"/>
          </a:xfrm>
          <a:prstGeom prst="roundRect">
            <a:avLst>
              <a:gd name="adj" fmla="val 13333"/>
            </a:avLst>
          </a:prstGeom>
          <a:solidFill>
            <a:srgbClr val="EEF3FB"/>
          </a:solidFill>
          <a:ln/>
        </p:spPr>
      </p:sp>
      <p:sp>
        <p:nvSpPr>
          <p:cNvPr id="20" name="Text 18"/>
          <p:cNvSpPr/>
          <p:nvPr/>
        </p:nvSpPr>
        <p:spPr>
          <a:xfrm>
            <a:off x="3337560" y="2350008"/>
            <a:ext cx="2468880" cy="274320"/>
          </a:xfrm>
          <a:prstGeom prst="rect">
            <a:avLst/>
          </a:prstGeom>
          <a:noFill/>
          <a:ln/>
        </p:spPr>
        <p:txBody>
          <a:bodyPr wrap="square" rtlCol="0" anchor="ctr"/>
          <a:lstStyle/>
          <a:p>
            <a:pPr algn="ctr" indent="0" marL="0">
              <a:buNone/>
            </a:pPr>
            <a:r>
              <a:rPr lang="en-US" sz="900" b="1" dirty="0">
                <a:solidFill>
                  <a:srgbClr val="1E2761"/>
                </a:solidFill>
                <a:latin typeface="Calibri" pitchFamily="34" charset="0"/>
                <a:ea typeface="Calibri" pitchFamily="34" charset="-122"/>
                <a:cs typeface="Calibri" pitchFamily="34" charset="-120"/>
              </a:rPr>
              <a:t>QKV生成（WQ²・WK²・WV²）</a:t>
            </a:r>
            <a:endParaRPr lang="en-US" sz="900" dirty="0"/>
          </a:p>
        </p:txBody>
      </p:sp>
      <p:sp>
        <p:nvSpPr>
          <p:cNvPr id="21" name="Shape 19"/>
          <p:cNvSpPr/>
          <p:nvPr/>
        </p:nvSpPr>
        <p:spPr>
          <a:xfrm>
            <a:off x="4489704" y="2651760"/>
            <a:ext cx="164592" cy="91440"/>
          </a:xfrm>
          <a:prstGeom prst="downArrow">
            <a:avLst/>
          </a:prstGeom>
          <a:solidFill>
            <a:srgbClr val="60728A"/>
          </a:solidFill>
          <a:ln/>
        </p:spPr>
      </p:sp>
      <p:sp>
        <p:nvSpPr>
          <p:cNvPr id="22" name="Shape 20"/>
          <p:cNvSpPr/>
          <p:nvPr/>
        </p:nvSpPr>
        <p:spPr>
          <a:xfrm>
            <a:off x="3337560" y="2770632"/>
            <a:ext cx="2468880" cy="274320"/>
          </a:xfrm>
          <a:prstGeom prst="roundRect">
            <a:avLst>
              <a:gd name="adj" fmla="val 13333"/>
            </a:avLst>
          </a:prstGeom>
          <a:solidFill>
            <a:srgbClr val="EEF3FB"/>
          </a:solidFill>
          <a:ln/>
        </p:spPr>
      </p:sp>
      <p:sp>
        <p:nvSpPr>
          <p:cNvPr id="23" name="Text 21"/>
          <p:cNvSpPr/>
          <p:nvPr/>
        </p:nvSpPr>
        <p:spPr>
          <a:xfrm>
            <a:off x="3337560" y="2770632"/>
            <a:ext cx="2468880" cy="274320"/>
          </a:xfrm>
          <a:prstGeom prst="rect">
            <a:avLst/>
          </a:prstGeom>
          <a:noFill/>
          <a:ln/>
        </p:spPr>
        <p:txBody>
          <a:bodyPr wrap="square" rtlCol="0" anchor="ctr"/>
          <a:lstStyle/>
          <a:p>
            <a:pPr algn="ctr" indent="0" marL="0">
              <a:buNone/>
            </a:pPr>
            <a:r>
              <a:rPr lang="en-US" sz="1000" b="1" dirty="0">
                <a:solidFill>
                  <a:srgbClr val="26324A"/>
                </a:solidFill>
                <a:latin typeface="Calibri" pitchFamily="34" charset="0"/>
                <a:ea typeface="Calibri" pitchFamily="34" charset="-122"/>
                <a:cs typeface="Calibri" pitchFamily="34" charset="-120"/>
              </a:rPr>
              <a:t>Attention</a:t>
            </a:r>
            <a:endParaRPr lang="en-US" sz="1000" dirty="0"/>
          </a:p>
        </p:txBody>
      </p:sp>
      <p:sp>
        <p:nvSpPr>
          <p:cNvPr id="24" name="Shape 22"/>
          <p:cNvSpPr/>
          <p:nvPr/>
        </p:nvSpPr>
        <p:spPr>
          <a:xfrm>
            <a:off x="6126480" y="2066544"/>
            <a:ext cx="2468880" cy="237744"/>
          </a:xfrm>
          <a:prstGeom prst="roundRect">
            <a:avLst>
              <a:gd name="adj" fmla="val 15385"/>
            </a:avLst>
          </a:prstGeom>
          <a:solidFill>
            <a:srgbClr val="E8A33D"/>
          </a:solidFill>
          <a:ln/>
        </p:spPr>
      </p:sp>
      <p:sp>
        <p:nvSpPr>
          <p:cNvPr id="25" name="Text 23"/>
          <p:cNvSpPr/>
          <p:nvPr/>
        </p:nvSpPr>
        <p:spPr>
          <a:xfrm>
            <a:off x="6126480" y="2066544"/>
            <a:ext cx="2468880" cy="237744"/>
          </a:xfrm>
          <a:prstGeom prst="rect">
            <a:avLst/>
          </a:prstGeom>
          <a:no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Head 3</a:t>
            </a:r>
            <a:endParaRPr lang="en-US" sz="1050" dirty="0"/>
          </a:p>
        </p:txBody>
      </p:sp>
      <p:sp>
        <p:nvSpPr>
          <p:cNvPr id="26" name="Shape 24"/>
          <p:cNvSpPr/>
          <p:nvPr/>
        </p:nvSpPr>
        <p:spPr>
          <a:xfrm>
            <a:off x="6126480" y="2350008"/>
            <a:ext cx="2468880" cy="274320"/>
          </a:xfrm>
          <a:prstGeom prst="roundRect">
            <a:avLst>
              <a:gd name="adj" fmla="val 13333"/>
            </a:avLst>
          </a:prstGeom>
          <a:solidFill>
            <a:srgbClr val="EEF3FB"/>
          </a:solidFill>
          <a:ln/>
        </p:spPr>
      </p:sp>
      <p:sp>
        <p:nvSpPr>
          <p:cNvPr id="27" name="Text 25"/>
          <p:cNvSpPr/>
          <p:nvPr/>
        </p:nvSpPr>
        <p:spPr>
          <a:xfrm>
            <a:off x="6126480" y="2350008"/>
            <a:ext cx="2468880" cy="274320"/>
          </a:xfrm>
          <a:prstGeom prst="rect">
            <a:avLst/>
          </a:prstGeom>
          <a:noFill/>
          <a:ln/>
        </p:spPr>
        <p:txBody>
          <a:bodyPr wrap="square" rtlCol="0" anchor="ctr"/>
          <a:lstStyle/>
          <a:p>
            <a:pPr algn="ctr" indent="0" marL="0">
              <a:buNone/>
            </a:pPr>
            <a:r>
              <a:rPr lang="en-US" sz="900" b="1" dirty="0">
                <a:solidFill>
                  <a:srgbClr val="8A6400"/>
                </a:solidFill>
                <a:latin typeface="Calibri" pitchFamily="34" charset="0"/>
                <a:ea typeface="Calibri" pitchFamily="34" charset="-122"/>
                <a:cs typeface="Calibri" pitchFamily="34" charset="-120"/>
              </a:rPr>
              <a:t>QKV生成（WQ³・WK³・WV³）</a:t>
            </a:r>
            <a:endParaRPr lang="en-US" sz="900" dirty="0"/>
          </a:p>
        </p:txBody>
      </p:sp>
      <p:sp>
        <p:nvSpPr>
          <p:cNvPr id="28" name="Shape 26"/>
          <p:cNvSpPr/>
          <p:nvPr/>
        </p:nvSpPr>
        <p:spPr>
          <a:xfrm>
            <a:off x="7278624" y="2651760"/>
            <a:ext cx="164592" cy="91440"/>
          </a:xfrm>
          <a:prstGeom prst="downArrow">
            <a:avLst/>
          </a:prstGeom>
          <a:solidFill>
            <a:srgbClr val="60728A"/>
          </a:solidFill>
          <a:ln/>
        </p:spPr>
      </p:sp>
      <p:sp>
        <p:nvSpPr>
          <p:cNvPr id="29" name="Shape 27"/>
          <p:cNvSpPr/>
          <p:nvPr/>
        </p:nvSpPr>
        <p:spPr>
          <a:xfrm>
            <a:off x="6126480" y="2770632"/>
            <a:ext cx="2468880" cy="274320"/>
          </a:xfrm>
          <a:prstGeom prst="roundRect">
            <a:avLst>
              <a:gd name="adj" fmla="val 13333"/>
            </a:avLst>
          </a:prstGeom>
          <a:solidFill>
            <a:srgbClr val="EEF3FB"/>
          </a:solidFill>
          <a:ln/>
        </p:spPr>
      </p:sp>
      <p:sp>
        <p:nvSpPr>
          <p:cNvPr id="30" name="Text 28"/>
          <p:cNvSpPr/>
          <p:nvPr/>
        </p:nvSpPr>
        <p:spPr>
          <a:xfrm>
            <a:off x="6126480" y="2770632"/>
            <a:ext cx="2468880" cy="274320"/>
          </a:xfrm>
          <a:prstGeom prst="rect">
            <a:avLst/>
          </a:prstGeom>
          <a:noFill/>
          <a:ln/>
        </p:spPr>
        <p:txBody>
          <a:bodyPr wrap="square" rtlCol="0" anchor="ctr"/>
          <a:lstStyle/>
          <a:p>
            <a:pPr algn="ctr" indent="0" marL="0">
              <a:buNone/>
            </a:pPr>
            <a:r>
              <a:rPr lang="en-US" sz="1000" b="1" dirty="0">
                <a:solidFill>
                  <a:srgbClr val="26324A"/>
                </a:solidFill>
                <a:latin typeface="Calibri" pitchFamily="34" charset="0"/>
                <a:ea typeface="Calibri" pitchFamily="34" charset="-122"/>
                <a:cs typeface="Calibri" pitchFamily="34" charset="-120"/>
              </a:rPr>
              <a:t>Attention</a:t>
            </a:r>
            <a:endParaRPr lang="en-US" sz="1000" dirty="0"/>
          </a:p>
        </p:txBody>
      </p:sp>
      <p:sp>
        <p:nvSpPr>
          <p:cNvPr id="31" name="Shape 29"/>
          <p:cNvSpPr/>
          <p:nvPr/>
        </p:nvSpPr>
        <p:spPr>
          <a:xfrm>
            <a:off x="1783080" y="3044952"/>
            <a:ext cx="2788920" cy="109728"/>
          </a:xfrm>
          <a:prstGeom prst="line">
            <a:avLst/>
          </a:prstGeom>
          <a:noFill/>
          <a:ln w="15875">
            <a:solidFill>
              <a:srgbClr val="60728A"/>
            </a:solidFill>
            <a:prstDash val="solid"/>
          </a:ln>
        </p:spPr>
      </p:sp>
      <p:sp>
        <p:nvSpPr>
          <p:cNvPr id="32" name="Shape 30"/>
          <p:cNvSpPr/>
          <p:nvPr/>
        </p:nvSpPr>
        <p:spPr>
          <a:xfrm>
            <a:off x="4572000" y="3044952"/>
            <a:ext cx="0" cy="109728"/>
          </a:xfrm>
          <a:prstGeom prst="line">
            <a:avLst/>
          </a:prstGeom>
          <a:noFill/>
          <a:ln w="15875">
            <a:solidFill>
              <a:srgbClr val="60728A"/>
            </a:solidFill>
            <a:prstDash val="solid"/>
          </a:ln>
        </p:spPr>
      </p:sp>
      <p:sp>
        <p:nvSpPr>
          <p:cNvPr id="33" name="Shape 31"/>
          <p:cNvSpPr/>
          <p:nvPr/>
        </p:nvSpPr>
        <p:spPr>
          <a:xfrm flipH="1">
            <a:off x="4572000" y="3044952"/>
            <a:ext cx="2788920" cy="109728"/>
          </a:xfrm>
          <a:prstGeom prst="line">
            <a:avLst/>
          </a:prstGeom>
          <a:noFill/>
          <a:ln w="15875">
            <a:solidFill>
              <a:srgbClr val="60728A"/>
            </a:solidFill>
            <a:prstDash val="solid"/>
          </a:ln>
        </p:spPr>
      </p:sp>
      <p:sp>
        <p:nvSpPr>
          <p:cNvPr id="34" name="Shape 32"/>
          <p:cNvSpPr/>
          <p:nvPr/>
        </p:nvSpPr>
        <p:spPr>
          <a:xfrm>
            <a:off x="2651760" y="3154680"/>
            <a:ext cx="3840480" cy="274320"/>
          </a:xfrm>
          <a:prstGeom prst="roundRect">
            <a:avLst>
              <a:gd name="adj" fmla="val 16667"/>
            </a:avLst>
          </a:prstGeom>
          <a:solidFill>
            <a:srgbClr val="3A468C"/>
          </a:solidFill>
          <a:ln/>
        </p:spPr>
      </p:sp>
      <p:sp>
        <p:nvSpPr>
          <p:cNvPr id="35" name="Text 33"/>
          <p:cNvSpPr/>
          <p:nvPr/>
        </p:nvSpPr>
        <p:spPr>
          <a:xfrm>
            <a:off x="2651760" y="3154680"/>
            <a:ext cx="3840480" cy="27432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Concat（結合）</a:t>
            </a:r>
            <a:endParaRPr lang="en-US" sz="1100" dirty="0"/>
          </a:p>
        </p:txBody>
      </p:sp>
      <p:sp>
        <p:nvSpPr>
          <p:cNvPr id="36" name="Shape 34"/>
          <p:cNvSpPr/>
          <p:nvPr/>
        </p:nvSpPr>
        <p:spPr>
          <a:xfrm>
            <a:off x="4434840" y="3438144"/>
            <a:ext cx="274320" cy="73152"/>
          </a:xfrm>
          <a:prstGeom prst="downArrow">
            <a:avLst/>
          </a:prstGeom>
          <a:solidFill>
            <a:srgbClr val="60728A"/>
          </a:solidFill>
          <a:ln/>
        </p:spPr>
      </p:sp>
      <p:sp>
        <p:nvSpPr>
          <p:cNvPr id="37" name="Shape 35"/>
          <p:cNvSpPr/>
          <p:nvPr/>
        </p:nvSpPr>
        <p:spPr>
          <a:xfrm>
            <a:off x="2651760" y="3520440"/>
            <a:ext cx="3840480" cy="274320"/>
          </a:xfrm>
          <a:prstGeom prst="roundRect">
            <a:avLst>
              <a:gd name="adj" fmla="val 16667"/>
            </a:avLst>
          </a:prstGeom>
          <a:solidFill>
            <a:srgbClr val="1E2761"/>
          </a:solidFill>
          <a:ln/>
        </p:spPr>
      </p:sp>
      <p:sp>
        <p:nvSpPr>
          <p:cNvPr id="38" name="Text 36"/>
          <p:cNvSpPr/>
          <p:nvPr/>
        </p:nvSpPr>
        <p:spPr>
          <a:xfrm>
            <a:off x="2651760" y="3520440"/>
            <a:ext cx="3840480" cy="27432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Linear（線形変換）</a:t>
            </a:r>
            <a:endParaRPr lang="en-US" sz="1100" dirty="0"/>
          </a:p>
        </p:txBody>
      </p:sp>
      <p:sp>
        <p:nvSpPr>
          <p:cNvPr id="39" name="Shape 37"/>
          <p:cNvSpPr/>
          <p:nvPr/>
        </p:nvSpPr>
        <p:spPr>
          <a:xfrm>
            <a:off x="548640" y="3904488"/>
            <a:ext cx="8046720" cy="502920"/>
          </a:xfrm>
          <a:prstGeom prst="roundRect">
            <a:avLst>
              <a:gd name="adj" fmla="val 10909"/>
            </a:avLst>
          </a:prstGeom>
          <a:solidFill>
            <a:srgbClr val="EEF3FB"/>
          </a:solidFill>
          <a:ln/>
        </p:spPr>
      </p:sp>
      <p:sp>
        <p:nvSpPr>
          <p:cNvPr id="40" name="Text 38"/>
          <p:cNvSpPr/>
          <p:nvPr/>
        </p:nvSpPr>
        <p:spPr>
          <a:xfrm>
            <a:off x="777240" y="3904488"/>
            <a:ext cx="7589520" cy="502920"/>
          </a:xfrm>
          <a:prstGeom prst="rect">
            <a:avLst/>
          </a:prstGeom>
          <a:noFill/>
          <a:ln/>
        </p:spPr>
        <p:txBody>
          <a:bodyPr wrap="square" rtlCol="0" anchor="ctr"/>
          <a:lstStyle/>
          <a:p>
            <a:pPr indent="0" marL="0">
              <a:buNone/>
            </a:pPr>
            <a:r>
              <a:rPr lang="en-US" sz="1000" b="1" dirty="0">
                <a:solidFill>
                  <a:srgbClr val="1E2761"/>
                </a:solidFill>
                <a:latin typeface="Calibri" pitchFamily="34" charset="0"/>
                <a:ea typeface="Calibri" pitchFamily="34" charset="-122"/>
                <a:cs typeface="Calibri" pitchFamily="34" charset="-120"/>
              </a:rPr>
              <a:t>重みが異なるからこそ、Headごとに注目する箇所や抽出する特徴が変わります。この役割分担（文法・意味・照応など）は人間の設計ではなく、学習の結果として自然に生まれます。</a:t>
            </a:r>
            <a:endParaRPr lang="en-US" sz="1000" dirty="0"/>
          </a:p>
        </p:txBody>
      </p:sp>
      <p:sp>
        <p:nvSpPr>
          <p:cNvPr id="41" name="Text 39"/>
          <p:cNvSpPr/>
          <p:nvPr/>
        </p:nvSpPr>
        <p:spPr>
          <a:xfrm>
            <a:off x="8138160" y="4828032"/>
            <a:ext cx="731520" cy="274320"/>
          </a:xfrm>
          <a:prstGeom prst="rect">
            <a:avLst/>
          </a:prstGeom>
          <a:noFill/>
          <a:ln/>
        </p:spPr>
        <p:txBody>
          <a:bodyPr wrap="square" rtlCol="0" anchor="ctr"/>
          <a:lstStyle/>
          <a:p>
            <a:pPr algn="r" indent="0" marL="0">
              <a:buNone/>
            </a:pPr>
            <a:r>
              <a:rPr lang="en-US" sz="1000" dirty="0">
                <a:solidFill>
                  <a:srgbClr val="60728A"/>
                </a:solidFill>
                <a:latin typeface="Calibri" pitchFamily="34" charset="0"/>
                <a:ea typeface="Calibri" pitchFamily="34" charset="-122"/>
                <a:cs typeface="Calibri" pitchFamily="34" charset="-120"/>
              </a:rPr>
              <a:t>07 / 17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7772400" cy="274320"/>
          </a:xfrm>
          <a:prstGeom prst="rect">
            <a:avLst/>
          </a:prstGeom>
          <a:noFill/>
          <a:ln/>
        </p:spPr>
        <p:txBody>
          <a:bodyPr wrap="square" rtlCol="0" anchor="ctr"/>
          <a:lstStyle/>
          <a:p>
            <a:pPr indent="0" marL="0">
              <a:buNone/>
            </a:pPr>
            <a:r>
              <a:rPr lang="en-US" sz="1200" b="1" spc="200" kern="0" dirty="0">
                <a:solidFill>
                  <a:srgbClr val="0C7B93"/>
                </a:solidFill>
                <a:latin typeface="Calibri" pitchFamily="34" charset="0"/>
                <a:ea typeface="Calibri" pitchFamily="34" charset="-122"/>
                <a:cs typeface="Calibri" pitchFamily="34" charset="-120"/>
              </a:rPr>
              <a:t>STEP 6</a:t>
            </a:r>
            <a:endParaRPr lang="en-US" sz="1200" dirty="0"/>
          </a:p>
        </p:txBody>
      </p:sp>
      <p:sp>
        <p:nvSpPr>
          <p:cNvPr id="3" name="Text 1"/>
          <p:cNvSpPr/>
          <p:nvPr/>
        </p:nvSpPr>
        <p:spPr>
          <a:xfrm>
            <a:off x="548640" y="566928"/>
            <a:ext cx="8046720" cy="64008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Transformer Block：MultiHeadとFFNを1つにまとめる</a:t>
            </a:r>
            <a:endParaRPr lang="en-US" sz="3000" dirty="0"/>
          </a:p>
        </p:txBody>
      </p:sp>
      <p:sp>
        <p:nvSpPr>
          <p:cNvPr id="4" name="Text 2"/>
          <p:cNvSpPr/>
          <p:nvPr/>
        </p:nvSpPr>
        <p:spPr>
          <a:xfrm>
            <a:off x="548640" y="1225296"/>
            <a:ext cx="8046720" cy="420624"/>
          </a:xfrm>
          <a:prstGeom prst="rect">
            <a:avLst/>
          </a:prstGeom>
          <a:noFill/>
          <a:ln/>
        </p:spPr>
        <p:txBody>
          <a:bodyPr wrap="square" rtlCol="0" anchor="ctr"/>
          <a:lstStyle/>
          <a:p>
            <a:pPr indent="0" marL="0">
              <a:buNone/>
            </a:pPr>
            <a:r>
              <a:rPr lang="en-US" sz="1100" dirty="0">
                <a:solidFill>
                  <a:srgbClr val="26324A"/>
                </a:solidFill>
                <a:latin typeface="Calibri" pitchFamily="34" charset="0"/>
                <a:ea typeface="Calibri" pitchFamily="34" charset="-122"/>
                <a:cs typeface="Calibri" pitchFamily="34" charset="-120"/>
              </a:rPr>
              <a:t>Multi-Head Attentionの出力は、Residual・LayerNormを経てFFNへ渡され、</a:t>
            </a:r>
            <a:pPr indent="0" marL="0">
              <a:buNone/>
            </a:pPr>
            <a:r>
              <a:rPr lang="en-US" sz="1100" b="1" dirty="0">
                <a:solidFill>
                  <a:srgbClr val="0C7B93"/>
                </a:solidFill>
                <a:latin typeface="Calibri" pitchFamily="34" charset="0"/>
                <a:ea typeface="Calibri" pitchFamily="34" charset="-122"/>
                <a:cs typeface="Calibri" pitchFamily="34" charset="-120"/>
              </a:rPr>
              <a:t>もう一度Residual・LayerNormを経ると「Transformer Block」1つが完成します。</a:t>
            </a:r>
            <a:endParaRPr lang="en-US" sz="1100" dirty="0"/>
          </a:p>
        </p:txBody>
      </p:sp>
      <p:sp>
        <p:nvSpPr>
          <p:cNvPr id="5" name="Shape 3"/>
          <p:cNvSpPr/>
          <p:nvPr/>
        </p:nvSpPr>
        <p:spPr>
          <a:xfrm>
            <a:off x="2468880" y="1755648"/>
            <a:ext cx="4206240" cy="292608"/>
          </a:xfrm>
          <a:prstGeom prst="roundRect">
            <a:avLst>
              <a:gd name="adj" fmla="val 15625"/>
            </a:avLst>
          </a:prstGeom>
          <a:solidFill>
            <a:srgbClr val="3A468C"/>
          </a:solidFill>
          <a:ln/>
        </p:spPr>
      </p:sp>
      <p:sp>
        <p:nvSpPr>
          <p:cNvPr id="6" name="Text 4"/>
          <p:cNvSpPr/>
          <p:nvPr/>
        </p:nvSpPr>
        <p:spPr>
          <a:xfrm>
            <a:off x="2468880" y="1755648"/>
            <a:ext cx="4206240" cy="292608"/>
          </a:xfrm>
          <a:prstGeom prst="rect">
            <a:avLst/>
          </a:prstGeom>
          <a:noFill/>
          <a:ln/>
        </p:spPr>
        <p:txBody>
          <a:bodyPr wrap="square"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Multi-Head Attention の出力</a:t>
            </a:r>
            <a:endParaRPr lang="en-US" sz="1150" dirty="0"/>
          </a:p>
        </p:txBody>
      </p:sp>
      <p:sp>
        <p:nvSpPr>
          <p:cNvPr id="7" name="Shape 5"/>
          <p:cNvSpPr/>
          <p:nvPr/>
        </p:nvSpPr>
        <p:spPr>
          <a:xfrm>
            <a:off x="4489704" y="2094890"/>
            <a:ext cx="164592" cy="155448"/>
          </a:xfrm>
          <a:prstGeom prst="downArrow">
            <a:avLst/>
          </a:prstGeom>
          <a:solidFill>
            <a:srgbClr val="60728A"/>
          </a:solidFill>
          <a:ln/>
        </p:spPr>
      </p:sp>
      <p:sp>
        <p:nvSpPr>
          <p:cNvPr id="8" name="Text 6"/>
          <p:cNvSpPr/>
          <p:nvPr/>
        </p:nvSpPr>
        <p:spPr>
          <a:xfrm>
            <a:off x="6748272" y="2048256"/>
            <a:ext cx="1828800" cy="310896"/>
          </a:xfrm>
          <a:prstGeom prst="rect">
            <a:avLst/>
          </a:prstGeom>
          <a:noFill/>
          <a:ln/>
        </p:spPr>
        <p:txBody>
          <a:bodyPr wrap="square" rtlCol="0" anchor="ctr"/>
          <a:lstStyle/>
          <a:p>
            <a:pPr indent="0" marL="0">
              <a:buNone/>
            </a:pPr>
            <a:r>
              <a:rPr lang="en-US" sz="950" b="1" dirty="0">
                <a:solidFill>
                  <a:srgbClr val="E8A33D"/>
                </a:solidFill>
                <a:latin typeface="Calibri" pitchFamily="34" charset="0"/>
                <a:ea typeface="Calibri" pitchFamily="34" charset="-122"/>
                <a:cs typeface="Calibri" pitchFamily="34" charset="-120"/>
              </a:rPr>
              <a:t>＋Residual</a:t>
            </a:r>
            <a:endParaRPr lang="en-US" sz="950" dirty="0"/>
          </a:p>
          <a:p>
            <a:pPr indent="0" marL="0">
              <a:buNone/>
            </a:pPr>
            <a:r>
              <a:rPr lang="en-US" sz="750" dirty="0">
                <a:solidFill>
                  <a:srgbClr val="E8A33D"/>
                </a:solidFill>
                <a:latin typeface="Calibri" pitchFamily="34" charset="0"/>
                <a:ea typeface="Calibri" pitchFamily="34" charset="-122"/>
                <a:cs typeface="Calibri" pitchFamily="34" charset="-120"/>
              </a:rPr>
              <a:t>（元の情報を残しつつ足す）</a:t>
            </a:r>
            <a:endParaRPr lang="en-US" sz="950" dirty="0"/>
          </a:p>
        </p:txBody>
      </p:sp>
      <p:sp>
        <p:nvSpPr>
          <p:cNvPr id="9" name="Shape 7"/>
          <p:cNvSpPr/>
          <p:nvPr/>
        </p:nvSpPr>
        <p:spPr>
          <a:xfrm>
            <a:off x="2468880" y="2359152"/>
            <a:ext cx="4206240" cy="384048"/>
          </a:xfrm>
          <a:prstGeom prst="roundRect">
            <a:avLst>
              <a:gd name="adj" fmla="val 11905"/>
            </a:avLst>
          </a:prstGeom>
          <a:solidFill>
            <a:srgbClr val="1E2761"/>
          </a:solidFill>
          <a:ln/>
        </p:spPr>
      </p:sp>
      <p:sp>
        <p:nvSpPr>
          <p:cNvPr id="10" name="Text 8"/>
          <p:cNvSpPr/>
          <p:nvPr/>
        </p:nvSpPr>
        <p:spPr>
          <a:xfrm>
            <a:off x="2468880" y="2359152"/>
            <a:ext cx="4206240" cy="384048"/>
          </a:xfrm>
          <a:prstGeom prst="rect">
            <a:avLst/>
          </a:prstGeom>
          <a:noFill/>
          <a:ln/>
        </p:spPr>
        <p:txBody>
          <a:bodyPr wrap="square"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LayerNorm</a:t>
            </a:r>
            <a:endParaRPr lang="en-US" sz="1150" dirty="0"/>
          </a:p>
          <a:p>
            <a:pPr algn="ctr" indent="0" marL="0">
              <a:buNone/>
            </a:pPr>
            <a:r>
              <a:rPr lang="en-US" sz="850" dirty="0">
                <a:solidFill>
                  <a:srgbClr val="FFFFFF"/>
                </a:solidFill>
                <a:latin typeface="Calibri" pitchFamily="34" charset="0"/>
                <a:ea typeface="Calibri" pitchFamily="34" charset="-122"/>
                <a:cs typeface="Calibri" pitchFamily="34" charset="-120"/>
              </a:rPr>
              <a:t>（数値のばらつきを整えて安定させる）</a:t>
            </a:r>
            <a:endParaRPr lang="en-US" sz="1150" dirty="0"/>
          </a:p>
        </p:txBody>
      </p:sp>
      <p:sp>
        <p:nvSpPr>
          <p:cNvPr id="11" name="Shape 9"/>
          <p:cNvSpPr/>
          <p:nvPr/>
        </p:nvSpPr>
        <p:spPr>
          <a:xfrm>
            <a:off x="4489704" y="2762402"/>
            <a:ext cx="164592" cy="64008"/>
          </a:xfrm>
          <a:prstGeom prst="downArrow">
            <a:avLst/>
          </a:prstGeom>
          <a:solidFill>
            <a:srgbClr val="60728A"/>
          </a:solidFill>
          <a:ln/>
        </p:spPr>
      </p:sp>
      <p:sp>
        <p:nvSpPr>
          <p:cNvPr id="12" name="Shape 10"/>
          <p:cNvSpPr/>
          <p:nvPr/>
        </p:nvSpPr>
        <p:spPr>
          <a:xfrm>
            <a:off x="2468880" y="2871216"/>
            <a:ext cx="4206240" cy="292608"/>
          </a:xfrm>
          <a:prstGeom prst="roundRect">
            <a:avLst>
              <a:gd name="adj" fmla="val 15625"/>
            </a:avLst>
          </a:prstGeom>
          <a:solidFill>
            <a:srgbClr val="0C7B93"/>
          </a:solidFill>
          <a:ln/>
        </p:spPr>
      </p:sp>
      <p:sp>
        <p:nvSpPr>
          <p:cNvPr id="13" name="Text 11"/>
          <p:cNvSpPr/>
          <p:nvPr/>
        </p:nvSpPr>
        <p:spPr>
          <a:xfrm>
            <a:off x="2468880" y="2871216"/>
            <a:ext cx="4206240" cy="292608"/>
          </a:xfrm>
          <a:prstGeom prst="rect">
            <a:avLst/>
          </a:prstGeom>
          <a:noFill/>
          <a:ln/>
        </p:spPr>
        <p:txBody>
          <a:bodyPr wrap="square"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FFN</a:t>
            </a:r>
            <a:endParaRPr lang="en-US" sz="1150" dirty="0"/>
          </a:p>
        </p:txBody>
      </p:sp>
      <p:sp>
        <p:nvSpPr>
          <p:cNvPr id="14" name="Shape 12"/>
          <p:cNvSpPr/>
          <p:nvPr/>
        </p:nvSpPr>
        <p:spPr>
          <a:xfrm>
            <a:off x="4489704" y="3191256"/>
            <a:ext cx="164592" cy="91440"/>
          </a:xfrm>
          <a:prstGeom prst="downArrow">
            <a:avLst/>
          </a:prstGeom>
          <a:solidFill>
            <a:srgbClr val="60728A"/>
          </a:solidFill>
          <a:ln/>
        </p:spPr>
      </p:sp>
      <p:sp>
        <p:nvSpPr>
          <p:cNvPr id="15" name="Text 13"/>
          <p:cNvSpPr/>
          <p:nvPr/>
        </p:nvSpPr>
        <p:spPr>
          <a:xfrm>
            <a:off x="6748272" y="3163824"/>
            <a:ext cx="1828800" cy="182880"/>
          </a:xfrm>
          <a:prstGeom prst="rect">
            <a:avLst/>
          </a:prstGeom>
          <a:noFill/>
          <a:ln/>
        </p:spPr>
        <p:txBody>
          <a:bodyPr wrap="square" rtlCol="0" anchor="ctr"/>
          <a:lstStyle/>
          <a:p>
            <a:pPr indent="0" marL="0">
              <a:buNone/>
            </a:pPr>
            <a:r>
              <a:rPr lang="en-US" sz="950" b="1" dirty="0">
                <a:solidFill>
                  <a:srgbClr val="E8A33D"/>
                </a:solidFill>
                <a:latin typeface="Calibri" pitchFamily="34" charset="0"/>
                <a:ea typeface="Calibri" pitchFamily="34" charset="-122"/>
                <a:cs typeface="Calibri" pitchFamily="34" charset="-120"/>
              </a:rPr>
              <a:t>＋Residual</a:t>
            </a:r>
            <a:endParaRPr lang="en-US" sz="950" dirty="0"/>
          </a:p>
        </p:txBody>
      </p:sp>
      <p:sp>
        <p:nvSpPr>
          <p:cNvPr id="16" name="Shape 14"/>
          <p:cNvSpPr/>
          <p:nvPr/>
        </p:nvSpPr>
        <p:spPr>
          <a:xfrm>
            <a:off x="2468880" y="3346704"/>
            <a:ext cx="4206240" cy="292608"/>
          </a:xfrm>
          <a:prstGeom prst="roundRect">
            <a:avLst>
              <a:gd name="adj" fmla="val 15625"/>
            </a:avLst>
          </a:prstGeom>
          <a:solidFill>
            <a:srgbClr val="1E2761"/>
          </a:solidFill>
          <a:ln/>
        </p:spPr>
      </p:sp>
      <p:sp>
        <p:nvSpPr>
          <p:cNvPr id="17" name="Text 15"/>
          <p:cNvSpPr/>
          <p:nvPr/>
        </p:nvSpPr>
        <p:spPr>
          <a:xfrm>
            <a:off x="2468880" y="3346704"/>
            <a:ext cx="4206240" cy="292608"/>
          </a:xfrm>
          <a:prstGeom prst="rect">
            <a:avLst/>
          </a:prstGeom>
          <a:noFill/>
          <a:ln/>
        </p:spPr>
        <p:txBody>
          <a:bodyPr wrap="square"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LayerNorm</a:t>
            </a:r>
            <a:endParaRPr lang="en-US" sz="1150" dirty="0"/>
          </a:p>
        </p:txBody>
      </p:sp>
      <p:sp>
        <p:nvSpPr>
          <p:cNvPr id="18" name="Shape 16"/>
          <p:cNvSpPr/>
          <p:nvPr/>
        </p:nvSpPr>
        <p:spPr>
          <a:xfrm>
            <a:off x="4489704" y="3658514"/>
            <a:ext cx="164592" cy="64008"/>
          </a:xfrm>
          <a:prstGeom prst="downArrow">
            <a:avLst/>
          </a:prstGeom>
          <a:solidFill>
            <a:srgbClr val="60728A"/>
          </a:solidFill>
          <a:ln/>
        </p:spPr>
      </p:sp>
      <p:sp>
        <p:nvSpPr>
          <p:cNvPr id="19" name="Shape 17"/>
          <p:cNvSpPr/>
          <p:nvPr/>
        </p:nvSpPr>
        <p:spPr>
          <a:xfrm>
            <a:off x="2468880" y="3767328"/>
            <a:ext cx="4206240" cy="347472"/>
          </a:xfrm>
          <a:prstGeom prst="roundRect">
            <a:avLst>
              <a:gd name="adj" fmla="val 15789"/>
            </a:avLst>
          </a:prstGeom>
          <a:solidFill>
            <a:srgbClr val="EEF3FB"/>
          </a:solidFill>
          <a:ln w="25400">
            <a:solidFill>
              <a:srgbClr val="E8A33D"/>
            </a:solidFill>
            <a:prstDash val="solid"/>
          </a:ln>
        </p:spPr>
      </p:sp>
      <p:sp>
        <p:nvSpPr>
          <p:cNvPr id="20" name="Text 18"/>
          <p:cNvSpPr/>
          <p:nvPr/>
        </p:nvSpPr>
        <p:spPr>
          <a:xfrm>
            <a:off x="2468880" y="3767328"/>
            <a:ext cx="4206240" cy="347472"/>
          </a:xfrm>
          <a:prstGeom prst="rect">
            <a:avLst/>
          </a:prstGeom>
          <a:noFill/>
          <a:ln/>
        </p:spPr>
        <p:txBody>
          <a:bodyPr wrap="square" rtlCol="0" anchor="ctr"/>
          <a:lstStyle/>
          <a:p>
            <a:pPr algn="ctr" indent="0" marL="0">
              <a:buNone/>
            </a:pPr>
            <a:r>
              <a:rPr lang="en-US" sz="1250" b="1" dirty="0">
                <a:solidFill>
                  <a:srgbClr val="1E2761"/>
                </a:solidFill>
                <a:latin typeface="Calibri" pitchFamily="34" charset="0"/>
                <a:ea typeface="Calibri" pitchFamily="34" charset="-122"/>
                <a:cs typeface="Calibri" pitchFamily="34" charset="-120"/>
              </a:rPr>
              <a:t>Transformer Block　完成</a:t>
            </a:r>
            <a:endParaRPr lang="en-US" sz="1250" dirty="0"/>
          </a:p>
        </p:txBody>
      </p:sp>
      <p:sp>
        <p:nvSpPr>
          <p:cNvPr id="21" name="Text 19"/>
          <p:cNvSpPr/>
          <p:nvPr/>
        </p:nvSpPr>
        <p:spPr>
          <a:xfrm>
            <a:off x="548640" y="4224528"/>
            <a:ext cx="8046720" cy="292608"/>
          </a:xfrm>
          <a:prstGeom prst="rect">
            <a:avLst/>
          </a:prstGeom>
          <a:noFill/>
          <a:ln/>
        </p:spPr>
        <p:txBody>
          <a:bodyPr wrap="square" rtlCol="0" anchor="ctr"/>
          <a:lstStyle/>
          <a:p>
            <a:pPr indent="0" marL="0">
              <a:buNone/>
            </a:pPr>
            <a:r>
              <a:rPr lang="en-US" sz="1150" b="1" i="1" dirty="0">
                <a:solidFill>
                  <a:srgbClr val="0C7B93"/>
                </a:solidFill>
                <a:latin typeface="Calibri" pitchFamily="34" charset="0"/>
                <a:ea typeface="Calibri" pitchFamily="34" charset="-122"/>
                <a:cs typeface="Calibri" pitchFamily="34" charset="-120"/>
              </a:rPr>
              <a:t>→ 「層」とは、このTransformer BlockをN回積み重ねたものです。</a:t>
            </a:r>
            <a:endParaRPr lang="en-US" sz="1150" dirty="0"/>
          </a:p>
        </p:txBody>
      </p:sp>
      <p:sp>
        <p:nvSpPr>
          <p:cNvPr id="22" name="Text 20"/>
          <p:cNvSpPr/>
          <p:nvPr/>
        </p:nvSpPr>
        <p:spPr>
          <a:xfrm>
            <a:off x="8138160" y="4828032"/>
            <a:ext cx="731520" cy="274320"/>
          </a:xfrm>
          <a:prstGeom prst="rect">
            <a:avLst/>
          </a:prstGeom>
          <a:noFill/>
          <a:ln/>
        </p:spPr>
        <p:txBody>
          <a:bodyPr wrap="square" rtlCol="0" anchor="ctr"/>
          <a:lstStyle/>
          <a:p>
            <a:pPr algn="r" indent="0" marL="0">
              <a:buNone/>
            </a:pPr>
            <a:r>
              <a:rPr lang="en-US" sz="1000" dirty="0">
                <a:solidFill>
                  <a:srgbClr val="60728A"/>
                </a:solidFill>
                <a:latin typeface="Calibri" pitchFamily="34" charset="0"/>
                <a:ea typeface="Calibri" pitchFamily="34" charset="-122"/>
                <a:cs typeface="Calibri" pitchFamily="34" charset="-120"/>
              </a:rPr>
              <a:t>08 / 17</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7772400" cy="274320"/>
          </a:xfrm>
          <a:prstGeom prst="rect">
            <a:avLst/>
          </a:prstGeom>
          <a:noFill/>
          <a:ln/>
        </p:spPr>
        <p:txBody>
          <a:bodyPr wrap="square" rtlCol="0" anchor="ctr"/>
          <a:lstStyle/>
          <a:p>
            <a:pPr indent="0" marL="0">
              <a:buNone/>
            </a:pPr>
            <a:r>
              <a:rPr lang="en-US" sz="1200" b="1" spc="200" kern="0" dirty="0">
                <a:solidFill>
                  <a:srgbClr val="0C7B93"/>
                </a:solidFill>
                <a:latin typeface="Calibri" pitchFamily="34" charset="0"/>
                <a:ea typeface="Calibri" pitchFamily="34" charset="-122"/>
                <a:cs typeface="Calibri" pitchFamily="34" charset="-120"/>
              </a:rPr>
              <a:t>STEP 7</a:t>
            </a:r>
            <a:endParaRPr lang="en-US" sz="1200" dirty="0"/>
          </a:p>
        </p:txBody>
      </p:sp>
      <p:sp>
        <p:nvSpPr>
          <p:cNvPr id="3" name="Text 1"/>
          <p:cNvSpPr/>
          <p:nvPr/>
        </p:nvSpPr>
        <p:spPr>
          <a:xfrm>
            <a:off x="548640" y="566928"/>
            <a:ext cx="8046720" cy="64008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FFN：次元を広げて重要な特徴を強調する</a:t>
            </a:r>
            <a:endParaRPr lang="en-US" sz="3000" dirty="0"/>
          </a:p>
        </p:txBody>
      </p:sp>
      <p:sp>
        <p:nvSpPr>
          <p:cNvPr id="4" name="Text 2"/>
          <p:cNvSpPr/>
          <p:nvPr/>
        </p:nvSpPr>
        <p:spPr>
          <a:xfrm>
            <a:off x="548640" y="1225296"/>
            <a:ext cx="8046720" cy="457200"/>
          </a:xfrm>
          <a:prstGeom prst="rect">
            <a:avLst/>
          </a:prstGeom>
          <a:noFill/>
          <a:ln/>
        </p:spPr>
        <p:txBody>
          <a:bodyPr wrap="square" rtlCol="0" anchor="ctr"/>
          <a:lstStyle/>
          <a:p>
            <a:pPr indent="0" marL="0">
              <a:buNone/>
            </a:pPr>
            <a:r>
              <a:rPr lang="en-US" sz="1100" dirty="0">
                <a:solidFill>
                  <a:srgbClr val="26324A"/>
                </a:solidFill>
                <a:latin typeface="Calibri" pitchFamily="34" charset="0"/>
                <a:ea typeface="Calibri" pitchFamily="34" charset="-122"/>
                <a:cs typeface="Calibri" pitchFamily="34" charset="-120"/>
              </a:rPr>
              <a:t>Attentionは関連する文脈情報を「集める」処理でした。</a:t>
            </a:r>
            <a:pPr indent="0" marL="0">
              <a:buNone/>
            </a:pPr>
            <a:r>
              <a:rPr lang="en-US" sz="1100" b="1" dirty="0">
                <a:solidFill>
                  <a:srgbClr val="0C7B93"/>
                </a:solidFill>
                <a:latin typeface="Calibri" pitchFamily="34" charset="0"/>
                <a:ea typeface="Calibri" pitchFamily="34" charset="-122"/>
                <a:cs typeface="Calibri" pitchFamily="34" charset="-120"/>
              </a:rPr>
              <a:t>FFNは、その情報をもとに次元を大きく広げてから絞り込むことで、より抽象的な意味表現を作ります。</a:t>
            </a:r>
            <a:endParaRPr lang="en-US" sz="1100" dirty="0"/>
          </a:p>
        </p:txBody>
      </p:sp>
      <p:sp>
        <p:nvSpPr>
          <p:cNvPr id="5" name="Text 3"/>
          <p:cNvSpPr/>
          <p:nvPr/>
        </p:nvSpPr>
        <p:spPr>
          <a:xfrm>
            <a:off x="1161288" y="1847088"/>
            <a:ext cx="960120" cy="201168"/>
          </a:xfrm>
          <a:prstGeom prst="rect">
            <a:avLst/>
          </a:prstGeom>
          <a:noFill/>
          <a:ln/>
        </p:spPr>
        <p:txBody>
          <a:bodyPr wrap="square" rtlCol="0" anchor="ctr"/>
          <a:lstStyle/>
          <a:p>
            <a:pPr algn="ctr" indent="0" marL="0">
              <a:buNone/>
            </a:pPr>
            <a:r>
              <a:rPr lang="en-US" sz="1000" b="1" dirty="0">
                <a:solidFill>
                  <a:srgbClr val="1E2761"/>
                </a:solidFill>
                <a:latin typeface="Calibri" pitchFamily="34" charset="0"/>
                <a:ea typeface="Calibri" pitchFamily="34" charset="-122"/>
                <a:cs typeface="Calibri" pitchFamily="34" charset="-120"/>
              </a:rPr>
              <a:t>768次元</a:t>
            </a:r>
            <a:endParaRPr lang="en-US" sz="1000" dirty="0"/>
          </a:p>
        </p:txBody>
      </p:sp>
      <p:sp>
        <p:nvSpPr>
          <p:cNvPr id="6" name="Shape 4"/>
          <p:cNvSpPr/>
          <p:nvPr/>
        </p:nvSpPr>
        <p:spPr>
          <a:xfrm>
            <a:off x="1161288" y="2103120"/>
            <a:ext cx="960120" cy="932688"/>
          </a:xfrm>
          <a:prstGeom prst="roundRect">
            <a:avLst>
              <a:gd name="adj" fmla="val 4902"/>
            </a:avLst>
          </a:prstGeom>
          <a:solidFill>
            <a:srgbClr val="EEF3FB"/>
          </a:solidFill>
          <a:ln/>
        </p:spPr>
      </p:sp>
      <p:sp>
        <p:nvSpPr>
          <p:cNvPr id="7" name="Shape 5"/>
          <p:cNvSpPr/>
          <p:nvPr/>
        </p:nvSpPr>
        <p:spPr>
          <a:xfrm>
            <a:off x="1252728" y="2531974"/>
            <a:ext cx="170307" cy="412394"/>
          </a:xfrm>
          <a:prstGeom prst="rect">
            <a:avLst/>
          </a:prstGeom>
          <a:solidFill>
            <a:srgbClr val="0C7B93"/>
          </a:solidFill>
          <a:ln/>
        </p:spPr>
      </p:sp>
      <p:sp>
        <p:nvSpPr>
          <p:cNvPr id="8" name="Shape 6"/>
          <p:cNvSpPr/>
          <p:nvPr/>
        </p:nvSpPr>
        <p:spPr>
          <a:xfrm>
            <a:off x="1455039" y="2419502"/>
            <a:ext cx="170307" cy="524866"/>
          </a:xfrm>
          <a:prstGeom prst="rect">
            <a:avLst/>
          </a:prstGeom>
          <a:solidFill>
            <a:srgbClr val="0C7B93"/>
          </a:solidFill>
          <a:ln/>
        </p:spPr>
      </p:sp>
      <p:sp>
        <p:nvSpPr>
          <p:cNvPr id="9" name="Shape 7"/>
          <p:cNvSpPr/>
          <p:nvPr/>
        </p:nvSpPr>
        <p:spPr>
          <a:xfrm>
            <a:off x="1657350" y="2494483"/>
            <a:ext cx="170307" cy="449885"/>
          </a:xfrm>
          <a:prstGeom prst="rect">
            <a:avLst/>
          </a:prstGeom>
          <a:solidFill>
            <a:srgbClr val="0C7B93"/>
          </a:solidFill>
          <a:ln/>
        </p:spPr>
      </p:sp>
      <p:sp>
        <p:nvSpPr>
          <p:cNvPr id="10" name="Shape 8"/>
          <p:cNvSpPr/>
          <p:nvPr/>
        </p:nvSpPr>
        <p:spPr>
          <a:xfrm>
            <a:off x="1859661" y="2569464"/>
            <a:ext cx="170307" cy="374904"/>
          </a:xfrm>
          <a:prstGeom prst="rect">
            <a:avLst/>
          </a:prstGeom>
          <a:solidFill>
            <a:srgbClr val="0C7B93"/>
          </a:solidFill>
          <a:ln/>
        </p:spPr>
      </p:sp>
      <p:sp>
        <p:nvSpPr>
          <p:cNvPr id="11" name="Text 9"/>
          <p:cNvSpPr/>
          <p:nvPr/>
        </p:nvSpPr>
        <p:spPr>
          <a:xfrm>
            <a:off x="1024128" y="3090672"/>
            <a:ext cx="1234440" cy="384048"/>
          </a:xfrm>
          <a:prstGeom prst="rect">
            <a:avLst/>
          </a:prstGeom>
          <a:noFill/>
          <a:ln/>
        </p:spPr>
        <p:txBody>
          <a:bodyPr wrap="square" rtlCol="0" anchor="ctr"/>
          <a:lstStyle/>
          <a:p>
            <a:pPr algn="ctr" indent="0" marL="0">
              <a:buNone/>
            </a:pPr>
            <a:r>
              <a:rPr lang="en-US" sz="850" i="1" dirty="0">
                <a:solidFill>
                  <a:srgbClr val="60728A"/>
                </a:solidFill>
                <a:latin typeface="Calibri" pitchFamily="34" charset="0"/>
                <a:ea typeface="Calibri" pitchFamily="34" charset="-122"/>
                <a:cs typeface="Calibri" pitchFamily="34" charset="-120"/>
              </a:rPr>
              <a:t>元のベクトル</a:t>
            </a:r>
            <a:endParaRPr lang="en-US" sz="850" dirty="0"/>
          </a:p>
        </p:txBody>
      </p:sp>
      <p:sp>
        <p:nvSpPr>
          <p:cNvPr id="12" name="Shape 10"/>
          <p:cNvSpPr/>
          <p:nvPr/>
        </p:nvSpPr>
        <p:spPr>
          <a:xfrm>
            <a:off x="2139696" y="2487168"/>
            <a:ext cx="164592" cy="164592"/>
          </a:xfrm>
          <a:prstGeom prst="rightArrow">
            <a:avLst/>
          </a:prstGeom>
          <a:solidFill>
            <a:srgbClr val="60728A"/>
          </a:solidFill>
          <a:ln/>
        </p:spPr>
      </p:sp>
      <p:sp>
        <p:nvSpPr>
          <p:cNvPr id="13" name="Text 11"/>
          <p:cNvSpPr/>
          <p:nvPr/>
        </p:nvSpPr>
        <p:spPr>
          <a:xfrm>
            <a:off x="2322576" y="1847088"/>
            <a:ext cx="2148840" cy="201168"/>
          </a:xfrm>
          <a:prstGeom prst="rect">
            <a:avLst/>
          </a:prstGeom>
          <a:noFill/>
          <a:ln/>
        </p:spPr>
        <p:txBody>
          <a:bodyPr wrap="square" rtlCol="0" anchor="ctr"/>
          <a:lstStyle/>
          <a:p>
            <a:pPr algn="ctr" indent="0" marL="0">
              <a:buNone/>
            </a:pPr>
            <a:r>
              <a:rPr lang="en-US" sz="1000" b="1" dirty="0">
                <a:solidFill>
                  <a:srgbClr val="0C7B93"/>
                </a:solidFill>
                <a:latin typeface="Calibri" pitchFamily="34" charset="0"/>
                <a:ea typeface="Calibri" pitchFamily="34" charset="-122"/>
                <a:cs typeface="Calibri" pitchFamily="34" charset="-120"/>
              </a:rPr>
              <a:t>3072次元に拡張</a:t>
            </a:r>
            <a:endParaRPr lang="en-US" sz="1000" dirty="0"/>
          </a:p>
        </p:txBody>
      </p:sp>
      <p:sp>
        <p:nvSpPr>
          <p:cNvPr id="14" name="Shape 12"/>
          <p:cNvSpPr/>
          <p:nvPr/>
        </p:nvSpPr>
        <p:spPr>
          <a:xfrm>
            <a:off x="2322576" y="2103120"/>
            <a:ext cx="2148840" cy="932688"/>
          </a:xfrm>
          <a:prstGeom prst="roundRect">
            <a:avLst>
              <a:gd name="adj" fmla="val 4902"/>
            </a:avLst>
          </a:prstGeom>
          <a:solidFill>
            <a:srgbClr val="EEF3FB"/>
          </a:solidFill>
          <a:ln/>
        </p:spPr>
      </p:sp>
      <p:sp>
        <p:nvSpPr>
          <p:cNvPr id="15" name="Shape 13"/>
          <p:cNvSpPr/>
          <p:nvPr/>
        </p:nvSpPr>
        <p:spPr>
          <a:xfrm>
            <a:off x="2414016" y="2494483"/>
            <a:ext cx="189992" cy="449885"/>
          </a:xfrm>
          <a:prstGeom prst="rect">
            <a:avLst/>
          </a:prstGeom>
          <a:solidFill>
            <a:srgbClr val="8FC1CE"/>
          </a:solidFill>
          <a:ln/>
        </p:spPr>
      </p:sp>
      <p:sp>
        <p:nvSpPr>
          <p:cNvPr id="16" name="Shape 14"/>
          <p:cNvSpPr/>
          <p:nvPr/>
        </p:nvSpPr>
        <p:spPr>
          <a:xfrm>
            <a:off x="2636012" y="2531974"/>
            <a:ext cx="189992" cy="412394"/>
          </a:xfrm>
          <a:prstGeom prst="rect">
            <a:avLst/>
          </a:prstGeom>
          <a:solidFill>
            <a:srgbClr val="8FC1CE"/>
          </a:solidFill>
          <a:ln/>
        </p:spPr>
      </p:sp>
      <p:sp>
        <p:nvSpPr>
          <p:cNvPr id="17" name="Shape 15"/>
          <p:cNvSpPr/>
          <p:nvPr/>
        </p:nvSpPr>
        <p:spPr>
          <a:xfrm>
            <a:off x="2858008" y="2456993"/>
            <a:ext cx="189992" cy="487375"/>
          </a:xfrm>
          <a:prstGeom prst="rect">
            <a:avLst/>
          </a:prstGeom>
          <a:solidFill>
            <a:srgbClr val="8FC1CE"/>
          </a:solidFill>
          <a:ln/>
        </p:spPr>
      </p:sp>
      <p:sp>
        <p:nvSpPr>
          <p:cNvPr id="18" name="Shape 16"/>
          <p:cNvSpPr/>
          <p:nvPr/>
        </p:nvSpPr>
        <p:spPr>
          <a:xfrm>
            <a:off x="3080004" y="2569464"/>
            <a:ext cx="189992" cy="374904"/>
          </a:xfrm>
          <a:prstGeom prst="rect">
            <a:avLst/>
          </a:prstGeom>
          <a:solidFill>
            <a:srgbClr val="8FC1CE"/>
          </a:solidFill>
          <a:ln/>
        </p:spPr>
      </p:sp>
      <p:sp>
        <p:nvSpPr>
          <p:cNvPr id="19" name="Shape 17"/>
          <p:cNvSpPr/>
          <p:nvPr/>
        </p:nvSpPr>
        <p:spPr>
          <a:xfrm>
            <a:off x="3302000" y="2494483"/>
            <a:ext cx="189992" cy="449885"/>
          </a:xfrm>
          <a:prstGeom prst="rect">
            <a:avLst/>
          </a:prstGeom>
          <a:solidFill>
            <a:srgbClr val="8FC1CE"/>
          </a:solidFill>
          <a:ln/>
        </p:spPr>
      </p:sp>
      <p:sp>
        <p:nvSpPr>
          <p:cNvPr id="20" name="Shape 18"/>
          <p:cNvSpPr/>
          <p:nvPr/>
        </p:nvSpPr>
        <p:spPr>
          <a:xfrm>
            <a:off x="3523996" y="2531974"/>
            <a:ext cx="189992" cy="412394"/>
          </a:xfrm>
          <a:prstGeom prst="rect">
            <a:avLst/>
          </a:prstGeom>
          <a:solidFill>
            <a:srgbClr val="8FC1CE"/>
          </a:solidFill>
          <a:ln/>
        </p:spPr>
      </p:sp>
      <p:sp>
        <p:nvSpPr>
          <p:cNvPr id="21" name="Shape 19"/>
          <p:cNvSpPr/>
          <p:nvPr/>
        </p:nvSpPr>
        <p:spPr>
          <a:xfrm>
            <a:off x="3745992" y="2494483"/>
            <a:ext cx="189992" cy="449885"/>
          </a:xfrm>
          <a:prstGeom prst="rect">
            <a:avLst/>
          </a:prstGeom>
          <a:solidFill>
            <a:srgbClr val="8FC1CE"/>
          </a:solidFill>
          <a:ln/>
        </p:spPr>
      </p:sp>
      <p:sp>
        <p:nvSpPr>
          <p:cNvPr id="22" name="Shape 20"/>
          <p:cNvSpPr/>
          <p:nvPr/>
        </p:nvSpPr>
        <p:spPr>
          <a:xfrm>
            <a:off x="3967988" y="2569464"/>
            <a:ext cx="189992" cy="374904"/>
          </a:xfrm>
          <a:prstGeom prst="rect">
            <a:avLst/>
          </a:prstGeom>
          <a:solidFill>
            <a:srgbClr val="8FC1CE"/>
          </a:solidFill>
          <a:ln/>
        </p:spPr>
      </p:sp>
      <p:sp>
        <p:nvSpPr>
          <p:cNvPr id="23" name="Shape 21"/>
          <p:cNvSpPr/>
          <p:nvPr/>
        </p:nvSpPr>
        <p:spPr>
          <a:xfrm>
            <a:off x="4189984" y="2479487"/>
            <a:ext cx="189992" cy="464881"/>
          </a:xfrm>
          <a:prstGeom prst="rect">
            <a:avLst/>
          </a:prstGeom>
          <a:solidFill>
            <a:srgbClr val="8FC1CE"/>
          </a:solidFill>
          <a:ln/>
        </p:spPr>
      </p:sp>
      <p:sp>
        <p:nvSpPr>
          <p:cNvPr id="24" name="Text 22"/>
          <p:cNvSpPr/>
          <p:nvPr/>
        </p:nvSpPr>
        <p:spPr>
          <a:xfrm>
            <a:off x="2185416" y="3090672"/>
            <a:ext cx="2423160" cy="384048"/>
          </a:xfrm>
          <a:prstGeom prst="rect">
            <a:avLst/>
          </a:prstGeom>
          <a:noFill/>
          <a:ln/>
        </p:spPr>
        <p:txBody>
          <a:bodyPr wrap="square" rtlCol="0" anchor="ctr"/>
          <a:lstStyle/>
          <a:p>
            <a:pPr algn="ctr" indent="0" marL="0">
              <a:buNone/>
            </a:pPr>
            <a:r>
              <a:rPr lang="en-US" sz="850" i="1" dirty="0">
                <a:solidFill>
                  <a:srgbClr val="60728A"/>
                </a:solidFill>
                <a:latin typeface="Calibri" pitchFamily="34" charset="0"/>
                <a:ea typeface="Calibri" pitchFamily="34" charset="-122"/>
                <a:cs typeface="Calibri" pitchFamily="34" charset="-120"/>
              </a:rPr>
              <a:t>特徴を細かく分離</a:t>
            </a:r>
            <a:endParaRPr lang="en-US" sz="850" dirty="0"/>
          </a:p>
        </p:txBody>
      </p:sp>
      <p:sp>
        <p:nvSpPr>
          <p:cNvPr id="25" name="Shape 23"/>
          <p:cNvSpPr/>
          <p:nvPr/>
        </p:nvSpPr>
        <p:spPr>
          <a:xfrm>
            <a:off x="4489704" y="2487168"/>
            <a:ext cx="164592" cy="164592"/>
          </a:xfrm>
          <a:prstGeom prst="rightArrow">
            <a:avLst/>
          </a:prstGeom>
          <a:solidFill>
            <a:srgbClr val="60728A"/>
          </a:solidFill>
          <a:ln/>
        </p:spPr>
      </p:sp>
      <p:sp>
        <p:nvSpPr>
          <p:cNvPr id="26" name="Text 24"/>
          <p:cNvSpPr/>
          <p:nvPr/>
        </p:nvSpPr>
        <p:spPr>
          <a:xfrm>
            <a:off x="4672584" y="1847088"/>
            <a:ext cx="2148840" cy="201168"/>
          </a:xfrm>
          <a:prstGeom prst="rect">
            <a:avLst/>
          </a:prstGeom>
          <a:noFill/>
          <a:ln/>
        </p:spPr>
        <p:txBody>
          <a:bodyPr wrap="square" rtlCol="0" anchor="ctr"/>
          <a:lstStyle/>
          <a:p>
            <a:pPr algn="ctr" indent="0" marL="0">
              <a:buNone/>
            </a:pPr>
            <a:r>
              <a:rPr lang="en-US" sz="1000" b="1" dirty="0">
                <a:solidFill>
                  <a:srgbClr val="0C7B93"/>
                </a:solidFill>
                <a:latin typeface="Calibri" pitchFamily="34" charset="0"/>
                <a:ea typeface="Calibri" pitchFamily="34" charset="-122"/>
                <a:cs typeface="Calibri" pitchFamily="34" charset="-120"/>
              </a:rPr>
              <a:t>重要な特徴を強調</a:t>
            </a:r>
            <a:endParaRPr lang="en-US" sz="1000" dirty="0"/>
          </a:p>
        </p:txBody>
      </p:sp>
      <p:sp>
        <p:nvSpPr>
          <p:cNvPr id="27" name="Shape 25"/>
          <p:cNvSpPr/>
          <p:nvPr/>
        </p:nvSpPr>
        <p:spPr>
          <a:xfrm>
            <a:off x="4672584" y="2103120"/>
            <a:ext cx="2148840" cy="932688"/>
          </a:xfrm>
          <a:prstGeom prst="roundRect">
            <a:avLst>
              <a:gd name="adj" fmla="val 4902"/>
            </a:avLst>
          </a:prstGeom>
          <a:solidFill>
            <a:srgbClr val="EEF3FB"/>
          </a:solidFill>
          <a:ln/>
        </p:spPr>
      </p:sp>
      <p:sp>
        <p:nvSpPr>
          <p:cNvPr id="28" name="Shape 26"/>
          <p:cNvSpPr/>
          <p:nvPr/>
        </p:nvSpPr>
        <p:spPr>
          <a:xfrm>
            <a:off x="4764024" y="2307031"/>
            <a:ext cx="189992" cy="637337"/>
          </a:xfrm>
          <a:prstGeom prst="rect">
            <a:avLst/>
          </a:prstGeom>
          <a:solidFill>
            <a:srgbClr val="0C7B93"/>
          </a:solidFill>
          <a:ln/>
        </p:spPr>
      </p:sp>
      <p:sp>
        <p:nvSpPr>
          <p:cNvPr id="29" name="Shape 27"/>
          <p:cNvSpPr/>
          <p:nvPr/>
        </p:nvSpPr>
        <p:spPr>
          <a:xfrm>
            <a:off x="4986020" y="2756916"/>
            <a:ext cx="189992" cy="187452"/>
          </a:xfrm>
          <a:prstGeom prst="rect">
            <a:avLst/>
          </a:prstGeom>
          <a:solidFill>
            <a:srgbClr val="C7D3E8"/>
          </a:solidFill>
          <a:ln/>
        </p:spPr>
      </p:sp>
      <p:sp>
        <p:nvSpPr>
          <p:cNvPr id="30" name="Shape 28"/>
          <p:cNvSpPr/>
          <p:nvPr/>
        </p:nvSpPr>
        <p:spPr>
          <a:xfrm>
            <a:off x="5208016" y="2531974"/>
            <a:ext cx="189992" cy="412394"/>
          </a:xfrm>
          <a:prstGeom prst="rect">
            <a:avLst/>
          </a:prstGeom>
          <a:solidFill>
            <a:srgbClr val="8FC1CE"/>
          </a:solidFill>
          <a:ln/>
        </p:spPr>
      </p:sp>
      <p:sp>
        <p:nvSpPr>
          <p:cNvPr id="31" name="Shape 29"/>
          <p:cNvSpPr/>
          <p:nvPr/>
        </p:nvSpPr>
        <p:spPr>
          <a:xfrm>
            <a:off x="5430012" y="2794406"/>
            <a:ext cx="189992" cy="149962"/>
          </a:xfrm>
          <a:prstGeom prst="rect">
            <a:avLst/>
          </a:prstGeom>
          <a:solidFill>
            <a:srgbClr val="C7D3E8"/>
          </a:solidFill>
          <a:ln/>
        </p:spPr>
      </p:sp>
      <p:sp>
        <p:nvSpPr>
          <p:cNvPr id="32" name="Shape 30"/>
          <p:cNvSpPr/>
          <p:nvPr/>
        </p:nvSpPr>
        <p:spPr>
          <a:xfrm>
            <a:off x="5652008" y="2344522"/>
            <a:ext cx="189992" cy="599846"/>
          </a:xfrm>
          <a:prstGeom prst="rect">
            <a:avLst/>
          </a:prstGeom>
          <a:solidFill>
            <a:srgbClr val="0C7B93"/>
          </a:solidFill>
          <a:ln/>
        </p:spPr>
      </p:sp>
      <p:sp>
        <p:nvSpPr>
          <p:cNvPr id="33" name="Shape 31"/>
          <p:cNvSpPr/>
          <p:nvPr/>
        </p:nvSpPr>
        <p:spPr>
          <a:xfrm>
            <a:off x="5874004" y="2719426"/>
            <a:ext cx="189992" cy="224942"/>
          </a:xfrm>
          <a:prstGeom prst="rect">
            <a:avLst/>
          </a:prstGeom>
          <a:solidFill>
            <a:srgbClr val="C7D3E8"/>
          </a:solidFill>
          <a:ln/>
        </p:spPr>
      </p:sp>
      <p:sp>
        <p:nvSpPr>
          <p:cNvPr id="34" name="Shape 32"/>
          <p:cNvSpPr/>
          <p:nvPr/>
        </p:nvSpPr>
        <p:spPr>
          <a:xfrm>
            <a:off x="6096000" y="2479487"/>
            <a:ext cx="189992" cy="464881"/>
          </a:xfrm>
          <a:prstGeom prst="rect">
            <a:avLst/>
          </a:prstGeom>
          <a:solidFill>
            <a:srgbClr val="8FC1CE"/>
          </a:solidFill>
          <a:ln/>
        </p:spPr>
      </p:sp>
      <p:sp>
        <p:nvSpPr>
          <p:cNvPr id="35" name="Shape 33"/>
          <p:cNvSpPr/>
          <p:nvPr/>
        </p:nvSpPr>
        <p:spPr>
          <a:xfrm>
            <a:off x="6317996" y="2794406"/>
            <a:ext cx="189992" cy="149962"/>
          </a:xfrm>
          <a:prstGeom prst="rect">
            <a:avLst/>
          </a:prstGeom>
          <a:solidFill>
            <a:srgbClr val="C7D3E8"/>
          </a:solidFill>
          <a:ln/>
        </p:spPr>
      </p:sp>
      <p:sp>
        <p:nvSpPr>
          <p:cNvPr id="36" name="Shape 34"/>
          <p:cNvSpPr/>
          <p:nvPr/>
        </p:nvSpPr>
        <p:spPr>
          <a:xfrm>
            <a:off x="6539992" y="2359518"/>
            <a:ext cx="189992" cy="584850"/>
          </a:xfrm>
          <a:prstGeom prst="rect">
            <a:avLst/>
          </a:prstGeom>
          <a:solidFill>
            <a:srgbClr val="0C7B93"/>
          </a:solidFill>
          <a:ln/>
        </p:spPr>
      </p:sp>
      <p:sp>
        <p:nvSpPr>
          <p:cNvPr id="37" name="Text 35"/>
          <p:cNvSpPr/>
          <p:nvPr/>
        </p:nvSpPr>
        <p:spPr>
          <a:xfrm>
            <a:off x="4535424" y="3090672"/>
            <a:ext cx="2423160" cy="384048"/>
          </a:xfrm>
          <a:prstGeom prst="rect">
            <a:avLst/>
          </a:prstGeom>
          <a:noFill/>
          <a:ln/>
        </p:spPr>
        <p:txBody>
          <a:bodyPr wrap="square" rtlCol="0" anchor="ctr"/>
          <a:lstStyle/>
          <a:p>
            <a:pPr algn="ctr" indent="0" marL="0">
              <a:buNone/>
            </a:pPr>
            <a:r>
              <a:rPr lang="en-US" sz="850" i="1" dirty="0">
                <a:solidFill>
                  <a:srgbClr val="60728A"/>
                </a:solidFill>
                <a:latin typeface="Calibri" pitchFamily="34" charset="0"/>
                <a:ea typeface="Calibri" pitchFamily="34" charset="-122"/>
                <a:cs typeface="Calibri" pitchFamily="34" charset="-120"/>
              </a:rPr>
              <a:t>活性化関数＋線形変換</a:t>
            </a:r>
            <a:endParaRPr lang="en-US" sz="850" dirty="0"/>
          </a:p>
        </p:txBody>
      </p:sp>
      <p:sp>
        <p:nvSpPr>
          <p:cNvPr id="38" name="Shape 36"/>
          <p:cNvSpPr/>
          <p:nvPr/>
        </p:nvSpPr>
        <p:spPr>
          <a:xfrm>
            <a:off x="6839712" y="2487168"/>
            <a:ext cx="164592" cy="164592"/>
          </a:xfrm>
          <a:prstGeom prst="rightArrow">
            <a:avLst/>
          </a:prstGeom>
          <a:solidFill>
            <a:srgbClr val="60728A"/>
          </a:solidFill>
          <a:ln/>
        </p:spPr>
      </p:sp>
      <p:sp>
        <p:nvSpPr>
          <p:cNvPr id="39" name="Text 37"/>
          <p:cNvSpPr/>
          <p:nvPr/>
        </p:nvSpPr>
        <p:spPr>
          <a:xfrm>
            <a:off x="7022592" y="1847088"/>
            <a:ext cx="960120" cy="201168"/>
          </a:xfrm>
          <a:prstGeom prst="rect">
            <a:avLst/>
          </a:prstGeom>
          <a:noFill/>
          <a:ln/>
        </p:spPr>
        <p:txBody>
          <a:bodyPr wrap="square" rtlCol="0" anchor="ctr"/>
          <a:lstStyle/>
          <a:p>
            <a:pPr algn="ctr" indent="0" marL="0">
              <a:buNone/>
            </a:pPr>
            <a:r>
              <a:rPr lang="en-US" sz="1000" b="1" dirty="0">
                <a:solidFill>
                  <a:srgbClr val="1E2761"/>
                </a:solidFill>
                <a:latin typeface="Calibri" pitchFamily="34" charset="0"/>
                <a:ea typeface="Calibri" pitchFamily="34" charset="-122"/>
                <a:cs typeface="Calibri" pitchFamily="34" charset="-120"/>
              </a:rPr>
              <a:t>768次元に圧縮</a:t>
            </a:r>
            <a:endParaRPr lang="en-US" sz="1000" dirty="0"/>
          </a:p>
        </p:txBody>
      </p:sp>
      <p:sp>
        <p:nvSpPr>
          <p:cNvPr id="40" name="Shape 38"/>
          <p:cNvSpPr/>
          <p:nvPr/>
        </p:nvSpPr>
        <p:spPr>
          <a:xfrm>
            <a:off x="7022592" y="2103120"/>
            <a:ext cx="960120" cy="932688"/>
          </a:xfrm>
          <a:prstGeom prst="roundRect">
            <a:avLst>
              <a:gd name="adj" fmla="val 4902"/>
            </a:avLst>
          </a:prstGeom>
          <a:solidFill>
            <a:srgbClr val="EEF3FB"/>
          </a:solidFill>
          <a:ln/>
        </p:spPr>
      </p:sp>
      <p:sp>
        <p:nvSpPr>
          <p:cNvPr id="41" name="Shape 39"/>
          <p:cNvSpPr/>
          <p:nvPr/>
        </p:nvSpPr>
        <p:spPr>
          <a:xfrm>
            <a:off x="7114032" y="2382012"/>
            <a:ext cx="170307" cy="562356"/>
          </a:xfrm>
          <a:prstGeom prst="rect">
            <a:avLst/>
          </a:prstGeom>
          <a:solidFill>
            <a:srgbClr val="0C7B93"/>
          </a:solidFill>
          <a:ln/>
        </p:spPr>
      </p:sp>
      <p:sp>
        <p:nvSpPr>
          <p:cNvPr id="42" name="Shape 40"/>
          <p:cNvSpPr/>
          <p:nvPr/>
        </p:nvSpPr>
        <p:spPr>
          <a:xfrm>
            <a:off x="7316343" y="2269541"/>
            <a:ext cx="170307" cy="674827"/>
          </a:xfrm>
          <a:prstGeom prst="rect">
            <a:avLst/>
          </a:prstGeom>
          <a:solidFill>
            <a:srgbClr val="0C7B93"/>
          </a:solidFill>
          <a:ln/>
        </p:spPr>
      </p:sp>
      <p:sp>
        <p:nvSpPr>
          <p:cNvPr id="43" name="Shape 41"/>
          <p:cNvSpPr/>
          <p:nvPr/>
        </p:nvSpPr>
        <p:spPr>
          <a:xfrm>
            <a:off x="7518654" y="2344522"/>
            <a:ext cx="170307" cy="599846"/>
          </a:xfrm>
          <a:prstGeom prst="rect">
            <a:avLst/>
          </a:prstGeom>
          <a:solidFill>
            <a:srgbClr val="0C7B93"/>
          </a:solidFill>
          <a:ln/>
        </p:spPr>
      </p:sp>
      <p:sp>
        <p:nvSpPr>
          <p:cNvPr id="44" name="Shape 42"/>
          <p:cNvSpPr/>
          <p:nvPr/>
        </p:nvSpPr>
        <p:spPr>
          <a:xfrm>
            <a:off x="7720965" y="2479487"/>
            <a:ext cx="170307" cy="464881"/>
          </a:xfrm>
          <a:prstGeom prst="rect">
            <a:avLst/>
          </a:prstGeom>
          <a:solidFill>
            <a:srgbClr val="0C7B93"/>
          </a:solidFill>
          <a:ln/>
        </p:spPr>
      </p:sp>
      <p:sp>
        <p:nvSpPr>
          <p:cNvPr id="45" name="Text 43"/>
          <p:cNvSpPr/>
          <p:nvPr/>
        </p:nvSpPr>
        <p:spPr>
          <a:xfrm>
            <a:off x="6885432" y="3090672"/>
            <a:ext cx="1234440" cy="384048"/>
          </a:xfrm>
          <a:prstGeom prst="rect">
            <a:avLst/>
          </a:prstGeom>
          <a:noFill/>
          <a:ln/>
        </p:spPr>
        <p:txBody>
          <a:bodyPr wrap="square" rtlCol="0" anchor="ctr"/>
          <a:lstStyle/>
          <a:p>
            <a:pPr algn="ctr" indent="0" marL="0">
              <a:buNone/>
            </a:pPr>
            <a:r>
              <a:rPr lang="en-US" sz="850" i="1" dirty="0">
                <a:solidFill>
                  <a:srgbClr val="60728A"/>
                </a:solidFill>
                <a:latin typeface="Calibri" pitchFamily="34" charset="0"/>
                <a:ea typeface="Calibri" pitchFamily="34" charset="-122"/>
                <a:cs typeface="Calibri" pitchFamily="34" charset="-120"/>
              </a:rPr>
              <a:t>抽象化された意味表現</a:t>
            </a:r>
            <a:endParaRPr lang="en-US" sz="850" dirty="0"/>
          </a:p>
        </p:txBody>
      </p:sp>
      <p:sp>
        <p:nvSpPr>
          <p:cNvPr id="46" name="Text 44"/>
          <p:cNvSpPr/>
          <p:nvPr/>
        </p:nvSpPr>
        <p:spPr>
          <a:xfrm>
            <a:off x="548640" y="3511296"/>
            <a:ext cx="8046720" cy="256032"/>
          </a:xfrm>
          <a:prstGeom prst="rect">
            <a:avLst/>
          </a:prstGeom>
          <a:noFill/>
          <a:ln/>
        </p:spPr>
        <p:txBody>
          <a:bodyPr wrap="square" rtlCol="0" anchor="ctr"/>
          <a:lstStyle/>
          <a:p>
            <a:pPr indent="0" marL="0">
              <a:buNone/>
            </a:pPr>
            <a:r>
              <a:rPr lang="en-US" sz="1000" b="1" dirty="0">
                <a:solidFill>
                  <a:srgbClr val="0C7B93"/>
                </a:solidFill>
                <a:latin typeface="Calibri" pitchFamily="34" charset="0"/>
                <a:ea typeface="Calibri" pitchFamily="34" charset="-122"/>
                <a:cs typeface="Calibri" pitchFamily="34" charset="-120"/>
              </a:rPr>
              <a:t>■ </a:t>
            </a:r>
            <a:pPr indent="0" marL="0">
              <a:buNone/>
            </a:pPr>
            <a:r>
              <a:rPr lang="en-US" sz="1000" dirty="0">
                <a:solidFill>
                  <a:srgbClr val="60728A"/>
                </a:solidFill>
                <a:latin typeface="Calibri" pitchFamily="34" charset="0"/>
                <a:ea typeface="Calibri" pitchFamily="34" charset="-122"/>
                <a:cs typeface="Calibri" pitchFamily="34" charset="-120"/>
              </a:rPr>
              <a:t>重要な特徴（強調）　</a:t>
            </a:r>
            <a:pPr indent="0" marL="0">
              <a:buNone/>
            </a:pPr>
            <a:r>
              <a:rPr lang="en-US" sz="1000" b="1" dirty="0">
                <a:solidFill>
                  <a:srgbClr val="C7D3E8"/>
                </a:solidFill>
                <a:latin typeface="Calibri" pitchFamily="34" charset="0"/>
                <a:ea typeface="Calibri" pitchFamily="34" charset="-122"/>
                <a:cs typeface="Calibri" pitchFamily="34" charset="-120"/>
              </a:rPr>
              <a:t>■ </a:t>
            </a:r>
            <a:pPr indent="0" marL="0">
              <a:buNone/>
            </a:pPr>
            <a:r>
              <a:rPr lang="en-US" sz="1000" dirty="0">
                <a:solidFill>
                  <a:srgbClr val="60728A"/>
                </a:solidFill>
                <a:latin typeface="Calibri" pitchFamily="34" charset="0"/>
                <a:ea typeface="Calibri" pitchFamily="34" charset="-122"/>
                <a:cs typeface="Calibri" pitchFamily="34" charset="-120"/>
              </a:rPr>
              <a:t>重要でない特徴（弱める・消さない）</a:t>
            </a:r>
            <a:endParaRPr lang="en-US" sz="1000" dirty="0"/>
          </a:p>
        </p:txBody>
      </p:sp>
      <p:sp>
        <p:nvSpPr>
          <p:cNvPr id="47" name="Text 45"/>
          <p:cNvSpPr/>
          <p:nvPr/>
        </p:nvSpPr>
        <p:spPr>
          <a:xfrm>
            <a:off x="548640" y="3785616"/>
            <a:ext cx="8046720" cy="320040"/>
          </a:xfrm>
          <a:prstGeom prst="rect">
            <a:avLst/>
          </a:prstGeom>
          <a:noFill/>
          <a:ln/>
        </p:spPr>
        <p:txBody>
          <a:bodyPr wrap="square" rtlCol="0" anchor="ctr"/>
          <a:lstStyle/>
          <a:p>
            <a:pPr indent="0" marL="0">
              <a:buNone/>
            </a:pPr>
            <a:r>
              <a:rPr lang="en-US" sz="1050" b="1" i="1" dirty="0">
                <a:solidFill>
                  <a:srgbClr val="0C7B93"/>
                </a:solidFill>
                <a:latin typeface="Calibri" pitchFamily="34" charset="0"/>
                <a:ea typeface="Calibri" pitchFamily="34" charset="-122"/>
                <a:cs typeface="Calibri" pitchFamily="34" charset="-120"/>
              </a:rPr>
              <a:t>例：</a:t>
            </a:r>
            <a:pPr indent="0" marL="0">
              <a:buNone/>
            </a:pPr>
            <a:r>
              <a:rPr lang="en-US" sz="1050" i="1" dirty="0">
                <a:solidFill>
                  <a:srgbClr val="26324A"/>
                </a:solidFill>
                <a:latin typeface="Calibri" pitchFamily="34" charset="0"/>
                <a:ea typeface="Calibri" pitchFamily="34" charset="-122"/>
                <a:cs typeface="Calibri" pitchFamily="34" charset="-120"/>
              </a:rPr>
              <a:t> 「bank」の特徴も、周囲に "river" があれば「川岸」、"money" があれば「銀行」の特徴が強調され、具体的な意味に仕上がります。</a:t>
            </a:r>
            <a:endParaRPr lang="en-US" sz="1050" dirty="0"/>
          </a:p>
        </p:txBody>
      </p:sp>
      <p:sp>
        <p:nvSpPr>
          <p:cNvPr id="48" name="Text 46"/>
          <p:cNvSpPr/>
          <p:nvPr/>
        </p:nvSpPr>
        <p:spPr>
          <a:xfrm>
            <a:off x="8138160" y="4828032"/>
            <a:ext cx="731520" cy="274320"/>
          </a:xfrm>
          <a:prstGeom prst="rect">
            <a:avLst/>
          </a:prstGeom>
          <a:noFill/>
          <a:ln/>
        </p:spPr>
        <p:txBody>
          <a:bodyPr wrap="square" rtlCol="0" anchor="ctr"/>
          <a:lstStyle/>
          <a:p>
            <a:pPr algn="r" indent="0" marL="0">
              <a:buNone/>
            </a:pPr>
            <a:r>
              <a:rPr lang="en-US" sz="1000" dirty="0">
                <a:solidFill>
                  <a:srgbClr val="60728A"/>
                </a:solidFill>
                <a:latin typeface="Calibri" pitchFamily="34" charset="0"/>
                <a:ea typeface="Calibri" pitchFamily="34" charset="-122"/>
                <a:cs typeface="Calibri" pitchFamily="34" charset="-120"/>
              </a:rPr>
              <a:t>09 / 17</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7772400" cy="274320"/>
          </a:xfrm>
          <a:prstGeom prst="rect">
            <a:avLst/>
          </a:prstGeom>
          <a:noFill/>
          <a:ln/>
        </p:spPr>
        <p:txBody>
          <a:bodyPr wrap="square" rtlCol="0" anchor="ctr"/>
          <a:lstStyle/>
          <a:p>
            <a:pPr indent="0" marL="0">
              <a:buNone/>
            </a:pPr>
            <a:r>
              <a:rPr lang="en-US" sz="1200" b="1" spc="200" kern="0" dirty="0">
                <a:solidFill>
                  <a:srgbClr val="0C7B93"/>
                </a:solidFill>
                <a:latin typeface="Calibri" pitchFamily="34" charset="0"/>
                <a:ea typeface="Calibri" pitchFamily="34" charset="-122"/>
                <a:cs typeface="Calibri" pitchFamily="34" charset="-120"/>
              </a:rPr>
              <a:t>STEP 8</a:t>
            </a:r>
            <a:endParaRPr lang="en-US" sz="1200" dirty="0"/>
          </a:p>
        </p:txBody>
      </p:sp>
      <p:sp>
        <p:nvSpPr>
          <p:cNvPr id="3" name="Text 1"/>
          <p:cNvSpPr/>
          <p:nvPr/>
        </p:nvSpPr>
        <p:spPr>
          <a:xfrm>
            <a:off x="548640" y="566928"/>
            <a:ext cx="8046720" cy="64008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層を重ねると何が起きるか</a:t>
            </a:r>
            <a:endParaRPr lang="en-US" sz="3000" dirty="0"/>
          </a:p>
        </p:txBody>
      </p:sp>
      <p:sp>
        <p:nvSpPr>
          <p:cNvPr id="4" name="Text 2"/>
          <p:cNvSpPr/>
          <p:nvPr/>
        </p:nvSpPr>
        <p:spPr>
          <a:xfrm>
            <a:off x="548640" y="1097280"/>
            <a:ext cx="8046720" cy="640080"/>
          </a:xfrm>
          <a:prstGeom prst="rect">
            <a:avLst/>
          </a:prstGeom>
          <a:noFill/>
          <a:ln/>
        </p:spPr>
        <p:txBody>
          <a:bodyPr wrap="square" rtlCol="0" anchor="ctr"/>
          <a:lstStyle/>
          <a:p>
            <a:pPr indent="0" marL="0">
              <a:buNone/>
            </a:pPr>
            <a:r>
              <a:rPr lang="en-US" sz="1250" b="1" dirty="0">
                <a:solidFill>
                  <a:srgbClr val="0C7B93"/>
                </a:solidFill>
                <a:latin typeface="Calibri" pitchFamily="34" charset="0"/>
                <a:ea typeface="Calibri" pitchFamily="34" charset="-122"/>
                <a:cs typeface="Calibri" pitchFamily="34" charset="-120"/>
              </a:rPr>
              <a:t>「層」とは、Transformer BlockをN回積み重ねたものでした。</a:t>
            </a:r>
            <a:pPr indent="0" marL="0">
              <a:buNone/>
            </a:pPr>
            <a:r>
              <a:rPr lang="en-US" sz="1250" dirty="0">
                <a:solidFill>
                  <a:srgbClr val="26324A"/>
                </a:solidFill>
                <a:latin typeface="Calibri" pitchFamily="34" charset="0"/>
                <a:ea typeface="Calibri" pitchFamily="34" charset="-122"/>
                <a:cs typeface="Calibri" pitchFamily="34" charset="-120"/>
              </a:rPr>
              <a:t>　Blockを繰り返すたびに、情報はより抽象的になっていきます。</a:t>
            </a:r>
            <a:endParaRPr lang="en-US" sz="1250" dirty="0"/>
          </a:p>
        </p:txBody>
      </p:sp>
      <p:sp>
        <p:nvSpPr>
          <p:cNvPr id="5" name="Shape 3"/>
          <p:cNvSpPr/>
          <p:nvPr/>
        </p:nvSpPr>
        <p:spPr>
          <a:xfrm>
            <a:off x="548640" y="4160520"/>
            <a:ext cx="8046720" cy="566928"/>
          </a:xfrm>
          <a:prstGeom prst="roundRect">
            <a:avLst>
              <a:gd name="adj" fmla="val 8065"/>
            </a:avLst>
          </a:prstGeom>
          <a:solidFill>
            <a:srgbClr val="EEF3FB"/>
          </a:solidFill>
          <a:ln/>
        </p:spPr>
      </p:sp>
      <p:sp>
        <p:nvSpPr>
          <p:cNvPr id="6" name="Text 4"/>
          <p:cNvSpPr/>
          <p:nvPr/>
        </p:nvSpPr>
        <p:spPr>
          <a:xfrm>
            <a:off x="548640" y="4160520"/>
            <a:ext cx="8046720" cy="566928"/>
          </a:xfrm>
          <a:prstGeom prst="rect">
            <a:avLst/>
          </a:prstGeom>
          <a:noFill/>
          <a:ln/>
        </p:spPr>
        <p:txBody>
          <a:bodyPr wrap="square" rtlCol="0" anchor="ctr"/>
          <a:lstStyle/>
          <a:p>
            <a:pPr algn="ctr" indent="0" marL="0">
              <a:buNone/>
            </a:pPr>
            <a:r>
              <a:rPr lang="en-US" sz="1300" b="1" dirty="0">
                <a:solidFill>
                  <a:srgbClr val="26324A"/>
                </a:solidFill>
                <a:latin typeface="Calibri" pitchFamily="34" charset="0"/>
                <a:ea typeface="Calibri" pitchFamily="34" charset="-122"/>
                <a:cs typeface="Calibri" pitchFamily="34" charset="-120"/>
              </a:rPr>
              <a:t>低層　</a:t>
            </a:r>
            <a:pPr algn="ctr" indent="0" marL="0">
              <a:buNone/>
            </a:pPr>
            <a:r>
              <a:rPr lang="en-US" sz="1300" dirty="0">
                <a:solidFill>
                  <a:srgbClr val="26324A"/>
                </a:solidFill>
                <a:latin typeface="Calibri" pitchFamily="34" charset="0"/>
                <a:ea typeface="Calibri" pitchFamily="34" charset="-122"/>
                <a:cs typeface="Calibri" pitchFamily="34" charset="-120"/>
              </a:rPr>
              <a:t>単語そのものの意味</a:t>
            </a:r>
            <a:endParaRPr lang="en-US" sz="1300" dirty="0"/>
          </a:p>
        </p:txBody>
      </p:sp>
      <p:sp>
        <p:nvSpPr>
          <p:cNvPr id="7" name="Shape 5"/>
          <p:cNvSpPr/>
          <p:nvPr/>
        </p:nvSpPr>
        <p:spPr>
          <a:xfrm>
            <a:off x="960120" y="3447288"/>
            <a:ext cx="7223760" cy="566928"/>
          </a:xfrm>
          <a:prstGeom prst="roundRect">
            <a:avLst>
              <a:gd name="adj" fmla="val 8065"/>
            </a:avLst>
          </a:prstGeom>
          <a:solidFill>
            <a:srgbClr val="9FC1E0"/>
          </a:solidFill>
          <a:ln/>
        </p:spPr>
      </p:sp>
      <p:sp>
        <p:nvSpPr>
          <p:cNvPr id="8" name="Text 6"/>
          <p:cNvSpPr/>
          <p:nvPr/>
        </p:nvSpPr>
        <p:spPr>
          <a:xfrm>
            <a:off x="960120" y="3447288"/>
            <a:ext cx="7223760" cy="566928"/>
          </a:xfrm>
          <a:prstGeom prst="rect">
            <a:avLst/>
          </a:prstGeom>
          <a:noFill/>
          <a:ln/>
        </p:spPr>
        <p:txBody>
          <a:bodyPr wrap="square" rtlCol="0" anchor="ctr"/>
          <a:lstStyle/>
          <a:p>
            <a:pPr algn="ctr" indent="0" marL="0">
              <a:buNone/>
            </a:pPr>
            <a:r>
              <a:rPr lang="en-US" sz="1300" b="1" dirty="0">
                <a:solidFill>
                  <a:srgbClr val="1E2761"/>
                </a:solidFill>
                <a:latin typeface="Calibri" pitchFamily="34" charset="0"/>
                <a:ea typeface="Calibri" pitchFamily="34" charset="-122"/>
                <a:cs typeface="Calibri" pitchFamily="34" charset="-120"/>
              </a:rPr>
              <a:t>中層　</a:t>
            </a:r>
            <a:pPr algn="ctr" indent="0" marL="0">
              <a:buNone/>
            </a:pPr>
            <a:r>
              <a:rPr lang="en-US" sz="1300" dirty="0">
                <a:solidFill>
                  <a:srgbClr val="1E2761"/>
                </a:solidFill>
                <a:latin typeface="Calibri" pitchFamily="34" charset="0"/>
                <a:ea typeface="Calibri" pitchFamily="34" charset="-122"/>
                <a:cs typeface="Calibri" pitchFamily="34" charset="-120"/>
              </a:rPr>
              <a:t>文法・構造の把握</a:t>
            </a:r>
            <a:endParaRPr lang="en-US" sz="1300" dirty="0"/>
          </a:p>
        </p:txBody>
      </p:sp>
      <p:sp>
        <p:nvSpPr>
          <p:cNvPr id="9" name="Shape 7"/>
          <p:cNvSpPr/>
          <p:nvPr/>
        </p:nvSpPr>
        <p:spPr>
          <a:xfrm>
            <a:off x="1371600" y="2734056"/>
            <a:ext cx="6400800" cy="566928"/>
          </a:xfrm>
          <a:prstGeom prst="roundRect">
            <a:avLst>
              <a:gd name="adj" fmla="val 8065"/>
            </a:avLst>
          </a:prstGeom>
          <a:solidFill>
            <a:srgbClr val="0C7B93"/>
          </a:solidFill>
          <a:ln/>
        </p:spPr>
      </p:sp>
      <p:sp>
        <p:nvSpPr>
          <p:cNvPr id="10" name="Text 8"/>
          <p:cNvSpPr/>
          <p:nvPr/>
        </p:nvSpPr>
        <p:spPr>
          <a:xfrm>
            <a:off x="1371600" y="2734056"/>
            <a:ext cx="6400800" cy="566928"/>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高層　</a:t>
            </a:r>
            <a:pPr algn="ctr" indent="0" marL="0">
              <a:buNone/>
            </a:pPr>
            <a:r>
              <a:rPr lang="en-US" sz="1300" dirty="0">
                <a:solidFill>
                  <a:srgbClr val="FFFFFF"/>
                </a:solidFill>
                <a:latin typeface="Calibri" pitchFamily="34" charset="0"/>
                <a:ea typeface="Calibri" pitchFamily="34" charset="-122"/>
                <a:cs typeface="Calibri" pitchFamily="34" charset="-120"/>
              </a:rPr>
              <a:t>文章全体の意図・文脈</a:t>
            </a:r>
            <a:endParaRPr lang="en-US" sz="1300" dirty="0"/>
          </a:p>
        </p:txBody>
      </p:sp>
      <p:sp>
        <p:nvSpPr>
          <p:cNvPr id="11" name="Shape 9"/>
          <p:cNvSpPr/>
          <p:nvPr/>
        </p:nvSpPr>
        <p:spPr>
          <a:xfrm>
            <a:off x="8503920" y="1874520"/>
            <a:ext cx="274320" cy="1005840"/>
          </a:xfrm>
          <a:prstGeom prst="upArrow">
            <a:avLst/>
          </a:prstGeom>
          <a:solidFill>
            <a:srgbClr val="60728A"/>
          </a:solidFill>
          <a:ln/>
        </p:spPr>
      </p:sp>
      <p:sp>
        <p:nvSpPr>
          <p:cNvPr id="12" name="Text 10"/>
          <p:cNvSpPr/>
          <p:nvPr/>
        </p:nvSpPr>
        <p:spPr>
          <a:xfrm>
            <a:off x="7818120" y="1554480"/>
            <a:ext cx="1280160" cy="274320"/>
          </a:xfrm>
          <a:prstGeom prst="rect">
            <a:avLst/>
          </a:prstGeom>
          <a:noFill/>
          <a:ln/>
        </p:spPr>
        <p:txBody>
          <a:bodyPr wrap="square" rtlCol="0" anchor="ctr"/>
          <a:lstStyle/>
          <a:p>
            <a:pPr algn="ctr" indent="0" marL="0">
              <a:buNone/>
            </a:pPr>
            <a:r>
              <a:rPr lang="en-US" sz="1000" dirty="0">
                <a:solidFill>
                  <a:srgbClr val="60728A"/>
                </a:solidFill>
                <a:latin typeface="Calibri" pitchFamily="34" charset="0"/>
                <a:ea typeface="Calibri" pitchFamily="34" charset="-122"/>
                <a:cs typeface="Calibri" pitchFamily="34" charset="-120"/>
              </a:rPr>
              <a:t>抽象度が上がる</a:t>
            </a:r>
            <a:endParaRPr lang="en-US" sz="1000" dirty="0"/>
          </a:p>
        </p:txBody>
      </p:sp>
      <p:sp>
        <p:nvSpPr>
          <p:cNvPr id="13" name="Text 11"/>
          <p:cNvSpPr/>
          <p:nvPr/>
        </p:nvSpPr>
        <p:spPr>
          <a:xfrm>
            <a:off x="8138160" y="4828032"/>
            <a:ext cx="731520" cy="274320"/>
          </a:xfrm>
          <a:prstGeom prst="rect">
            <a:avLst/>
          </a:prstGeom>
          <a:noFill/>
          <a:ln/>
        </p:spPr>
        <p:txBody>
          <a:bodyPr wrap="square" rtlCol="0" anchor="ctr"/>
          <a:lstStyle/>
          <a:p>
            <a:pPr algn="r" indent="0" marL="0">
              <a:buNone/>
            </a:pPr>
            <a:r>
              <a:rPr lang="en-US" sz="1000" dirty="0">
                <a:solidFill>
                  <a:srgbClr val="60728A"/>
                </a:solidFill>
                <a:latin typeface="Calibri" pitchFamily="34" charset="0"/>
                <a:ea typeface="Calibri" pitchFamily="34" charset="-122"/>
                <a:cs typeface="Calibri" pitchFamily="34" charset="-120"/>
              </a:rPr>
              <a:t>10 / 17</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7772400" cy="274320"/>
          </a:xfrm>
          <a:prstGeom prst="rect">
            <a:avLst/>
          </a:prstGeom>
          <a:noFill/>
          <a:ln/>
        </p:spPr>
        <p:txBody>
          <a:bodyPr wrap="square" rtlCol="0" anchor="ctr"/>
          <a:lstStyle/>
          <a:p>
            <a:pPr indent="0" marL="0">
              <a:buNone/>
            </a:pPr>
            <a:r>
              <a:rPr lang="en-US" sz="1200" b="1" spc="200" kern="0" dirty="0">
                <a:solidFill>
                  <a:srgbClr val="0C7B93"/>
                </a:solidFill>
                <a:latin typeface="Calibri" pitchFamily="34" charset="0"/>
                <a:ea typeface="Calibri" pitchFamily="34" charset="-122"/>
                <a:cs typeface="Calibri" pitchFamily="34" charset="-120"/>
              </a:rPr>
              <a:t>STEP 9</a:t>
            </a:r>
            <a:endParaRPr lang="en-US" sz="1200" dirty="0"/>
          </a:p>
        </p:txBody>
      </p:sp>
      <p:sp>
        <p:nvSpPr>
          <p:cNvPr id="3" name="Text 1"/>
          <p:cNvSpPr/>
          <p:nvPr/>
        </p:nvSpPr>
        <p:spPr>
          <a:xfrm>
            <a:off x="548640" y="566928"/>
            <a:ext cx="8046720" cy="64008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次単語予測：出力の正体</a:t>
            </a:r>
            <a:endParaRPr lang="en-US" sz="3000" dirty="0"/>
          </a:p>
        </p:txBody>
      </p:sp>
      <p:sp>
        <p:nvSpPr>
          <p:cNvPr id="4" name="Shape 2"/>
          <p:cNvSpPr/>
          <p:nvPr/>
        </p:nvSpPr>
        <p:spPr>
          <a:xfrm>
            <a:off x="548640" y="1325880"/>
            <a:ext cx="640080" cy="640080"/>
          </a:xfrm>
          <a:prstGeom prst="ellipse">
            <a:avLst/>
          </a:prstGeom>
          <a:solidFill>
            <a:srgbClr val="1E2761"/>
          </a:solidFill>
          <a:ln/>
        </p:spPr>
      </p:sp>
      <p:pic>
        <p:nvPicPr>
          <p:cNvPr id="5" name="Image 0" descr="preencoded.png">    </p:cNvPr>
          <p:cNvPicPr>
            <a:picLocks noChangeAspect="1"/>
          </p:cNvPicPr>
          <p:nvPr/>
        </p:nvPicPr>
        <p:blipFill>
          <a:blip r:embed="rId1"/>
          <a:stretch>
            <a:fillRect/>
          </a:stretch>
        </p:blipFill>
        <p:spPr>
          <a:xfrm>
            <a:off x="631850" y="1409090"/>
            <a:ext cx="473659" cy="473659"/>
          </a:xfrm>
          <a:prstGeom prst="rect">
            <a:avLst/>
          </a:prstGeom>
        </p:spPr>
      </p:pic>
      <p:sp>
        <p:nvSpPr>
          <p:cNvPr id="6" name="Text 3"/>
          <p:cNvSpPr/>
          <p:nvPr/>
        </p:nvSpPr>
        <p:spPr>
          <a:xfrm>
            <a:off x="1371600" y="1280160"/>
            <a:ext cx="7223760" cy="822960"/>
          </a:xfrm>
          <a:prstGeom prst="rect">
            <a:avLst/>
          </a:prstGeom>
          <a:noFill/>
          <a:ln/>
        </p:spPr>
        <p:txBody>
          <a:bodyPr wrap="square" rtlCol="0" anchor="ctr"/>
          <a:lstStyle/>
          <a:p>
            <a:pPr indent="0" marL="0">
              <a:buNone/>
            </a:pPr>
            <a:r>
              <a:rPr lang="en-US" sz="1400" dirty="0">
                <a:solidFill>
                  <a:srgbClr val="26324A"/>
                </a:solidFill>
                <a:latin typeface="Calibri" pitchFamily="34" charset="0"/>
                <a:ea typeface="Calibri" pitchFamily="34" charset="-122"/>
                <a:cs typeface="Calibri" pitchFamily="34" charset="-120"/>
              </a:rPr>
              <a:t>最終層の情報をもとに、語彙の中の各単語が</a:t>
            </a:r>
            <a:endParaRPr lang="en-US" sz="1400" dirty="0"/>
          </a:p>
          <a:p>
            <a:pPr indent="0" marL="0">
              <a:buNone/>
            </a:pPr>
            <a:r>
              <a:rPr lang="en-US" sz="1400" dirty="0">
                <a:solidFill>
                  <a:srgbClr val="26324A"/>
                </a:solidFill>
                <a:latin typeface="Calibri" pitchFamily="34" charset="0"/>
                <a:ea typeface="Calibri" pitchFamily="34" charset="-122"/>
                <a:cs typeface="Calibri" pitchFamily="34" charset="-120"/>
              </a:rPr>
              <a:t>「次に来る確率」を計算します。</a:t>
            </a:r>
            <a:endParaRPr lang="en-US" sz="1400" dirty="0"/>
          </a:p>
        </p:txBody>
      </p:sp>
      <p:sp>
        <p:nvSpPr>
          <p:cNvPr id="7" name="Shape 4"/>
          <p:cNvSpPr/>
          <p:nvPr/>
        </p:nvSpPr>
        <p:spPr>
          <a:xfrm>
            <a:off x="1097280" y="2569464"/>
            <a:ext cx="1207008" cy="1728216"/>
          </a:xfrm>
          <a:prstGeom prst="roundRect">
            <a:avLst>
              <a:gd name="adj" fmla="val 2273"/>
            </a:avLst>
          </a:prstGeom>
          <a:solidFill>
            <a:srgbClr val="0C7B93"/>
          </a:solidFill>
          <a:ln/>
        </p:spPr>
      </p:sp>
      <p:sp>
        <p:nvSpPr>
          <p:cNvPr id="8" name="Text 5"/>
          <p:cNvSpPr/>
          <p:nvPr/>
        </p:nvSpPr>
        <p:spPr>
          <a:xfrm>
            <a:off x="1097280" y="2295144"/>
            <a:ext cx="1207008" cy="256032"/>
          </a:xfrm>
          <a:prstGeom prst="rect">
            <a:avLst/>
          </a:prstGeom>
          <a:noFill/>
          <a:ln/>
        </p:spPr>
        <p:txBody>
          <a:bodyPr wrap="square" rtlCol="0" anchor="ctr"/>
          <a:lstStyle/>
          <a:p>
            <a:pPr algn="ctr" indent="0" marL="0">
              <a:buNone/>
            </a:pPr>
            <a:r>
              <a:rPr lang="en-US" sz="1100" b="1" dirty="0">
                <a:solidFill>
                  <a:srgbClr val="26324A"/>
                </a:solidFill>
                <a:latin typeface="Calibri" pitchFamily="34" charset="0"/>
                <a:ea typeface="Calibri" pitchFamily="34" charset="-122"/>
                <a:cs typeface="Calibri" pitchFamily="34" charset="-120"/>
              </a:rPr>
              <a:t>62%</a:t>
            </a:r>
            <a:endParaRPr lang="en-US" sz="1100" dirty="0"/>
          </a:p>
        </p:txBody>
      </p:sp>
      <p:sp>
        <p:nvSpPr>
          <p:cNvPr id="9" name="Text 6"/>
          <p:cNvSpPr/>
          <p:nvPr/>
        </p:nvSpPr>
        <p:spPr>
          <a:xfrm>
            <a:off x="1097280" y="4343400"/>
            <a:ext cx="1207008" cy="274320"/>
          </a:xfrm>
          <a:prstGeom prst="rect">
            <a:avLst/>
          </a:prstGeom>
          <a:noFill/>
          <a:ln/>
        </p:spPr>
        <p:txBody>
          <a:bodyPr wrap="square" rtlCol="0" anchor="ctr"/>
          <a:lstStyle/>
          <a:p>
            <a:pPr algn="ctr" indent="0" marL="0">
              <a:buNone/>
            </a:pPr>
            <a:r>
              <a:rPr lang="en-US" sz="1100" dirty="0">
                <a:solidFill>
                  <a:srgbClr val="26324A"/>
                </a:solidFill>
                <a:latin typeface="Calibri" pitchFamily="34" charset="0"/>
                <a:ea typeface="Calibri" pitchFamily="34" charset="-122"/>
                <a:cs typeface="Calibri" pitchFamily="34" charset="-120"/>
              </a:rPr>
              <a:t>umbrella</a:t>
            </a:r>
            <a:endParaRPr lang="en-US" sz="1100" dirty="0"/>
          </a:p>
        </p:txBody>
      </p:sp>
      <p:sp>
        <p:nvSpPr>
          <p:cNvPr id="10" name="Shape 7"/>
          <p:cNvSpPr/>
          <p:nvPr/>
        </p:nvSpPr>
        <p:spPr>
          <a:xfrm>
            <a:off x="2532888" y="3795940"/>
            <a:ext cx="1207008" cy="501740"/>
          </a:xfrm>
          <a:prstGeom prst="roundRect">
            <a:avLst>
              <a:gd name="adj" fmla="val 5467"/>
            </a:avLst>
          </a:prstGeom>
          <a:solidFill>
            <a:srgbClr val="B7C7E3"/>
          </a:solidFill>
          <a:ln/>
        </p:spPr>
      </p:sp>
      <p:sp>
        <p:nvSpPr>
          <p:cNvPr id="11" name="Text 8"/>
          <p:cNvSpPr/>
          <p:nvPr/>
        </p:nvSpPr>
        <p:spPr>
          <a:xfrm>
            <a:off x="2532888" y="3521620"/>
            <a:ext cx="1207008" cy="256032"/>
          </a:xfrm>
          <a:prstGeom prst="rect">
            <a:avLst/>
          </a:prstGeom>
          <a:noFill/>
          <a:ln/>
        </p:spPr>
        <p:txBody>
          <a:bodyPr wrap="square" rtlCol="0" anchor="ctr"/>
          <a:lstStyle/>
          <a:p>
            <a:pPr algn="ctr" indent="0" marL="0">
              <a:buNone/>
            </a:pPr>
            <a:r>
              <a:rPr lang="en-US" sz="1100" dirty="0">
                <a:solidFill>
                  <a:srgbClr val="26324A"/>
                </a:solidFill>
                <a:latin typeface="Calibri" pitchFamily="34" charset="0"/>
                <a:ea typeface="Calibri" pitchFamily="34" charset="-122"/>
                <a:cs typeface="Calibri" pitchFamily="34" charset="-120"/>
              </a:rPr>
              <a:t>18%</a:t>
            </a:r>
            <a:endParaRPr lang="en-US" sz="1100" dirty="0"/>
          </a:p>
        </p:txBody>
      </p:sp>
      <p:sp>
        <p:nvSpPr>
          <p:cNvPr id="12" name="Text 9"/>
          <p:cNvSpPr/>
          <p:nvPr/>
        </p:nvSpPr>
        <p:spPr>
          <a:xfrm>
            <a:off x="2532888" y="4343400"/>
            <a:ext cx="1207008" cy="274320"/>
          </a:xfrm>
          <a:prstGeom prst="rect">
            <a:avLst/>
          </a:prstGeom>
          <a:noFill/>
          <a:ln/>
        </p:spPr>
        <p:txBody>
          <a:bodyPr wrap="square" rtlCol="0" anchor="ctr"/>
          <a:lstStyle/>
          <a:p>
            <a:pPr algn="ctr" indent="0" marL="0">
              <a:buNone/>
            </a:pPr>
            <a:r>
              <a:rPr lang="en-US" sz="1100" dirty="0">
                <a:solidFill>
                  <a:srgbClr val="26324A"/>
                </a:solidFill>
                <a:latin typeface="Calibri" pitchFamily="34" charset="0"/>
                <a:ea typeface="Calibri" pitchFamily="34" charset="-122"/>
                <a:cs typeface="Calibri" pitchFamily="34" charset="-120"/>
              </a:rPr>
              <a:t>coat</a:t>
            </a:r>
            <a:endParaRPr lang="en-US" sz="1100" dirty="0"/>
          </a:p>
        </p:txBody>
      </p:sp>
      <p:sp>
        <p:nvSpPr>
          <p:cNvPr id="13" name="Shape 10"/>
          <p:cNvSpPr/>
          <p:nvPr/>
        </p:nvSpPr>
        <p:spPr>
          <a:xfrm>
            <a:off x="3968496" y="4046810"/>
            <a:ext cx="1207008" cy="250870"/>
          </a:xfrm>
          <a:prstGeom prst="roundRect">
            <a:avLst>
              <a:gd name="adj" fmla="val 10935"/>
            </a:avLst>
          </a:prstGeom>
          <a:solidFill>
            <a:srgbClr val="B7C7E3"/>
          </a:solidFill>
          <a:ln/>
        </p:spPr>
      </p:sp>
      <p:sp>
        <p:nvSpPr>
          <p:cNvPr id="14" name="Text 11"/>
          <p:cNvSpPr/>
          <p:nvPr/>
        </p:nvSpPr>
        <p:spPr>
          <a:xfrm>
            <a:off x="3968496" y="3772490"/>
            <a:ext cx="1207008" cy="256032"/>
          </a:xfrm>
          <a:prstGeom prst="rect">
            <a:avLst/>
          </a:prstGeom>
          <a:noFill/>
          <a:ln/>
        </p:spPr>
        <p:txBody>
          <a:bodyPr wrap="square" rtlCol="0" anchor="ctr"/>
          <a:lstStyle/>
          <a:p>
            <a:pPr algn="ctr" indent="0" marL="0">
              <a:buNone/>
            </a:pPr>
            <a:r>
              <a:rPr lang="en-US" sz="1100" dirty="0">
                <a:solidFill>
                  <a:srgbClr val="26324A"/>
                </a:solidFill>
                <a:latin typeface="Calibri" pitchFamily="34" charset="0"/>
                <a:ea typeface="Calibri" pitchFamily="34" charset="-122"/>
                <a:cs typeface="Calibri" pitchFamily="34" charset="-120"/>
              </a:rPr>
              <a:t>9%</a:t>
            </a:r>
            <a:endParaRPr lang="en-US" sz="1100" dirty="0"/>
          </a:p>
        </p:txBody>
      </p:sp>
      <p:sp>
        <p:nvSpPr>
          <p:cNvPr id="15" name="Text 12"/>
          <p:cNvSpPr/>
          <p:nvPr/>
        </p:nvSpPr>
        <p:spPr>
          <a:xfrm>
            <a:off x="3968496" y="4343400"/>
            <a:ext cx="1207008" cy="274320"/>
          </a:xfrm>
          <a:prstGeom prst="rect">
            <a:avLst/>
          </a:prstGeom>
          <a:noFill/>
          <a:ln/>
        </p:spPr>
        <p:txBody>
          <a:bodyPr wrap="square" rtlCol="0" anchor="ctr"/>
          <a:lstStyle/>
          <a:p>
            <a:pPr algn="ctr" indent="0" marL="0">
              <a:buNone/>
            </a:pPr>
            <a:r>
              <a:rPr lang="en-US" sz="1100" dirty="0">
                <a:solidFill>
                  <a:srgbClr val="26324A"/>
                </a:solidFill>
                <a:latin typeface="Calibri" pitchFamily="34" charset="0"/>
                <a:ea typeface="Calibri" pitchFamily="34" charset="-122"/>
                <a:cs typeface="Calibri" pitchFamily="34" charset="-120"/>
              </a:rPr>
              <a:t>taxi</a:t>
            </a:r>
            <a:endParaRPr lang="en-US" sz="1100" dirty="0"/>
          </a:p>
        </p:txBody>
      </p:sp>
      <p:sp>
        <p:nvSpPr>
          <p:cNvPr id="16" name="Shape 13"/>
          <p:cNvSpPr/>
          <p:nvPr/>
        </p:nvSpPr>
        <p:spPr>
          <a:xfrm>
            <a:off x="5404104" y="4241931"/>
            <a:ext cx="1207008" cy="55749"/>
          </a:xfrm>
          <a:prstGeom prst="roundRect">
            <a:avLst>
              <a:gd name="adj" fmla="val 49206"/>
            </a:avLst>
          </a:prstGeom>
          <a:solidFill>
            <a:srgbClr val="B7C7E3"/>
          </a:solidFill>
          <a:ln/>
        </p:spPr>
      </p:sp>
      <p:sp>
        <p:nvSpPr>
          <p:cNvPr id="17" name="Text 14"/>
          <p:cNvSpPr/>
          <p:nvPr/>
        </p:nvSpPr>
        <p:spPr>
          <a:xfrm>
            <a:off x="5404104" y="3967611"/>
            <a:ext cx="1207008" cy="256032"/>
          </a:xfrm>
          <a:prstGeom prst="rect">
            <a:avLst/>
          </a:prstGeom>
          <a:noFill/>
          <a:ln/>
        </p:spPr>
        <p:txBody>
          <a:bodyPr wrap="square" rtlCol="0" anchor="ctr"/>
          <a:lstStyle/>
          <a:p>
            <a:pPr algn="ctr" indent="0" marL="0">
              <a:buNone/>
            </a:pPr>
            <a:r>
              <a:rPr lang="en-US" sz="1100" dirty="0">
                <a:solidFill>
                  <a:srgbClr val="26324A"/>
                </a:solidFill>
                <a:latin typeface="Calibri" pitchFamily="34" charset="0"/>
                <a:ea typeface="Calibri" pitchFamily="34" charset="-122"/>
                <a:cs typeface="Calibri" pitchFamily="34" charset="-120"/>
              </a:rPr>
              <a:t>2%</a:t>
            </a:r>
            <a:endParaRPr lang="en-US" sz="1100" dirty="0"/>
          </a:p>
        </p:txBody>
      </p:sp>
      <p:sp>
        <p:nvSpPr>
          <p:cNvPr id="18" name="Text 15"/>
          <p:cNvSpPr/>
          <p:nvPr/>
        </p:nvSpPr>
        <p:spPr>
          <a:xfrm>
            <a:off x="5404104" y="4343400"/>
            <a:ext cx="1207008" cy="274320"/>
          </a:xfrm>
          <a:prstGeom prst="rect">
            <a:avLst/>
          </a:prstGeom>
          <a:noFill/>
          <a:ln/>
        </p:spPr>
        <p:txBody>
          <a:bodyPr wrap="square" rtlCol="0" anchor="ctr"/>
          <a:lstStyle/>
          <a:p>
            <a:pPr algn="ctr" indent="0" marL="0">
              <a:buNone/>
            </a:pPr>
            <a:r>
              <a:rPr lang="en-US" sz="1100" dirty="0">
                <a:solidFill>
                  <a:srgbClr val="26324A"/>
                </a:solidFill>
                <a:latin typeface="Calibri" pitchFamily="34" charset="0"/>
                <a:ea typeface="Calibri" pitchFamily="34" charset="-122"/>
                <a:cs typeface="Calibri" pitchFamily="34" charset="-120"/>
              </a:rPr>
              <a:t>cat</a:t>
            </a:r>
            <a:endParaRPr lang="en-US" sz="1100" dirty="0"/>
          </a:p>
        </p:txBody>
      </p:sp>
      <p:sp>
        <p:nvSpPr>
          <p:cNvPr id="19" name="Shape 16"/>
          <p:cNvSpPr/>
          <p:nvPr/>
        </p:nvSpPr>
        <p:spPr>
          <a:xfrm>
            <a:off x="6839712" y="4269806"/>
            <a:ext cx="1207008" cy="27874"/>
          </a:xfrm>
          <a:prstGeom prst="roundRect">
            <a:avLst>
              <a:gd name="adj" fmla="val 98414"/>
            </a:avLst>
          </a:prstGeom>
          <a:solidFill>
            <a:srgbClr val="B7C7E3"/>
          </a:solidFill>
          <a:ln/>
        </p:spPr>
      </p:sp>
      <p:sp>
        <p:nvSpPr>
          <p:cNvPr id="20" name="Text 17"/>
          <p:cNvSpPr/>
          <p:nvPr/>
        </p:nvSpPr>
        <p:spPr>
          <a:xfrm>
            <a:off x="6839712" y="3995486"/>
            <a:ext cx="1207008" cy="256032"/>
          </a:xfrm>
          <a:prstGeom prst="rect">
            <a:avLst/>
          </a:prstGeom>
          <a:noFill/>
          <a:ln/>
        </p:spPr>
        <p:txBody>
          <a:bodyPr wrap="square" rtlCol="0" anchor="ctr"/>
          <a:lstStyle/>
          <a:p>
            <a:pPr algn="ctr" indent="0" marL="0">
              <a:buNone/>
            </a:pPr>
            <a:r>
              <a:rPr lang="en-US" sz="1100" dirty="0">
                <a:solidFill>
                  <a:srgbClr val="26324A"/>
                </a:solidFill>
                <a:latin typeface="Calibri" pitchFamily="34" charset="0"/>
                <a:ea typeface="Calibri" pitchFamily="34" charset="-122"/>
                <a:cs typeface="Calibri" pitchFamily="34" charset="-120"/>
              </a:rPr>
              <a:t>1%</a:t>
            </a:r>
            <a:endParaRPr lang="en-US" sz="1100" dirty="0"/>
          </a:p>
        </p:txBody>
      </p:sp>
      <p:sp>
        <p:nvSpPr>
          <p:cNvPr id="21" name="Text 18"/>
          <p:cNvSpPr/>
          <p:nvPr/>
        </p:nvSpPr>
        <p:spPr>
          <a:xfrm>
            <a:off x="6839712" y="4343400"/>
            <a:ext cx="1207008" cy="274320"/>
          </a:xfrm>
          <a:prstGeom prst="rect">
            <a:avLst/>
          </a:prstGeom>
          <a:noFill/>
          <a:ln/>
        </p:spPr>
        <p:txBody>
          <a:bodyPr wrap="square" rtlCol="0" anchor="ctr"/>
          <a:lstStyle/>
          <a:p>
            <a:pPr algn="ctr" indent="0" marL="0">
              <a:buNone/>
            </a:pPr>
            <a:r>
              <a:rPr lang="en-US" sz="1100" dirty="0">
                <a:solidFill>
                  <a:srgbClr val="26324A"/>
                </a:solidFill>
                <a:latin typeface="Calibri" pitchFamily="34" charset="0"/>
                <a:ea typeface="Calibri" pitchFamily="34" charset="-122"/>
                <a:cs typeface="Calibri" pitchFamily="34" charset="-120"/>
              </a:rPr>
              <a:t>...</a:t>
            </a:r>
            <a:endParaRPr lang="en-US" sz="1100" dirty="0"/>
          </a:p>
        </p:txBody>
      </p:sp>
      <p:sp>
        <p:nvSpPr>
          <p:cNvPr id="22" name="Text 19"/>
          <p:cNvSpPr/>
          <p:nvPr/>
        </p:nvSpPr>
        <p:spPr>
          <a:xfrm>
            <a:off x="8138160" y="4828032"/>
            <a:ext cx="731520" cy="274320"/>
          </a:xfrm>
          <a:prstGeom prst="rect">
            <a:avLst/>
          </a:prstGeom>
          <a:noFill/>
          <a:ln/>
        </p:spPr>
        <p:txBody>
          <a:bodyPr wrap="square" rtlCol="0" anchor="ctr"/>
          <a:lstStyle/>
          <a:p>
            <a:pPr algn="r" indent="0" marL="0">
              <a:buNone/>
            </a:pPr>
            <a:r>
              <a:rPr lang="en-US" sz="1000" dirty="0">
                <a:solidFill>
                  <a:srgbClr val="60728A"/>
                </a:solidFill>
                <a:latin typeface="Calibri" pitchFamily="34" charset="0"/>
                <a:ea typeface="Calibri" pitchFamily="34" charset="-122"/>
                <a:cs typeface="Calibri" pitchFamily="34" charset="-120"/>
              </a:rPr>
              <a:t>11 / 17</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7772400" cy="274320"/>
          </a:xfrm>
          <a:prstGeom prst="rect">
            <a:avLst/>
          </a:prstGeom>
          <a:noFill/>
          <a:ln/>
        </p:spPr>
        <p:txBody>
          <a:bodyPr wrap="square" rtlCol="0" anchor="ctr"/>
          <a:lstStyle/>
          <a:p>
            <a:pPr indent="0" marL="0">
              <a:buNone/>
            </a:pPr>
            <a:r>
              <a:rPr lang="en-US" sz="1200" b="1" spc="200" kern="0" dirty="0">
                <a:solidFill>
                  <a:srgbClr val="0C7B93"/>
                </a:solidFill>
                <a:latin typeface="Calibri" pitchFamily="34" charset="0"/>
                <a:ea typeface="Calibri" pitchFamily="34" charset="-122"/>
                <a:cs typeface="Calibri" pitchFamily="34" charset="-120"/>
              </a:rPr>
              <a:t>STEP 10</a:t>
            </a:r>
            <a:endParaRPr lang="en-US" sz="1200" dirty="0"/>
          </a:p>
        </p:txBody>
      </p:sp>
      <p:sp>
        <p:nvSpPr>
          <p:cNvPr id="3" name="Text 1"/>
          <p:cNvSpPr/>
          <p:nvPr/>
        </p:nvSpPr>
        <p:spPr>
          <a:xfrm>
            <a:off x="548640" y="566928"/>
            <a:ext cx="8046720" cy="64008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自己教師あり学習：ラベル不要</a:t>
            </a:r>
            <a:endParaRPr lang="en-US" sz="3000" dirty="0"/>
          </a:p>
        </p:txBody>
      </p:sp>
      <p:sp>
        <p:nvSpPr>
          <p:cNvPr id="4" name="Shape 2"/>
          <p:cNvSpPr/>
          <p:nvPr/>
        </p:nvSpPr>
        <p:spPr>
          <a:xfrm>
            <a:off x="548640" y="1417320"/>
            <a:ext cx="640080" cy="640080"/>
          </a:xfrm>
          <a:prstGeom prst="ellipse">
            <a:avLst/>
          </a:prstGeom>
          <a:solidFill>
            <a:srgbClr val="1E2761"/>
          </a:solidFill>
          <a:ln/>
        </p:spPr>
      </p:sp>
      <p:pic>
        <p:nvPicPr>
          <p:cNvPr id="5" name="Image 0" descr="preencoded.png">    </p:cNvPr>
          <p:cNvPicPr>
            <a:picLocks noChangeAspect="1"/>
          </p:cNvPicPr>
          <p:nvPr/>
        </p:nvPicPr>
        <p:blipFill>
          <a:blip r:embed="rId1"/>
          <a:stretch>
            <a:fillRect/>
          </a:stretch>
        </p:blipFill>
        <p:spPr>
          <a:xfrm>
            <a:off x="631850" y="1500530"/>
            <a:ext cx="473659" cy="473659"/>
          </a:xfrm>
          <a:prstGeom prst="rect">
            <a:avLst/>
          </a:prstGeom>
        </p:spPr>
      </p:pic>
      <p:sp>
        <p:nvSpPr>
          <p:cNvPr id="6" name="Text 3"/>
          <p:cNvSpPr/>
          <p:nvPr/>
        </p:nvSpPr>
        <p:spPr>
          <a:xfrm>
            <a:off x="1371600" y="1417320"/>
            <a:ext cx="7223760" cy="822960"/>
          </a:xfrm>
          <a:prstGeom prst="rect">
            <a:avLst/>
          </a:prstGeom>
          <a:noFill/>
          <a:ln/>
        </p:spPr>
        <p:txBody>
          <a:bodyPr wrap="square" rtlCol="0" anchor="ctr"/>
          <a:lstStyle/>
          <a:p>
            <a:pPr indent="0" marL="0">
              <a:buNone/>
            </a:pPr>
            <a:r>
              <a:rPr lang="en-US" sz="1450" dirty="0">
                <a:solidFill>
                  <a:srgbClr val="26324A"/>
                </a:solidFill>
                <a:latin typeface="Calibri" pitchFamily="34" charset="0"/>
                <a:ea typeface="Calibri" pitchFamily="34" charset="-122"/>
                <a:cs typeface="Calibri" pitchFamily="34" charset="-120"/>
              </a:rPr>
              <a:t>人手でラベルを付ける必要がありません。</a:t>
            </a:r>
            <a:endParaRPr lang="en-US" sz="1450" dirty="0"/>
          </a:p>
          <a:p>
            <a:pPr indent="0" marL="0">
              <a:buNone/>
            </a:pPr>
            <a:r>
              <a:rPr lang="en-US" sz="1450" dirty="0">
                <a:solidFill>
                  <a:srgbClr val="26324A"/>
                </a:solidFill>
                <a:latin typeface="Calibri" pitchFamily="34" charset="0"/>
                <a:ea typeface="Calibri" pitchFamily="34" charset="-122"/>
                <a:cs typeface="Calibri" pitchFamily="34" charset="-120"/>
              </a:rPr>
              <a:t>文章そのものの「次の単語」が正解になるからです。</a:t>
            </a:r>
            <a:endParaRPr lang="en-US" sz="1450" dirty="0"/>
          </a:p>
        </p:txBody>
      </p:sp>
      <p:sp>
        <p:nvSpPr>
          <p:cNvPr id="7" name="Shape 4"/>
          <p:cNvSpPr/>
          <p:nvPr/>
        </p:nvSpPr>
        <p:spPr>
          <a:xfrm>
            <a:off x="822960" y="2651760"/>
            <a:ext cx="7498080" cy="594360"/>
          </a:xfrm>
          <a:prstGeom prst="roundRect">
            <a:avLst>
              <a:gd name="adj" fmla="val 9231"/>
            </a:avLst>
          </a:prstGeom>
          <a:solidFill>
            <a:srgbClr val="EEF3FB"/>
          </a:solidFill>
          <a:ln/>
        </p:spPr>
      </p:sp>
      <p:sp>
        <p:nvSpPr>
          <p:cNvPr id="8" name="Text 5"/>
          <p:cNvSpPr/>
          <p:nvPr/>
        </p:nvSpPr>
        <p:spPr>
          <a:xfrm>
            <a:off x="822960" y="2651760"/>
            <a:ext cx="7498080" cy="594360"/>
          </a:xfrm>
          <a:prstGeom prst="rect">
            <a:avLst/>
          </a:prstGeom>
          <a:noFill/>
          <a:ln/>
        </p:spPr>
        <p:txBody>
          <a:bodyPr wrap="square" rtlCol="0" anchor="ctr"/>
          <a:lstStyle/>
          <a:p>
            <a:pPr algn="ctr" indent="0" marL="0">
              <a:buNone/>
            </a:pPr>
            <a:r>
              <a:rPr lang="en-US" sz="1600" dirty="0">
                <a:solidFill>
                  <a:srgbClr val="26324A"/>
                </a:solidFill>
                <a:latin typeface="Courier New" pitchFamily="34" charset="0"/>
                <a:ea typeface="Courier New" pitchFamily="34" charset="-122"/>
                <a:cs typeface="Courier New" pitchFamily="34" charset="-120"/>
              </a:rPr>
              <a:t>It rained, so she took the </a:t>
            </a:r>
            <a:pPr algn="ctr" indent="0" marL="0">
              <a:buNone/>
            </a:pPr>
            <a:r>
              <a:rPr lang="en-US" sz="1600" b="1" dirty="0">
                <a:solidFill>
                  <a:srgbClr val="0C7B93"/>
                </a:solidFill>
                <a:latin typeface="Courier New" pitchFamily="34" charset="0"/>
                <a:ea typeface="Courier New" pitchFamily="34" charset="-122"/>
                <a:cs typeface="Courier New" pitchFamily="34" charset="-120"/>
              </a:rPr>
              <a:t>______</a:t>
            </a:r>
            <a:endParaRPr lang="en-US" sz="1600" dirty="0"/>
          </a:p>
        </p:txBody>
      </p:sp>
      <p:sp>
        <p:nvSpPr>
          <p:cNvPr id="9" name="Shape 6"/>
          <p:cNvSpPr/>
          <p:nvPr/>
        </p:nvSpPr>
        <p:spPr>
          <a:xfrm>
            <a:off x="4434840" y="3337560"/>
            <a:ext cx="274320" cy="274320"/>
          </a:xfrm>
          <a:prstGeom prst="downArrow">
            <a:avLst/>
          </a:prstGeom>
          <a:solidFill>
            <a:srgbClr val="60728A"/>
          </a:solidFill>
          <a:ln/>
        </p:spPr>
      </p:sp>
      <p:sp>
        <p:nvSpPr>
          <p:cNvPr id="10" name="Shape 7"/>
          <p:cNvSpPr/>
          <p:nvPr/>
        </p:nvSpPr>
        <p:spPr>
          <a:xfrm>
            <a:off x="3291840" y="3703320"/>
            <a:ext cx="2560320" cy="502920"/>
          </a:xfrm>
          <a:prstGeom prst="roundRect">
            <a:avLst>
              <a:gd name="adj" fmla="val 10909"/>
            </a:avLst>
          </a:prstGeom>
          <a:solidFill>
            <a:srgbClr val="0C7B93"/>
          </a:solidFill>
          <a:ln/>
        </p:spPr>
      </p:sp>
      <p:sp>
        <p:nvSpPr>
          <p:cNvPr id="11" name="Text 8"/>
          <p:cNvSpPr/>
          <p:nvPr/>
        </p:nvSpPr>
        <p:spPr>
          <a:xfrm>
            <a:off x="3291840" y="3703320"/>
            <a:ext cx="2560320" cy="502920"/>
          </a:xfrm>
          <a:prstGeom prst="rect">
            <a:avLst/>
          </a:prstGeom>
          <a:noFill/>
          <a:ln/>
        </p:spPr>
        <p:txBody>
          <a:bodyPr wrap="square" rtlCol="0" anchor="ctr"/>
          <a:lstStyle/>
          <a:p>
            <a:pPr algn="ctr" indent="0" marL="0">
              <a:buNone/>
            </a:pPr>
            <a:r>
              <a:rPr lang="en-US" sz="1150" dirty="0">
                <a:solidFill>
                  <a:srgbClr val="FFFFFF"/>
                </a:solidFill>
                <a:latin typeface="Calibri" pitchFamily="34" charset="0"/>
                <a:ea typeface="Calibri" pitchFamily="34" charset="-122"/>
                <a:cs typeface="Calibri" pitchFamily="34" charset="-120"/>
              </a:rPr>
              <a:t>正解 = “umbrella”（文章内にすでにある）</a:t>
            </a:r>
            <a:endParaRPr lang="en-US" sz="1150" dirty="0"/>
          </a:p>
        </p:txBody>
      </p:sp>
      <p:sp>
        <p:nvSpPr>
          <p:cNvPr id="12" name="Text 9"/>
          <p:cNvSpPr/>
          <p:nvPr/>
        </p:nvSpPr>
        <p:spPr>
          <a:xfrm>
            <a:off x="548640" y="4434840"/>
            <a:ext cx="8046720" cy="365760"/>
          </a:xfrm>
          <a:prstGeom prst="rect">
            <a:avLst/>
          </a:prstGeom>
          <a:noFill/>
          <a:ln/>
        </p:spPr>
        <p:txBody>
          <a:bodyPr wrap="square" rtlCol="0" anchor="ctr"/>
          <a:lstStyle/>
          <a:p>
            <a:pPr indent="0" marL="0">
              <a:buNone/>
            </a:pPr>
            <a:r>
              <a:rPr lang="en-US" sz="1250" i="1" dirty="0">
                <a:solidFill>
                  <a:srgbClr val="60728A"/>
                </a:solidFill>
                <a:latin typeface="Calibri" pitchFamily="34" charset="0"/>
                <a:ea typeface="Calibri" pitchFamily="34" charset="-122"/>
                <a:cs typeface="Calibri" pitchFamily="34" charset="-120"/>
              </a:rPr>
              <a:t>→ 膨大な文章データをそのまま学習に使える。</a:t>
            </a:r>
            <a:endParaRPr lang="en-US" sz="1250" dirty="0"/>
          </a:p>
        </p:txBody>
      </p:sp>
      <p:sp>
        <p:nvSpPr>
          <p:cNvPr id="13" name="Text 10"/>
          <p:cNvSpPr/>
          <p:nvPr/>
        </p:nvSpPr>
        <p:spPr>
          <a:xfrm>
            <a:off x="8138160" y="4828032"/>
            <a:ext cx="731520" cy="274320"/>
          </a:xfrm>
          <a:prstGeom prst="rect">
            <a:avLst/>
          </a:prstGeom>
          <a:noFill/>
          <a:ln/>
        </p:spPr>
        <p:txBody>
          <a:bodyPr wrap="square" rtlCol="0" anchor="ctr"/>
          <a:lstStyle/>
          <a:p>
            <a:pPr algn="r" indent="0" marL="0">
              <a:buNone/>
            </a:pPr>
            <a:r>
              <a:rPr lang="en-US" sz="1000" dirty="0">
                <a:solidFill>
                  <a:srgbClr val="60728A"/>
                </a:solidFill>
                <a:latin typeface="Calibri" pitchFamily="34" charset="0"/>
                <a:ea typeface="Calibri" pitchFamily="34" charset="-122"/>
                <a:cs typeface="Calibri" pitchFamily="34" charset="-120"/>
              </a:rPr>
              <a:t>12 / 17</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7772400" cy="274320"/>
          </a:xfrm>
          <a:prstGeom prst="rect">
            <a:avLst/>
          </a:prstGeom>
          <a:noFill/>
          <a:ln/>
        </p:spPr>
        <p:txBody>
          <a:bodyPr wrap="square" rtlCol="0" anchor="ctr"/>
          <a:lstStyle/>
          <a:p>
            <a:pPr indent="0" marL="0">
              <a:buNone/>
            </a:pPr>
            <a:r>
              <a:rPr lang="en-US" sz="1200" b="1" spc="200" kern="0" dirty="0">
                <a:solidFill>
                  <a:srgbClr val="0C7B93"/>
                </a:solidFill>
                <a:latin typeface="Calibri" pitchFamily="34" charset="0"/>
                <a:ea typeface="Calibri" pitchFamily="34" charset="-122"/>
                <a:cs typeface="Calibri" pitchFamily="34" charset="-120"/>
              </a:rPr>
              <a:t>STEP 11</a:t>
            </a:r>
            <a:endParaRPr lang="en-US" sz="1200" dirty="0"/>
          </a:p>
        </p:txBody>
      </p:sp>
      <p:sp>
        <p:nvSpPr>
          <p:cNvPr id="3" name="Text 1"/>
          <p:cNvSpPr/>
          <p:nvPr/>
        </p:nvSpPr>
        <p:spPr>
          <a:xfrm>
            <a:off x="548640" y="566928"/>
            <a:ext cx="8046720" cy="64008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学習の仕組み：ズレを減らし続ける</a:t>
            </a:r>
            <a:endParaRPr lang="en-US" sz="3000" dirty="0"/>
          </a:p>
        </p:txBody>
      </p:sp>
      <p:sp>
        <p:nvSpPr>
          <p:cNvPr id="4" name="Shape 2"/>
          <p:cNvSpPr/>
          <p:nvPr/>
        </p:nvSpPr>
        <p:spPr>
          <a:xfrm>
            <a:off x="548640" y="1371600"/>
            <a:ext cx="640080" cy="640080"/>
          </a:xfrm>
          <a:prstGeom prst="ellipse">
            <a:avLst/>
          </a:prstGeom>
          <a:solidFill>
            <a:srgbClr val="1E2761"/>
          </a:solidFill>
          <a:ln/>
        </p:spPr>
      </p:sp>
      <p:pic>
        <p:nvPicPr>
          <p:cNvPr id="5" name="Image 0" descr="preencoded.png">    </p:cNvPr>
          <p:cNvPicPr>
            <a:picLocks noChangeAspect="1"/>
          </p:cNvPicPr>
          <p:nvPr/>
        </p:nvPicPr>
        <p:blipFill>
          <a:blip r:embed="rId1"/>
          <a:stretch>
            <a:fillRect/>
          </a:stretch>
        </p:blipFill>
        <p:spPr>
          <a:xfrm>
            <a:off x="631850" y="1454810"/>
            <a:ext cx="473659" cy="473659"/>
          </a:xfrm>
          <a:prstGeom prst="rect">
            <a:avLst/>
          </a:prstGeom>
        </p:spPr>
      </p:pic>
      <p:sp>
        <p:nvSpPr>
          <p:cNvPr id="6" name="Text 3"/>
          <p:cNvSpPr/>
          <p:nvPr/>
        </p:nvSpPr>
        <p:spPr>
          <a:xfrm>
            <a:off x="1371600" y="1280160"/>
            <a:ext cx="7223760" cy="914400"/>
          </a:xfrm>
          <a:prstGeom prst="rect">
            <a:avLst/>
          </a:prstGeom>
          <a:noFill/>
          <a:ln/>
        </p:spPr>
        <p:txBody>
          <a:bodyPr wrap="square" rtlCol="0" anchor="ctr"/>
          <a:lstStyle/>
          <a:p>
            <a:pPr indent="0" marL="0">
              <a:buNone/>
            </a:pPr>
            <a:r>
              <a:rPr lang="en-US" sz="1450" dirty="0">
                <a:solidFill>
                  <a:srgbClr val="26324A"/>
                </a:solidFill>
                <a:latin typeface="Calibri" pitchFamily="34" charset="0"/>
                <a:ea typeface="Calibri" pitchFamily="34" charset="-122"/>
                <a:cs typeface="Calibri" pitchFamily="34" charset="-120"/>
              </a:rPr>
              <a:t>予測と正解のズレを測り、そのズレを減らす方向に</a:t>
            </a:r>
            <a:endParaRPr lang="en-US" sz="1450" dirty="0"/>
          </a:p>
          <a:p>
            <a:pPr indent="0" marL="0">
              <a:buNone/>
            </a:pPr>
            <a:r>
              <a:rPr lang="en-US" sz="1450" dirty="0">
                <a:solidFill>
                  <a:srgbClr val="26324A"/>
                </a:solidFill>
                <a:latin typeface="Calibri" pitchFamily="34" charset="0"/>
                <a:ea typeface="Calibri" pitchFamily="34" charset="-122"/>
                <a:cs typeface="Calibri" pitchFamily="34" charset="-120"/>
              </a:rPr>
              <a:t>モデル内部の数値を少しずつ調整します。</a:t>
            </a:r>
            <a:endParaRPr lang="en-US" sz="1450" dirty="0"/>
          </a:p>
        </p:txBody>
      </p:sp>
      <p:sp>
        <p:nvSpPr>
          <p:cNvPr id="7" name="Shape 4"/>
          <p:cNvSpPr/>
          <p:nvPr/>
        </p:nvSpPr>
        <p:spPr>
          <a:xfrm>
            <a:off x="822960" y="2651760"/>
            <a:ext cx="2377440" cy="914400"/>
          </a:xfrm>
          <a:prstGeom prst="ellipse">
            <a:avLst/>
          </a:prstGeom>
          <a:solidFill>
            <a:srgbClr val="EEF3FB"/>
          </a:solidFill>
          <a:ln/>
        </p:spPr>
      </p:sp>
      <p:sp>
        <p:nvSpPr>
          <p:cNvPr id="8" name="Text 5"/>
          <p:cNvSpPr/>
          <p:nvPr/>
        </p:nvSpPr>
        <p:spPr>
          <a:xfrm>
            <a:off x="822960" y="2651760"/>
            <a:ext cx="2377440" cy="914400"/>
          </a:xfrm>
          <a:prstGeom prst="rect">
            <a:avLst/>
          </a:prstGeom>
          <a:noFill/>
          <a:ln/>
        </p:spPr>
        <p:txBody>
          <a:bodyPr wrap="square" rtlCol="0" anchor="ctr"/>
          <a:lstStyle/>
          <a:p>
            <a:pPr algn="ctr" indent="0" marL="0">
              <a:buNone/>
            </a:pPr>
            <a:r>
              <a:rPr lang="en-US" sz="1250" dirty="0">
                <a:solidFill>
                  <a:srgbClr val="26324A"/>
                </a:solidFill>
                <a:latin typeface="Calibri" pitchFamily="34" charset="0"/>
                <a:ea typeface="Calibri" pitchFamily="34" charset="-122"/>
                <a:cs typeface="Calibri" pitchFamily="34" charset="-120"/>
              </a:rPr>
              <a:t>予測する</a:t>
            </a:r>
            <a:endParaRPr lang="en-US" sz="1250" dirty="0"/>
          </a:p>
        </p:txBody>
      </p:sp>
      <p:sp>
        <p:nvSpPr>
          <p:cNvPr id="9" name="Shape 6"/>
          <p:cNvSpPr/>
          <p:nvPr/>
        </p:nvSpPr>
        <p:spPr>
          <a:xfrm>
            <a:off x="3218688" y="2990088"/>
            <a:ext cx="283464" cy="237744"/>
          </a:xfrm>
          <a:prstGeom prst="rightArrow">
            <a:avLst/>
          </a:prstGeom>
          <a:solidFill>
            <a:srgbClr val="60728A"/>
          </a:solidFill>
          <a:ln/>
        </p:spPr>
      </p:sp>
      <p:sp>
        <p:nvSpPr>
          <p:cNvPr id="10" name="Shape 7"/>
          <p:cNvSpPr/>
          <p:nvPr/>
        </p:nvSpPr>
        <p:spPr>
          <a:xfrm>
            <a:off x="3520440" y="2651760"/>
            <a:ext cx="2377440" cy="914400"/>
          </a:xfrm>
          <a:prstGeom prst="ellipse">
            <a:avLst/>
          </a:prstGeom>
          <a:solidFill>
            <a:srgbClr val="E8A33D"/>
          </a:solidFill>
          <a:ln/>
        </p:spPr>
      </p:sp>
      <p:sp>
        <p:nvSpPr>
          <p:cNvPr id="11" name="Text 8"/>
          <p:cNvSpPr/>
          <p:nvPr/>
        </p:nvSpPr>
        <p:spPr>
          <a:xfrm>
            <a:off x="3520440" y="2651760"/>
            <a:ext cx="2377440" cy="914400"/>
          </a:xfrm>
          <a:prstGeom prst="rect">
            <a:avLst/>
          </a:prstGeom>
          <a:noFill/>
          <a:ln/>
        </p:spPr>
        <p:txBody>
          <a:bodyPr wrap="square" rtlCol="0" anchor="ctr"/>
          <a:lstStyle/>
          <a:p>
            <a:pPr algn="ctr" indent="0" marL="0">
              <a:buNone/>
            </a:pPr>
            <a:r>
              <a:rPr lang="en-US" sz="1250" b="1" dirty="0">
                <a:solidFill>
                  <a:srgbClr val="1E2761"/>
                </a:solidFill>
                <a:latin typeface="Calibri" pitchFamily="34" charset="0"/>
                <a:ea typeface="Calibri" pitchFamily="34" charset="-122"/>
                <a:cs typeface="Calibri" pitchFamily="34" charset="-120"/>
              </a:rPr>
              <a:t>正解とのズレを測る（Loss）</a:t>
            </a:r>
            <a:endParaRPr lang="en-US" sz="1250" dirty="0"/>
          </a:p>
        </p:txBody>
      </p:sp>
      <p:sp>
        <p:nvSpPr>
          <p:cNvPr id="12" name="Shape 9"/>
          <p:cNvSpPr/>
          <p:nvPr/>
        </p:nvSpPr>
        <p:spPr>
          <a:xfrm>
            <a:off x="5916168" y="2990088"/>
            <a:ext cx="283464" cy="237744"/>
          </a:xfrm>
          <a:prstGeom prst="rightArrow">
            <a:avLst/>
          </a:prstGeom>
          <a:solidFill>
            <a:srgbClr val="60728A"/>
          </a:solidFill>
          <a:ln/>
        </p:spPr>
      </p:sp>
      <p:sp>
        <p:nvSpPr>
          <p:cNvPr id="13" name="Shape 10"/>
          <p:cNvSpPr/>
          <p:nvPr/>
        </p:nvSpPr>
        <p:spPr>
          <a:xfrm>
            <a:off x="6217920" y="2651760"/>
            <a:ext cx="2377440" cy="914400"/>
          </a:xfrm>
          <a:prstGeom prst="ellipse">
            <a:avLst/>
          </a:prstGeom>
          <a:solidFill>
            <a:srgbClr val="EEF3FB"/>
          </a:solidFill>
          <a:ln/>
        </p:spPr>
      </p:sp>
      <p:sp>
        <p:nvSpPr>
          <p:cNvPr id="14" name="Text 11"/>
          <p:cNvSpPr/>
          <p:nvPr/>
        </p:nvSpPr>
        <p:spPr>
          <a:xfrm>
            <a:off x="6217920" y="2651760"/>
            <a:ext cx="2377440" cy="914400"/>
          </a:xfrm>
          <a:prstGeom prst="rect">
            <a:avLst/>
          </a:prstGeom>
          <a:noFill/>
          <a:ln/>
        </p:spPr>
        <p:txBody>
          <a:bodyPr wrap="square" rtlCol="0" anchor="ctr"/>
          <a:lstStyle/>
          <a:p>
            <a:pPr algn="ctr" indent="0" marL="0">
              <a:buNone/>
            </a:pPr>
            <a:r>
              <a:rPr lang="en-US" sz="1250" dirty="0">
                <a:solidFill>
                  <a:srgbClr val="26324A"/>
                </a:solidFill>
                <a:latin typeface="Calibri" pitchFamily="34" charset="0"/>
                <a:ea typeface="Calibri" pitchFamily="34" charset="-122"/>
                <a:cs typeface="Calibri" pitchFamily="34" charset="-120"/>
              </a:rPr>
              <a:t>ズレを減らす方向に調整する</a:t>
            </a:r>
            <a:endParaRPr lang="en-US" sz="1250" dirty="0"/>
          </a:p>
        </p:txBody>
      </p:sp>
      <p:sp>
        <p:nvSpPr>
          <p:cNvPr id="15" name="Shape 12"/>
          <p:cNvSpPr/>
          <p:nvPr/>
        </p:nvSpPr>
        <p:spPr>
          <a:xfrm>
            <a:off x="2011680" y="3566160"/>
            <a:ext cx="0" cy="502920"/>
          </a:xfrm>
          <a:prstGeom prst="line">
            <a:avLst/>
          </a:prstGeom>
          <a:noFill/>
          <a:ln w="19050">
            <a:solidFill>
              <a:srgbClr val="60728A"/>
            </a:solidFill>
            <a:prstDash val="solid"/>
          </a:ln>
        </p:spPr>
      </p:sp>
      <p:sp>
        <p:nvSpPr>
          <p:cNvPr id="16" name="Shape 13"/>
          <p:cNvSpPr/>
          <p:nvPr/>
        </p:nvSpPr>
        <p:spPr>
          <a:xfrm>
            <a:off x="2011680" y="4069080"/>
            <a:ext cx="5394960" cy="0"/>
          </a:xfrm>
          <a:prstGeom prst="line">
            <a:avLst/>
          </a:prstGeom>
          <a:noFill/>
          <a:ln w="19050">
            <a:solidFill>
              <a:srgbClr val="60728A"/>
            </a:solidFill>
            <a:prstDash val="solid"/>
          </a:ln>
        </p:spPr>
      </p:sp>
      <p:sp>
        <p:nvSpPr>
          <p:cNvPr id="17" name="Shape 14"/>
          <p:cNvSpPr/>
          <p:nvPr/>
        </p:nvSpPr>
        <p:spPr>
          <a:xfrm>
            <a:off x="7406640" y="3566160"/>
            <a:ext cx="0" cy="502920"/>
          </a:xfrm>
          <a:prstGeom prst="line">
            <a:avLst/>
          </a:prstGeom>
          <a:noFill/>
          <a:ln w="19050">
            <a:solidFill>
              <a:srgbClr val="60728A"/>
            </a:solidFill>
            <a:prstDash val="solid"/>
          </a:ln>
        </p:spPr>
      </p:sp>
      <p:sp>
        <p:nvSpPr>
          <p:cNvPr id="18" name="Text 15"/>
          <p:cNvSpPr/>
          <p:nvPr/>
        </p:nvSpPr>
        <p:spPr>
          <a:xfrm>
            <a:off x="3108960" y="4114800"/>
            <a:ext cx="2926080" cy="274320"/>
          </a:xfrm>
          <a:prstGeom prst="rect">
            <a:avLst/>
          </a:prstGeom>
          <a:noFill/>
          <a:ln/>
        </p:spPr>
        <p:txBody>
          <a:bodyPr wrap="square" rtlCol="0" anchor="ctr"/>
          <a:lstStyle/>
          <a:p>
            <a:pPr algn="ctr" indent="0" marL="0">
              <a:buNone/>
            </a:pPr>
            <a:r>
              <a:rPr lang="en-US" sz="1150" i="1" dirty="0">
                <a:solidFill>
                  <a:srgbClr val="60728A"/>
                </a:solidFill>
                <a:latin typeface="Calibri" pitchFamily="34" charset="0"/>
                <a:ea typeface="Calibri" pitchFamily="34" charset="-122"/>
                <a:cs typeface="Calibri" pitchFamily="34" charset="-120"/>
              </a:rPr>
              <a:t>これを何億回も繰り返す＝学習</a:t>
            </a:r>
            <a:endParaRPr lang="en-US" sz="1150" dirty="0"/>
          </a:p>
        </p:txBody>
      </p:sp>
      <p:sp>
        <p:nvSpPr>
          <p:cNvPr id="19" name="Text 16"/>
          <p:cNvSpPr/>
          <p:nvPr/>
        </p:nvSpPr>
        <p:spPr>
          <a:xfrm>
            <a:off x="8138160" y="4828032"/>
            <a:ext cx="731520" cy="274320"/>
          </a:xfrm>
          <a:prstGeom prst="rect">
            <a:avLst/>
          </a:prstGeom>
          <a:noFill/>
          <a:ln/>
        </p:spPr>
        <p:txBody>
          <a:bodyPr wrap="square" rtlCol="0" anchor="ctr"/>
          <a:lstStyle/>
          <a:p>
            <a:pPr algn="r" indent="0" marL="0">
              <a:buNone/>
            </a:pPr>
            <a:r>
              <a:rPr lang="en-US" sz="1000" dirty="0">
                <a:solidFill>
                  <a:srgbClr val="60728A"/>
                </a:solidFill>
                <a:latin typeface="Calibri" pitchFamily="34" charset="0"/>
                <a:ea typeface="Calibri" pitchFamily="34" charset="-122"/>
                <a:cs typeface="Calibri" pitchFamily="34" charset="-120"/>
              </a:rPr>
              <a:t>13 / 17</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548640" y="320040"/>
            <a:ext cx="7772400" cy="274320"/>
          </a:xfrm>
          <a:prstGeom prst="rect">
            <a:avLst/>
          </a:prstGeom>
          <a:noFill/>
          <a:ln/>
        </p:spPr>
        <p:txBody>
          <a:bodyPr wrap="square" rtlCol="0" anchor="ctr"/>
          <a:lstStyle/>
          <a:p>
            <a:pPr indent="0" marL="0">
              <a:buNone/>
            </a:pPr>
            <a:r>
              <a:rPr lang="en-US" sz="1200" b="1" spc="200" kern="0" dirty="0">
                <a:solidFill>
                  <a:srgbClr val="CADCFC"/>
                </a:solidFill>
                <a:latin typeface="Calibri" pitchFamily="34" charset="0"/>
                <a:ea typeface="Calibri" pitchFamily="34" charset="-122"/>
                <a:cs typeface="Calibri" pitchFamily="34" charset="-120"/>
              </a:rPr>
              <a:t>核心テーマ</a:t>
            </a:r>
            <a:endParaRPr lang="en-US" sz="1200" dirty="0"/>
          </a:p>
        </p:txBody>
      </p:sp>
      <p:sp>
        <p:nvSpPr>
          <p:cNvPr id="3" name="Text 1"/>
          <p:cNvSpPr/>
          <p:nvPr/>
        </p:nvSpPr>
        <p:spPr>
          <a:xfrm>
            <a:off x="548640" y="566928"/>
            <a:ext cx="8046720" cy="64008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なぜ推論できるのか ①</a:t>
            </a:r>
            <a:endParaRPr lang="en-US" sz="3000" dirty="0"/>
          </a:p>
        </p:txBody>
      </p:sp>
      <p:sp>
        <p:nvSpPr>
          <p:cNvPr id="4" name="Text 2"/>
          <p:cNvSpPr/>
          <p:nvPr/>
        </p:nvSpPr>
        <p:spPr>
          <a:xfrm>
            <a:off x="548640" y="1143000"/>
            <a:ext cx="8046720" cy="457200"/>
          </a:xfrm>
          <a:prstGeom prst="rect">
            <a:avLst/>
          </a:prstGeom>
          <a:noFill/>
          <a:ln/>
        </p:spPr>
        <p:txBody>
          <a:bodyPr wrap="square" rtlCol="0" anchor="ctr"/>
          <a:lstStyle/>
          <a:p>
            <a:pPr indent="0" marL="0">
              <a:buNone/>
            </a:pPr>
            <a:r>
              <a:rPr lang="en-US" sz="1700" b="1" dirty="0">
                <a:solidFill>
                  <a:srgbClr val="E8A33D"/>
                </a:solidFill>
                <a:latin typeface="Calibri" pitchFamily="34" charset="0"/>
                <a:ea typeface="Calibri" pitchFamily="34" charset="-122"/>
                <a:cs typeface="Calibri" pitchFamily="34" charset="-120"/>
              </a:rPr>
              <a:t>「次の単語を当てる」ことは、実はとても難しい</a:t>
            </a:r>
            <a:endParaRPr lang="en-US" sz="1700" dirty="0"/>
          </a:p>
        </p:txBody>
      </p:sp>
      <p:sp>
        <p:nvSpPr>
          <p:cNvPr id="5" name="Shape 3"/>
          <p:cNvSpPr/>
          <p:nvPr/>
        </p:nvSpPr>
        <p:spPr>
          <a:xfrm>
            <a:off x="548640" y="1737360"/>
            <a:ext cx="8046720" cy="548640"/>
          </a:xfrm>
          <a:prstGeom prst="roundRect">
            <a:avLst>
              <a:gd name="adj" fmla="val 10000"/>
            </a:avLst>
          </a:prstGeom>
          <a:solidFill>
            <a:srgbClr val="273572"/>
          </a:solidFill>
          <a:ln/>
        </p:spPr>
      </p:sp>
      <p:sp>
        <p:nvSpPr>
          <p:cNvPr id="6" name="Text 4"/>
          <p:cNvSpPr/>
          <p:nvPr/>
        </p:nvSpPr>
        <p:spPr>
          <a:xfrm>
            <a:off x="548640" y="1737360"/>
            <a:ext cx="8046720" cy="548640"/>
          </a:xfrm>
          <a:prstGeom prst="rect">
            <a:avLst/>
          </a:prstGeom>
          <a:noFill/>
          <a:ln/>
        </p:spPr>
        <p:txBody>
          <a:bodyPr wrap="square" rtlCol="0" anchor="ctr"/>
          <a:lstStyle/>
          <a:p>
            <a:pPr algn="ctr" indent="0" marL="0">
              <a:buNone/>
            </a:pPr>
            <a:r>
              <a:rPr lang="en-US" sz="1400" dirty="0">
                <a:solidFill>
                  <a:srgbClr val="FFFFFF"/>
                </a:solidFill>
                <a:latin typeface="Calibri" pitchFamily="34" charset="0"/>
                <a:ea typeface="Calibri" pitchFamily="34" charset="-122"/>
                <a:cs typeface="Calibri" pitchFamily="34" charset="-120"/>
              </a:rPr>
              <a:t>正しく当てるには、単なる文法だけでなく…</a:t>
            </a:r>
            <a:endParaRPr lang="en-US" sz="1400" dirty="0"/>
          </a:p>
        </p:txBody>
      </p:sp>
      <p:sp>
        <p:nvSpPr>
          <p:cNvPr id="7" name="Shape 5"/>
          <p:cNvSpPr/>
          <p:nvPr/>
        </p:nvSpPr>
        <p:spPr>
          <a:xfrm>
            <a:off x="544068" y="2514600"/>
            <a:ext cx="1828800" cy="914400"/>
          </a:xfrm>
          <a:prstGeom prst="roundRect">
            <a:avLst>
              <a:gd name="adj" fmla="val 7000"/>
            </a:avLst>
          </a:prstGeom>
          <a:solidFill>
            <a:srgbClr val="0C7B93"/>
          </a:solidFill>
          <a:ln/>
        </p:spPr>
      </p:sp>
      <p:sp>
        <p:nvSpPr>
          <p:cNvPr id="8" name="Text 6"/>
          <p:cNvSpPr/>
          <p:nvPr/>
        </p:nvSpPr>
        <p:spPr>
          <a:xfrm>
            <a:off x="617220" y="2514600"/>
            <a:ext cx="1682496" cy="914400"/>
          </a:xfrm>
          <a:prstGeom prst="rect">
            <a:avLst/>
          </a:prstGeom>
          <a:noFill/>
          <a:ln/>
        </p:spPr>
        <p:txBody>
          <a:bodyPr wrap="square"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文脈の流れ</a:t>
            </a:r>
            <a:endParaRPr lang="en-US" sz="1250" dirty="0"/>
          </a:p>
        </p:txBody>
      </p:sp>
      <p:sp>
        <p:nvSpPr>
          <p:cNvPr id="9" name="Shape 7"/>
          <p:cNvSpPr/>
          <p:nvPr/>
        </p:nvSpPr>
        <p:spPr>
          <a:xfrm>
            <a:off x="2619756" y="2514600"/>
            <a:ext cx="1828800" cy="914400"/>
          </a:xfrm>
          <a:prstGeom prst="roundRect">
            <a:avLst>
              <a:gd name="adj" fmla="val 7000"/>
            </a:avLst>
          </a:prstGeom>
          <a:solidFill>
            <a:srgbClr val="0C7B93"/>
          </a:solidFill>
          <a:ln/>
        </p:spPr>
      </p:sp>
      <p:sp>
        <p:nvSpPr>
          <p:cNvPr id="10" name="Text 8"/>
          <p:cNvSpPr/>
          <p:nvPr/>
        </p:nvSpPr>
        <p:spPr>
          <a:xfrm>
            <a:off x="2692908" y="2514600"/>
            <a:ext cx="1682496" cy="914400"/>
          </a:xfrm>
          <a:prstGeom prst="rect">
            <a:avLst/>
          </a:prstGeom>
          <a:noFill/>
          <a:ln/>
        </p:spPr>
        <p:txBody>
          <a:bodyPr wrap="square"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登場人物の関係</a:t>
            </a:r>
            <a:endParaRPr lang="en-US" sz="1250" dirty="0"/>
          </a:p>
        </p:txBody>
      </p:sp>
      <p:sp>
        <p:nvSpPr>
          <p:cNvPr id="11" name="Shape 9"/>
          <p:cNvSpPr/>
          <p:nvPr/>
        </p:nvSpPr>
        <p:spPr>
          <a:xfrm>
            <a:off x="4695444" y="2514600"/>
            <a:ext cx="1828800" cy="914400"/>
          </a:xfrm>
          <a:prstGeom prst="roundRect">
            <a:avLst>
              <a:gd name="adj" fmla="val 7000"/>
            </a:avLst>
          </a:prstGeom>
          <a:solidFill>
            <a:srgbClr val="0C7B93"/>
          </a:solidFill>
          <a:ln/>
        </p:spPr>
      </p:sp>
      <p:sp>
        <p:nvSpPr>
          <p:cNvPr id="12" name="Text 10"/>
          <p:cNvSpPr/>
          <p:nvPr/>
        </p:nvSpPr>
        <p:spPr>
          <a:xfrm>
            <a:off x="4768596" y="2514600"/>
            <a:ext cx="1682496" cy="914400"/>
          </a:xfrm>
          <a:prstGeom prst="rect">
            <a:avLst/>
          </a:prstGeom>
          <a:noFill/>
          <a:ln/>
        </p:spPr>
        <p:txBody>
          <a:bodyPr wrap="square"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常識・世界知識</a:t>
            </a:r>
            <a:endParaRPr lang="en-US" sz="1250" dirty="0"/>
          </a:p>
        </p:txBody>
      </p:sp>
      <p:sp>
        <p:nvSpPr>
          <p:cNvPr id="13" name="Shape 11"/>
          <p:cNvSpPr/>
          <p:nvPr/>
        </p:nvSpPr>
        <p:spPr>
          <a:xfrm>
            <a:off x="6771132" y="2514600"/>
            <a:ext cx="1828800" cy="914400"/>
          </a:xfrm>
          <a:prstGeom prst="roundRect">
            <a:avLst>
              <a:gd name="adj" fmla="val 7000"/>
            </a:avLst>
          </a:prstGeom>
          <a:solidFill>
            <a:srgbClr val="0C7B93"/>
          </a:solidFill>
          <a:ln/>
        </p:spPr>
      </p:sp>
      <p:sp>
        <p:nvSpPr>
          <p:cNvPr id="14" name="Text 12"/>
          <p:cNvSpPr/>
          <p:nvPr/>
        </p:nvSpPr>
        <p:spPr>
          <a:xfrm>
            <a:off x="6844284" y="2514600"/>
            <a:ext cx="1682496" cy="914400"/>
          </a:xfrm>
          <a:prstGeom prst="rect">
            <a:avLst/>
          </a:prstGeom>
          <a:noFill/>
          <a:ln/>
        </p:spPr>
        <p:txBody>
          <a:bodyPr wrap="square"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論理的な整合性</a:t>
            </a:r>
            <a:endParaRPr lang="en-US" sz="1250" dirty="0"/>
          </a:p>
        </p:txBody>
      </p:sp>
      <p:sp>
        <p:nvSpPr>
          <p:cNvPr id="15" name="Text 13"/>
          <p:cNvSpPr/>
          <p:nvPr/>
        </p:nvSpPr>
        <p:spPr>
          <a:xfrm>
            <a:off x="548640" y="3657600"/>
            <a:ext cx="8046720" cy="822960"/>
          </a:xfrm>
          <a:prstGeom prst="rect">
            <a:avLst/>
          </a:prstGeom>
          <a:noFill/>
          <a:ln/>
        </p:spPr>
        <p:txBody>
          <a:bodyPr wrap="square" rtlCol="0" anchor="ctr"/>
          <a:lstStyle/>
          <a:p>
            <a:pPr algn="ctr" indent="0" marL="0">
              <a:buNone/>
            </a:pPr>
            <a:r>
              <a:rPr lang="en-US" sz="1450" dirty="0">
                <a:solidFill>
                  <a:srgbClr val="CADCFC"/>
                </a:solidFill>
                <a:latin typeface="Calibri" pitchFamily="34" charset="0"/>
                <a:ea typeface="Calibri" pitchFamily="34" charset="-122"/>
                <a:cs typeface="Calibri" pitchFamily="34" charset="-120"/>
              </a:rPr>
              <a:t>を理解する必要があります。単なる丸暗記では、</a:t>
            </a:r>
            <a:endParaRPr lang="en-US" sz="1450" dirty="0"/>
          </a:p>
          <a:p>
            <a:pPr algn="ctr" indent="0" marL="0">
              <a:buNone/>
            </a:pPr>
            <a:r>
              <a:rPr lang="en-US" sz="1450" dirty="0">
                <a:solidFill>
                  <a:srgbClr val="CADCFC"/>
                </a:solidFill>
                <a:latin typeface="Calibri" pitchFamily="34" charset="0"/>
                <a:ea typeface="Calibri" pitchFamily="34" charset="-122"/>
                <a:cs typeface="Calibri" pitchFamily="34" charset="-120"/>
              </a:rPr>
              <a:t>多様な文脈すべてに対応できません。</a:t>
            </a:r>
            <a:endParaRPr lang="en-US" sz="1450" dirty="0"/>
          </a:p>
        </p:txBody>
      </p:sp>
      <p:sp>
        <p:nvSpPr>
          <p:cNvPr id="16" name="Text 14"/>
          <p:cNvSpPr/>
          <p:nvPr/>
        </p:nvSpPr>
        <p:spPr>
          <a:xfrm>
            <a:off x="8138160" y="4828032"/>
            <a:ext cx="731520" cy="274320"/>
          </a:xfrm>
          <a:prstGeom prst="rect">
            <a:avLst/>
          </a:prstGeom>
          <a:noFill/>
          <a:ln/>
        </p:spPr>
        <p:txBody>
          <a:bodyPr wrap="square" rtlCol="0" anchor="ctr"/>
          <a:lstStyle/>
          <a:p>
            <a:pPr algn="r" indent="0" marL="0">
              <a:buNone/>
            </a:pPr>
            <a:r>
              <a:rPr lang="en-US" sz="1000" dirty="0">
                <a:solidFill>
                  <a:srgbClr val="8B9BC7"/>
                </a:solidFill>
                <a:latin typeface="Calibri" pitchFamily="34" charset="0"/>
                <a:ea typeface="Calibri" pitchFamily="34" charset="-122"/>
                <a:cs typeface="Calibri" pitchFamily="34" charset="-120"/>
              </a:rPr>
              <a:t>14 / 17</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548640" y="320040"/>
            <a:ext cx="7772400" cy="274320"/>
          </a:xfrm>
          <a:prstGeom prst="rect">
            <a:avLst/>
          </a:prstGeom>
          <a:noFill/>
          <a:ln/>
        </p:spPr>
        <p:txBody>
          <a:bodyPr wrap="square" rtlCol="0" anchor="ctr"/>
          <a:lstStyle/>
          <a:p>
            <a:pPr indent="0" marL="0">
              <a:buNone/>
            </a:pPr>
            <a:r>
              <a:rPr lang="en-US" sz="1200" b="1" spc="200" kern="0" dirty="0">
                <a:solidFill>
                  <a:srgbClr val="CADCFC"/>
                </a:solidFill>
                <a:latin typeface="Calibri" pitchFamily="34" charset="0"/>
                <a:ea typeface="Calibri" pitchFamily="34" charset="-122"/>
                <a:cs typeface="Calibri" pitchFamily="34" charset="-120"/>
              </a:rPr>
              <a:t>核心テーマ</a:t>
            </a:r>
            <a:endParaRPr lang="en-US" sz="1200" dirty="0"/>
          </a:p>
        </p:txBody>
      </p:sp>
      <p:sp>
        <p:nvSpPr>
          <p:cNvPr id="3" name="Text 1"/>
          <p:cNvSpPr/>
          <p:nvPr/>
        </p:nvSpPr>
        <p:spPr>
          <a:xfrm>
            <a:off x="548640" y="566928"/>
            <a:ext cx="8046720" cy="64008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なぜ推論できるのか ②</a:t>
            </a:r>
            <a:endParaRPr lang="en-US" sz="3000" dirty="0"/>
          </a:p>
        </p:txBody>
      </p:sp>
      <p:sp>
        <p:nvSpPr>
          <p:cNvPr id="4" name="Text 2"/>
          <p:cNvSpPr/>
          <p:nvPr/>
        </p:nvSpPr>
        <p:spPr>
          <a:xfrm>
            <a:off x="548640" y="1133856"/>
            <a:ext cx="8046720" cy="347472"/>
          </a:xfrm>
          <a:prstGeom prst="rect">
            <a:avLst/>
          </a:prstGeom>
          <a:noFill/>
          <a:ln/>
        </p:spPr>
        <p:txBody>
          <a:bodyPr wrap="square" rtlCol="0" anchor="ctr"/>
          <a:lstStyle/>
          <a:p>
            <a:pPr indent="0" marL="0">
              <a:buNone/>
            </a:pPr>
            <a:r>
              <a:rPr lang="en-US" sz="1650" b="1" dirty="0">
                <a:solidFill>
                  <a:srgbClr val="E8A33D"/>
                </a:solidFill>
                <a:latin typeface="Calibri" pitchFamily="34" charset="0"/>
                <a:ea typeface="Calibri" pitchFamily="34" charset="-122"/>
                <a:cs typeface="Calibri" pitchFamily="34" charset="-120"/>
              </a:rPr>
              <a:t>推論的な振る舞いは「副産物」として生まれる</a:t>
            </a:r>
            <a:endParaRPr lang="en-US" sz="1650" dirty="0"/>
          </a:p>
        </p:txBody>
      </p:sp>
      <p:sp>
        <p:nvSpPr>
          <p:cNvPr id="5" name="Shape 3"/>
          <p:cNvSpPr/>
          <p:nvPr/>
        </p:nvSpPr>
        <p:spPr>
          <a:xfrm>
            <a:off x="548640" y="1536192"/>
            <a:ext cx="8046720" cy="457200"/>
          </a:xfrm>
          <a:prstGeom prst="roundRect">
            <a:avLst>
              <a:gd name="adj" fmla="val 12000"/>
            </a:avLst>
          </a:prstGeom>
          <a:solidFill>
            <a:srgbClr val="273572"/>
          </a:solidFill>
          <a:ln/>
        </p:spPr>
      </p:sp>
      <p:sp>
        <p:nvSpPr>
          <p:cNvPr id="6" name="Text 4"/>
          <p:cNvSpPr/>
          <p:nvPr/>
        </p:nvSpPr>
        <p:spPr>
          <a:xfrm>
            <a:off x="548640" y="1536192"/>
            <a:ext cx="8046720" cy="457200"/>
          </a:xfrm>
          <a:prstGeom prst="rect">
            <a:avLst/>
          </a:prstGeom>
          <a:noFill/>
          <a:ln/>
        </p:spPr>
        <p:txBody>
          <a:bodyPr wrap="square" rtlCol="0" anchor="ctr"/>
          <a:lstStyle/>
          <a:p>
            <a:pPr algn="ctr" indent="0" marL="0">
              <a:buNone/>
            </a:pPr>
            <a:r>
              <a:rPr lang="en-US" sz="1300" dirty="0">
                <a:solidFill>
                  <a:srgbClr val="FFFFFF"/>
                </a:solidFill>
                <a:latin typeface="Calibri" pitchFamily="34" charset="0"/>
                <a:ea typeface="Calibri" pitchFamily="34" charset="-122"/>
                <a:cs typeface="Calibri" pitchFamily="34" charset="-120"/>
              </a:rPr>
              <a:t>Transformerは</a:t>
            </a:r>
            <a:pPr algn="ctr" indent="0" marL="0">
              <a:buNone/>
            </a:pPr>
            <a:r>
              <a:rPr lang="en-US" sz="1300" b="1" dirty="0">
                <a:solidFill>
                  <a:srgbClr val="E8A33D"/>
                </a:solidFill>
                <a:latin typeface="Calibri" pitchFamily="34" charset="0"/>
                <a:ea typeface="Calibri" pitchFamily="34" charset="-122"/>
                <a:cs typeface="Calibri" pitchFamily="34" charset="-120"/>
              </a:rPr>
              <a:t>「推論する方法」を学習したわけではありません。</a:t>
            </a:r>
            <a:endParaRPr lang="en-US" sz="1300" dirty="0"/>
          </a:p>
        </p:txBody>
      </p:sp>
      <p:sp>
        <p:nvSpPr>
          <p:cNvPr id="7" name="Shape 5"/>
          <p:cNvSpPr/>
          <p:nvPr/>
        </p:nvSpPr>
        <p:spPr>
          <a:xfrm>
            <a:off x="2926080" y="2121408"/>
            <a:ext cx="3291840" cy="411480"/>
          </a:xfrm>
          <a:prstGeom prst="roundRect">
            <a:avLst>
              <a:gd name="adj" fmla="val 13333"/>
            </a:avLst>
          </a:prstGeom>
          <a:solidFill>
            <a:srgbClr val="273572"/>
          </a:solidFill>
          <a:ln/>
        </p:spPr>
      </p:sp>
      <p:sp>
        <p:nvSpPr>
          <p:cNvPr id="8" name="Text 6"/>
          <p:cNvSpPr/>
          <p:nvPr/>
        </p:nvSpPr>
        <p:spPr>
          <a:xfrm>
            <a:off x="2926080" y="2121408"/>
            <a:ext cx="3291840" cy="411480"/>
          </a:xfrm>
          <a:prstGeom prst="rect">
            <a:avLst/>
          </a:prstGeom>
          <a:noFill/>
          <a:ln/>
        </p:spPr>
        <p:txBody>
          <a:bodyPr wrap="square" rtlCol="0" anchor="ctr"/>
          <a:lstStyle/>
          <a:p>
            <a:pPr algn="ctr" indent="0" marL="0">
              <a:buNone/>
            </a:pPr>
            <a:r>
              <a:rPr lang="en-US" sz="1150" dirty="0">
                <a:solidFill>
                  <a:srgbClr val="FFFFFF"/>
                </a:solidFill>
                <a:latin typeface="Calibri" pitchFamily="34" charset="0"/>
                <a:ea typeface="Calibri" pitchFamily="34" charset="-122"/>
                <a:cs typeface="Calibri" pitchFamily="34" charset="-120"/>
              </a:rPr>
              <a:t>次単語予測の精度を上げ続ける</a:t>
            </a:r>
            <a:endParaRPr lang="en-US" sz="1150" dirty="0"/>
          </a:p>
        </p:txBody>
      </p:sp>
      <p:sp>
        <p:nvSpPr>
          <p:cNvPr id="9" name="Shape 7"/>
          <p:cNvSpPr/>
          <p:nvPr/>
        </p:nvSpPr>
        <p:spPr>
          <a:xfrm flipH="1">
            <a:off x="2194560" y="2532888"/>
            <a:ext cx="2377440" cy="164592"/>
          </a:xfrm>
          <a:prstGeom prst="line">
            <a:avLst/>
          </a:prstGeom>
          <a:noFill/>
          <a:ln w="19050">
            <a:solidFill>
              <a:srgbClr val="0C7B93"/>
            </a:solidFill>
            <a:prstDash val="solid"/>
          </a:ln>
        </p:spPr>
      </p:sp>
      <p:sp>
        <p:nvSpPr>
          <p:cNvPr id="10" name="Shape 8"/>
          <p:cNvSpPr/>
          <p:nvPr/>
        </p:nvSpPr>
        <p:spPr>
          <a:xfrm>
            <a:off x="1143000" y="2697480"/>
            <a:ext cx="2103120" cy="411480"/>
          </a:xfrm>
          <a:prstGeom prst="roundRect">
            <a:avLst>
              <a:gd name="adj" fmla="val 13333"/>
            </a:avLst>
          </a:prstGeom>
          <a:solidFill>
            <a:srgbClr val="0C7B93"/>
          </a:solidFill>
          <a:ln/>
        </p:spPr>
      </p:sp>
      <p:sp>
        <p:nvSpPr>
          <p:cNvPr id="11" name="Text 9"/>
          <p:cNvSpPr/>
          <p:nvPr/>
        </p:nvSpPr>
        <p:spPr>
          <a:xfrm>
            <a:off x="1143000" y="2697480"/>
            <a:ext cx="2103120" cy="411480"/>
          </a:xfrm>
          <a:prstGeom prst="rect">
            <a:avLst/>
          </a:prstGeom>
          <a:noFill/>
          <a:ln/>
        </p:spPr>
        <p:txBody>
          <a:bodyPr wrap="square"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文法理解</a:t>
            </a:r>
            <a:endParaRPr lang="en-US" sz="1150" dirty="0"/>
          </a:p>
        </p:txBody>
      </p:sp>
      <p:sp>
        <p:nvSpPr>
          <p:cNvPr id="12" name="Shape 10"/>
          <p:cNvSpPr/>
          <p:nvPr/>
        </p:nvSpPr>
        <p:spPr>
          <a:xfrm>
            <a:off x="2194560" y="3108960"/>
            <a:ext cx="2377440" cy="256032"/>
          </a:xfrm>
          <a:prstGeom prst="line">
            <a:avLst/>
          </a:prstGeom>
          <a:noFill/>
          <a:ln w="19050">
            <a:solidFill>
              <a:srgbClr val="0C7B93"/>
            </a:solidFill>
            <a:prstDash val="solid"/>
          </a:ln>
        </p:spPr>
      </p:sp>
      <p:sp>
        <p:nvSpPr>
          <p:cNvPr id="13" name="Shape 11"/>
          <p:cNvSpPr/>
          <p:nvPr/>
        </p:nvSpPr>
        <p:spPr>
          <a:xfrm>
            <a:off x="4572000" y="2532888"/>
            <a:ext cx="0" cy="164592"/>
          </a:xfrm>
          <a:prstGeom prst="line">
            <a:avLst/>
          </a:prstGeom>
          <a:noFill/>
          <a:ln w="19050">
            <a:solidFill>
              <a:srgbClr val="0C7B93"/>
            </a:solidFill>
            <a:prstDash val="solid"/>
          </a:ln>
        </p:spPr>
      </p:sp>
      <p:sp>
        <p:nvSpPr>
          <p:cNvPr id="14" name="Shape 12"/>
          <p:cNvSpPr/>
          <p:nvPr/>
        </p:nvSpPr>
        <p:spPr>
          <a:xfrm>
            <a:off x="3520440" y="2697480"/>
            <a:ext cx="2103120" cy="411480"/>
          </a:xfrm>
          <a:prstGeom prst="roundRect">
            <a:avLst>
              <a:gd name="adj" fmla="val 13333"/>
            </a:avLst>
          </a:prstGeom>
          <a:solidFill>
            <a:srgbClr val="0C7B93"/>
          </a:solidFill>
          <a:ln/>
        </p:spPr>
      </p:sp>
      <p:sp>
        <p:nvSpPr>
          <p:cNvPr id="15" name="Text 13"/>
          <p:cNvSpPr/>
          <p:nvPr/>
        </p:nvSpPr>
        <p:spPr>
          <a:xfrm>
            <a:off x="3520440" y="2697480"/>
            <a:ext cx="2103120" cy="411480"/>
          </a:xfrm>
          <a:prstGeom prst="rect">
            <a:avLst/>
          </a:prstGeom>
          <a:noFill/>
          <a:ln/>
        </p:spPr>
        <p:txBody>
          <a:bodyPr wrap="square"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常識・世界知識</a:t>
            </a:r>
            <a:endParaRPr lang="en-US" sz="1150" dirty="0"/>
          </a:p>
        </p:txBody>
      </p:sp>
      <p:sp>
        <p:nvSpPr>
          <p:cNvPr id="16" name="Shape 14"/>
          <p:cNvSpPr/>
          <p:nvPr/>
        </p:nvSpPr>
        <p:spPr>
          <a:xfrm>
            <a:off x="4572000" y="3108960"/>
            <a:ext cx="0" cy="256032"/>
          </a:xfrm>
          <a:prstGeom prst="line">
            <a:avLst/>
          </a:prstGeom>
          <a:noFill/>
          <a:ln w="19050">
            <a:solidFill>
              <a:srgbClr val="0C7B93"/>
            </a:solidFill>
            <a:prstDash val="solid"/>
          </a:ln>
        </p:spPr>
      </p:sp>
      <p:sp>
        <p:nvSpPr>
          <p:cNvPr id="17" name="Shape 15"/>
          <p:cNvSpPr/>
          <p:nvPr/>
        </p:nvSpPr>
        <p:spPr>
          <a:xfrm>
            <a:off x="4572000" y="2532888"/>
            <a:ext cx="2377440" cy="164592"/>
          </a:xfrm>
          <a:prstGeom prst="line">
            <a:avLst/>
          </a:prstGeom>
          <a:noFill/>
          <a:ln w="19050">
            <a:solidFill>
              <a:srgbClr val="0C7B93"/>
            </a:solidFill>
            <a:prstDash val="solid"/>
          </a:ln>
        </p:spPr>
      </p:sp>
      <p:sp>
        <p:nvSpPr>
          <p:cNvPr id="18" name="Shape 16"/>
          <p:cNvSpPr/>
          <p:nvPr/>
        </p:nvSpPr>
        <p:spPr>
          <a:xfrm>
            <a:off x="5897880" y="2697480"/>
            <a:ext cx="2103120" cy="411480"/>
          </a:xfrm>
          <a:prstGeom prst="roundRect">
            <a:avLst>
              <a:gd name="adj" fmla="val 13333"/>
            </a:avLst>
          </a:prstGeom>
          <a:solidFill>
            <a:srgbClr val="0C7B93"/>
          </a:solidFill>
          <a:ln/>
        </p:spPr>
      </p:sp>
      <p:sp>
        <p:nvSpPr>
          <p:cNvPr id="19" name="Text 17"/>
          <p:cNvSpPr/>
          <p:nvPr/>
        </p:nvSpPr>
        <p:spPr>
          <a:xfrm>
            <a:off x="5897880" y="2697480"/>
            <a:ext cx="2103120" cy="411480"/>
          </a:xfrm>
          <a:prstGeom prst="rect">
            <a:avLst/>
          </a:prstGeom>
          <a:noFill/>
          <a:ln/>
        </p:spPr>
        <p:txBody>
          <a:bodyPr wrap="square"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論理的整合性</a:t>
            </a:r>
            <a:endParaRPr lang="en-US" sz="1150" dirty="0"/>
          </a:p>
        </p:txBody>
      </p:sp>
      <p:sp>
        <p:nvSpPr>
          <p:cNvPr id="20" name="Shape 18"/>
          <p:cNvSpPr/>
          <p:nvPr/>
        </p:nvSpPr>
        <p:spPr>
          <a:xfrm flipH="1">
            <a:off x="4572000" y="3108960"/>
            <a:ext cx="2377440" cy="256032"/>
          </a:xfrm>
          <a:prstGeom prst="line">
            <a:avLst/>
          </a:prstGeom>
          <a:noFill/>
          <a:ln w="19050">
            <a:solidFill>
              <a:srgbClr val="0C7B93"/>
            </a:solidFill>
            <a:prstDash val="solid"/>
          </a:ln>
        </p:spPr>
      </p:sp>
      <p:sp>
        <p:nvSpPr>
          <p:cNvPr id="21" name="Shape 19"/>
          <p:cNvSpPr/>
          <p:nvPr/>
        </p:nvSpPr>
        <p:spPr>
          <a:xfrm>
            <a:off x="4270248" y="3364992"/>
            <a:ext cx="603504" cy="603504"/>
          </a:xfrm>
          <a:prstGeom prst="ellipse">
            <a:avLst/>
          </a:prstGeom>
          <a:solidFill>
            <a:srgbClr val="E8A33D"/>
          </a:solidFill>
          <a:ln/>
        </p:spPr>
      </p:sp>
      <p:pic>
        <p:nvPicPr>
          <p:cNvPr id="22" name="Image 0" descr="preencoded.png">    </p:cNvPr>
          <p:cNvPicPr>
            <a:picLocks noChangeAspect="1"/>
          </p:cNvPicPr>
          <p:nvPr/>
        </p:nvPicPr>
        <p:blipFill>
          <a:blip r:embed="rId1"/>
          <a:stretch>
            <a:fillRect/>
          </a:stretch>
        </p:blipFill>
        <p:spPr>
          <a:xfrm>
            <a:off x="4348704" y="3443448"/>
            <a:ext cx="446593" cy="446593"/>
          </a:xfrm>
          <a:prstGeom prst="rect">
            <a:avLst/>
          </a:prstGeom>
        </p:spPr>
      </p:pic>
      <p:sp>
        <p:nvSpPr>
          <p:cNvPr id="23" name="Text 20"/>
          <p:cNvSpPr/>
          <p:nvPr/>
        </p:nvSpPr>
        <p:spPr>
          <a:xfrm>
            <a:off x="3246120" y="4023360"/>
            <a:ext cx="2651760" cy="256032"/>
          </a:xfrm>
          <a:prstGeom prst="rect">
            <a:avLst/>
          </a:prstGeom>
          <a:noFill/>
          <a:ln/>
        </p:spPr>
        <p:txBody>
          <a:bodyPr wrap="square" rtlCol="0" anchor="ctr"/>
          <a:lstStyle/>
          <a:p>
            <a:pPr algn="ctr" indent="0" marL="0">
              <a:buNone/>
            </a:pPr>
            <a:r>
              <a:rPr lang="en-US" sz="1200" b="1" dirty="0">
                <a:solidFill>
                  <a:srgbClr val="E8A33D"/>
                </a:solidFill>
                <a:latin typeface="Calibri" pitchFamily="34" charset="0"/>
                <a:ea typeface="Calibri" pitchFamily="34" charset="-122"/>
                <a:cs typeface="Calibri" pitchFamily="34" charset="-120"/>
              </a:rPr>
              <a:t>推論的な振る舞い</a:t>
            </a:r>
            <a:endParaRPr lang="en-US" sz="1200" dirty="0"/>
          </a:p>
        </p:txBody>
      </p:sp>
      <p:sp>
        <p:nvSpPr>
          <p:cNvPr id="24" name="Text 21"/>
          <p:cNvSpPr/>
          <p:nvPr/>
        </p:nvSpPr>
        <p:spPr>
          <a:xfrm>
            <a:off x="8138160" y="4828032"/>
            <a:ext cx="731520" cy="274320"/>
          </a:xfrm>
          <a:prstGeom prst="rect">
            <a:avLst/>
          </a:prstGeom>
          <a:noFill/>
          <a:ln/>
        </p:spPr>
        <p:txBody>
          <a:bodyPr wrap="square" rtlCol="0" anchor="ctr"/>
          <a:lstStyle/>
          <a:p>
            <a:pPr algn="r" indent="0" marL="0">
              <a:buNone/>
            </a:pPr>
            <a:r>
              <a:rPr lang="en-US" sz="1000" dirty="0">
                <a:solidFill>
                  <a:srgbClr val="8B9BC7"/>
                </a:solidFill>
                <a:latin typeface="Calibri" pitchFamily="34" charset="0"/>
                <a:ea typeface="Calibri" pitchFamily="34" charset="-122"/>
                <a:cs typeface="Calibri" pitchFamily="34" charset="-120"/>
              </a:rPr>
              <a:t>15 / 17</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7772400" cy="274320"/>
          </a:xfrm>
          <a:prstGeom prst="rect">
            <a:avLst/>
          </a:prstGeom>
          <a:noFill/>
          <a:ln/>
        </p:spPr>
        <p:txBody>
          <a:bodyPr wrap="square" rtlCol="0" anchor="ctr"/>
          <a:lstStyle/>
          <a:p>
            <a:pPr indent="0" marL="0">
              <a:buNone/>
            </a:pPr>
            <a:r>
              <a:rPr lang="en-US" sz="1200" b="1" spc="200" kern="0" dirty="0">
                <a:solidFill>
                  <a:srgbClr val="0C7B93"/>
                </a:solidFill>
                <a:latin typeface="Calibri" pitchFamily="34" charset="0"/>
                <a:ea typeface="Calibri" pitchFamily="34" charset="-122"/>
                <a:cs typeface="Calibri" pitchFamily="34" charset="-120"/>
              </a:rPr>
              <a:t>整理</a:t>
            </a:r>
            <a:endParaRPr lang="en-US" sz="1200" dirty="0"/>
          </a:p>
        </p:txBody>
      </p:sp>
      <p:sp>
        <p:nvSpPr>
          <p:cNvPr id="3" name="Text 1"/>
          <p:cNvSpPr/>
          <p:nvPr/>
        </p:nvSpPr>
        <p:spPr>
          <a:xfrm>
            <a:off x="548640" y="566928"/>
            <a:ext cx="8046720" cy="64008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学習と推論の違い</a:t>
            </a:r>
            <a:endParaRPr lang="en-US" sz="3000" dirty="0"/>
          </a:p>
        </p:txBody>
      </p:sp>
      <p:sp>
        <p:nvSpPr>
          <p:cNvPr id="4" name="Shape 2"/>
          <p:cNvSpPr/>
          <p:nvPr/>
        </p:nvSpPr>
        <p:spPr>
          <a:xfrm>
            <a:off x="548640" y="1737360"/>
            <a:ext cx="3749040" cy="2651760"/>
          </a:xfrm>
          <a:prstGeom prst="roundRect">
            <a:avLst>
              <a:gd name="adj" fmla="val 2759"/>
            </a:avLst>
          </a:prstGeom>
          <a:solidFill>
            <a:srgbClr val="EEF3FB"/>
          </a:solidFill>
          <a:ln/>
        </p:spPr>
      </p:sp>
      <p:sp>
        <p:nvSpPr>
          <p:cNvPr id="5" name="Shape 3"/>
          <p:cNvSpPr/>
          <p:nvPr/>
        </p:nvSpPr>
        <p:spPr>
          <a:xfrm>
            <a:off x="822960" y="2011680"/>
            <a:ext cx="548640" cy="548640"/>
          </a:xfrm>
          <a:prstGeom prst="ellipse">
            <a:avLst/>
          </a:prstGeom>
          <a:solidFill>
            <a:srgbClr val="1E2761"/>
          </a:solidFill>
          <a:ln/>
        </p:spPr>
      </p:sp>
      <p:pic>
        <p:nvPicPr>
          <p:cNvPr id="6" name="Image 0" descr="preencoded.png">    </p:cNvPr>
          <p:cNvPicPr>
            <a:picLocks noChangeAspect="1"/>
          </p:cNvPicPr>
          <p:nvPr/>
        </p:nvPicPr>
        <p:blipFill>
          <a:blip r:embed="rId1"/>
          <a:stretch>
            <a:fillRect/>
          </a:stretch>
        </p:blipFill>
        <p:spPr>
          <a:xfrm>
            <a:off x="894283" y="2083003"/>
            <a:ext cx="405994" cy="405994"/>
          </a:xfrm>
          <a:prstGeom prst="rect">
            <a:avLst/>
          </a:prstGeom>
        </p:spPr>
      </p:pic>
      <p:sp>
        <p:nvSpPr>
          <p:cNvPr id="7" name="Text 4"/>
          <p:cNvSpPr/>
          <p:nvPr/>
        </p:nvSpPr>
        <p:spPr>
          <a:xfrm>
            <a:off x="548640" y="2697480"/>
            <a:ext cx="3749040" cy="365760"/>
          </a:xfrm>
          <a:prstGeom prst="rect">
            <a:avLst/>
          </a:prstGeom>
          <a:noFill/>
          <a:ln/>
        </p:spPr>
        <p:txBody>
          <a:bodyPr wrap="square" rtlCol="0" anchor="ctr"/>
          <a:lstStyle/>
          <a:p>
            <a:pPr algn="ctr" indent="0" marL="0">
              <a:buNone/>
            </a:pPr>
            <a:r>
              <a:rPr lang="en-US" sz="1500" b="1" dirty="0">
                <a:solidFill>
                  <a:srgbClr val="1E2761"/>
                </a:solidFill>
                <a:latin typeface="Calibri" pitchFamily="34" charset="0"/>
                <a:ea typeface="Calibri" pitchFamily="34" charset="-122"/>
                <a:cs typeface="Calibri" pitchFamily="34" charset="-120"/>
              </a:rPr>
              <a:t>学習（Training）</a:t>
            </a:r>
            <a:endParaRPr lang="en-US" sz="1500" dirty="0"/>
          </a:p>
        </p:txBody>
      </p:sp>
      <p:sp>
        <p:nvSpPr>
          <p:cNvPr id="8" name="Text 5"/>
          <p:cNvSpPr/>
          <p:nvPr/>
        </p:nvSpPr>
        <p:spPr>
          <a:xfrm>
            <a:off x="777240" y="3154680"/>
            <a:ext cx="3291840" cy="1097280"/>
          </a:xfrm>
          <a:prstGeom prst="rect">
            <a:avLst/>
          </a:prstGeom>
          <a:noFill/>
          <a:ln/>
        </p:spPr>
        <p:txBody>
          <a:bodyPr wrap="square" rtlCol="0" anchor="ctr"/>
          <a:lstStyle/>
          <a:p>
            <a:pPr algn="ctr" indent="0" marL="0">
              <a:buNone/>
            </a:pPr>
            <a:r>
              <a:rPr lang="en-US" sz="1250" b="1" dirty="0">
                <a:solidFill>
                  <a:srgbClr val="26324A"/>
                </a:solidFill>
                <a:latin typeface="Calibri" pitchFamily="34" charset="0"/>
                <a:ea typeface="Calibri" pitchFamily="34" charset="-122"/>
                <a:cs typeface="Calibri" pitchFamily="34" charset="-120"/>
              </a:rPr>
              <a:t>パラメータを作る作業</a:t>
            </a:r>
            <a:endParaRPr lang="en-US" sz="1250" dirty="0"/>
          </a:p>
          <a:p>
            <a:pPr algn="ctr" indent="0" marL="0">
              <a:buNone/>
            </a:pPr>
            <a:r>
              <a:rPr lang="en-US" sz="1250" dirty="0">
                <a:solidFill>
                  <a:srgbClr val="26324A"/>
                </a:solidFill>
                <a:latin typeface="Calibri" pitchFamily="34" charset="0"/>
                <a:ea typeface="Calibri" pitchFamily="34" charset="-122"/>
                <a:cs typeface="Calibri" pitchFamily="34" charset="-120"/>
              </a:rPr>
              <a:t>一度きり（学習フェーズ）</a:t>
            </a:r>
            <a:endParaRPr lang="en-US" sz="1250" dirty="0"/>
          </a:p>
          <a:p>
            <a:pPr algn="ctr" indent="0" marL="0">
              <a:buNone/>
            </a:pPr>
            <a:r>
              <a:rPr lang="en-US" sz="1250" dirty="0">
                <a:solidFill>
                  <a:srgbClr val="26324A"/>
                </a:solidFill>
                <a:latin typeface="Calibri" pitchFamily="34" charset="0"/>
                <a:ea typeface="Calibri" pitchFamily="34" charset="-122"/>
                <a:cs typeface="Calibri" pitchFamily="34" charset="-120"/>
              </a:rPr>
              <a:t>予測とズレを繰り返し比較し、</a:t>
            </a:r>
            <a:endParaRPr lang="en-US" sz="1250" dirty="0"/>
          </a:p>
          <a:p>
            <a:pPr algn="ctr" indent="0" marL="0">
              <a:buNone/>
            </a:pPr>
            <a:r>
              <a:rPr lang="en-US" sz="1250" dirty="0">
                <a:solidFill>
                  <a:srgbClr val="26324A"/>
                </a:solidFill>
                <a:latin typeface="Calibri" pitchFamily="34" charset="0"/>
                <a:ea typeface="Calibri" pitchFamily="34" charset="-122"/>
                <a:cs typeface="Calibri" pitchFamily="34" charset="-120"/>
              </a:rPr>
              <a:t>内部の数値を調整</a:t>
            </a:r>
            <a:endParaRPr lang="en-US" sz="1250" dirty="0"/>
          </a:p>
        </p:txBody>
      </p:sp>
      <p:sp>
        <p:nvSpPr>
          <p:cNvPr id="9" name="Shape 6"/>
          <p:cNvSpPr/>
          <p:nvPr/>
        </p:nvSpPr>
        <p:spPr>
          <a:xfrm>
            <a:off x="4663440" y="1737360"/>
            <a:ext cx="3749040" cy="2651760"/>
          </a:xfrm>
          <a:prstGeom prst="roundRect">
            <a:avLst>
              <a:gd name="adj" fmla="val 2759"/>
            </a:avLst>
          </a:prstGeom>
          <a:solidFill>
            <a:srgbClr val="0C7B93"/>
          </a:solidFill>
          <a:ln/>
        </p:spPr>
      </p:sp>
      <p:sp>
        <p:nvSpPr>
          <p:cNvPr id="10" name="Shape 7"/>
          <p:cNvSpPr/>
          <p:nvPr/>
        </p:nvSpPr>
        <p:spPr>
          <a:xfrm>
            <a:off x="4937760" y="2011680"/>
            <a:ext cx="548640" cy="548640"/>
          </a:xfrm>
          <a:prstGeom prst="ellipse">
            <a:avLst/>
          </a:prstGeom>
          <a:solidFill>
            <a:srgbClr val="FFFFFF"/>
          </a:solidFill>
          <a:ln/>
        </p:spPr>
      </p:sp>
      <p:pic>
        <p:nvPicPr>
          <p:cNvPr id="11" name="Image 1" descr="preencoded.png">    </p:cNvPr>
          <p:cNvPicPr>
            <a:picLocks noChangeAspect="1"/>
          </p:cNvPicPr>
          <p:nvPr/>
        </p:nvPicPr>
        <p:blipFill>
          <a:blip r:embed="rId2"/>
          <a:stretch>
            <a:fillRect/>
          </a:stretch>
        </p:blipFill>
        <p:spPr>
          <a:xfrm>
            <a:off x="5009083" y="2083003"/>
            <a:ext cx="405994" cy="405994"/>
          </a:xfrm>
          <a:prstGeom prst="rect">
            <a:avLst/>
          </a:prstGeom>
        </p:spPr>
      </p:pic>
      <p:sp>
        <p:nvSpPr>
          <p:cNvPr id="12" name="Text 8"/>
          <p:cNvSpPr/>
          <p:nvPr/>
        </p:nvSpPr>
        <p:spPr>
          <a:xfrm>
            <a:off x="4663440" y="2697480"/>
            <a:ext cx="3749040" cy="365760"/>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推論（Inference）</a:t>
            </a:r>
            <a:endParaRPr lang="en-US" sz="1500" dirty="0"/>
          </a:p>
        </p:txBody>
      </p:sp>
      <p:sp>
        <p:nvSpPr>
          <p:cNvPr id="13" name="Text 9"/>
          <p:cNvSpPr/>
          <p:nvPr/>
        </p:nvSpPr>
        <p:spPr>
          <a:xfrm>
            <a:off x="4892040" y="3154680"/>
            <a:ext cx="3291840" cy="1097280"/>
          </a:xfrm>
          <a:prstGeom prst="rect">
            <a:avLst/>
          </a:prstGeom>
          <a:noFill/>
          <a:ln/>
        </p:spPr>
        <p:txBody>
          <a:bodyPr wrap="square"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完成したパラメータを使う作業</a:t>
            </a:r>
            <a:endParaRPr lang="en-US" sz="1250" dirty="0"/>
          </a:p>
          <a:p>
            <a:pPr algn="ctr" indent="0" marL="0">
              <a:buNone/>
            </a:pPr>
            <a:r>
              <a:rPr lang="en-US" sz="1250" dirty="0">
                <a:solidFill>
                  <a:srgbClr val="FFFFFF"/>
                </a:solidFill>
                <a:latin typeface="Calibri" pitchFamily="34" charset="0"/>
                <a:ea typeface="Calibri" pitchFamily="34" charset="-122"/>
                <a:cs typeface="Calibri" pitchFamily="34" charset="-120"/>
              </a:rPr>
              <a:t>何度でも繰り返し利用</a:t>
            </a:r>
            <a:endParaRPr lang="en-US" sz="1250" dirty="0"/>
          </a:p>
          <a:p>
            <a:pPr algn="ctr" indent="0" marL="0">
              <a:buNone/>
            </a:pPr>
            <a:r>
              <a:rPr lang="en-US" sz="1250" dirty="0">
                <a:solidFill>
                  <a:srgbClr val="FFFFFF"/>
                </a:solidFill>
                <a:latin typeface="Calibri" pitchFamily="34" charset="0"/>
                <a:ea typeface="Calibri" pitchFamily="34" charset="-122"/>
                <a:cs typeface="Calibri" pitchFamily="34" charset="-120"/>
              </a:rPr>
              <a:t>次単語予測を1つずつ実行し、</a:t>
            </a:r>
            <a:endParaRPr lang="en-US" sz="1250" dirty="0"/>
          </a:p>
          <a:p>
            <a:pPr algn="ctr" indent="0" marL="0">
              <a:buNone/>
            </a:pPr>
            <a:r>
              <a:rPr lang="en-US" sz="1250" dirty="0">
                <a:solidFill>
                  <a:srgbClr val="FFFFFF"/>
                </a:solidFill>
                <a:latin typeface="Calibri" pitchFamily="34" charset="0"/>
                <a:ea typeface="Calibri" pitchFamily="34" charset="-122"/>
                <a:cs typeface="Calibri" pitchFamily="34" charset="-120"/>
              </a:rPr>
              <a:t>応答を生成</a:t>
            </a:r>
            <a:endParaRPr lang="en-US" sz="1250" dirty="0"/>
          </a:p>
        </p:txBody>
      </p:sp>
      <p:sp>
        <p:nvSpPr>
          <p:cNvPr id="14" name="Text 10"/>
          <p:cNvSpPr/>
          <p:nvPr/>
        </p:nvSpPr>
        <p:spPr>
          <a:xfrm>
            <a:off x="8138160" y="4828032"/>
            <a:ext cx="731520" cy="274320"/>
          </a:xfrm>
          <a:prstGeom prst="rect">
            <a:avLst/>
          </a:prstGeom>
          <a:noFill/>
          <a:ln/>
        </p:spPr>
        <p:txBody>
          <a:bodyPr wrap="square" rtlCol="0" anchor="ctr"/>
          <a:lstStyle/>
          <a:p>
            <a:pPr algn="r" indent="0" marL="0">
              <a:buNone/>
            </a:pPr>
            <a:r>
              <a:rPr lang="en-US" sz="1000" dirty="0">
                <a:solidFill>
                  <a:srgbClr val="60728A"/>
                </a:solidFill>
                <a:latin typeface="Calibri" pitchFamily="34" charset="0"/>
                <a:ea typeface="Calibri" pitchFamily="34" charset="-122"/>
                <a:cs typeface="Calibri" pitchFamily="34" charset="-120"/>
              </a:rPr>
              <a:t>16 / 17</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548640" y="320040"/>
            <a:ext cx="7772400" cy="274320"/>
          </a:xfrm>
          <a:prstGeom prst="rect">
            <a:avLst/>
          </a:prstGeom>
          <a:noFill/>
          <a:ln/>
        </p:spPr>
        <p:txBody>
          <a:bodyPr wrap="square" rtlCol="0" anchor="ctr"/>
          <a:lstStyle/>
          <a:p>
            <a:pPr indent="0" marL="0">
              <a:buNone/>
            </a:pPr>
            <a:r>
              <a:rPr lang="en-US" sz="1200" b="1" spc="200" kern="0" dirty="0">
                <a:solidFill>
                  <a:srgbClr val="CADCFC"/>
                </a:solidFill>
                <a:latin typeface="Calibri" pitchFamily="34" charset="0"/>
                <a:ea typeface="Calibri" pitchFamily="34" charset="-122"/>
                <a:cs typeface="Calibri" pitchFamily="34" charset="-120"/>
              </a:rPr>
              <a:t>CLOSING</a:t>
            </a:r>
            <a:endParaRPr lang="en-US" sz="1200" dirty="0"/>
          </a:p>
        </p:txBody>
      </p:sp>
      <p:sp>
        <p:nvSpPr>
          <p:cNvPr id="3" name="Text 1"/>
          <p:cNvSpPr/>
          <p:nvPr/>
        </p:nvSpPr>
        <p:spPr>
          <a:xfrm>
            <a:off x="548640" y="566928"/>
            <a:ext cx="8046720" cy="64008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まとめ</a:t>
            </a:r>
            <a:endParaRPr lang="en-US" sz="3000" dirty="0"/>
          </a:p>
        </p:txBody>
      </p:sp>
      <p:sp>
        <p:nvSpPr>
          <p:cNvPr id="4" name="Shape 2"/>
          <p:cNvSpPr/>
          <p:nvPr/>
        </p:nvSpPr>
        <p:spPr>
          <a:xfrm>
            <a:off x="626364" y="1371600"/>
            <a:ext cx="1417320" cy="868680"/>
          </a:xfrm>
          <a:prstGeom prst="roundRect">
            <a:avLst>
              <a:gd name="adj" fmla="val 6316"/>
            </a:avLst>
          </a:prstGeom>
          <a:solidFill>
            <a:srgbClr val="273572"/>
          </a:solidFill>
          <a:ln/>
        </p:spPr>
      </p:sp>
      <p:sp>
        <p:nvSpPr>
          <p:cNvPr id="5" name="Text 3"/>
          <p:cNvSpPr/>
          <p:nvPr/>
        </p:nvSpPr>
        <p:spPr>
          <a:xfrm>
            <a:off x="672084" y="1371600"/>
            <a:ext cx="1325880" cy="868680"/>
          </a:xfrm>
          <a:prstGeom prst="rect">
            <a:avLst/>
          </a:prstGeom>
          <a:noFill/>
          <a:ln/>
        </p:spPr>
        <p:txBody>
          <a:bodyPr wrap="square"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Tokenize</a:t>
            </a:r>
            <a:endParaRPr lang="en-US" sz="1100" dirty="0"/>
          </a:p>
        </p:txBody>
      </p:sp>
      <p:sp>
        <p:nvSpPr>
          <p:cNvPr id="6" name="Shape 4"/>
          <p:cNvSpPr/>
          <p:nvPr/>
        </p:nvSpPr>
        <p:spPr>
          <a:xfrm>
            <a:off x="2061972" y="1691640"/>
            <a:ext cx="164592" cy="228600"/>
          </a:xfrm>
          <a:prstGeom prst="rightArrow">
            <a:avLst/>
          </a:prstGeom>
          <a:solidFill>
            <a:srgbClr val="CADCFC"/>
          </a:solidFill>
          <a:ln/>
        </p:spPr>
      </p:sp>
      <p:sp>
        <p:nvSpPr>
          <p:cNvPr id="7" name="Shape 5"/>
          <p:cNvSpPr/>
          <p:nvPr/>
        </p:nvSpPr>
        <p:spPr>
          <a:xfrm>
            <a:off x="2244852" y="1371600"/>
            <a:ext cx="1417320" cy="868680"/>
          </a:xfrm>
          <a:prstGeom prst="roundRect">
            <a:avLst>
              <a:gd name="adj" fmla="val 6316"/>
            </a:avLst>
          </a:prstGeom>
          <a:solidFill>
            <a:srgbClr val="273572"/>
          </a:solidFill>
          <a:ln/>
        </p:spPr>
      </p:sp>
      <p:sp>
        <p:nvSpPr>
          <p:cNvPr id="8" name="Text 6"/>
          <p:cNvSpPr/>
          <p:nvPr/>
        </p:nvSpPr>
        <p:spPr>
          <a:xfrm>
            <a:off x="2290572" y="1371600"/>
            <a:ext cx="1325880" cy="868680"/>
          </a:xfrm>
          <a:prstGeom prst="rect">
            <a:avLst/>
          </a:prstGeom>
          <a:noFill/>
          <a:ln/>
        </p:spPr>
        <p:txBody>
          <a:bodyPr wrap="square"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Embedding</a:t>
            </a:r>
            <a:endParaRPr lang="en-US" sz="1100" dirty="0"/>
          </a:p>
        </p:txBody>
      </p:sp>
      <p:sp>
        <p:nvSpPr>
          <p:cNvPr id="9" name="Shape 7"/>
          <p:cNvSpPr/>
          <p:nvPr/>
        </p:nvSpPr>
        <p:spPr>
          <a:xfrm>
            <a:off x="3680460" y="1691640"/>
            <a:ext cx="164592" cy="228600"/>
          </a:xfrm>
          <a:prstGeom prst="rightArrow">
            <a:avLst/>
          </a:prstGeom>
          <a:solidFill>
            <a:srgbClr val="CADCFC"/>
          </a:solidFill>
          <a:ln/>
        </p:spPr>
      </p:sp>
      <p:sp>
        <p:nvSpPr>
          <p:cNvPr id="10" name="Shape 8"/>
          <p:cNvSpPr/>
          <p:nvPr/>
        </p:nvSpPr>
        <p:spPr>
          <a:xfrm>
            <a:off x="3863340" y="1371600"/>
            <a:ext cx="1417320" cy="868680"/>
          </a:xfrm>
          <a:prstGeom prst="roundRect">
            <a:avLst>
              <a:gd name="adj" fmla="val 6316"/>
            </a:avLst>
          </a:prstGeom>
          <a:solidFill>
            <a:srgbClr val="273572"/>
          </a:solidFill>
          <a:ln/>
        </p:spPr>
      </p:sp>
      <p:sp>
        <p:nvSpPr>
          <p:cNvPr id="11" name="Text 9"/>
          <p:cNvSpPr/>
          <p:nvPr/>
        </p:nvSpPr>
        <p:spPr>
          <a:xfrm>
            <a:off x="3909060" y="1371600"/>
            <a:ext cx="1325880" cy="868680"/>
          </a:xfrm>
          <a:prstGeom prst="rect">
            <a:avLst/>
          </a:prstGeom>
          <a:noFill/>
          <a:ln/>
        </p:spPr>
        <p:txBody>
          <a:bodyPr wrap="square"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Attention</a:t>
            </a:r>
            <a:endParaRPr lang="en-US" sz="1100" dirty="0"/>
          </a:p>
          <a:p>
            <a:pPr algn="ctr" indent="0" marL="0">
              <a:buNone/>
            </a:pPr>
            <a:r>
              <a:rPr lang="en-US" sz="1100" dirty="0">
                <a:solidFill>
                  <a:srgbClr val="FFFFFF"/>
                </a:solidFill>
                <a:latin typeface="Calibri" pitchFamily="34" charset="0"/>
                <a:ea typeface="Calibri" pitchFamily="34" charset="-122"/>
                <a:cs typeface="Calibri" pitchFamily="34" charset="-120"/>
              </a:rPr>
              <a:t>（文脈収集）</a:t>
            </a:r>
            <a:endParaRPr lang="en-US" sz="1100" dirty="0"/>
          </a:p>
        </p:txBody>
      </p:sp>
      <p:sp>
        <p:nvSpPr>
          <p:cNvPr id="12" name="Shape 10"/>
          <p:cNvSpPr/>
          <p:nvPr/>
        </p:nvSpPr>
        <p:spPr>
          <a:xfrm>
            <a:off x="5298948" y="1691640"/>
            <a:ext cx="164592" cy="228600"/>
          </a:xfrm>
          <a:prstGeom prst="rightArrow">
            <a:avLst/>
          </a:prstGeom>
          <a:solidFill>
            <a:srgbClr val="CADCFC"/>
          </a:solidFill>
          <a:ln/>
        </p:spPr>
      </p:sp>
      <p:sp>
        <p:nvSpPr>
          <p:cNvPr id="13" name="Shape 11"/>
          <p:cNvSpPr/>
          <p:nvPr/>
        </p:nvSpPr>
        <p:spPr>
          <a:xfrm>
            <a:off x="5481828" y="1371600"/>
            <a:ext cx="1417320" cy="868680"/>
          </a:xfrm>
          <a:prstGeom prst="roundRect">
            <a:avLst>
              <a:gd name="adj" fmla="val 6316"/>
            </a:avLst>
          </a:prstGeom>
          <a:solidFill>
            <a:srgbClr val="273572"/>
          </a:solidFill>
          <a:ln/>
        </p:spPr>
      </p:sp>
      <p:sp>
        <p:nvSpPr>
          <p:cNvPr id="14" name="Text 12"/>
          <p:cNvSpPr/>
          <p:nvPr/>
        </p:nvSpPr>
        <p:spPr>
          <a:xfrm>
            <a:off x="5527548" y="1371600"/>
            <a:ext cx="1325880" cy="868680"/>
          </a:xfrm>
          <a:prstGeom prst="rect">
            <a:avLst/>
          </a:prstGeom>
          <a:noFill/>
          <a:ln/>
        </p:spPr>
        <p:txBody>
          <a:bodyPr wrap="square"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層を重ね</a:t>
            </a:r>
            <a:endParaRPr lang="en-US" sz="1100" dirty="0"/>
          </a:p>
          <a:p>
            <a:pPr algn="ctr" indent="0" marL="0">
              <a:buNone/>
            </a:pPr>
            <a:r>
              <a:rPr lang="en-US" sz="1100" dirty="0">
                <a:solidFill>
                  <a:srgbClr val="FFFFFF"/>
                </a:solidFill>
                <a:latin typeface="Calibri" pitchFamily="34" charset="0"/>
                <a:ea typeface="Calibri" pitchFamily="34" charset="-122"/>
                <a:cs typeface="Calibri" pitchFamily="34" charset="-120"/>
              </a:rPr>
              <a:t>抽象化</a:t>
            </a:r>
            <a:endParaRPr lang="en-US" sz="1100" dirty="0"/>
          </a:p>
        </p:txBody>
      </p:sp>
      <p:sp>
        <p:nvSpPr>
          <p:cNvPr id="15" name="Shape 13"/>
          <p:cNvSpPr/>
          <p:nvPr/>
        </p:nvSpPr>
        <p:spPr>
          <a:xfrm>
            <a:off x="6917436" y="1691640"/>
            <a:ext cx="164592" cy="228600"/>
          </a:xfrm>
          <a:prstGeom prst="rightArrow">
            <a:avLst/>
          </a:prstGeom>
          <a:solidFill>
            <a:srgbClr val="CADCFC"/>
          </a:solidFill>
          <a:ln/>
        </p:spPr>
      </p:sp>
      <p:sp>
        <p:nvSpPr>
          <p:cNvPr id="16" name="Shape 14"/>
          <p:cNvSpPr/>
          <p:nvPr/>
        </p:nvSpPr>
        <p:spPr>
          <a:xfrm>
            <a:off x="7100316" y="1371600"/>
            <a:ext cx="1417320" cy="868680"/>
          </a:xfrm>
          <a:prstGeom prst="roundRect">
            <a:avLst>
              <a:gd name="adj" fmla="val 6316"/>
            </a:avLst>
          </a:prstGeom>
          <a:solidFill>
            <a:srgbClr val="273572"/>
          </a:solidFill>
          <a:ln/>
        </p:spPr>
      </p:sp>
      <p:sp>
        <p:nvSpPr>
          <p:cNvPr id="17" name="Text 15"/>
          <p:cNvSpPr/>
          <p:nvPr/>
        </p:nvSpPr>
        <p:spPr>
          <a:xfrm>
            <a:off x="7146036" y="1371600"/>
            <a:ext cx="1325880" cy="868680"/>
          </a:xfrm>
          <a:prstGeom prst="rect">
            <a:avLst/>
          </a:prstGeom>
          <a:noFill/>
          <a:ln/>
        </p:spPr>
        <p:txBody>
          <a:bodyPr wrap="square"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次単語</a:t>
            </a:r>
            <a:endParaRPr lang="en-US" sz="1100" dirty="0"/>
          </a:p>
          <a:p>
            <a:pPr algn="ctr" indent="0" marL="0">
              <a:buNone/>
            </a:pPr>
            <a:r>
              <a:rPr lang="en-US" sz="1100" dirty="0">
                <a:solidFill>
                  <a:srgbClr val="FFFFFF"/>
                </a:solidFill>
                <a:latin typeface="Calibri" pitchFamily="34" charset="0"/>
                <a:ea typeface="Calibri" pitchFamily="34" charset="-122"/>
                <a:cs typeface="Calibri" pitchFamily="34" charset="-120"/>
              </a:rPr>
              <a:t>予測</a:t>
            </a:r>
            <a:endParaRPr lang="en-US" sz="1100" dirty="0"/>
          </a:p>
        </p:txBody>
      </p:sp>
      <p:sp>
        <p:nvSpPr>
          <p:cNvPr id="18" name="Shape 16"/>
          <p:cNvSpPr/>
          <p:nvPr/>
        </p:nvSpPr>
        <p:spPr>
          <a:xfrm>
            <a:off x="548640" y="2606040"/>
            <a:ext cx="8046720" cy="1828800"/>
          </a:xfrm>
          <a:prstGeom prst="roundRect">
            <a:avLst>
              <a:gd name="adj" fmla="val 4000"/>
            </a:avLst>
          </a:prstGeom>
          <a:solidFill>
            <a:srgbClr val="273572"/>
          </a:solidFill>
          <a:ln/>
        </p:spPr>
      </p:sp>
      <p:sp>
        <p:nvSpPr>
          <p:cNvPr id="19" name="Shape 17"/>
          <p:cNvSpPr/>
          <p:nvPr/>
        </p:nvSpPr>
        <p:spPr>
          <a:xfrm>
            <a:off x="868680" y="2880360"/>
            <a:ext cx="685800" cy="685800"/>
          </a:xfrm>
          <a:prstGeom prst="ellipse">
            <a:avLst/>
          </a:prstGeom>
          <a:solidFill>
            <a:srgbClr val="E8A33D"/>
          </a:solidFill>
          <a:ln/>
        </p:spPr>
      </p:sp>
      <p:pic>
        <p:nvPicPr>
          <p:cNvPr id="20" name="Image 0" descr="preencoded.png">    </p:cNvPr>
          <p:cNvPicPr>
            <a:picLocks noChangeAspect="1"/>
          </p:cNvPicPr>
          <p:nvPr/>
        </p:nvPicPr>
        <p:blipFill>
          <a:blip r:embed="rId1"/>
          <a:stretch>
            <a:fillRect/>
          </a:stretch>
        </p:blipFill>
        <p:spPr>
          <a:xfrm>
            <a:off x="957834" y="2969514"/>
            <a:ext cx="507492" cy="507492"/>
          </a:xfrm>
          <a:prstGeom prst="rect">
            <a:avLst/>
          </a:prstGeom>
        </p:spPr>
      </p:pic>
      <p:sp>
        <p:nvSpPr>
          <p:cNvPr id="21" name="Text 18"/>
          <p:cNvSpPr/>
          <p:nvPr/>
        </p:nvSpPr>
        <p:spPr>
          <a:xfrm>
            <a:off x="1828800" y="2834640"/>
            <a:ext cx="6583680" cy="1371600"/>
          </a:xfrm>
          <a:prstGeom prst="rect">
            <a:avLst/>
          </a:prstGeom>
          <a:noFill/>
          <a:ln/>
        </p:spPr>
        <p:txBody>
          <a:bodyPr wrap="square" rtlCol="0" anchor="ctr"/>
          <a:lstStyle/>
          <a:p>
            <a:pPr indent="0" marL="0">
              <a:buNone/>
            </a:pPr>
            <a:r>
              <a:rPr lang="en-US" sz="1400" dirty="0">
                <a:solidFill>
                  <a:srgbClr val="FFFFFF"/>
                </a:solidFill>
                <a:latin typeface="Calibri" pitchFamily="34" charset="0"/>
                <a:ea typeface="Calibri" pitchFamily="34" charset="-122"/>
                <a:cs typeface="Calibri" pitchFamily="34" charset="-120"/>
              </a:rPr>
              <a:t>正確な予測のために言語や常識の構造を内部に取り込んだ結果、</a:t>
            </a:r>
            <a:endParaRPr lang="en-US" sz="1400" dirty="0"/>
          </a:p>
          <a:p>
            <a:pPr indent="0" marL="0">
              <a:buNone/>
            </a:pPr>
            <a:r>
              <a:rPr lang="en-US" sz="1600" b="1" dirty="0">
                <a:solidFill>
                  <a:srgbClr val="E8A33D"/>
                </a:solidFill>
                <a:latin typeface="Calibri" pitchFamily="34" charset="0"/>
                <a:ea typeface="Calibri" pitchFamily="34" charset="-122"/>
                <a:cs typeface="Calibri" pitchFamily="34" charset="-120"/>
              </a:rPr>
              <a:t>推論のような振る舞いが生まれる。</a:t>
            </a:r>
            <a:endParaRPr lang="en-US" sz="1400" dirty="0"/>
          </a:p>
        </p:txBody>
      </p:sp>
      <p:sp>
        <p:nvSpPr>
          <p:cNvPr id="22" name="Text 19"/>
          <p:cNvSpPr/>
          <p:nvPr/>
        </p:nvSpPr>
        <p:spPr>
          <a:xfrm>
            <a:off x="8138160" y="4828032"/>
            <a:ext cx="731520" cy="274320"/>
          </a:xfrm>
          <a:prstGeom prst="rect">
            <a:avLst/>
          </a:prstGeom>
          <a:noFill/>
          <a:ln/>
        </p:spPr>
        <p:txBody>
          <a:bodyPr wrap="square" rtlCol="0" anchor="ctr"/>
          <a:lstStyle/>
          <a:p>
            <a:pPr algn="r" indent="0" marL="0">
              <a:buNone/>
            </a:pPr>
            <a:r>
              <a:rPr lang="en-US" sz="1000" dirty="0">
                <a:solidFill>
                  <a:srgbClr val="8B9BC7"/>
                </a:solidFill>
                <a:latin typeface="Calibri" pitchFamily="34" charset="0"/>
                <a:ea typeface="Calibri" pitchFamily="34" charset="-122"/>
                <a:cs typeface="Calibri" pitchFamily="34" charset="-120"/>
              </a:rPr>
              <a:t>17 / 17</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Transformerはなぜ推論できるのか</dc:title>
  <dc:subject>PptxGenJS Presentation</dc:subject>
  <dc:creator>Naoki</dc:creator>
  <cp:lastModifiedBy>Naoki</cp:lastModifiedBy>
  <cp:revision>1</cp:revision>
  <dcterms:created xsi:type="dcterms:W3CDTF">2026-07-09T00:49:57Z</dcterms:created>
  <dcterms:modified xsi:type="dcterms:W3CDTF">2026-07-09T00:49:57Z</dcterms:modified>
</cp:coreProperties>
</file>