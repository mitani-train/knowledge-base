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プロンプト集の話ではありません。ChatGPTやClaudeを賢く使うテクニック集でもありません。AIとの対話そのものを、自分の考えを鍛える手段として使う方法をお話しします。単なる活用術ではなく、思考の技術として持ち帰ってもらうことがゴール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多くの人が使っているのは左側の使い方で、それ自体は間違いではありません。しかし、それだけでは思考は鍛えられません。右側は同じAIを使っていても、目的も使い方もまったく別物であることを強調してください。今日から扱うのは右側の使い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『精密化』という言葉が本資料のキーワードです。ここで軽く触れて、以降のスライドで繰り返し使います。正解を教えてもらうのではなく、自分の考えの解像度を上げることがゴールだと伝えてください。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①〜③は『やること』、④は『やらないこと（心構え）』です。この非対称性を口頭で補足してください。AIに賢くなってもらうのではなく、自分が賢くなるための原則だと伝えます。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図はスライド2の右側図の詳細版です。何周するかは問題の難しさ次第で、1周で終わることもあれば5周することもあります。オレンジ色の『仮説の修正・精密化』が実質的な成果物であることを説明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反論には質の差があります。粗探しのような反論は簡単に論破できてしまい、思考が鍛えられません。好意的な解釈の上で成立する反論（スチールマン）こそが価値を持つ、という点を強調してください。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結論だけを見ていると、前提の弱さに気づけません。『結論を疑う』のではなく『前提を疑う』という視点を持たせてください。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AIの回答は流暢なため、論点がズレていても『反論された』ように錯覚しやすいです。これが壁打ちで最も見落とされやすい失敗であることを強調してください。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だけを見て『正しそう』と判断してしまうのは危険です。途中のどこか一段が崩れていれば、結論全体が崩れる可能性があることを伝えてください。『AからBに至る推論を、一段ずつ説明してください』という指示例を口頭で補足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反例探しの目的は『主張を潰すこと』ではなく『主張が有効な範囲を明確にすること』だと繰り返し強調してください。この誤解が起きやすいポイントです。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人は最初に思いついた説明に固執しやすいものです。特にAIが自分の説を肯定してくれると、それだけで安心してしまいます。他の説明可能性を並べることで、早すぎる結論を防ぐ狙いを説明してください。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『結論はYESかNOか』という二択で考えると学びが少なくなります。『どこまでなら成立するか』を探る方が、主張の理解が深まることを伝えてください。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AIの文章は事実も推測も同じ滑らかな文体で書かれるため、読み手が区別しづらいのです。これはAIの弱点というより、文章という形式そのものの弱点であることを補足してください。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このスライドは本資料の中でも特に重要です。AIの回答を最終結論として受け取らず、もう一段検証にかけるという発想が、壁打ちを一問一答から区別する核心であることを強調してください。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壁打ちが『議論に勝つゲーム』になってしまうと機能しなくなります。自分の主張も等しく検証対象であるという姿勢が、壁打ちを他の議論と分ける最大の違いであることを伝えてください。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初心者は『全部やらなければ』と気負いがちですが、簡単な問題には基本セットの一部だけで十分な場合もあります。問題の重要度・複雑さに応じて技法の量を調整する、という実務的なバランス感覚を伝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レベルが上がるとプロンプトが複雑になるように見えますが、本質的な変化は『何を確認しているか』の深さです。単なる高度なプロンプトテクニックの話ではないことを強調してください。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6つはいずれも、本資料で教えてきたことの逆であることに触れてください。特に④は反論を集める技法の悪用形であり、技法自体は正しくても目的を誤ると確証バイアス強化の道具になってしまう、という注意を口頭で補足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は説明を加えず、この2文を読み上げて間を取ってください。締めの言葉として：『今まで皆さんはAIに答えを聞いていたかもしれません。今日からは、自分の考えを持ってAIと議論してみてください』と伝えて終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2103120"/>
            <a:ext cx="5943600" cy="5943600"/>
          </a:xfrm>
          <a:prstGeom prst="ellipse">
            <a:avLst/>
          </a:prstGeom>
          <a:solidFill>
            <a:srgbClr val="141A46"/>
          </a:solidFill>
          <a:ln/>
        </p:spPr>
      </p:sp>
      <p:sp>
        <p:nvSpPr>
          <p:cNvPr id="3" name="Shape 1"/>
          <p:cNvSpPr/>
          <p:nvPr/>
        </p:nvSpPr>
        <p:spPr>
          <a:xfrm>
            <a:off x="-2377440" y="4937760"/>
            <a:ext cx="4206240" cy="4206240"/>
          </a:xfrm>
          <a:prstGeom prst="ellipse">
            <a:avLst/>
          </a:prstGeom>
          <a:solidFill>
            <a:srgbClr val="141A46"/>
          </a:solidFill>
          <a:ln/>
        </p:spPr>
      </p:sp>
      <p:sp>
        <p:nvSpPr>
          <p:cNvPr id="4" name="Text 2"/>
          <p:cNvSpPr txBox="1"/>
          <p:nvPr/>
        </p:nvSpPr>
        <p:spPr>
          <a:xfrm>
            <a:off x="914400" y="1783080"/>
            <a:ext cx="10360152" cy="1737360"/>
          </a:xfrm>
          <a:prstGeom prst="rect">
            <a:avLst/>
          </a:prstGeom>
          <a:noFill/>
          <a:ln/>
        </p:spPr>
        <p:txBody>
          <a:bodyPr wrap="square" lIns="0" tIns="0" rIns="0" bIns="0" rtlCol="0" anchor="ctr"/>
          <a:lstStyle/>
          <a:p>
            <a:pPr algn="ctr" indent="0" marL="0">
              <a:lnSpc>
                <a:spcPct val="115000"/>
              </a:lnSpc>
              <a:buNone/>
            </a:pPr>
            <a:r>
              <a:rPr lang="en-US" sz="4000" b="1" dirty="0">
                <a:solidFill>
                  <a:srgbClr val="FFFFFF"/>
                </a:solidFill>
                <a:latin typeface="Cambria" pitchFamily="34" charset="0"/>
                <a:ea typeface="Cambria" pitchFamily="34" charset="-122"/>
                <a:cs typeface="Cambria" pitchFamily="34" charset="-120"/>
              </a:rPr>
              <a:t>AIとの壁打ちを、</a:t>
            </a:r>
            <a:endParaRPr lang="en-US" sz="4000" dirty="0"/>
          </a:p>
          <a:p>
            <a:pPr algn="ctr" indent="0" marL="0">
              <a:lnSpc>
                <a:spcPct val="115000"/>
              </a:lnSpc>
              <a:buNone/>
            </a:pPr>
            <a:r>
              <a:rPr lang="en-US" sz="4000" b="1" dirty="0">
                <a:solidFill>
                  <a:srgbClr val="FFFFFF"/>
                </a:solidFill>
                <a:latin typeface="Cambria" pitchFamily="34" charset="0"/>
                <a:ea typeface="Cambria" pitchFamily="34" charset="-122"/>
                <a:cs typeface="Cambria" pitchFamily="34" charset="-120"/>
              </a:rPr>
              <a:t>思考技術にする</a:t>
            </a:r>
            <a:endParaRPr lang="en-US" sz="4000" dirty="0"/>
          </a:p>
        </p:txBody>
      </p:sp>
      <p:sp>
        <p:nvSpPr>
          <p:cNvPr id="5" name="Text 3"/>
          <p:cNvSpPr txBox="1"/>
          <p:nvPr/>
        </p:nvSpPr>
        <p:spPr>
          <a:xfrm>
            <a:off x="914400" y="3703320"/>
            <a:ext cx="10360152" cy="548640"/>
          </a:xfrm>
          <a:prstGeom prst="rect">
            <a:avLst/>
          </a:prstGeom>
          <a:noFill/>
          <a:ln/>
        </p:spPr>
        <p:txBody>
          <a:bodyPr wrap="square" lIns="0" tIns="0" rIns="0" bIns="0" rtlCol="0" anchor="ctr"/>
          <a:lstStyle/>
          <a:p>
            <a:pPr algn="ctr" indent="0" marL="0">
              <a:buNone/>
            </a:pPr>
            <a:r>
              <a:rPr lang="en-US" sz="1800" i="1" dirty="0">
                <a:solidFill>
                  <a:srgbClr val="CADCFC"/>
                </a:solidFill>
                <a:latin typeface="Calibri" pitchFamily="34" charset="0"/>
                <a:ea typeface="Calibri" pitchFamily="34" charset="-122"/>
                <a:cs typeface="Calibri" pitchFamily="34" charset="-120"/>
              </a:rPr>
              <a:t>AIに答えを求めるのではなく、AIに思考をぶつける【概念編】</a:t>
            </a:r>
            <a:endParaRPr lang="en-US" sz="1800" dirty="0"/>
          </a:p>
        </p:txBody>
      </p:sp>
      <p:sp>
        <p:nvSpPr>
          <p:cNvPr id="6" name="Text 4"/>
          <p:cNvSpPr txBox="1"/>
          <p:nvPr/>
        </p:nvSpPr>
        <p:spPr>
          <a:xfrm>
            <a:off x="914400" y="4343400"/>
            <a:ext cx="10360152" cy="365760"/>
          </a:xfrm>
          <a:prstGeom prst="rect">
            <a:avLst/>
          </a:prstGeom>
          <a:noFill/>
          <a:ln/>
        </p:spPr>
        <p:txBody>
          <a:bodyPr wrap="square" lIns="0" tIns="0" rIns="0" bIns="0" rtlCol="0" anchor="ctr"/>
          <a:lstStyle/>
          <a:p>
            <a:pPr algn="ctr" indent="0" marL="0">
              <a:buNone/>
            </a:pPr>
            <a:r>
              <a:rPr lang="en-US" sz="1300" dirty="0">
                <a:solidFill>
                  <a:srgbClr val="9FB3E0"/>
                </a:solidFill>
                <a:latin typeface="Calibri" pitchFamily="34" charset="0"/>
                <a:ea typeface="Calibri" pitchFamily="34" charset="-122"/>
                <a:cs typeface="Calibri" pitchFamily="34" charset="-120"/>
              </a:rPr>
              <a:t>思考を検証し、精密化するための方法論</a:t>
            </a:r>
            <a:endParaRPr lang="en-US" sz="1300" dirty="0"/>
          </a:p>
        </p:txBody>
      </p:sp>
      <p:sp>
        <p:nvSpPr>
          <p:cNvPr id="7" name="Shape 5"/>
          <p:cNvSpPr/>
          <p:nvPr/>
        </p:nvSpPr>
        <p:spPr>
          <a:xfrm>
            <a:off x="2286000" y="5029200"/>
            <a:ext cx="7616952" cy="960120"/>
          </a:xfrm>
          <a:prstGeom prst="roundRect">
            <a:avLst>
              <a:gd name="adj" fmla="val 7619"/>
            </a:avLst>
          </a:prstGeom>
          <a:solidFill>
            <a:srgbClr val="141A46"/>
          </a:solidFill>
          <a:ln w="12700">
            <a:solidFill>
              <a:srgbClr val="3A4590"/>
            </a:solidFill>
            <a:prstDash val="solid"/>
          </a:ln>
        </p:spPr>
      </p:sp>
      <p:sp>
        <p:nvSpPr>
          <p:cNvPr id="8" name="Text 6"/>
          <p:cNvSpPr txBox="1"/>
          <p:nvPr/>
        </p:nvSpPr>
        <p:spPr>
          <a:xfrm>
            <a:off x="2514600" y="5029200"/>
            <a:ext cx="7159752" cy="960120"/>
          </a:xfrm>
          <a:prstGeom prst="rect">
            <a:avLst/>
          </a:prstGeom>
          <a:noFill/>
          <a:ln/>
        </p:spPr>
        <p:txBody>
          <a:bodyPr wrap="square" lIns="50800" tIns="50800" rIns="50800" bIns="50800" rtlCol="0" anchor="ctr"/>
          <a:lstStyle/>
          <a:p>
            <a:pPr algn="l" indent="0" marL="0">
              <a:buNone/>
            </a:pPr>
            <a:r>
              <a:rPr lang="en-US" sz="1100" dirty="0">
                <a:solidFill>
                  <a:srgbClr val="CADCFC"/>
                </a:solidFill>
                <a:latin typeface="Calibri" pitchFamily="34" charset="0"/>
                <a:ea typeface="Calibri" pitchFamily="34" charset="-122"/>
                <a:cs typeface="Calibri" pitchFamily="34" charset="-120"/>
              </a:rPr>
              <a:t>この資料はプロンプト集ではなく、考え方の資料です。本編は「壁打ちとは何か・どう考えるか」を扱う概念編です。すぐに使えるプロンプト例が必要な場合は、別冊の「AI壁打ち実践ハンドブック」をご覧ください。</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「AIに質問する」と「AIで壁打ちする」の違い</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同じAIを使っていても、目的も構造もまったく別物になる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2 / 19</a:t>
            </a:r>
            <a:endParaRPr lang="en-US" sz="900" dirty="0"/>
          </a:p>
        </p:txBody>
      </p:sp>
      <p:sp>
        <p:nvSpPr>
          <p:cNvPr id="5" name="Shape 3"/>
          <p:cNvSpPr/>
          <p:nvPr/>
        </p:nvSpPr>
        <p:spPr>
          <a:xfrm>
            <a:off x="5943600" y="1417320"/>
            <a:ext cx="0" cy="4251960"/>
          </a:xfrm>
          <a:prstGeom prst="line">
            <a:avLst/>
          </a:prstGeom>
          <a:noFill/>
          <a:ln w="12700">
            <a:solidFill>
              <a:srgbClr val="D3DAEA"/>
            </a:solidFill>
            <a:prstDash val="solid"/>
          </a:ln>
        </p:spPr>
      </p:sp>
      <p:sp>
        <p:nvSpPr>
          <p:cNvPr id="6" name="Text 4"/>
          <p:cNvSpPr txBox="1"/>
          <p:nvPr/>
        </p:nvSpPr>
        <p:spPr>
          <a:xfrm>
            <a:off x="640080" y="1417320"/>
            <a:ext cx="5029200" cy="320040"/>
          </a:xfrm>
          <a:prstGeom prst="rect">
            <a:avLst/>
          </a:prstGeom>
          <a:noFill/>
          <a:ln/>
        </p:spPr>
        <p:txBody>
          <a:bodyPr wrap="square" lIns="0" tIns="0" rIns="0" bIns="0" rtlCol="0" anchor="t"/>
          <a:lstStyle/>
          <a:p>
            <a:pPr algn="l" indent="0" marL="0">
              <a:buNone/>
            </a:pPr>
            <a:r>
              <a:rPr lang="en-US" sz="1700" b="1" dirty="0">
                <a:solidFill>
                  <a:srgbClr val="5B6B87"/>
                </a:solidFill>
                <a:latin typeface="Calibri" pitchFamily="34" charset="0"/>
                <a:ea typeface="Calibri" pitchFamily="34" charset="-122"/>
                <a:cs typeface="Calibri" pitchFamily="34" charset="-120"/>
              </a:rPr>
              <a:t>回答を得る</a:t>
            </a:r>
            <a:endParaRPr lang="en-US" sz="1700" dirty="0"/>
          </a:p>
        </p:txBody>
      </p:sp>
      <p:sp>
        <p:nvSpPr>
          <p:cNvPr id="7" name="Shape 5"/>
          <p:cNvSpPr/>
          <p:nvPr/>
        </p:nvSpPr>
        <p:spPr>
          <a:xfrm>
            <a:off x="1874520" y="1874520"/>
            <a:ext cx="2560320" cy="502920"/>
          </a:xfrm>
          <a:prstGeom prst="roundRect">
            <a:avLst>
              <a:gd name="adj" fmla="val 12727"/>
            </a:avLst>
          </a:prstGeom>
          <a:solidFill>
            <a:srgbClr val="EEF0F5"/>
          </a:solidFill>
          <a:ln w="15875">
            <a:solidFill>
              <a:srgbClr val="D3DAEA"/>
            </a:solidFill>
            <a:prstDash val="solid"/>
          </a:ln>
        </p:spPr>
      </p:sp>
      <p:sp>
        <p:nvSpPr>
          <p:cNvPr id="8" name="Text 6"/>
          <p:cNvSpPr txBox="1"/>
          <p:nvPr/>
        </p:nvSpPr>
        <p:spPr>
          <a:xfrm>
            <a:off x="1920240" y="1874520"/>
            <a:ext cx="2468880" cy="502920"/>
          </a:xfrm>
          <a:prstGeom prst="rect">
            <a:avLst/>
          </a:prstGeom>
          <a:noFill/>
          <a:ln/>
        </p:spPr>
        <p:txBody>
          <a:bodyPr wrap="square" lIns="12700" tIns="12700" rIns="12700" bIns="127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質問</a:t>
            </a:r>
            <a:endParaRPr lang="en-US" sz="1300" dirty="0"/>
          </a:p>
        </p:txBody>
      </p:sp>
      <p:sp>
        <p:nvSpPr>
          <p:cNvPr id="9" name="Shape 7"/>
          <p:cNvSpPr/>
          <p:nvPr/>
        </p:nvSpPr>
        <p:spPr>
          <a:xfrm>
            <a:off x="3154680" y="2377440"/>
            <a:ext cx="0" cy="292608"/>
          </a:xfrm>
          <a:prstGeom prst="line">
            <a:avLst/>
          </a:prstGeom>
          <a:noFill/>
          <a:ln w="28575">
            <a:solidFill>
              <a:srgbClr val="9AA5B8"/>
            </a:solidFill>
            <a:prstDash val="solid"/>
            <a:tailEnd type="triangle"/>
          </a:ln>
        </p:spPr>
      </p:sp>
      <p:sp>
        <p:nvSpPr>
          <p:cNvPr id="10" name="Shape 8"/>
          <p:cNvSpPr/>
          <p:nvPr/>
        </p:nvSpPr>
        <p:spPr>
          <a:xfrm>
            <a:off x="1874520" y="2670048"/>
            <a:ext cx="2560320" cy="502920"/>
          </a:xfrm>
          <a:prstGeom prst="roundRect">
            <a:avLst>
              <a:gd name="adj" fmla="val 12727"/>
            </a:avLst>
          </a:prstGeom>
          <a:solidFill>
            <a:srgbClr val="EEF0F5"/>
          </a:solidFill>
          <a:ln w="15875">
            <a:solidFill>
              <a:srgbClr val="D3DAEA"/>
            </a:solidFill>
            <a:prstDash val="solid"/>
          </a:ln>
        </p:spPr>
      </p:sp>
      <p:sp>
        <p:nvSpPr>
          <p:cNvPr id="11" name="Text 9"/>
          <p:cNvSpPr txBox="1"/>
          <p:nvPr/>
        </p:nvSpPr>
        <p:spPr>
          <a:xfrm>
            <a:off x="1920240" y="2670048"/>
            <a:ext cx="2468880" cy="502920"/>
          </a:xfrm>
          <a:prstGeom prst="rect">
            <a:avLst/>
          </a:prstGeom>
          <a:noFill/>
          <a:ln/>
        </p:spPr>
        <p:txBody>
          <a:bodyPr wrap="square" lIns="12700" tIns="12700" rIns="12700" bIns="127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AI</a:t>
            </a:r>
            <a:endParaRPr lang="en-US" sz="1300" dirty="0"/>
          </a:p>
        </p:txBody>
      </p:sp>
      <p:sp>
        <p:nvSpPr>
          <p:cNvPr id="12" name="Shape 10"/>
          <p:cNvSpPr/>
          <p:nvPr/>
        </p:nvSpPr>
        <p:spPr>
          <a:xfrm>
            <a:off x="3154680" y="3172968"/>
            <a:ext cx="0" cy="292608"/>
          </a:xfrm>
          <a:prstGeom prst="line">
            <a:avLst/>
          </a:prstGeom>
          <a:noFill/>
          <a:ln w="28575">
            <a:solidFill>
              <a:srgbClr val="9AA5B8"/>
            </a:solidFill>
            <a:prstDash val="solid"/>
            <a:tailEnd type="triangle"/>
          </a:ln>
        </p:spPr>
      </p:sp>
      <p:sp>
        <p:nvSpPr>
          <p:cNvPr id="13" name="Shape 11"/>
          <p:cNvSpPr/>
          <p:nvPr/>
        </p:nvSpPr>
        <p:spPr>
          <a:xfrm>
            <a:off x="1874520" y="3465576"/>
            <a:ext cx="2560320" cy="502920"/>
          </a:xfrm>
          <a:prstGeom prst="roundRect">
            <a:avLst>
              <a:gd name="adj" fmla="val 12727"/>
            </a:avLst>
          </a:prstGeom>
          <a:solidFill>
            <a:srgbClr val="EEF0F5"/>
          </a:solidFill>
          <a:ln w="15875">
            <a:solidFill>
              <a:srgbClr val="D3DAEA"/>
            </a:solidFill>
            <a:prstDash val="solid"/>
          </a:ln>
        </p:spPr>
      </p:sp>
      <p:sp>
        <p:nvSpPr>
          <p:cNvPr id="14" name="Text 12"/>
          <p:cNvSpPr txBox="1"/>
          <p:nvPr/>
        </p:nvSpPr>
        <p:spPr>
          <a:xfrm>
            <a:off x="1920240" y="3465576"/>
            <a:ext cx="2468880" cy="502920"/>
          </a:xfrm>
          <a:prstGeom prst="rect">
            <a:avLst/>
          </a:prstGeom>
          <a:noFill/>
          <a:ln/>
        </p:spPr>
        <p:txBody>
          <a:bodyPr wrap="square" lIns="12700" tIns="12700" rIns="12700" bIns="127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回答</a:t>
            </a:r>
            <a:endParaRPr lang="en-US" sz="1300" dirty="0"/>
          </a:p>
        </p:txBody>
      </p:sp>
      <p:sp>
        <p:nvSpPr>
          <p:cNvPr id="15" name="Shape 13"/>
          <p:cNvSpPr/>
          <p:nvPr/>
        </p:nvSpPr>
        <p:spPr>
          <a:xfrm>
            <a:off x="1874520" y="4261104"/>
            <a:ext cx="2560320" cy="502920"/>
          </a:xfrm>
          <a:prstGeom prst="roundRect">
            <a:avLst>
              <a:gd name="adj" fmla="val 12727"/>
            </a:avLst>
          </a:prstGeom>
          <a:solidFill>
            <a:srgbClr val="DDE1E9"/>
          </a:solidFill>
          <a:ln w="15875">
            <a:solidFill>
              <a:srgbClr val="D3DAEA"/>
            </a:solidFill>
            <a:prstDash val="solid"/>
          </a:ln>
        </p:spPr>
      </p:sp>
      <p:sp>
        <p:nvSpPr>
          <p:cNvPr id="16" name="Text 14"/>
          <p:cNvSpPr txBox="1"/>
          <p:nvPr/>
        </p:nvSpPr>
        <p:spPr>
          <a:xfrm>
            <a:off x="1920240" y="4261104"/>
            <a:ext cx="2468880" cy="502920"/>
          </a:xfrm>
          <a:prstGeom prst="rect">
            <a:avLst/>
          </a:prstGeom>
          <a:noFill/>
          <a:ln/>
        </p:spPr>
        <p:txBody>
          <a:bodyPr wrap="square" lIns="12700" tIns="12700" rIns="12700" bIns="12700" rtlCol="0" anchor="ctr"/>
          <a:lstStyle/>
          <a:p>
            <a:pPr algn="ctr" indent="0" marL="0">
              <a:buNone/>
            </a:pPr>
            <a:r>
              <a:rPr lang="en-US" sz="1300" dirty="0">
                <a:solidFill>
                  <a:srgbClr val="5B6B87"/>
                </a:solidFill>
                <a:latin typeface="Calibri" pitchFamily="34" charset="0"/>
                <a:ea typeface="Calibri" pitchFamily="34" charset="-122"/>
                <a:cs typeface="Calibri" pitchFamily="34" charset="-120"/>
              </a:rPr>
              <a:t>終了</a:t>
            </a:r>
            <a:endParaRPr lang="en-US" sz="1300" dirty="0"/>
          </a:p>
        </p:txBody>
      </p:sp>
      <p:sp>
        <p:nvSpPr>
          <p:cNvPr id="17" name="Text 15"/>
          <p:cNvSpPr txBox="1"/>
          <p:nvPr/>
        </p:nvSpPr>
        <p:spPr>
          <a:xfrm>
            <a:off x="640080" y="5257800"/>
            <a:ext cx="5029200" cy="365760"/>
          </a:xfrm>
          <a:prstGeom prst="rect">
            <a:avLst/>
          </a:prstGeom>
          <a:noFill/>
          <a:ln/>
        </p:spPr>
        <p:txBody>
          <a:bodyPr wrap="square" lIns="0" tIns="0" rIns="0" bIns="0" rtlCol="0" anchor="t"/>
          <a:lstStyle/>
          <a:p>
            <a:pPr algn="l" indent="0" marL="0">
              <a:buNone/>
            </a:pPr>
            <a:r>
              <a:rPr lang="en-US" sz="1150" i="1" dirty="0">
                <a:solidFill>
                  <a:srgbClr val="5B6B87"/>
                </a:solidFill>
                <a:latin typeface="Calibri" pitchFamily="34" charset="0"/>
                <a:ea typeface="Calibri" pitchFamily="34" charset="-122"/>
                <a:cs typeface="Calibri" pitchFamily="34" charset="-120"/>
              </a:rPr>
              <a:t>一問一答（フローはここで途切れる）</a:t>
            </a:r>
            <a:endParaRPr lang="en-US" sz="1150" dirty="0"/>
          </a:p>
        </p:txBody>
      </p:sp>
      <p:sp>
        <p:nvSpPr>
          <p:cNvPr id="18" name="Text 16"/>
          <p:cNvSpPr txBox="1"/>
          <p:nvPr/>
        </p:nvSpPr>
        <p:spPr>
          <a:xfrm>
            <a:off x="6309360" y="1417320"/>
            <a:ext cx="5212080" cy="320040"/>
          </a:xfrm>
          <a:prstGeom prst="rect">
            <a:avLst/>
          </a:prstGeom>
          <a:noFill/>
          <a:ln/>
        </p:spPr>
        <p:txBody>
          <a:bodyPr wrap="square" lIns="0" tIns="0" rIns="0" bIns="0" rtlCol="0" anchor="t"/>
          <a:lstStyle/>
          <a:p>
            <a:pPr algn="l" indent="0" marL="0">
              <a:buNone/>
            </a:pPr>
            <a:r>
              <a:rPr lang="en-US" sz="1700" b="1" dirty="0">
                <a:solidFill>
                  <a:srgbClr val="1E2761"/>
                </a:solidFill>
                <a:latin typeface="Calibri" pitchFamily="34" charset="0"/>
                <a:ea typeface="Calibri" pitchFamily="34" charset="-122"/>
                <a:cs typeface="Calibri" pitchFamily="34" charset="-120"/>
              </a:rPr>
              <a:t>壁打ち</a:t>
            </a:r>
            <a:endParaRPr lang="en-US" sz="1700" dirty="0"/>
          </a:p>
        </p:txBody>
      </p:sp>
      <p:sp>
        <p:nvSpPr>
          <p:cNvPr id="19" name="Shape 17"/>
          <p:cNvSpPr/>
          <p:nvPr/>
        </p:nvSpPr>
        <p:spPr>
          <a:xfrm>
            <a:off x="6400800" y="1874520"/>
            <a:ext cx="1600200" cy="502920"/>
          </a:xfrm>
          <a:prstGeom prst="roundRect">
            <a:avLst>
              <a:gd name="adj" fmla="val 12727"/>
            </a:avLst>
          </a:prstGeom>
          <a:solidFill>
            <a:srgbClr val="F2F4F9"/>
          </a:solidFill>
          <a:ln w="15875">
            <a:solidFill>
              <a:srgbClr val="D3DAEA"/>
            </a:solidFill>
            <a:prstDash val="solid"/>
          </a:ln>
        </p:spPr>
      </p:sp>
      <p:sp>
        <p:nvSpPr>
          <p:cNvPr id="20" name="Text 18"/>
          <p:cNvSpPr txBox="1"/>
          <p:nvPr/>
        </p:nvSpPr>
        <p:spPr>
          <a:xfrm>
            <a:off x="6446520" y="1874520"/>
            <a:ext cx="1508760" cy="502920"/>
          </a:xfrm>
          <a:prstGeom prst="rect">
            <a:avLst/>
          </a:prstGeom>
          <a:noFill/>
          <a:ln/>
        </p:spPr>
        <p:txBody>
          <a:bodyPr wrap="square" lIns="12700" tIns="12700" rIns="12700" bIns="1270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自分の考え</a:t>
            </a:r>
            <a:endParaRPr lang="en-US" sz="1050" dirty="0"/>
          </a:p>
        </p:txBody>
      </p:sp>
      <p:sp>
        <p:nvSpPr>
          <p:cNvPr id="21" name="Shape 19"/>
          <p:cNvSpPr/>
          <p:nvPr/>
        </p:nvSpPr>
        <p:spPr>
          <a:xfrm>
            <a:off x="8238744" y="1874520"/>
            <a:ext cx="1600200" cy="502920"/>
          </a:xfrm>
          <a:prstGeom prst="roundRect">
            <a:avLst>
              <a:gd name="adj" fmla="val 12727"/>
            </a:avLst>
          </a:prstGeom>
          <a:solidFill>
            <a:srgbClr val="F2F4F9"/>
          </a:solidFill>
          <a:ln w="15875">
            <a:solidFill>
              <a:srgbClr val="D3DAEA"/>
            </a:solidFill>
            <a:prstDash val="solid"/>
          </a:ln>
        </p:spPr>
      </p:sp>
      <p:sp>
        <p:nvSpPr>
          <p:cNvPr id="22" name="Text 20"/>
          <p:cNvSpPr txBox="1"/>
          <p:nvPr/>
        </p:nvSpPr>
        <p:spPr>
          <a:xfrm>
            <a:off x="8284464" y="1874520"/>
            <a:ext cx="1508760" cy="502920"/>
          </a:xfrm>
          <a:prstGeom prst="rect">
            <a:avLst/>
          </a:prstGeom>
          <a:noFill/>
          <a:ln/>
        </p:spPr>
        <p:txBody>
          <a:bodyPr wrap="square" lIns="12700" tIns="12700" rIns="12700" bIns="1270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AIにぶつける</a:t>
            </a:r>
            <a:endParaRPr lang="en-US" sz="1050" dirty="0"/>
          </a:p>
        </p:txBody>
      </p:sp>
      <p:sp>
        <p:nvSpPr>
          <p:cNvPr id="23" name="Shape 21"/>
          <p:cNvSpPr/>
          <p:nvPr/>
        </p:nvSpPr>
        <p:spPr>
          <a:xfrm>
            <a:off x="10076688" y="1874520"/>
            <a:ext cx="1600200" cy="502920"/>
          </a:xfrm>
          <a:prstGeom prst="roundRect">
            <a:avLst>
              <a:gd name="adj" fmla="val 12727"/>
            </a:avLst>
          </a:prstGeom>
          <a:solidFill>
            <a:srgbClr val="F2F4F9"/>
          </a:solidFill>
          <a:ln w="15875">
            <a:solidFill>
              <a:srgbClr val="D3DAEA"/>
            </a:solidFill>
            <a:prstDash val="solid"/>
          </a:ln>
        </p:spPr>
      </p:sp>
      <p:sp>
        <p:nvSpPr>
          <p:cNvPr id="24" name="Text 22"/>
          <p:cNvSpPr txBox="1"/>
          <p:nvPr/>
        </p:nvSpPr>
        <p:spPr>
          <a:xfrm>
            <a:off x="10122408" y="1874520"/>
            <a:ext cx="1508760" cy="502920"/>
          </a:xfrm>
          <a:prstGeom prst="rect">
            <a:avLst/>
          </a:prstGeom>
          <a:noFill/>
          <a:ln/>
        </p:spPr>
        <p:txBody>
          <a:bodyPr wrap="square" lIns="12700" tIns="12700" rIns="12700" bIns="1270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反論・疑問・別解</a:t>
            </a:r>
            <a:endParaRPr lang="en-US" sz="1050" dirty="0"/>
          </a:p>
        </p:txBody>
      </p:sp>
      <p:sp>
        <p:nvSpPr>
          <p:cNvPr id="25" name="Shape 23"/>
          <p:cNvSpPr/>
          <p:nvPr/>
        </p:nvSpPr>
        <p:spPr>
          <a:xfrm>
            <a:off x="8001000" y="2125980"/>
            <a:ext cx="237744" cy="0"/>
          </a:xfrm>
          <a:prstGeom prst="line">
            <a:avLst/>
          </a:prstGeom>
          <a:noFill/>
          <a:ln w="28575">
            <a:solidFill>
              <a:srgbClr val="E8623C"/>
            </a:solidFill>
            <a:prstDash val="solid"/>
            <a:tailEnd type="triangle"/>
          </a:ln>
        </p:spPr>
      </p:sp>
      <p:sp>
        <p:nvSpPr>
          <p:cNvPr id="26" name="Shape 24"/>
          <p:cNvSpPr/>
          <p:nvPr/>
        </p:nvSpPr>
        <p:spPr>
          <a:xfrm>
            <a:off x="9838944" y="2125980"/>
            <a:ext cx="237744" cy="0"/>
          </a:xfrm>
          <a:prstGeom prst="line">
            <a:avLst/>
          </a:prstGeom>
          <a:noFill/>
          <a:ln w="28575">
            <a:solidFill>
              <a:srgbClr val="E8623C"/>
            </a:solidFill>
            <a:prstDash val="solid"/>
            <a:tailEnd type="triangle"/>
          </a:ln>
        </p:spPr>
      </p:sp>
      <p:sp>
        <p:nvSpPr>
          <p:cNvPr id="27" name="Shape 25"/>
          <p:cNvSpPr/>
          <p:nvPr/>
        </p:nvSpPr>
        <p:spPr>
          <a:xfrm>
            <a:off x="10876788" y="2377440"/>
            <a:ext cx="0" cy="347472"/>
          </a:xfrm>
          <a:prstGeom prst="line">
            <a:avLst/>
          </a:prstGeom>
          <a:noFill/>
          <a:ln w="28575">
            <a:solidFill>
              <a:srgbClr val="E8623C"/>
            </a:solidFill>
            <a:prstDash val="solid"/>
            <a:tailEnd type="triangle"/>
          </a:ln>
        </p:spPr>
      </p:sp>
      <p:sp>
        <p:nvSpPr>
          <p:cNvPr id="28" name="Shape 26"/>
          <p:cNvSpPr/>
          <p:nvPr/>
        </p:nvSpPr>
        <p:spPr>
          <a:xfrm>
            <a:off x="8238744" y="2724912"/>
            <a:ext cx="1600200" cy="502920"/>
          </a:xfrm>
          <a:prstGeom prst="roundRect">
            <a:avLst>
              <a:gd name="adj" fmla="val 12727"/>
            </a:avLst>
          </a:prstGeom>
          <a:solidFill>
            <a:srgbClr val="FBD9CC"/>
          </a:solidFill>
          <a:ln w="15875">
            <a:solidFill>
              <a:srgbClr val="D3DAEA"/>
            </a:solidFill>
            <a:prstDash val="solid"/>
          </a:ln>
        </p:spPr>
      </p:sp>
      <p:sp>
        <p:nvSpPr>
          <p:cNvPr id="29" name="Text 27"/>
          <p:cNvSpPr txBox="1"/>
          <p:nvPr/>
        </p:nvSpPr>
        <p:spPr>
          <a:xfrm>
            <a:off x="8284464" y="2724912"/>
            <a:ext cx="1508760" cy="502920"/>
          </a:xfrm>
          <a:prstGeom prst="rect">
            <a:avLst/>
          </a:prstGeom>
          <a:noFill/>
          <a:ln/>
        </p:spPr>
        <p:txBody>
          <a:bodyPr wrap="square" lIns="12700" tIns="12700" rIns="12700" bIns="1270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考えを修正</a:t>
            </a:r>
            <a:endParaRPr lang="en-US" sz="1050" dirty="0"/>
          </a:p>
        </p:txBody>
      </p:sp>
      <p:sp>
        <p:nvSpPr>
          <p:cNvPr id="30" name="Shape 28"/>
          <p:cNvSpPr/>
          <p:nvPr/>
        </p:nvSpPr>
        <p:spPr>
          <a:xfrm>
            <a:off x="10076688" y="2724912"/>
            <a:ext cx="1600200" cy="502920"/>
          </a:xfrm>
          <a:prstGeom prst="roundRect">
            <a:avLst>
              <a:gd name="adj" fmla="val 12727"/>
            </a:avLst>
          </a:prstGeom>
          <a:solidFill>
            <a:srgbClr val="F2F4F9"/>
          </a:solidFill>
          <a:ln w="15875">
            <a:solidFill>
              <a:srgbClr val="D3DAEA"/>
            </a:solidFill>
            <a:prstDash val="solid"/>
          </a:ln>
        </p:spPr>
      </p:sp>
      <p:sp>
        <p:nvSpPr>
          <p:cNvPr id="31" name="Text 29"/>
          <p:cNvSpPr txBox="1"/>
          <p:nvPr/>
        </p:nvSpPr>
        <p:spPr>
          <a:xfrm>
            <a:off x="10122408" y="2724912"/>
            <a:ext cx="1508760" cy="502920"/>
          </a:xfrm>
          <a:prstGeom prst="rect">
            <a:avLst/>
          </a:prstGeom>
          <a:noFill/>
          <a:ln/>
        </p:spPr>
        <p:txBody>
          <a:bodyPr wrap="square" lIns="12700" tIns="12700" rIns="12700" bIns="1270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検証</a:t>
            </a:r>
            <a:endParaRPr lang="en-US" sz="1050" dirty="0"/>
          </a:p>
        </p:txBody>
      </p:sp>
      <p:sp>
        <p:nvSpPr>
          <p:cNvPr id="32" name="Shape 30"/>
          <p:cNvSpPr/>
          <p:nvPr/>
        </p:nvSpPr>
        <p:spPr>
          <a:xfrm>
            <a:off x="10076688" y="2976372"/>
            <a:ext cx="-237744" cy="0"/>
          </a:xfrm>
          <a:prstGeom prst="line">
            <a:avLst/>
          </a:prstGeom>
          <a:noFill/>
          <a:ln w="28575">
            <a:solidFill>
              <a:srgbClr val="E8623C"/>
            </a:solidFill>
            <a:prstDash val="solid"/>
            <a:tailEnd type="triangle"/>
          </a:ln>
        </p:spPr>
      </p:sp>
      <p:sp>
        <p:nvSpPr>
          <p:cNvPr id="33" name="Shape 31"/>
          <p:cNvSpPr/>
          <p:nvPr/>
        </p:nvSpPr>
        <p:spPr>
          <a:xfrm>
            <a:off x="7200900" y="2724912"/>
            <a:ext cx="0" cy="-347472"/>
          </a:xfrm>
          <a:prstGeom prst="line">
            <a:avLst/>
          </a:prstGeom>
          <a:noFill/>
          <a:ln w="28575">
            <a:solidFill>
              <a:srgbClr val="1E2761"/>
            </a:solidFill>
            <a:prstDash val="solid"/>
            <a:tailEnd type="triangle"/>
          </a:ln>
        </p:spPr>
      </p:sp>
      <p:sp>
        <p:nvSpPr>
          <p:cNvPr id="34" name="Text 32"/>
          <p:cNvSpPr txBox="1"/>
          <p:nvPr/>
        </p:nvSpPr>
        <p:spPr>
          <a:xfrm>
            <a:off x="4251960" y="2386584"/>
            <a:ext cx="2103120" cy="365760"/>
          </a:xfrm>
          <a:prstGeom prst="rect">
            <a:avLst/>
          </a:prstGeom>
          <a:noFill/>
          <a:ln/>
        </p:spPr>
        <p:txBody>
          <a:bodyPr wrap="square" lIns="0" tIns="0" rIns="0" bIns="0" rtlCol="0" anchor="t"/>
          <a:lstStyle/>
          <a:p>
            <a:pPr algn="r" indent="0" marL="0">
              <a:buNone/>
            </a:pPr>
            <a:r>
              <a:rPr lang="en-US" sz="1050" i="1" dirty="0">
                <a:solidFill>
                  <a:srgbClr val="1E2761"/>
                </a:solidFill>
                <a:latin typeface="Calibri" pitchFamily="34" charset="0"/>
                <a:ea typeface="Calibri" pitchFamily="34" charset="-122"/>
                <a:cs typeface="Calibri" pitchFamily="34" charset="-120"/>
              </a:rPr>
              <a:t>再びぶつける</a:t>
            </a:r>
            <a:endParaRPr lang="en-US" sz="1050" dirty="0"/>
          </a:p>
        </p:txBody>
      </p:sp>
      <p:sp>
        <p:nvSpPr>
          <p:cNvPr id="35" name="Text 33"/>
          <p:cNvSpPr txBox="1"/>
          <p:nvPr/>
        </p:nvSpPr>
        <p:spPr>
          <a:xfrm>
            <a:off x="6309360" y="5257800"/>
            <a:ext cx="5212080" cy="365760"/>
          </a:xfrm>
          <a:prstGeom prst="rect">
            <a:avLst/>
          </a:prstGeom>
          <a:noFill/>
          <a:ln/>
        </p:spPr>
        <p:txBody>
          <a:bodyPr wrap="square" lIns="0" tIns="0" rIns="0" bIns="0" rtlCol="0" anchor="t"/>
          <a:lstStyle/>
          <a:p>
            <a:pPr algn="l" indent="0" marL="0">
              <a:buNone/>
            </a:pPr>
            <a:r>
              <a:rPr lang="en-US" sz="1150" i="1" dirty="0">
                <a:solidFill>
                  <a:srgbClr val="E8623C"/>
                </a:solidFill>
                <a:latin typeface="Calibri" pitchFamily="34" charset="0"/>
                <a:ea typeface="Calibri" pitchFamily="34" charset="-122"/>
                <a:cs typeface="Calibri" pitchFamily="34" charset="-120"/>
              </a:rPr>
              <a:t>思考ループ（終わらない検証）</a:t>
            </a:r>
            <a:endParaRPr lang="en-US" sz="1150" dirty="0"/>
          </a:p>
        </p:txBody>
      </p:sp>
      <p:sp>
        <p:nvSpPr>
          <p:cNvPr id="36" name="Shape 34"/>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37" name="Shape 35"/>
          <p:cNvSpPr/>
          <p:nvPr/>
        </p:nvSpPr>
        <p:spPr>
          <a:xfrm>
            <a:off x="548640" y="5870448"/>
            <a:ext cx="54864" cy="713232"/>
          </a:xfrm>
          <a:prstGeom prst="rect">
            <a:avLst/>
          </a:prstGeom>
          <a:solidFill>
            <a:srgbClr val="E8623C"/>
          </a:solidFill>
          <a:ln/>
        </p:spPr>
      </p:sp>
      <p:sp>
        <p:nvSpPr>
          <p:cNvPr id="38" name="Text 36"/>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多くの人が使っているのは左側の使い方です。それ自体は間違いではありませんが、それだけでは思考は鍛えられません。右側は同じAIを使っていても、目的も使い方もまったく別物です。本資料ではこの右側の使い方を扱いま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壁打ちの目的</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ゴールは「正解を得る」ことではなく「考えを精密化する」こと</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3 / 19</a:t>
            </a:r>
            <a:endParaRPr lang="en-US" sz="900" dirty="0"/>
          </a:p>
        </p:txBody>
      </p:sp>
      <p:sp>
        <p:nvSpPr>
          <p:cNvPr id="5" name="Text 3"/>
          <p:cNvSpPr txBox="1"/>
          <p:nvPr/>
        </p:nvSpPr>
        <p:spPr>
          <a:xfrm>
            <a:off x="8412480" y="1005840"/>
            <a:ext cx="3200400" cy="274320"/>
          </a:xfrm>
          <a:prstGeom prst="rect">
            <a:avLst/>
          </a:prstGeom>
          <a:noFill/>
          <a:ln/>
        </p:spPr>
        <p:txBody>
          <a:bodyPr wrap="square" lIns="0" tIns="0" rIns="0" bIns="0" rtlCol="0" anchor="t"/>
          <a:lstStyle/>
          <a:p>
            <a:pPr algn="r" indent="0" marL="0">
              <a:buNone/>
            </a:pPr>
            <a:r>
              <a:rPr lang="en-US" sz="1200" dirty="0">
                <a:solidFill>
                  <a:srgbClr val="9AA5B8"/>
                </a:solidFill>
                <a:latin typeface="Calibri" pitchFamily="34" charset="0"/>
                <a:ea typeface="Calibri" pitchFamily="34" charset="-122"/>
                <a:cs typeface="Calibri" pitchFamily="34" charset="-120"/>
              </a:rPr>
              <a:t>✕ 正解をもらう</a:t>
            </a:r>
            <a:endParaRPr lang="en-US" sz="1200" dirty="0"/>
          </a:p>
        </p:txBody>
      </p:sp>
      <p:sp>
        <p:nvSpPr>
          <p:cNvPr id="6" name="Shape 4"/>
          <p:cNvSpPr/>
          <p:nvPr/>
        </p:nvSpPr>
        <p:spPr>
          <a:xfrm>
            <a:off x="4983480" y="2990088"/>
            <a:ext cx="2194560" cy="1060704"/>
          </a:xfrm>
          <a:prstGeom prst="ellipse">
            <a:avLst/>
          </a:prstGeom>
          <a:solidFill>
            <a:srgbClr val="1E2761"/>
          </a:solidFill>
          <a:ln/>
        </p:spPr>
      </p:sp>
      <p:sp>
        <p:nvSpPr>
          <p:cNvPr id="7" name="Text 5"/>
          <p:cNvSpPr txBox="1"/>
          <p:nvPr/>
        </p:nvSpPr>
        <p:spPr>
          <a:xfrm>
            <a:off x="4983480" y="2990088"/>
            <a:ext cx="2194560" cy="106070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精密化する</a:t>
            </a:r>
            <a:endParaRPr lang="en-US" sz="1600" dirty="0"/>
          </a:p>
        </p:txBody>
      </p:sp>
      <p:sp>
        <p:nvSpPr>
          <p:cNvPr id="8" name="Shape 6"/>
          <p:cNvSpPr/>
          <p:nvPr/>
        </p:nvSpPr>
        <p:spPr>
          <a:xfrm>
            <a:off x="6080760" y="3520440"/>
            <a:ext cx="0" cy="-1691640"/>
          </a:xfrm>
          <a:prstGeom prst="line">
            <a:avLst/>
          </a:prstGeom>
          <a:noFill/>
          <a:ln w="12700">
            <a:solidFill>
              <a:srgbClr val="C7D0E0"/>
            </a:solidFill>
            <a:prstDash val="solid"/>
          </a:ln>
        </p:spPr>
      </p:sp>
      <p:sp>
        <p:nvSpPr>
          <p:cNvPr id="9" name="Shape 7"/>
          <p:cNvSpPr/>
          <p:nvPr/>
        </p:nvSpPr>
        <p:spPr>
          <a:xfrm>
            <a:off x="5143500" y="1499616"/>
            <a:ext cx="1874520" cy="658368"/>
          </a:xfrm>
          <a:prstGeom prst="roundRect">
            <a:avLst>
              <a:gd name="adj" fmla="val 9722"/>
            </a:avLst>
          </a:prstGeom>
          <a:solidFill>
            <a:srgbClr val="F2F4F9"/>
          </a:solidFill>
          <a:ln w="15875">
            <a:solidFill>
              <a:srgbClr val="D3DAEA"/>
            </a:solidFill>
            <a:prstDash val="solid"/>
          </a:ln>
        </p:spPr>
      </p:sp>
      <p:sp>
        <p:nvSpPr>
          <p:cNvPr id="10" name="Text 8"/>
          <p:cNvSpPr txBox="1"/>
          <p:nvPr/>
        </p:nvSpPr>
        <p:spPr>
          <a:xfrm>
            <a:off x="5189220" y="1499616"/>
            <a:ext cx="1783080" cy="658368"/>
          </a:xfrm>
          <a:prstGeom prst="rect">
            <a:avLst/>
          </a:prstGeom>
          <a:noFill/>
          <a:ln/>
        </p:spPr>
        <p:txBody>
          <a:bodyPr wrap="square" lIns="12700" tIns="12700" rIns="12700" bIns="1270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考えを整理する</a:t>
            </a:r>
            <a:endParaRPr lang="en-US" sz="1050" dirty="0"/>
          </a:p>
        </p:txBody>
      </p:sp>
      <p:sp>
        <p:nvSpPr>
          <p:cNvPr id="11" name="Shape 9"/>
          <p:cNvSpPr/>
          <p:nvPr/>
        </p:nvSpPr>
        <p:spPr>
          <a:xfrm>
            <a:off x="6080760" y="3520440"/>
            <a:ext cx="2263025" cy="-1196170"/>
          </a:xfrm>
          <a:prstGeom prst="line">
            <a:avLst/>
          </a:prstGeom>
          <a:noFill/>
          <a:ln w="12700">
            <a:solidFill>
              <a:srgbClr val="C7D0E0"/>
            </a:solidFill>
            <a:prstDash val="solid"/>
          </a:ln>
        </p:spPr>
      </p:sp>
      <p:sp>
        <p:nvSpPr>
          <p:cNvPr id="12" name="Shape 10"/>
          <p:cNvSpPr/>
          <p:nvPr/>
        </p:nvSpPr>
        <p:spPr>
          <a:xfrm>
            <a:off x="7406525" y="1995086"/>
            <a:ext cx="1874520" cy="658368"/>
          </a:xfrm>
          <a:prstGeom prst="roundRect">
            <a:avLst>
              <a:gd name="adj" fmla="val 9722"/>
            </a:avLst>
          </a:prstGeom>
          <a:solidFill>
            <a:srgbClr val="F2F4F9"/>
          </a:solidFill>
          <a:ln w="15875">
            <a:solidFill>
              <a:srgbClr val="D3DAEA"/>
            </a:solidFill>
            <a:prstDash val="solid"/>
          </a:ln>
        </p:spPr>
      </p:sp>
      <p:sp>
        <p:nvSpPr>
          <p:cNvPr id="13" name="Text 11"/>
          <p:cNvSpPr txBox="1"/>
          <p:nvPr/>
        </p:nvSpPr>
        <p:spPr>
          <a:xfrm>
            <a:off x="7452245" y="1995086"/>
            <a:ext cx="1783080" cy="658368"/>
          </a:xfrm>
          <a:prstGeom prst="rect">
            <a:avLst/>
          </a:prstGeom>
          <a:noFill/>
          <a:ln/>
        </p:spPr>
        <p:txBody>
          <a:bodyPr wrap="square" lIns="12700" tIns="12700" rIns="12700" bIns="1270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前提を明確にする</a:t>
            </a:r>
            <a:endParaRPr lang="en-US" sz="1050" dirty="0"/>
          </a:p>
        </p:txBody>
      </p:sp>
      <p:sp>
        <p:nvSpPr>
          <p:cNvPr id="14" name="Shape 12"/>
          <p:cNvSpPr/>
          <p:nvPr/>
        </p:nvSpPr>
        <p:spPr>
          <a:xfrm>
            <a:off x="6080760" y="3520440"/>
            <a:ext cx="3200400" cy="0"/>
          </a:xfrm>
          <a:prstGeom prst="line">
            <a:avLst/>
          </a:prstGeom>
          <a:noFill/>
          <a:ln w="12700">
            <a:solidFill>
              <a:srgbClr val="C7D0E0"/>
            </a:solidFill>
            <a:prstDash val="solid"/>
          </a:ln>
        </p:spPr>
      </p:sp>
      <p:sp>
        <p:nvSpPr>
          <p:cNvPr id="15" name="Shape 13"/>
          <p:cNvSpPr/>
          <p:nvPr/>
        </p:nvSpPr>
        <p:spPr>
          <a:xfrm>
            <a:off x="8343900" y="3191256"/>
            <a:ext cx="1874520" cy="658368"/>
          </a:xfrm>
          <a:prstGeom prst="roundRect">
            <a:avLst>
              <a:gd name="adj" fmla="val 9722"/>
            </a:avLst>
          </a:prstGeom>
          <a:solidFill>
            <a:srgbClr val="F2F4F9"/>
          </a:solidFill>
          <a:ln w="15875">
            <a:solidFill>
              <a:srgbClr val="D3DAEA"/>
            </a:solidFill>
            <a:prstDash val="solid"/>
          </a:ln>
        </p:spPr>
      </p:sp>
      <p:sp>
        <p:nvSpPr>
          <p:cNvPr id="16" name="Text 14"/>
          <p:cNvSpPr txBox="1"/>
          <p:nvPr/>
        </p:nvSpPr>
        <p:spPr>
          <a:xfrm>
            <a:off x="8389620" y="3191256"/>
            <a:ext cx="1783080" cy="658368"/>
          </a:xfrm>
          <a:prstGeom prst="rect">
            <a:avLst/>
          </a:prstGeom>
          <a:noFill/>
          <a:ln/>
        </p:spPr>
        <p:txBody>
          <a:bodyPr wrap="square" lIns="12700" tIns="12700" rIns="12700" bIns="1270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論理の飛躍を探す</a:t>
            </a:r>
            <a:endParaRPr lang="en-US" sz="1050" dirty="0"/>
          </a:p>
        </p:txBody>
      </p:sp>
      <p:sp>
        <p:nvSpPr>
          <p:cNvPr id="17" name="Shape 15"/>
          <p:cNvSpPr/>
          <p:nvPr/>
        </p:nvSpPr>
        <p:spPr>
          <a:xfrm>
            <a:off x="6080760" y="3520440"/>
            <a:ext cx="2263025" cy="1196170"/>
          </a:xfrm>
          <a:prstGeom prst="line">
            <a:avLst/>
          </a:prstGeom>
          <a:noFill/>
          <a:ln w="12700">
            <a:solidFill>
              <a:srgbClr val="C7D0E0"/>
            </a:solidFill>
            <a:prstDash val="solid"/>
          </a:ln>
        </p:spPr>
      </p:sp>
      <p:sp>
        <p:nvSpPr>
          <p:cNvPr id="18" name="Shape 16"/>
          <p:cNvSpPr/>
          <p:nvPr/>
        </p:nvSpPr>
        <p:spPr>
          <a:xfrm>
            <a:off x="7406525" y="4387426"/>
            <a:ext cx="1874520" cy="658368"/>
          </a:xfrm>
          <a:prstGeom prst="roundRect">
            <a:avLst>
              <a:gd name="adj" fmla="val 9722"/>
            </a:avLst>
          </a:prstGeom>
          <a:solidFill>
            <a:srgbClr val="F2F4F9"/>
          </a:solidFill>
          <a:ln w="15875">
            <a:solidFill>
              <a:srgbClr val="D3DAEA"/>
            </a:solidFill>
            <a:prstDash val="solid"/>
          </a:ln>
        </p:spPr>
      </p:sp>
      <p:sp>
        <p:nvSpPr>
          <p:cNvPr id="19" name="Text 17"/>
          <p:cNvSpPr txBox="1"/>
          <p:nvPr/>
        </p:nvSpPr>
        <p:spPr>
          <a:xfrm>
            <a:off x="7452245" y="4387426"/>
            <a:ext cx="1783080" cy="658368"/>
          </a:xfrm>
          <a:prstGeom prst="rect">
            <a:avLst/>
          </a:prstGeom>
          <a:noFill/>
          <a:ln/>
        </p:spPr>
        <p:txBody>
          <a:bodyPr wrap="square" lIns="12700" tIns="12700" rIns="12700" bIns="1270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反例を探す</a:t>
            </a:r>
            <a:endParaRPr lang="en-US" sz="1050" dirty="0"/>
          </a:p>
        </p:txBody>
      </p:sp>
      <p:sp>
        <p:nvSpPr>
          <p:cNvPr id="20" name="Shape 18"/>
          <p:cNvSpPr/>
          <p:nvPr/>
        </p:nvSpPr>
        <p:spPr>
          <a:xfrm>
            <a:off x="6080760" y="3520440"/>
            <a:ext cx="0" cy="1691640"/>
          </a:xfrm>
          <a:prstGeom prst="line">
            <a:avLst/>
          </a:prstGeom>
          <a:noFill/>
          <a:ln w="12700">
            <a:solidFill>
              <a:srgbClr val="C7D0E0"/>
            </a:solidFill>
            <a:prstDash val="solid"/>
          </a:ln>
        </p:spPr>
      </p:sp>
      <p:sp>
        <p:nvSpPr>
          <p:cNvPr id="21" name="Shape 19"/>
          <p:cNvSpPr/>
          <p:nvPr/>
        </p:nvSpPr>
        <p:spPr>
          <a:xfrm>
            <a:off x="5143500" y="4882896"/>
            <a:ext cx="1874520" cy="658368"/>
          </a:xfrm>
          <a:prstGeom prst="roundRect">
            <a:avLst>
              <a:gd name="adj" fmla="val 9722"/>
            </a:avLst>
          </a:prstGeom>
          <a:solidFill>
            <a:srgbClr val="F2F4F9"/>
          </a:solidFill>
          <a:ln w="15875">
            <a:solidFill>
              <a:srgbClr val="D3DAEA"/>
            </a:solidFill>
            <a:prstDash val="solid"/>
          </a:ln>
        </p:spPr>
      </p:sp>
      <p:sp>
        <p:nvSpPr>
          <p:cNvPr id="22" name="Text 20"/>
          <p:cNvSpPr txBox="1"/>
          <p:nvPr/>
        </p:nvSpPr>
        <p:spPr>
          <a:xfrm>
            <a:off x="5189220" y="4882896"/>
            <a:ext cx="1783080" cy="658368"/>
          </a:xfrm>
          <a:prstGeom prst="rect">
            <a:avLst/>
          </a:prstGeom>
          <a:noFill/>
          <a:ln/>
        </p:spPr>
        <p:txBody>
          <a:bodyPr wrap="square" lIns="12700" tIns="12700" rIns="12700" bIns="1270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別の説明を探す</a:t>
            </a:r>
            <a:endParaRPr lang="en-US" sz="1050" dirty="0"/>
          </a:p>
        </p:txBody>
      </p:sp>
      <p:sp>
        <p:nvSpPr>
          <p:cNvPr id="23" name="Shape 21"/>
          <p:cNvSpPr/>
          <p:nvPr/>
        </p:nvSpPr>
        <p:spPr>
          <a:xfrm>
            <a:off x="6080760" y="3520440"/>
            <a:ext cx="-2263025" cy="1196170"/>
          </a:xfrm>
          <a:prstGeom prst="line">
            <a:avLst/>
          </a:prstGeom>
          <a:noFill/>
          <a:ln w="12700">
            <a:solidFill>
              <a:srgbClr val="C7D0E0"/>
            </a:solidFill>
            <a:prstDash val="solid"/>
          </a:ln>
        </p:spPr>
      </p:sp>
      <p:sp>
        <p:nvSpPr>
          <p:cNvPr id="24" name="Shape 22"/>
          <p:cNvSpPr/>
          <p:nvPr/>
        </p:nvSpPr>
        <p:spPr>
          <a:xfrm>
            <a:off x="2880475" y="4387426"/>
            <a:ext cx="1874520" cy="658368"/>
          </a:xfrm>
          <a:prstGeom prst="roundRect">
            <a:avLst>
              <a:gd name="adj" fmla="val 9722"/>
            </a:avLst>
          </a:prstGeom>
          <a:solidFill>
            <a:srgbClr val="F2F4F9"/>
          </a:solidFill>
          <a:ln w="15875">
            <a:solidFill>
              <a:srgbClr val="D3DAEA"/>
            </a:solidFill>
            <a:prstDash val="solid"/>
          </a:ln>
        </p:spPr>
      </p:sp>
      <p:sp>
        <p:nvSpPr>
          <p:cNvPr id="25" name="Text 23"/>
          <p:cNvSpPr txBox="1"/>
          <p:nvPr/>
        </p:nvSpPr>
        <p:spPr>
          <a:xfrm>
            <a:off x="2926195" y="4387426"/>
            <a:ext cx="1783080" cy="658368"/>
          </a:xfrm>
          <a:prstGeom prst="rect">
            <a:avLst/>
          </a:prstGeom>
          <a:noFill/>
          <a:ln/>
        </p:spPr>
        <p:txBody>
          <a:bodyPr wrap="square" lIns="12700" tIns="12700" rIns="12700" bIns="1270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成立条件を探す</a:t>
            </a:r>
            <a:endParaRPr lang="en-US" sz="1050" dirty="0"/>
          </a:p>
        </p:txBody>
      </p:sp>
      <p:sp>
        <p:nvSpPr>
          <p:cNvPr id="26" name="Shape 24"/>
          <p:cNvSpPr/>
          <p:nvPr/>
        </p:nvSpPr>
        <p:spPr>
          <a:xfrm>
            <a:off x="6080760" y="3520440"/>
            <a:ext cx="-3200400" cy="0"/>
          </a:xfrm>
          <a:prstGeom prst="line">
            <a:avLst/>
          </a:prstGeom>
          <a:noFill/>
          <a:ln w="12700">
            <a:solidFill>
              <a:srgbClr val="C7D0E0"/>
            </a:solidFill>
            <a:prstDash val="solid"/>
          </a:ln>
        </p:spPr>
      </p:sp>
      <p:sp>
        <p:nvSpPr>
          <p:cNvPr id="27" name="Shape 25"/>
          <p:cNvSpPr/>
          <p:nvPr/>
        </p:nvSpPr>
        <p:spPr>
          <a:xfrm>
            <a:off x="1943100" y="3191256"/>
            <a:ext cx="1874520" cy="658368"/>
          </a:xfrm>
          <a:prstGeom prst="roundRect">
            <a:avLst>
              <a:gd name="adj" fmla="val 9722"/>
            </a:avLst>
          </a:prstGeom>
          <a:solidFill>
            <a:srgbClr val="F2F4F9"/>
          </a:solidFill>
          <a:ln w="15875">
            <a:solidFill>
              <a:srgbClr val="D3DAEA"/>
            </a:solidFill>
            <a:prstDash val="solid"/>
          </a:ln>
        </p:spPr>
      </p:sp>
      <p:sp>
        <p:nvSpPr>
          <p:cNvPr id="28" name="Text 26"/>
          <p:cNvSpPr txBox="1"/>
          <p:nvPr/>
        </p:nvSpPr>
        <p:spPr>
          <a:xfrm>
            <a:off x="1988820" y="3191256"/>
            <a:ext cx="1783080" cy="658368"/>
          </a:xfrm>
          <a:prstGeom prst="rect">
            <a:avLst/>
          </a:prstGeom>
          <a:noFill/>
          <a:ln/>
        </p:spPr>
        <p:txBody>
          <a:bodyPr wrap="square" lIns="12700" tIns="12700" rIns="12700" bIns="1270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気づかなかった論点</a:t>
            </a:r>
            <a:endParaRPr lang="en-US" sz="1050" dirty="0"/>
          </a:p>
          <a:p>
            <a:pPr algn="ctr" indent="0" marL="0">
              <a:buNone/>
            </a:pPr>
            <a:r>
              <a:rPr lang="en-US" sz="1050" dirty="0">
                <a:solidFill>
                  <a:srgbClr val="1E2761"/>
                </a:solidFill>
                <a:latin typeface="Calibri" pitchFamily="34" charset="0"/>
                <a:ea typeface="Calibri" pitchFamily="34" charset="-122"/>
                <a:cs typeface="Calibri" pitchFamily="34" charset="-120"/>
              </a:rPr>
              <a:t>を発見する</a:t>
            </a:r>
            <a:endParaRPr lang="en-US" sz="1050" dirty="0"/>
          </a:p>
        </p:txBody>
      </p:sp>
      <p:sp>
        <p:nvSpPr>
          <p:cNvPr id="29" name="Shape 27"/>
          <p:cNvSpPr/>
          <p:nvPr/>
        </p:nvSpPr>
        <p:spPr>
          <a:xfrm>
            <a:off x="6080760" y="3520440"/>
            <a:ext cx="-2263025" cy="-1196170"/>
          </a:xfrm>
          <a:prstGeom prst="line">
            <a:avLst/>
          </a:prstGeom>
          <a:noFill/>
          <a:ln w="12700">
            <a:solidFill>
              <a:srgbClr val="C7D0E0"/>
            </a:solidFill>
            <a:prstDash val="solid"/>
          </a:ln>
        </p:spPr>
      </p:sp>
      <p:sp>
        <p:nvSpPr>
          <p:cNvPr id="30" name="Shape 28"/>
          <p:cNvSpPr/>
          <p:nvPr/>
        </p:nvSpPr>
        <p:spPr>
          <a:xfrm>
            <a:off x="2880475" y="1995086"/>
            <a:ext cx="1874520" cy="658368"/>
          </a:xfrm>
          <a:prstGeom prst="roundRect">
            <a:avLst>
              <a:gd name="adj" fmla="val 9722"/>
            </a:avLst>
          </a:prstGeom>
          <a:solidFill>
            <a:srgbClr val="F2F4F9"/>
          </a:solidFill>
          <a:ln w="15875">
            <a:solidFill>
              <a:srgbClr val="D3DAEA"/>
            </a:solidFill>
            <a:prstDash val="solid"/>
          </a:ln>
        </p:spPr>
      </p:sp>
      <p:sp>
        <p:nvSpPr>
          <p:cNvPr id="31" name="Text 29"/>
          <p:cNvSpPr txBox="1"/>
          <p:nvPr/>
        </p:nvSpPr>
        <p:spPr>
          <a:xfrm>
            <a:off x="2926195" y="1995086"/>
            <a:ext cx="1783080" cy="658368"/>
          </a:xfrm>
          <a:prstGeom prst="rect">
            <a:avLst/>
          </a:prstGeom>
          <a:noFill/>
          <a:ln/>
        </p:spPr>
        <p:txBody>
          <a:bodyPr wrap="square" lIns="12700" tIns="12700" rIns="12700" bIns="12700" rtlCol="0" anchor="ctr"/>
          <a:lstStyle/>
          <a:p>
            <a:pPr algn="ctr" indent="0" marL="0">
              <a:buNone/>
            </a:pPr>
            <a:r>
              <a:rPr lang="en-US" sz="1050" dirty="0">
                <a:solidFill>
                  <a:srgbClr val="1E2761"/>
                </a:solidFill>
                <a:latin typeface="Calibri" pitchFamily="34" charset="0"/>
                <a:ea typeface="Calibri" pitchFamily="34" charset="-122"/>
                <a:cs typeface="Calibri" pitchFamily="34" charset="-120"/>
              </a:rPr>
              <a:t>主張を精密化する</a:t>
            </a:r>
            <a:endParaRPr lang="en-US" sz="1050" dirty="0"/>
          </a:p>
        </p:txBody>
      </p:sp>
      <p:sp>
        <p:nvSpPr>
          <p:cNvPr id="32" name="Shape 30"/>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33" name="Shape 31"/>
          <p:cNvSpPr/>
          <p:nvPr/>
        </p:nvSpPr>
        <p:spPr>
          <a:xfrm>
            <a:off x="548640" y="5870448"/>
            <a:ext cx="54864" cy="713232"/>
          </a:xfrm>
          <a:prstGeom prst="rect">
            <a:avLst/>
          </a:prstGeom>
          <a:solidFill>
            <a:srgbClr val="E8623C"/>
          </a:solidFill>
          <a:ln/>
        </p:spPr>
      </p:sp>
      <p:sp>
        <p:nvSpPr>
          <p:cNvPr id="34" name="Text 32"/>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「精密化」が本資料全体のキーワードです。正解を教えてもらうことではなく、自分の考えの解像度を上げることが壁打ちのゴールです。</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壁打ちの基本原則</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4つの原則のうち、最後の1つだけ性質が違う</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4 / 19</a:t>
            </a:r>
            <a:endParaRPr lang="en-US" sz="900" dirty="0"/>
          </a:p>
        </p:txBody>
      </p:sp>
      <p:sp>
        <p:nvSpPr>
          <p:cNvPr id="5" name="Shape 3"/>
          <p:cNvSpPr/>
          <p:nvPr/>
        </p:nvSpPr>
        <p:spPr>
          <a:xfrm>
            <a:off x="548640" y="1417320"/>
            <a:ext cx="11091672" cy="868680"/>
          </a:xfrm>
          <a:prstGeom prst="roundRect">
            <a:avLst>
              <a:gd name="adj" fmla="val 8421"/>
            </a:avLst>
          </a:prstGeom>
          <a:solidFill>
            <a:srgbClr val="F2F4F9"/>
          </a:solidFill>
          <a:ln w="15875">
            <a:solidFill>
              <a:srgbClr val="D3DAEA"/>
            </a:solidFill>
            <a:prstDash val="solid"/>
          </a:ln>
        </p:spPr>
      </p:sp>
      <p:sp>
        <p:nvSpPr>
          <p:cNvPr id="6" name="Shape 4"/>
          <p:cNvSpPr/>
          <p:nvPr/>
        </p:nvSpPr>
        <p:spPr>
          <a:xfrm>
            <a:off x="1028700" y="1600200"/>
            <a:ext cx="502920" cy="502920"/>
          </a:xfrm>
          <a:prstGeom prst="ellipse">
            <a:avLst/>
          </a:prstGeom>
          <a:solidFill>
            <a:srgbClr val="E8623C"/>
          </a:solidFill>
          <a:ln/>
        </p:spPr>
      </p:sp>
      <p:sp>
        <p:nvSpPr>
          <p:cNvPr id="7" name="Text 5"/>
          <p:cNvSpPr txBox="1"/>
          <p:nvPr/>
        </p:nvSpPr>
        <p:spPr>
          <a:xfrm>
            <a:off x="1028700" y="16002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txBox="1"/>
          <p:nvPr/>
        </p:nvSpPr>
        <p:spPr>
          <a:xfrm>
            <a:off x="1874520" y="1508760"/>
            <a:ext cx="3566160" cy="685800"/>
          </a:xfrm>
          <a:prstGeom prst="rect">
            <a:avLst/>
          </a:prstGeom>
          <a:noFill/>
          <a:ln/>
        </p:spPr>
        <p:txBody>
          <a:bodyPr wrap="square" lIns="0" tIns="0" rIns="0" bIns="0" rtlCol="0" anchor="ctr"/>
          <a:lstStyle/>
          <a:p>
            <a:pPr algn="l" indent="0" marL="0">
              <a:buNone/>
            </a:pPr>
            <a:r>
              <a:rPr lang="en-US" sz="1500" b="1" dirty="0">
                <a:solidFill>
                  <a:srgbClr val="1E2761"/>
                </a:solidFill>
                <a:latin typeface="Calibri" pitchFamily="34" charset="0"/>
                <a:ea typeface="Calibri" pitchFamily="34" charset="-122"/>
                <a:cs typeface="Calibri" pitchFamily="34" charset="-120"/>
              </a:rPr>
              <a:t>まず自分の考えを出す</a:t>
            </a:r>
            <a:endParaRPr lang="en-US" sz="1500" dirty="0"/>
          </a:p>
        </p:txBody>
      </p:sp>
      <p:sp>
        <p:nvSpPr>
          <p:cNvPr id="9" name="Shape 7"/>
          <p:cNvSpPr/>
          <p:nvPr/>
        </p:nvSpPr>
        <p:spPr>
          <a:xfrm>
            <a:off x="5577840" y="1508760"/>
            <a:ext cx="5852160" cy="685800"/>
          </a:xfrm>
          <a:prstGeom prst="roundRect">
            <a:avLst>
              <a:gd name="adj" fmla="val 9333"/>
            </a:avLst>
          </a:prstGeom>
          <a:solidFill>
            <a:srgbClr val="FFFFFF"/>
          </a:solidFill>
          <a:ln w="15875">
            <a:solidFill>
              <a:srgbClr val="E8623C"/>
            </a:solidFill>
            <a:prstDash val="solid"/>
          </a:ln>
        </p:spPr>
      </p:sp>
      <p:sp>
        <p:nvSpPr>
          <p:cNvPr id="10" name="Text 8"/>
          <p:cNvSpPr txBox="1"/>
          <p:nvPr/>
        </p:nvSpPr>
        <p:spPr>
          <a:xfrm>
            <a:off x="5806440" y="1508760"/>
            <a:ext cx="5440680" cy="685800"/>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「私はAだと考える」</a:t>
            </a:r>
            <a:endParaRPr lang="en-US" sz="1200" dirty="0"/>
          </a:p>
        </p:txBody>
      </p:sp>
      <p:sp>
        <p:nvSpPr>
          <p:cNvPr id="11" name="Shape 9"/>
          <p:cNvSpPr/>
          <p:nvPr/>
        </p:nvSpPr>
        <p:spPr>
          <a:xfrm>
            <a:off x="548640" y="2414016"/>
            <a:ext cx="11091672" cy="868680"/>
          </a:xfrm>
          <a:prstGeom prst="roundRect">
            <a:avLst>
              <a:gd name="adj" fmla="val 8421"/>
            </a:avLst>
          </a:prstGeom>
          <a:solidFill>
            <a:srgbClr val="F2F4F9"/>
          </a:solidFill>
          <a:ln w="15875">
            <a:solidFill>
              <a:srgbClr val="D3DAEA"/>
            </a:solidFill>
            <a:prstDash val="solid"/>
          </a:ln>
        </p:spPr>
      </p:sp>
      <p:sp>
        <p:nvSpPr>
          <p:cNvPr id="12" name="Shape 10"/>
          <p:cNvSpPr/>
          <p:nvPr/>
        </p:nvSpPr>
        <p:spPr>
          <a:xfrm>
            <a:off x="1028700" y="2596896"/>
            <a:ext cx="502920" cy="502920"/>
          </a:xfrm>
          <a:prstGeom prst="ellipse">
            <a:avLst/>
          </a:prstGeom>
          <a:solidFill>
            <a:srgbClr val="E8623C"/>
          </a:solidFill>
          <a:ln/>
        </p:spPr>
      </p:sp>
      <p:sp>
        <p:nvSpPr>
          <p:cNvPr id="13" name="Text 11"/>
          <p:cNvSpPr txBox="1"/>
          <p:nvPr/>
        </p:nvSpPr>
        <p:spPr>
          <a:xfrm>
            <a:off x="1028700" y="259689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txBox="1"/>
          <p:nvPr/>
        </p:nvSpPr>
        <p:spPr>
          <a:xfrm>
            <a:off x="1874520" y="2505456"/>
            <a:ext cx="3566160" cy="685800"/>
          </a:xfrm>
          <a:prstGeom prst="rect">
            <a:avLst/>
          </a:prstGeom>
          <a:noFill/>
          <a:ln/>
        </p:spPr>
        <p:txBody>
          <a:bodyPr wrap="square" lIns="0" tIns="0" rIns="0" bIns="0" rtlCol="0" anchor="ctr"/>
          <a:lstStyle/>
          <a:p>
            <a:pPr algn="l" indent="0" marL="0">
              <a:buNone/>
            </a:pPr>
            <a:r>
              <a:rPr lang="en-US" sz="1500" b="1" dirty="0">
                <a:solidFill>
                  <a:srgbClr val="1E2761"/>
                </a:solidFill>
                <a:latin typeface="Calibri" pitchFamily="34" charset="0"/>
                <a:ea typeface="Calibri" pitchFamily="34" charset="-122"/>
                <a:cs typeface="Calibri" pitchFamily="34" charset="-120"/>
              </a:rPr>
              <a:t>AIに反論させる</a:t>
            </a:r>
            <a:endParaRPr lang="en-US" sz="1500" dirty="0"/>
          </a:p>
        </p:txBody>
      </p:sp>
      <p:sp>
        <p:nvSpPr>
          <p:cNvPr id="15" name="Shape 13"/>
          <p:cNvSpPr/>
          <p:nvPr/>
        </p:nvSpPr>
        <p:spPr>
          <a:xfrm>
            <a:off x="5577840" y="2505456"/>
            <a:ext cx="5852160" cy="685800"/>
          </a:xfrm>
          <a:prstGeom prst="roundRect">
            <a:avLst>
              <a:gd name="adj" fmla="val 9333"/>
            </a:avLst>
          </a:prstGeom>
          <a:solidFill>
            <a:srgbClr val="FFFFFF"/>
          </a:solidFill>
          <a:ln w="15875">
            <a:solidFill>
              <a:srgbClr val="E8623C"/>
            </a:solidFill>
            <a:prstDash val="solid"/>
          </a:ln>
        </p:spPr>
      </p:sp>
      <p:sp>
        <p:nvSpPr>
          <p:cNvPr id="16" name="Text 14"/>
          <p:cNvSpPr txBox="1"/>
          <p:nvPr/>
        </p:nvSpPr>
        <p:spPr>
          <a:xfrm>
            <a:off x="5806440" y="2505456"/>
            <a:ext cx="5440680" cy="685800"/>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「この主張の弱点を探してください」</a:t>
            </a:r>
            <a:endParaRPr lang="en-US" sz="1200" dirty="0"/>
          </a:p>
        </p:txBody>
      </p:sp>
      <p:sp>
        <p:nvSpPr>
          <p:cNvPr id="17" name="Shape 15"/>
          <p:cNvSpPr/>
          <p:nvPr/>
        </p:nvSpPr>
        <p:spPr>
          <a:xfrm>
            <a:off x="548640" y="3410712"/>
            <a:ext cx="11091672" cy="868680"/>
          </a:xfrm>
          <a:prstGeom prst="roundRect">
            <a:avLst>
              <a:gd name="adj" fmla="val 8421"/>
            </a:avLst>
          </a:prstGeom>
          <a:solidFill>
            <a:srgbClr val="F2F4F9"/>
          </a:solidFill>
          <a:ln w="15875">
            <a:solidFill>
              <a:srgbClr val="D3DAEA"/>
            </a:solidFill>
            <a:prstDash val="solid"/>
          </a:ln>
        </p:spPr>
      </p:sp>
      <p:sp>
        <p:nvSpPr>
          <p:cNvPr id="18" name="Shape 16"/>
          <p:cNvSpPr/>
          <p:nvPr/>
        </p:nvSpPr>
        <p:spPr>
          <a:xfrm>
            <a:off x="1028700" y="3593592"/>
            <a:ext cx="502920" cy="502920"/>
          </a:xfrm>
          <a:prstGeom prst="ellipse">
            <a:avLst/>
          </a:prstGeom>
          <a:solidFill>
            <a:srgbClr val="E8623C"/>
          </a:solidFill>
          <a:ln/>
        </p:spPr>
      </p:sp>
      <p:sp>
        <p:nvSpPr>
          <p:cNvPr id="19" name="Text 17"/>
          <p:cNvSpPr txBox="1"/>
          <p:nvPr/>
        </p:nvSpPr>
        <p:spPr>
          <a:xfrm>
            <a:off x="1028700" y="35935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txBox="1"/>
          <p:nvPr/>
        </p:nvSpPr>
        <p:spPr>
          <a:xfrm>
            <a:off x="1874520" y="3502152"/>
            <a:ext cx="3566160" cy="685800"/>
          </a:xfrm>
          <a:prstGeom prst="rect">
            <a:avLst/>
          </a:prstGeom>
          <a:noFill/>
          <a:ln/>
        </p:spPr>
        <p:txBody>
          <a:bodyPr wrap="square" lIns="0" tIns="0" rIns="0" bIns="0" rtlCol="0" anchor="ctr"/>
          <a:lstStyle/>
          <a:p>
            <a:pPr algn="l" indent="0" marL="0">
              <a:buNone/>
            </a:pPr>
            <a:r>
              <a:rPr lang="en-US" sz="1500" b="1" dirty="0">
                <a:solidFill>
                  <a:srgbClr val="1E2761"/>
                </a:solidFill>
                <a:latin typeface="Calibri" pitchFamily="34" charset="0"/>
                <a:ea typeface="Calibri" pitchFamily="34" charset="-122"/>
                <a:cs typeface="Calibri" pitchFamily="34" charset="-120"/>
              </a:rPr>
              <a:t>AIの回答も疑う</a:t>
            </a:r>
            <a:endParaRPr lang="en-US" sz="1500" dirty="0"/>
          </a:p>
        </p:txBody>
      </p:sp>
      <p:sp>
        <p:nvSpPr>
          <p:cNvPr id="21" name="Shape 19"/>
          <p:cNvSpPr/>
          <p:nvPr/>
        </p:nvSpPr>
        <p:spPr>
          <a:xfrm>
            <a:off x="5577840" y="3502152"/>
            <a:ext cx="5852160" cy="685800"/>
          </a:xfrm>
          <a:prstGeom prst="roundRect">
            <a:avLst>
              <a:gd name="adj" fmla="val 9333"/>
            </a:avLst>
          </a:prstGeom>
          <a:solidFill>
            <a:srgbClr val="FFFFFF"/>
          </a:solidFill>
          <a:ln w="15875">
            <a:solidFill>
              <a:srgbClr val="E8623C"/>
            </a:solidFill>
            <a:prstDash val="solid"/>
          </a:ln>
        </p:spPr>
      </p:sp>
      <p:sp>
        <p:nvSpPr>
          <p:cNvPr id="22" name="Text 20"/>
          <p:cNvSpPr txBox="1"/>
          <p:nvPr/>
        </p:nvSpPr>
        <p:spPr>
          <a:xfrm>
            <a:off x="5806440" y="3502152"/>
            <a:ext cx="5440680" cy="685800"/>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「その反論は本当に私の主張を否定していますか？」</a:t>
            </a:r>
            <a:endParaRPr lang="en-US" sz="1200" dirty="0"/>
          </a:p>
        </p:txBody>
      </p:sp>
      <p:sp>
        <p:nvSpPr>
          <p:cNvPr id="23" name="Shape 21"/>
          <p:cNvSpPr/>
          <p:nvPr/>
        </p:nvSpPr>
        <p:spPr>
          <a:xfrm>
            <a:off x="548640" y="4407408"/>
            <a:ext cx="11091672" cy="868680"/>
          </a:xfrm>
          <a:prstGeom prst="roundRect">
            <a:avLst>
              <a:gd name="adj" fmla="val 8421"/>
            </a:avLst>
          </a:prstGeom>
          <a:solidFill>
            <a:srgbClr val="CADCFC"/>
          </a:solidFill>
          <a:ln w="22225">
            <a:solidFill>
              <a:srgbClr val="1E2761"/>
            </a:solidFill>
            <a:prstDash val="solid"/>
          </a:ln>
        </p:spPr>
      </p:sp>
      <p:sp>
        <p:nvSpPr>
          <p:cNvPr id="24" name="Shape 22"/>
          <p:cNvSpPr/>
          <p:nvPr/>
        </p:nvSpPr>
        <p:spPr>
          <a:xfrm>
            <a:off x="1028700" y="4590288"/>
            <a:ext cx="502920" cy="502920"/>
          </a:xfrm>
          <a:prstGeom prst="ellipse">
            <a:avLst/>
          </a:prstGeom>
          <a:solidFill>
            <a:srgbClr val="E8623C"/>
          </a:solidFill>
          <a:ln/>
        </p:spPr>
      </p:sp>
      <p:sp>
        <p:nvSpPr>
          <p:cNvPr id="25" name="Text 23"/>
          <p:cNvSpPr txBox="1"/>
          <p:nvPr/>
        </p:nvSpPr>
        <p:spPr>
          <a:xfrm>
            <a:off x="1028700" y="4590288"/>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4"/>
          <p:cNvSpPr txBox="1"/>
          <p:nvPr/>
        </p:nvSpPr>
        <p:spPr>
          <a:xfrm>
            <a:off x="1874520" y="4498848"/>
            <a:ext cx="3566160" cy="685800"/>
          </a:xfrm>
          <a:prstGeom prst="rect">
            <a:avLst/>
          </a:prstGeom>
          <a:noFill/>
          <a:ln/>
        </p:spPr>
        <p:txBody>
          <a:bodyPr wrap="square" lIns="0" tIns="0" rIns="0" bIns="0" rtlCol="0" anchor="ctr"/>
          <a:lstStyle/>
          <a:p>
            <a:pPr algn="l" indent="0" marL="0">
              <a:buNone/>
            </a:pPr>
            <a:r>
              <a:rPr lang="en-US" sz="1500" b="1" dirty="0">
                <a:solidFill>
                  <a:srgbClr val="1E2761"/>
                </a:solidFill>
                <a:latin typeface="Calibri" pitchFamily="34" charset="0"/>
                <a:ea typeface="Calibri" pitchFamily="34" charset="-122"/>
                <a:cs typeface="Calibri" pitchFamily="34" charset="-120"/>
              </a:rPr>
              <a:t>最終判断をAIに委ねない</a:t>
            </a:r>
            <a:endParaRPr lang="en-US" sz="1500" dirty="0"/>
          </a:p>
        </p:txBody>
      </p:sp>
      <p:sp>
        <p:nvSpPr>
          <p:cNvPr id="27" name="Shape 25"/>
          <p:cNvSpPr/>
          <p:nvPr/>
        </p:nvSpPr>
        <p:spPr>
          <a:xfrm>
            <a:off x="5577840" y="4498848"/>
            <a:ext cx="5852160" cy="685800"/>
          </a:xfrm>
          <a:prstGeom prst="roundRect">
            <a:avLst>
              <a:gd name="adj" fmla="val 9333"/>
            </a:avLst>
          </a:prstGeom>
          <a:solidFill>
            <a:srgbClr val="FFFFFF"/>
          </a:solidFill>
          <a:ln w="15875">
            <a:solidFill>
              <a:srgbClr val="1E2761"/>
            </a:solidFill>
            <a:prstDash val="solid"/>
          </a:ln>
        </p:spPr>
      </p:sp>
      <p:sp>
        <p:nvSpPr>
          <p:cNvPr id="28" name="Text 26"/>
          <p:cNvSpPr txBox="1"/>
          <p:nvPr/>
        </p:nvSpPr>
        <p:spPr>
          <a:xfrm>
            <a:off x="5806440" y="4498848"/>
            <a:ext cx="5440680" cy="685800"/>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AIは思考補助であり、判断そのものではない</a:t>
            </a:r>
            <a:endParaRPr lang="en-US" sz="1200" dirty="0"/>
          </a:p>
        </p:txBody>
      </p:sp>
      <p:sp>
        <p:nvSpPr>
          <p:cNvPr id="29" name="Shape 27"/>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30" name="Shape 28"/>
          <p:cNvSpPr/>
          <p:nvPr/>
        </p:nvSpPr>
        <p:spPr>
          <a:xfrm>
            <a:off x="548640" y="5870448"/>
            <a:ext cx="54864" cy="713232"/>
          </a:xfrm>
          <a:prstGeom prst="rect">
            <a:avLst/>
          </a:prstGeom>
          <a:solidFill>
            <a:srgbClr val="E8623C"/>
          </a:solidFill>
          <a:ln/>
        </p:spPr>
      </p:sp>
      <p:sp>
        <p:nvSpPr>
          <p:cNvPr id="31" name="Text 29"/>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①〜③は壁打ちの中で「やること」、④は「やらないこと（心構え）」です。AIに賢くなってもらうのではなく、自分が賢くなるための原則だと捉えてください。</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壁打ちの基本ループ</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これから紹介する技法は、すべてこのループの部品である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5 / 19</a:t>
            </a:r>
            <a:endParaRPr lang="en-US" sz="900" dirty="0"/>
          </a:p>
        </p:txBody>
      </p:sp>
      <p:sp>
        <p:nvSpPr>
          <p:cNvPr id="5" name="Shape 3"/>
          <p:cNvSpPr/>
          <p:nvPr/>
        </p:nvSpPr>
        <p:spPr>
          <a:xfrm>
            <a:off x="2194560" y="1554480"/>
            <a:ext cx="2468880" cy="658368"/>
          </a:xfrm>
          <a:prstGeom prst="roundRect">
            <a:avLst>
              <a:gd name="adj" fmla="val 9722"/>
            </a:avLst>
          </a:prstGeom>
          <a:solidFill>
            <a:srgbClr val="F2F4F9"/>
          </a:solidFill>
          <a:ln w="15875">
            <a:solidFill>
              <a:srgbClr val="D3DAEA"/>
            </a:solidFill>
            <a:prstDash val="solid"/>
          </a:ln>
        </p:spPr>
      </p:sp>
      <p:sp>
        <p:nvSpPr>
          <p:cNvPr id="6" name="Text 4"/>
          <p:cNvSpPr txBox="1"/>
          <p:nvPr/>
        </p:nvSpPr>
        <p:spPr>
          <a:xfrm>
            <a:off x="2240280" y="1554480"/>
            <a:ext cx="2377440" cy="658368"/>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自分の仮説</a:t>
            </a:r>
            <a:endParaRPr lang="en-US" sz="1300" dirty="0"/>
          </a:p>
        </p:txBody>
      </p:sp>
      <p:sp>
        <p:nvSpPr>
          <p:cNvPr id="7" name="Shape 5"/>
          <p:cNvSpPr/>
          <p:nvPr/>
        </p:nvSpPr>
        <p:spPr>
          <a:xfrm>
            <a:off x="5349240" y="1554480"/>
            <a:ext cx="2468880" cy="658368"/>
          </a:xfrm>
          <a:prstGeom prst="roundRect">
            <a:avLst>
              <a:gd name="adj" fmla="val 9722"/>
            </a:avLst>
          </a:prstGeom>
          <a:solidFill>
            <a:srgbClr val="F2F4F9"/>
          </a:solidFill>
          <a:ln w="15875">
            <a:solidFill>
              <a:srgbClr val="D3DAEA"/>
            </a:solidFill>
            <a:prstDash val="solid"/>
          </a:ln>
        </p:spPr>
      </p:sp>
      <p:sp>
        <p:nvSpPr>
          <p:cNvPr id="8" name="Text 6"/>
          <p:cNvSpPr txBox="1"/>
          <p:nvPr/>
        </p:nvSpPr>
        <p:spPr>
          <a:xfrm>
            <a:off x="5394960" y="1554480"/>
            <a:ext cx="2377440" cy="658368"/>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AIに投げる</a:t>
            </a:r>
            <a:endParaRPr lang="en-US" sz="1300" dirty="0"/>
          </a:p>
        </p:txBody>
      </p:sp>
      <p:sp>
        <p:nvSpPr>
          <p:cNvPr id="9" name="Shape 7"/>
          <p:cNvSpPr/>
          <p:nvPr/>
        </p:nvSpPr>
        <p:spPr>
          <a:xfrm>
            <a:off x="8503920" y="1554480"/>
            <a:ext cx="2468880" cy="658368"/>
          </a:xfrm>
          <a:prstGeom prst="roundRect">
            <a:avLst>
              <a:gd name="adj" fmla="val 9722"/>
            </a:avLst>
          </a:prstGeom>
          <a:solidFill>
            <a:srgbClr val="F2F4F9"/>
          </a:solidFill>
          <a:ln w="15875">
            <a:solidFill>
              <a:srgbClr val="D3DAEA"/>
            </a:solidFill>
            <a:prstDash val="solid"/>
          </a:ln>
        </p:spPr>
      </p:sp>
      <p:sp>
        <p:nvSpPr>
          <p:cNvPr id="10" name="Text 8"/>
          <p:cNvSpPr txBox="1"/>
          <p:nvPr/>
        </p:nvSpPr>
        <p:spPr>
          <a:xfrm>
            <a:off x="8549640" y="1554480"/>
            <a:ext cx="2377440" cy="658368"/>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反論・疑問・別解</a:t>
            </a:r>
            <a:endParaRPr lang="en-US" sz="1300" dirty="0"/>
          </a:p>
        </p:txBody>
      </p:sp>
      <p:sp>
        <p:nvSpPr>
          <p:cNvPr id="11" name="Shape 9"/>
          <p:cNvSpPr/>
          <p:nvPr/>
        </p:nvSpPr>
        <p:spPr>
          <a:xfrm>
            <a:off x="4663440" y="1883664"/>
            <a:ext cx="685800" cy="0"/>
          </a:xfrm>
          <a:prstGeom prst="line">
            <a:avLst/>
          </a:prstGeom>
          <a:noFill/>
          <a:ln w="28575">
            <a:solidFill>
              <a:srgbClr val="E8623C"/>
            </a:solidFill>
            <a:prstDash val="solid"/>
            <a:tailEnd type="triangle"/>
          </a:ln>
        </p:spPr>
      </p:sp>
      <p:sp>
        <p:nvSpPr>
          <p:cNvPr id="12" name="Shape 10"/>
          <p:cNvSpPr/>
          <p:nvPr/>
        </p:nvSpPr>
        <p:spPr>
          <a:xfrm>
            <a:off x="7818120" y="1883664"/>
            <a:ext cx="685800" cy="0"/>
          </a:xfrm>
          <a:prstGeom prst="line">
            <a:avLst/>
          </a:prstGeom>
          <a:noFill/>
          <a:ln w="28575">
            <a:solidFill>
              <a:srgbClr val="E8623C"/>
            </a:solidFill>
            <a:prstDash val="solid"/>
            <a:tailEnd type="triangle"/>
          </a:ln>
        </p:spPr>
      </p:sp>
      <p:sp>
        <p:nvSpPr>
          <p:cNvPr id="13" name="Shape 11"/>
          <p:cNvSpPr/>
          <p:nvPr/>
        </p:nvSpPr>
        <p:spPr>
          <a:xfrm>
            <a:off x="9738360" y="2212848"/>
            <a:ext cx="0" cy="502920"/>
          </a:xfrm>
          <a:prstGeom prst="line">
            <a:avLst/>
          </a:prstGeom>
          <a:noFill/>
          <a:ln w="28575">
            <a:solidFill>
              <a:srgbClr val="E8623C"/>
            </a:solidFill>
            <a:prstDash val="solid"/>
            <a:tailEnd type="triangle"/>
          </a:ln>
        </p:spPr>
      </p:sp>
      <p:sp>
        <p:nvSpPr>
          <p:cNvPr id="14" name="Shape 12"/>
          <p:cNvSpPr/>
          <p:nvPr/>
        </p:nvSpPr>
        <p:spPr>
          <a:xfrm>
            <a:off x="5349240" y="2715768"/>
            <a:ext cx="2468880" cy="658368"/>
          </a:xfrm>
          <a:prstGeom prst="roundRect">
            <a:avLst>
              <a:gd name="adj" fmla="val 9722"/>
            </a:avLst>
          </a:prstGeom>
          <a:solidFill>
            <a:srgbClr val="FBD9CC"/>
          </a:solidFill>
          <a:ln w="15875">
            <a:solidFill>
              <a:srgbClr val="D3DAEA"/>
            </a:solidFill>
            <a:prstDash val="solid"/>
          </a:ln>
        </p:spPr>
      </p:sp>
      <p:sp>
        <p:nvSpPr>
          <p:cNvPr id="15" name="Text 13"/>
          <p:cNvSpPr txBox="1"/>
          <p:nvPr/>
        </p:nvSpPr>
        <p:spPr>
          <a:xfrm>
            <a:off x="5394960" y="2715768"/>
            <a:ext cx="2377440" cy="658368"/>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仮説の修正・精密化</a:t>
            </a:r>
            <a:endParaRPr lang="en-US" sz="1300" dirty="0"/>
          </a:p>
        </p:txBody>
      </p:sp>
      <p:sp>
        <p:nvSpPr>
          <p:cNvPr id="16" name="Shape 14"/>
          <p:cNvSpPr/>
          <p:nvPr/>
        </p:nvSpPr>
        <p:spPr>
          <a:xfrm>
            <a:off x="8503920" y="2715768"/>
            <a:ext cx="2468880" cy="658368"/>
          </a:xfrm>
          <a:prstGeom prst="roundRect">
            <a:avLst>
              <a:gd name="adj" fmla="val 9722"/>
            </a:avLst>
          </a:prstGeom>
          <a:solidFill>
            <a:srgbClr val="F2F4F9"/>
          </a:solidFill>
          <a:ln w="15875">
            <a:solidFill>
              <a:srgbClr val="D3DAEA"/>
            </a:solidFill>
            <a:prstDash val="solid"/>
          </a:ln>
        </p:spPr>
      </p:sp>
      <p:sp>
        <p:nvSpPr>
          <p:cNvPr id="17" name="Text 15"/>
          <p:cNvSpPr txBox="1"/>
          <p:nvPr/>
        </p:nvSpPr>
        <p:spPr>
          <a:xfrm>
            <a:off x="8549640" y="2715768"/>
            <a:ext cx="2377440" cy="658368"/>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分解・検証</a:t>
            </a:r>
            <a:endParaRPr lang="en-US" sz="1300" dirty="0"/>
          </a:p>
        </p:txBody>
      </p:sp>
      <p:sp>
        <p:nvSpPr>
          <p:cNvPr id="18" name="Shape 16"/>
          <p:cNvSpPr/>
          <p:nvPr/>
        </p:nvSpPr>
        <p:spPr>
          <a:xfrm>
            <a:off x="8503920" y="3044952"/>
            <a:ext cx="-685800" cy="0"/>
          </a:xfrm>
          <a:prstGeom prst="line">
            <a:avLst/>
          </a:prstGeom>
          <a:noFill/>
          <a:ln w="28575">
            <a:solidFill>
              <a:srgbClr val="E8623C"/>
            </a:solidFill>
            <a:prstDash val="solid"/>
            <a:tailEnd type="triangle"/>
          </a:ln>
        </p:spPr>
      </p:sp>
      <p:sp>
        <p:nvSpPr>
          <p:cNvPr id="19" name="Shape 17"/>
          <p:cNvSpPr/>
          <p:nvPr/>
        </p:nvSpPr>
        <p:spPr>
          <a:xfrm>
            <a:off x="3429000" y="2715768"/>
            <a:ext cx="0" cy="-502920"/>
          </a:xfrm>
          <a:prstGeom prst="line">
            <a:avLst/>
          </a:prstGeom>
          <a:noFill/>
          <a:ln w="28575">
            <a:solidFill>
              <a:srgbClr val="1E2761"/>
            </a:solidFill>
            <a:prstDash val="solid"/>
            <a:tailEnd type="triangle"/>
          </a:ln>
        </p:spPr>
      </p:sp>
      <p:sp>
        <p:nvSpPr>
          <p:cNvPr id="20" name="Text 18"/>
          <p:cNvSpPr txBox="1"/>
          <p:nvPr/>
        </p:nvSpPr>
        <p:spPr>
          <a:xfrm>
            <a:off x="45720" y="2299716"/>
            <a:ext cx="2103120" cy="365760"/>
          </a:xfrm>
          <a:prstGeom prst="rect">
            <a:avLst/>
          </a:prstGeom>
          <a:noFill/>
          <a:ln/>
        </p:spPr>
        <p:txBody>
          <a:bodyPr wrap="square" lIns="0" tIns="0" rIns="0" bIns="0" rtlCol="0" anchor="t"/>
          <a:lstStyle/>
          <a:p>
            <a:pPr algn="r" indent="0" marL="0">
              <a:buNone/>
            </a:pPr>
            <a:r>
              <a:rPr lang="en-US" sz="1050" i="1" dirty="0">
                <a:solidFill>
                  <a:srgbClr val="1E2761"/>
                </a:solidFill>
                <a:latin typeface="Calibri" pitchFamily="34" charset="0"/>
                <a:ea typeface="Calibri" pitchFamily="34" charset="-122"/>
                <a:cs typeface="Calibri" pitchFamily="34" charset="-120"/>
              </a:rPr>
              <a:t>再びAIに投げる</a:t>
            </a:r>
            <a:endParaRPr lang="en-US" sz="1050" dirty="0"/>
          </a:p>
        </p:txBody>
      </p:sp>
      <p:sp>
        <p:nvSpPr>
          <p:cNvPr id="21" name="Shape 19"/>
          <p:cNvSpPr/>
          <p:nvPr/>
        </p:nvSpPr>
        <p:spPr>
          <a:xfrm>
            <a:off x="2468880" y="4160520"/>
            <a:ext cx="7223760" cy="658368"/>
          </a:xfrm>
          <a:prstGeom prst="roundRect">
            <a:avLst>
              <a:gd name="adj" fmla="val 13889"/>
            </a:avLst>
          </a:prstGeom>
          <a:solidFill>
            <a:srgbClr val="1E2761"/>
          </a:solidFill>
          <a:ln/>
        </p:spPr>
      </p:sp>
      <p:sp>
        <p:nvSpPr>
          <p:cNvPr id="22" name="Text 20"/>
          <p:cNvSpPr txBox="1"/>
          <p:nvPr/>
        </p:nvSpPr>
        <p:spPr>
          <a:xfrm>
            <a:off x="2468880" y="4160520"/>
            <a:ext cx="7223760" cy="65836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壁打ちは一回の質問ではなく、思考のループ</a:t>
            </a:r>
            <a:endParaRPr lang="en-US" sz="1700" dirty="0"/>
          </a:p>
        </p:txBody>
      </p:sp>
      <p:sp>
        <p:nvSpPr>
          <p:cNvPr id="23" name="Shape 21"/>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24" name="Shape 22"/>
          <p:cNvSpPr/>
          <p:nvPr/>
        </p:nvSpPr>
        <p:spPr>
          <a:xfrm>
            <a:off x="548640" y="5870448"/>
            <a:ext cx="54864" cy="713232"/>
          </a:xfrm>
          <a:prstGeom prst="rect">
            <a:avLst/>
          </a:prstGeom>
          <a:solidFill>
            <a:srgbClr val="E8623C"/>
          </a:solidFill>
          <a:ln/>
        </p:spPr>
      </p:sp>
      <p:sp>
        <p:nvSpPr>
          <p:cNvPr id="25" name="Text 23"/>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この図はスライド2の右側図の詳細版です。何周するかは問題の難しさ次第で、1周で終わることもあれば5周することもあります。オレンジ色の「仮説の修正・精密化」が実質的な成果物です。</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パターン① 反論を作る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目的：自分では気づけない弱点を発見する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6 / 19</a:t>
            </a:r>
            <a:endParaRPr lang="en-US" sz="900" dirty="0"/>
          </a:p>
        </p:txBody>
      </p:sp>
      <p:sp>
        <p:nvSpPr>
          <p:cNvPr id="5" name="Shape 3"/>
          <p:cNvSpPr/>
          <p:nvPr/>
        </p:nvSpPr>
        <p:spPr>
          <a:xfrm>
            <a:off x="4937760" y="1417320"/>
            <a:ext cx="2286000" cy="548640"/>
          </a:xfrm>
          <a:prstGeom prst="roundRect">
            <a:avLst>
              <a:gd name="adj" fmla="val 11667"/>
            </a:avLst>
          </a:prstGeom>
          <a:solidFill>
            <a:srgbClr val="CADCFC"/>
          </a:solidFill>
          <a:ln w="15875">
            <a:solidFill>
              <a:srgbClr val="D3DAEA"/>
            </a:solidFill>
            <a:prstDash val="solid"/>
          </a:ln>
        </p:spPr>
      </p:sp>
      <p:sp>
        <p:nvSpPr>
          <p:cNvPr id="6" name="Text 4"/>
          <p:cNvSpPr txBox="1"/>
          <p:nvPr/>
        </p:nvSpPr>
        <p:spPr>
          <a:xfrm>
            <a:off x="4983480" y="1417320"/>
            <a:ext cx="2194560" cy="548640"/>
          </a:xfrm>
          <a:prstGeom prst="rect">
            <a:avLst/>
          </a:prstGeom>
          <a:noFill/>
          <a:ln/>
        </p:spPr>
        <p:txBody>
          <a:bodyPr wrap="square" lIns="12700" tIns="12700" rIns="12700" bIns="1270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主張</a:t>
            </a:r>
            <a:endParaRPr lang="en-US" sz="1400" dirty="0"/>
          </a:p>
        </p:txBody>
      </p:sp>
      <p:sp>
        <p:nvSpPr>
          <p:cNvPr id="7" name="Shape 5"/>
          <p:cNvSpPr/>
          <p:nvPr/>
        </p:nvSpPr>
        <p:spPr>
          <a:xfrm>
            <a:off x="5486400" y="1965960"/>
            <a:ext cx="-1691640" cy="548640"/>
          </a:xfrm>
          <a:prstGeom prst="line">
            <a:avLst/>
          </a:prstGeom>
          <a:noFill/>
          <a:ln w="28575">
            <a:solidFill>
              <a:srgbClr val="9AA5B8"/>
            </a:solidFill>
            <a:prstDash val="solid"/>
            <a:tailEnd type="triangle"/>
          </a:ln>
        </p:spPr>
      </p:sp>
      <p:sp>
        <p:nvSpPr>
          <p:cNvPr id="8" name="Shape 6"/>
          <p:cNvSpPr/>
          <p:nvPr/>
        </p:nvSpPr>
        <p:spPr>
          <a:xfrm>
            <a:off x="6629400" y="1965960"/>
            <a:ext cx="1691640" cy="548640"/>
          </a:xfrm>
          <a:prstGeom prst="line">
            <a:avLst/>
          </a:prstGeom>
          <a:noFill/>
          <a:ln w="28575">
            <a:solidFill>
              <a:srgbClr val="E8623C"/>
            </a:solidFill>
            <a:prstDash val="solid"/>
            <a:tailEnd type="triangle"/>
          </a:ln>
        </p:spPr>
      </p:sp>
      <p:sp>
        <p:nvSpPr>
          <p:cNvPr id="9" name="Shape 7"/>
          <p:cNvSpPr/>
          <p:nvPr/>
        </p:nvSpPr>
        <p:spPr>
          <a:xfrm>
            <a:off x="2606040" y="2514600"/>
            <a:ext cx="2377440" cy="658368"/>
          </a:xfrm>
          <a:prstGeom prst="roundRect">
            <a:avLst>
              <a:gd name="adj" fmla="val 9722"/>
            </a:avLst>
          </a:prstGeom>
          <a:solidFill>
            <a:srgbClr val="E9EAEE"/>
          </a:solidFill>
          <a:ln w="15875">
            <a:solidFill>
              <a:srgbClr val="D3DAEA"/>
            </a:solidFill>
            <a:prstDash val="solid"/>
          </a:ln>
        </p:spPr>
      </p:sp>
      <p:sp>
        <p:nvSpPr>
          <p:cNvPr id="10" name="Text 8"/>
          <p:cNvSpPr txBox="1"/>
          <p:nvPr/>
        </p:nvSpPr>
        <p:spPr>
          <a:xfrm>
            <a:off x="2651760" y="2514600"/>
            <a:ext cx="2286000" cy="658368"/>
          </a:xfrm>
          <a:prstGeom prst="rect">
            <a:avLst/>
          </a:prstGeom>
          <a:noFill/>
          <a:ln/>
        </p:spPr>
        <p:txBody>
          <a:bodyPr wrap="square" lIns="12700" tIns="12700" rIns="12700" bIns="12700" rtlCol="0" anchor="ctr"/>
          <a:lstStyle/>
          <a:p>
            <a:pPr algn="ctr" indent="0" marL="0">
              <a:buNone/>
            </a:pPr>
            <a:r>
              <a:rPr lang="en-US" sz="1150" dirty="0">
                <a:solidFill>
                  <a:srgbClr val="5B6B87"/>
                </a:solidFill>
                <a:latin typeface="Calibri" pitchFamily="34" charset="0"/>
                <a:ea typeface="Calibri" pitchFamily="34" charset="-122"/>
                <a:cs typeface="Calibri" pitchFamily="34" charset="-120"/>
              </a:rPr>
              <a:t>✕ 弱い反論</a:t>
            </a:r>
            <a:endParaRPr lang="en-US" sz="1150" dirty="0"/>
          </a:p>
          <a:p>
            <a:pPr algn="ctr" indent="0" marL="0">
              <a:buNone/>
            </a:pPr>
            <a:r>
              <a:rPr lang="en-US" sz="1150" dirty="0">
                <a:solidFill>
                  <a:srgbClr val="5B6B87"/>
                </a:solidFill>
                <a:latin typeface="Calibri" pitchFamily="34" charset="0"/>
                <a:ea typeface="Calibri" pitchFamily="34" charset="-122"/>
                <a:cs typeface="Calibri" pitchFamily="34" charset="-120"/>
              </a:rPr>
              <a:t>（揚げ足取り）</a:t>
            </a:r>
            <a:endParaRPr lang="en-US" sz="1150" dirty="0"/>
          </a:p>
        </p:txBody>
      </p:sp>
      <p:sp>
        <p:nvSpPr>
          <p:cNvPr id="11" name="Shape 9"/>
          <p:cNvSpPr/>
          <p:nvPr/>
        </p:nvSpPr>
        <p:spPr>
          <a:xfrm>
            <a:off x="7178040" y="2514600"/>
            <a:ext cx="2377440" cy="658368"/>
          </a:xfrm>
          <a:prstGeom prst="roundRect">
            <a:avLst>
              <a:gd name="adj" fmla="val 9722"/>
            </a:avLst>
          </a:prstGeom>
          <a:solidFill>
            <a:srgbClr val="FBD9CC"/>
          </a:solidFill>
          <a:ln w="15875">
            <a:solidFill>
              <a:srgbClr val="D3DAEA"/>
            </a:solidFill>
            <a:prstDash val="solid"/>
          </a:ln>
        </p:spPr>
      </p:sp>
      <p:sp>
        <p:nvSpPr>
          <p:cNvPr id="12" name="Text 10"/>
          <p:cNvSpPr txBox="1"/>
          <p:nvPr/>
        </p:nvSpPr>
        <p:spPr>
          <a:xfrm>
            <a:off x="7223760" y="2514600"/>
            <a:ext cx="2286000" cy="658368"/>
          </a:xfrm>
          <a:prstGeom prst="rect">
            <a:avLst/>
          </a:prstGeom>
          <a:noFill/>
          <a:ln/>
        </p:spPr>
        <p:txBody>
          <a:bodyPr wrap="square" lIns="12700" tIns="12700" rIns="12700" bIns="1270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 最強の反論</a:t>
            </a:r>
            <a:endParaRPr lang="en-US" sz="1150" dirty="0"/>
          </a:p>
          <a:p>
            <a:pPr algn="ctr" indent="0" marL="0">
              <a:buNone/>
            </a:pPr>
            <a:r>
              <a:rPr lang="en-US" sz="1150" b="1" dirty="0">
                <a:solidFill>
                  <a:srgbClr val="1E2761"/>
                </a:solidFill>
                <a:latin typeface="Calibri" pitchFamily="34" charset="0"/>
                <a:ea typeface="Calibri" pitchFamily="34" charset="-122"/>
                <a:cs typeface="Calibri" pitchFamily="34" charset="-120"/>
              </a:rPr>
              <a:t>（スチールマン）</a:t>
            </a:r>
            <a:endParaRPr lang="en-US" sz="1150" dirty="0"/>
          </a:p>
        </p:txBody>
      </p:sp>
      <p:sp>
        <p:nvSpPr>
          <p:cNvPr id="13" name="Shape 11"/>
          <p:cNvSpPr/>
          <p:nvPr/>
        </p:nvSpPr>
        <p:spPr>
          <a:xfrm>
            <a:off x="1645920" y="3474720"/>
            <a:ext cx="8869680" cy="502920"/>
          </a:xfrm>
          <a:prstGeom prst="roundRect">
            <a:avLst>
              <a:gd name="adj" fmla="val 12727"/>
            </a:avLst>
          </a:prstGeom>
          <a:solidFill>
            <a:srgbClr val="FFFFFF"/>
          </a:solidFill>
          <a:ln w="15875">
            <a:solidFill>
              <a:srgbClr val="E8623C"/>
            </a:solidFill>
            <a:prstDash val="solid"/>
          </a:ln>
        </p:spPr>
      </p:sp>
      <p:sp>
        <p:nvSpPr>
          <p:cNvPr id="14" name="Text 12"/>
          <p:cNvSpPr txBox="1"/>
          <p:nvPr/>
        </p:nvSpPr>
        <p:spPr>
          <a:xfrm>
            <a:off x="1874520" y="3474720"/>
            <a:ext cx="8458200" cy="502920"/>
          </a:xfrm>
          <a:prstGeom prst="rect">
            <a:avLst/>
          </a:prstGeom>
          <a:noFill/>
          <a:ln/>
        </p:spPr>
        <p:txBody>
          <a:bodyPr wrap="square" lIns="25400" tIns="25400" rIns="25400" bIns="25400" rtlCol="0" anchor="ctr"/>
          <a:lstStyle/>
          <a:p>
            <a:pPr algn="l" indent="0" marL="0">
              <a:buNone/>
            </a:pPr>
            <a:r>
              <a:rPr lang="en-US" sz="1250" i="1" dirty="0">
                <a:solidFill>
                  <a:srgbClr val="1E2761"/>
                </a:solidFill>
                <a:latin typeface="Calibri" pitchFamily="34" charset="0"/>
                <a:ea typeface="Calibri" pitchFamily="34" charset="-122"/>
                <a:cs typeface="Calibri" pitchFamily="34" charset="-120"/>
              </a:rPr>
              <a:t>「この主張に対して、最も強い反論をしてください。」</a:t>
            </a:r>
            <a:endParaRPr lang="en-US" sz="1250" dirty="0"/>
          </a:p>
        </p:txBody>
      </p:sp>
      <p:sp>
        <p:nvSpPr>
          <p:cNvPr id="15" name="Shape 13"/>
          <p:cNvSpPr/>
          <p:nvPr/>
        </p:nvSpPr>
        <p:spPr>
          <a:xfrm>
            <a:off x="1645920" y="4096512"/>
            <a:ext cx="8869680" cy="713232"/>
          </a:xfrm>
          <a:prstGeom prst="roundRect">
            <a:avLst>
              <a:gd name="adj" fmla="val 8974"/>
            </a:avLst>
          </a:prstGeom>
          <a:solidFill>
            <a:srgbClr val="FFFFFF"/>
          </a:solidFill>
          <a:ln w="15875">
            <a:solidFill>
              <a:srgbClr val="E8623C"/>
            </a:solidFill>
            <a:prstDash val="solid"/>
          </a:ln>
        </p:spPr>
      </p:sp>
      <p:sp>
        <p:nvSpPr>
          <p:cNvPr id="16" name="Text 14"/>
          <p:cNvSpPr txBox="1"/>
          <p:nvPr/>
        </p:nvSpPr>
        <p:spPr>
          <a:xfrm>
            <a:off x="1874520" y="4096512"/>
            <a:ext cx="8458200" cy="713232"/>
          </a:xfrm>
          <a:prstGeom prst="rect">
            <a:avLst/>
          </a:prstGeom>
          <a:noFill/>
          <a:ln/>
        </p:spPr>
        <p:txBody>
          <a:bodyPr wrap="square" lIns="25400" tIns="25400" rIns="25400" bIns="25400" rtlCol="0" anchor="ctr"/>
          <a:lstStyle/>
          <a:p>
            <a:pPr algn="l" indent="0" marL="0">
              <a:buNone/>
            </a:pPr>
            <a:r>
              <a:rPr lang="en-US" sz="1250" i="1" dirty="0">
                <a:solidFill>
                  <a:srgbClr val="1E2761"/>
                </a:solidFill>
                <a:latin typeface="Calibri" pitchFamily="34" charset="0"/>
                <a:ea typeface="Calibri" pitchFamily="34" charset="-122"/>
                <a:cs typeface="Calibri" pitchFamily="34" charset="-120"/>
              </a:rPr>
              <a:t>「私の主張をできるだけ好意的に解釈した上で、</a:t>
            </a:r>
            <a:endParaRPr lang="en-US" sz="1250" dirty="0"/>
          </a:p>
          <a:p>
            <a:pPr algn="l" indent="0" marL="0">
              <a:buNone/>
            </a:pPr>
            <a:r>
              <a:rPr lang="en-US" sz="1250" i="1" dirty="0">
                <a:solidFill>
                  <a:srgbClr val="1E2761"/>
                </a:solidFill>
                <a:latin typeface="Calibri" pitchFamily="34" charset="0"/>
                <a:ea typeface="Calibri" pitchFamily="34" charset="-122"/>
                <a:cs typeface="Calibri" pitchFamily="34" charset="-120"/>
              </a:rPr>
              <a:t>それでも成立する最も強い反論をしてください。」</a:t>
            </a:r>
            <a:endParaRPr lang="en-US" sz="1250" dirty="0"/>
          </a:p>
        </p:txBody>
      </p:sp>
      <p:sp>
        <p:nvSpPr>
          <p:cNvPr id="17" name="Shape 15"/>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18" name="Shape 16"/>
          <p:cNvSpPr/>
          <p:nvPr/>
        </p:nvSpPr>
        <p:spPr>
          <a:xfrm>
            <a:off x="548640" y="5870448"/>
            <a:ext cx="54864" cy="713232"/>
          </a:xfrm>
          <a:prstGeom prst="rect">
            <a:avLst/>
          </a:prstGeom>
          <a:solidFill>
            <a:srgbClr val="E8623C"/>
          </a:solidFill>
          <a:ln/>
        </p:spPr>
      </p:sp>
      <p:sp>
        <p:nvSpPr>
          <p:cNvPr id="19" name="Text 17"/>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反論には質の差があります。粗探しのような反論は簡単に論破でき、思考は鍛えられません。好意的な解釈の上で成立する反論（スチールマン）こそが価値を持ちます。</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パターン② 前提を掘る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どんな主張にも、語られていない前提が隠れている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7 / 19</a:t>
            </a:r>
            <a:endParaRPr lang="en-US" sz="900" dirty="0"/>
          </a:p>
        </p:txBody>
      </p:sp>
      <p:sp>
        <p:nvSpPr>
          <p:cNvPr id="5" name="Shape 3"/>
          <p:cNvSpPr/>
          <p:nvPr/>
        </p:nvSpPr>
        <p:spPr>
          <a:xfrm>
            <a:off x="2560320" y="1463040"/>
            <a:ext cx="2560320" cy="621792"/>
          </a:xfrm>
          <a:prstGeom prst="roundRect">
            <a:avLst>
              <a:gd name="adj" fmla="val 10294"/>
            </a:avLst>
          </a:prstGeom>
          <a:solidFill>
            <a:srgbClr val="CADCFC"/>
          </a:solidFill>
          <a:ln w="15875">
            <a:solidFill>
              <a:srgbClr val="D3DAEA"/>
            </a:solidFill>
            <a:prstDash val="solid"/>
          </a:ln>
        </p:spPr>
      </p:sp>
      <p:sp>
        <p:nvSpPr>
          <p:cNvPr id="6" name="Text 4"/>
          <p:cNvSpPr txBox="1"/>
          <p:nvPr/>
        </p:nvSpPr>
        <p:spPr>
          <a:xfrm>
            <a:off x="2606040" y="1463040"/>
            <a:ext cx="2468880" cy="621792"/>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結論（B）</a:t>
            </a:r>
            <a:endParaRPr lang="en-US" sz="1300" dirty="0"/>
          </a:p>
        </p:txBody>
      </p:sp>
      <p:sp>
        <p:nvSpPr>
          <p:cNvPr id="7" name="Shape 5"/>
          <p:cNvSpPr/>
          <p:nvPr/>
        </p:nvSpPr>
        <p:spPr>
          <a:xfrm>
            <a:off x="3840480" y="2084832"/>
            <a:ext cx="0" cy="228600"/>
          </a:xfrm>
          <a:prstGeom prst="line">
            <a:avLst/>
          </a:prstGeom>
          <a:noFill/>
          <a:ln w="28575">
            <a:solidFill>
              <a:srgbClr val="1E2761"/>
            </a:solidFill>
            <a:prstDash val="solid"/>
            <a:tailEnd type="triangle"/>
          </a:ln>
        </p:spPr>
      </p:sp>
      <p:sp>
        <p:nvSpPr>
          <p:cNvPr id="8" name="Shape 6"/>
          <p:cNvSpPr/>
          <p:nvPr/>
        </p:nvSpPr>
        <p:spPr>
          <a:xfrm>
            <a:off x="2057400" y="2313432"/>
            <a:ext cx="3566160" cy="621792"/>
          </a:xfrm>
          <a:prstGeom prst="roundRect">
            <a:avLst>
              <a:gd name="adj" fmla="val 10294"/>
            </a:avLst>
          </a:prstGeom>
          <a:solidFill>
            <a:srgbClr val="F2F4F9"/>
          </a:solidFill>
          <a:ln w="15875">
            <a:solidFill>
              <a:srgbClr val="D3DAEA"/>
            </a:solidFill>
            <a:prstDash val="solid"/>
          </a:ln>
        </p:spPr>
      </p:sp>
      <p:sp>
        <p:nvSpPr>
          <p:cNvPr id="9" name="Text 7"/>
          <p:cNvSpPr txBox="1"/>
          <p:nvPr/>
        </p:nvSpPr>
        <p:spPr>
          <a:xfrm>
            <a:off x="2103120" y="2313432"/>
            <a:ext cx="3474720" cy="621792"/>
          </a:xfrm>
          <a:prstGeom prst="rect">
            <a:avLst/>
          </a:prstGeom>
          <a:noFill/>
          <a:ln/>
        </p:spPr>
        <p:txBody>
          <a:bodyPr wrap="square" lIns="12700" tIns="12700" rIns="12700" bIns="127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推論</a:t>
            </a:r>
            <a:endParaRPr lang="en-US" sz="1300" dirty="0"/>
          </a:p>
        </p:txBody>
      </p:sp>
      <p:sp>
        <p:nvSpPr>
          <p:cNvPr id="10" name="Shape 8"/>
          <p:cNvSpPr/>
          <p:nvPr/>
        </p:nvSpPr>
        <p:spPr>
          <a:xfrm>
            <a:off x="3840480" y="2935224"/>
            <a:ext cx="0" cy="228600"/>
          </a:xfrm>
          <a:prstGeom prst="line">
            <a:avLst/>
          </a:prstGeom>
          <a:noFill/>
          <a:ln w="28575">
            <a:solidFill>
              <a:srgbClr val="1E2761"/>
            </a:solidFill>
            <a:prstDash val="solid"/>
            <a:tailEnd type="triangle"/>
          </a:ln>
        </p:spPr>
      </p:sp>
      <p:sp>
        <p:nvSpPr>
          <p:cNvPr id="11" name="Shape 9"/>
          <p:cNvSpPr/>
          <p:nvPr/>
        </p:nvSpPr>
        <p:spPr>
          <a:xfrm>
            <a:off x="1554480" y="3163824"/>
            <a:ext cx="4572000" cy="621792"/>
          </a:xfrm>
          <a:prstGeom prst="roundRect">
            <a:avLst>
              <a:gd name="adj" fmla="val 10294"/>
            </a:avLst>
          </a:prstGeom>
          <a:solidFill>
            <a:srgbClr val="F2F4F9"/>
          </a:solidFill>
          <a:ln w="15875">
            <a:solidFill>
              <a:srgbClr val="D3DAEA"/>
            </a:solidFill>
            <a:prstDash val="solid"/>
          </a:ln>
        </p:spPr>
      </p:sp>
      <p:sp>
        <p:nvSpPr>
          <p:cNvPr id="12" name="Text 10"/>
          <p:cNvSpPr txBox="1"/>
          <p:nvPr/>
        </p:nvSpPr>
        <p:spPr>
          <a:xfrm>
            <a:off x="1600200" y="3163824"/>
            <a:ext cx="4480560" cy="621792"/>
          </a:xfrm>
          <a:prstGeom prst="rect">
            <a:avLst/>
          </a:prstGeom>
          <a:noFill/>
          <a:ln/>
        </p:spPr>
        <p:txBody>
          <a:bodyPr wrap="square" lIns="12700" tIns="12700" rIns="12700" bIns="127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根拠</a:t>
            </a:r>
            <a:endParaRPr lang="en-US" sz="1300" dirty="0"/>
          </a:p>
        </p:txBody>
      </p:sp>
      <p:sp>
        <p:nvSpPr>
          <p:cNvPr id="13" name="Shape 11"/>
          <p:cNvSpPr/>
          <p:nvPr/>
        </p:nvSpPr>
        <p:spPr>
          <a:xfrm>
            <a:off x="3840480" y="3785616"/>
            <a:ext cx="0" cy="228600"/>
          </a:xfrm>
          <a:prstGeom prst="line">
            <a:avLst/>
          </a:prstGeom>
          <a:noFill/>
          <a:ln w="28575">
            <a:solidFill>
              <a:srgbClr val="1E2761"/>
            </a:solidFill>
            <a:prstDash val="solid"/>
            <a:tailEnd type="triangle"/>
          </a:ln>
        </p:spPr>
      </p:sp>
      <p:sp>
        <p:nvSpPr>
          <p:cNvPr id="14" name="Shape 12"/>
          <p:cNvSpPr/>
          <p:nvPr/>
        </p:nvSpPr>
        <p:spPr>
          <a:xfrm>
            <a:off x="1051560" y="4014216"/>
            <a:ext cx="5577840" cy="621792"/>
          </a:xfrm>
          <a:prstGeom prst="roundRect">
            <a:avLst>
              <a:gd name="adj" fmla="val 10294"/>
            </a:avLst>
          </a:prstGeom>
          <a:solidFill>
            <a:srgbClr val="FFFFFF"/>
          </a:solidFill>
          <a:ln w="22225">
            <a:solidFill>
              <a:srgbClr val="E8623C"/>
            </a:solidFill>
            <a:prstDash val="dash"/>
          </a:ln>
        </p:spPr>
      </p:sp>
      <p:sp>
        <p:nvSpPr>
          <p:cNvPr id="15" name="Text 13"/>
          <p:cNvSpPr txBox="1"/>
          <p:nvPr/>
        </p:nvSpPr>
        <p:spPr>
          <a:xfrm>
            <a:off x="1097280" y="4014216"/>
            <a:ext cx="5486400" cy="621792"/>
          </a:xfrm>
          <a:prstGeom prst="rect">
            <a:avLst/>
          </a:prstGeom>
          <a:noFill/>
          <a:ln/>
        </p:spPr>
        <p:txBody>
          <a:bodyPr wrap="square" lIns="12700" tIns="12700" rIns="12700" bIns="12700" rtlCol="0" anchor="ctr"/>
          <a:lstStyle/>
          <a:p>
            <a:pPr algn="ctr" indent="0" marL="0">
              <a:buNone/>
            </a:pPr>
            <a:r>
              <a:rPr lang="en-US" sz="1300" dirty="0">
                <a:solidFill>
                  <a:srgbClr val="1E2761"/>
                </a:solidFill>
                <a:latin typeface="Calibri" pitchFamily="34" charset="0"/>
                <a:ea typeface="Calibri" pitchFamily="34" charset="-122"/>
                <a:cs typeface="Calibri" pitchFamily="34" charset="-120"/>
              </a:rPr>
              <a:t>前提（語られていない部分）</a:t>
            </a:r>
            <a:endParaRPr lang="en-US" sz="1300" dirty="0"/>
          </a:p>
        </p:txBody>
      </p:sp>
      <p:sp>
        <p:nvSpPr>
          <p:cNvPr id="16" name="Shape 14"/>
          <p:cNvSpPr/>
          <p:nvPr/>
        </p:nvSpPr>
        <p:spPr>
          <a:xfrm>
            <a:off x="7406640" y="1645920"/>
            <a:ext cx="4206240" cy="685800"/>
          </a:xfrm>
          <a:prstGeom prst="roundRect">
            <a:avLst>
              <a:gd name="adj" fmla="val 9333"/>
            </a:avLst>
          </a:prstGeom>
          <a:solidFill>
            <a:srgbClr val="FFFFFF"/>
          </a:solidFill>
          <a:ln w="15875">
            <a:solidFill>
              <a:srgbClr val="E8623C"/>
            </a:solidFill>
            <a:prstDash val="solid"/>
          </a:ln>
        </p:spPr>
      </p:sp>
      <p:sp>
        <p:nvSpPr>
          <p:cNvPr id="17" name="Text 15"/>
          <p:cNvSpPr txBox="1"/>
          <p:nvPr/>
        </p:nvSpPr>
        <p:spPr>
          <a:xfrm>
            <a:off x="7635240" y="1645920"/>
            <a:ext cx="3794760" cy="685800"/>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「AからBという結論に至るために、</a:t>
            </a:r>
            <a:endParaRPr lang="en-US" sz="1200" dirty="0"/>
          </a:p>
          <a:p>
            <a:pPr algn="l" indent="0" marL="0">
              <a:buNone/>
            </a:pPr>
            <a:r>
              <a:rPr lang="en-US" sz="1200" i="1" dirty="0">
                <a:solidFill>
                  <a:srgbClr val="1E2761"/>
                </a:solidFill>
                <a:latin typeface="Calibri" pitchFamily="34" charset="0"/>
                <a:ea typeface="Calibri" pitchFamily="34" charset="-122"/>
                <a:cs typeface="Calibri" pitchFamily="34" charset="-120"/>
              </a:rPr>
              <a:t>どんな前提が必要ですか？」</a:t>
            </a:r>
            <a:endParaRPr lang="en-US" sz="1200" dirty="0"/>
          </a:p>
        </p:txBody>
      </p:sp>
      <p:sp>
        <p:nvSpPr>
          <p:cNvPr id="18" name="Shape 16"/>
          <p:cNvSpPr/>
          <p:nvPr/>
        </p:nvSpPr>
        <p:spPr>
          <a:xfrm>
            <a:off x="7406640" y="2514600"/>
            <a:ext cx="4206240" cy="502920"/>
          </a:xfrm>
          <a:prstGeom prst="roundRect">
            <a:avLst>
              <a:gd name="adj" fmla="val 12727"/>
            </a:avLst>
          </a:prstGeom>
          <a:solidFill>
            <a:srgbClr val="FFFFFF"/>
          </a:solidFill>
          <a:ln w="15875">
            <a:solidFill>
              <a:srgbClr val="E8623C"/>
            </a:solidFill>
            <a:prstDash val="solid"/>
          </a:ln>
        </p:spPr>
      </p:sp>
      <p:sp>
        <p:nvSpPr>
          <p:cNvPr id="19" name="Text 17"/>
          <p:cNvSpPr txBox="1"/>
          <p:nvPr/>
        </p:nvSpPr>
        <p:spPr>
          <a:xfrm>
            <a:off x="7635240" y="2514600"/>
            <a:ext cx="3794760" cy="502920"/>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「その前提は妥当ですか？」</a:t>
            </a:r>
            <a:endParaRPr lang="en-US" sz="1200" dirty="0"/>
          </a:p>
        </p:txBody>
      </p:sp>
      <p:sp>
        <p:nvSpPr>
          <p:cNvPr id="20" name="Shape 18"/>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21" name="Shape 19"/>
          <p:cNvSpPr/>
          <p:nvPr/>
        </p:nvSpPr>
        <p:spPr>
          <a:xfrm>
            <a:off x="548640" y="5870448"/>
            <a:ext cx="54864" cy="713232"/>
          </a:xfrm>
          <a:prstGeom prst="rect">
            <a:avLst/>
          </a:prstGeom>
          <a:solidFill>
            <a:srgbClr val="E8623C"/>
          </a:solidFill>
          <a:ln/>
        </p:spPr>
      </p:sp>
      <p:sp>
        <p:nvSpPr>
          <p:cNvPr id="22" name="Text 20"/>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結論だけを見ていると、前提の弱さに気づけません。結論を疑うのではなく、前提を疑うという視点が有効です。</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パターン③ 論点を固定する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反論に見えても、実は別の論点への反論であることがある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8 / 19</a:t>
            </a:r>
            <a:endParaRPr lang="en-US" sz="900" dirty="0"/>
          </a:p>
        </p:txBody>
      </p:sp>
      <p:sp>
        <p:nvSpPr>
          <p:cNvPr id="5" name="Shape 3"/>
          <p:cNvSpPr/>
          <p:nvPr/>
        </p:nvSpPr>
        <p:spPr>
          <a:xfrm>
            <a:off x="914400" y="1600200"/>
            <a:ext cx="6035040" cy="685800"/>
          </a:xfrm>
          <a:prstGeom prst="roundRect">
            <a:avLst>
              <a:gd name="adj" fmla="val 9333"/>
            </a:avLst>
          </a:prstGeom>
          <a:solidFill>
            <a:srgbClr val="CADCFC"/>
          </a:solidFill>
          <a:ln w="15875">
            <a:solidFill>
              <a:srgbClr val="D3DAEA"/>
            </a:solidFill>
            <a:prstDash val="solid"/>
          </a:ln>
        </p:spPr>
      </p:sp>
      <p:sp>
        <p:nvSpPr>
          <p:cNvPr id="6" name="Text 4"/>
          <p:cNvSpPr txBox="1"/>
          <p:nvPr/>
        </p:nvSpPr>
        <p:spPr>
          <a:xfrm>
            <a:off x="960120" y="1600200"/>
            <a:ext cx="5943600" cy="685800"/>
          </a:xfrm>
          <a:prstGeom prst="rect">
            <a:avLst/>
          </a:prstGeom>
          <a:noFill/>
          <a:ln/>
        </p:spPr>
        <p:txBody>
          <a:bodyPr wrap="square" lIns="12700" tIns="12700" rIns="12700" bIns="1270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自分の論点 A</a:t>
            </a:r>
            <a:endParaRPr lang="en-US" sz="1400" dirty="0"/>
          </a:p>
        </p:txBody>
      </p:sp>
      <p:sp>
        <p:nvSpPr>
          <p:cNvPr id="7" name="Shape 5"/>
          <p:cNvSpPr/>
          <p:nvPr/>
        </p:nvSpPr>
        <p:spPr>
          <a:xfrm>
            <a:off x="914400" y="3108960"/>
            <a:ext cx="6035040" cy="685800"/>
          </a:xfrm>
          <a:prstGeom prst="roundRect">
            <a:avLst>
              <a:gd name="adj" fmla="val 9333"/>
            </a:avLst>
          </a:prstGeom>
          <a:solidFill>
            <a:srgbClr val="F2E2DD"/>
          </a:solidFill>
          <a:ln w="15875">
            <a:solidFill>
              <a:srgbClr val="D3DAEA"/>
            </a:solidFill>
            <a:prstDash val="solid"/>
          </a:ln>
        </p:spPr>
      </p:sp>
      <p:sp>
        <p:nvSpPr>
          <p:cNvPr id="8" name="Text 6"/>
          <p:cNvSpPr txBox="1"/>
          <p:nvPr/>
        </p:nvSpPr>
        <p:spPr>
          <a:xfrm>
            <a:off x="960120" y="3108960"/>
            <a:ext cx="5943600" cy="685800"/>
          </a:xfrm>
          <a:prstGeom prst="rect">
            <a:avLst/>
          </a:prstGeom>
          <a:noFill/>
          <a:ln/>
        </p:spPr>
        <p:txBody>
          <a:bodyPr wrap="square" lIns="12700" tIns="12700" rIns="12700" bIns="12700" rtlCol="0" anchor="ctr"/>
          <a:lstStyle/>
          <a:p>
            <a:pPr algn="ctr" indent="0" marL="0">
              <a:buNone/>
            </a:pPr>
            <a:r>
              <a:rPr lang="en-US" sz="1400" b="1" dirty="0">
                <a:solidFill>
                  <a:srgbClr val="E8623C"/>
                </a:solidFill>
                <a:latin typeface="Calibri" pitchFamily="34" charset="0"/>
                <a:ea typeface="Calibri" pitchFamily="34" charset="-122"/>
                <a:cs typeface="Calibri" pitchFamily="34" charset="-120"/>
              </a:rPr>
              <a:t>AIの回答が実際に扱っている論点 B</a:t>
            </a:r>
            <a:endParaRPr lang="en-US" sz="1400" dirty="0"/>
          </a:p>
        </p:txBody>
      </p:sp>
      <p:sp>
        <p:nvSpPr>
          <p:cNvPr id="9" name="Shape 7"/>
          <p:cNvSpPr/>
          <p:nvPr/>
        </p:nvSpPr>
        <p:spPr>
          <a:xfrm>
            <a:off x="3931920" y="2286000"/>
            <a:ext cx="-640080" cy="822960"/>
          </a:xfrm>
          <a:prstGeom prst="line">
            <a:avLst/>
          </a:prstGeom>
          <a:noFill/>
          <a:ln w="25400">
            <a:solidFill>
              <a:srgbClr val="E8623C"/>
            </a:solidFill>
            <a:prstDash val="dash"/>
          </a:ln>
        </p:spPr>
      </p:sp>
      <p:sp>
        <p:nvSpPr>
          <p:cNvPr id="10" name="Shape 8"/>
          <p:cNvSpPr/>
          <p:nvPr/>
        </p:nvSpPr>
        <p:spPr>
          <a:xfrm>
            <a:off x="3931920" y="2286000"/>
            <a:ext cx="640080" cy="822960"/>
          </a:xfrm>
          <a:prstGeom prst="line">
            <a:avLst/>
          </a:prstGeom>
          <a:noFill/>
          <a:ln w="25400">
            <a:solidFill>
              <a:srgbClr val="E8623C"/>
            </a:solidFill>
            <a:prstDash val="dash"/>
          </a:ln>
        </p:spPr>
      </p:sp>
      <p:sp>
        <p:nvSpPr>
          <p:cNvPr id="11" name="Text 9"/>
          <p:cNvSpPr txBox="1"/>
          <p:nvPr/>
        </p:nvSpPr>
        <p:spPr>
          <a:xfrm>
            <a:off x="4343400" y="2377440"/>
            <a:ext cx="2194560" cy="457200"/>
          </a:xfrm>
          <a:prstGeom prst="rect">
            <a:avLst/>
          </a:prstGeom>
          <a:noFill/>
          <a:ln/>
        </p:spPr>
        <p:txBody>
          <a:bodyPr wrap="square" lIns="0" tIns="0" rIns="0" bIns="0" rtlCol="0" anchor="t"/>
          <a:lstStyle/>
          <a:p>
            <a:pPr algn="l" indent="0" marL="0">
              <a:buNone/>
            </a:pPr>
            <a:r>
              <a:rPr lang="en-US" sz="1400" b="1" dirty="0">
                <a:solidFill>
                  <a:srgbClr val="E8623C"/>
                </a:solidFill>
                <a:latin typeface="Calibri" pitchFamily="34" charset="0"/>
                <a:ea typeface="Calibri" pitchFamily="34" charset="-122"/>
                <a:cs typeface="Calibri" pitchFamily="34" charset="-120"/>
              </a:rPr>
              <a:t>✕ ズレ</a:t>
            </a:r>
            <a:endParaRPr lang="en-US" sz="1400" dirty="0"/>
          </a:p>
        </p:txBody>
      </p:sp>
      <p:sp>
        <p:nvSpPr>
          <p:cNvPr id="12" name="Shape 10"/>
          <p:cNvSpPr/>
          <p:nvPr/>
        </p:nvSpPr>
        <p:spPr>
          <a:xfrm>
            <a:off x="914400" y="3977640"/>
            <a:ext cx="6035040" cy="685800"/>
          </a:xfrm>
          <a:prstGeom prst="roundRect">
            <a:avLst>
              <a:gd name="adj" fmla="val 9333"/>
            </a:avLst>
          </a:prstGeom>
          <a:solidFill>
            <a:srgbClr val="FFFFFF"/>
          </a:solidFill>
          <a:ln w="15875">
            <a:solidFill>
              <a:srgbClr val="E8623C"/>
            </a:solidFill>
            <a:prstDash val="solid"/>
          </a:ln>
        </p:spPr>
      </p:sp>
      <p:sp>
        <p:nvSpPr>
          <p:cNvPr id="13" name="Text 11"/>
          <p:cNvSpPr txBox="1"/>
          <p:nvPr/>
        </p:nvSpPr>
        <p:spPr>
          <a:xfrm>
            <a:off x="1143000" y="3977640"/>
            <a:ext cx="5623560" cy="685800"/>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「その回答は、私の元の主張の</a:t>
            </a:r>
            <a:endParaRPr lang="en-US" sz="1200" dirty="0"/>
          </a:p>
          <a:p>
            <a:pPr algn="l" indent="0" marL="0">
              <a:buNone/>
            </a:pPr>
            <a:r>
              <a:rPr lang="en-US" sz="1200" i="1" dirty="0">
                <a:solidFill>
                  <a:srgbClr val="1E2761"/>
                </a:solidFill>
                <a:latin typeface="Calibri" pitchFamily="34" charset="0"/>
                <a:ea typeface="Calibri" pitchFamily="34" charset="-122"/>
                <a:cs typeface="Calibri" pitchFamily="34" charset="-120"/>
              </a:rPr>
              <a:t>どの部分を否定していますか？」</a:t>
            </a:r>
            <a:endParaRPr lang="en-US" sz="1200" dirty="0"/>
          </a:p>
        </p:txBody>
      </p:sp>
      <p:sp>
        <p:nvSpPr>
          <p:cNvPr id="14" name="Text 12"/>
          <p:cNvSpPr txBox="1"/>
          <p:nvPr/>
        </p:nvSpPr>
        <p:spPr>
          <a:xfrm>
            <a:off x="7406640" y="1554480"/>
            <a:ext cx="4206240" cy="320040"/>
          </a:xfrm>
          <a:prstGeom prst="rect">
            <a:avLst/>
          </a:prstGeom>
          <a:noFill/>
          <a:ln/>
        </p:spPr>
        <p:txBody>
          <a:bodyPr wrap="square" lIns="0" tIns="0" rIns="0" bIns="0" rtlCol="0" anchor="t"/>
          <a:lstStyle/>
          <a:p>
            <a:pPr algn="l" indent="0" marL="0">
              <a:buNone/>
            </a:pPr>
            <a:r>
              <a:rPr lang="en-US" sz="1400" b="1" dirty="0">
                <a:solidFill>
                  <a:srgbClr val="1E2761"/>
                </a:solidFill>
                <a:latin typeface="Calibri" pitchFamily="34" charset="0"/>
                <a:ea typeface="Calibri" pitchFamily="34" charset="-122"/>
                <a:cs typeface="Calibri" pitchFamily="34" charset="-120"/>
              </a:rPr>
              <a:t>確認項目</a:t>
            </a:r>
            <a:endParaRPr lang="en-US" sz="1400" dirty="0"/>
          </a:p>
        </p:txBody>
      </p:sp>
      <p:sp>
        <p:nvSpPr>
          <p:cNvPr id="15" name="Shape 13"/>
          <p:cNvSpPr/>
          <p:nvPr/>
        </p:nvSpPr>
        <p:spPr>
          <a:xfrm>
            <a:off x="7452360" y="2084832"/>
            <a:ext cx="118872" cy="118872"/>
          </a:xfrm>
          <a:prstGeom prst="ellipse">
            <a:avLst/>
          </a:prstGeom>
          <a:solidFill>
            <a:srgbClr val="E8623C"/>
          </a:solidFill>
          <a:ln/>
        </p:spPr>
      </p:sp>
      <p:sp>
        <p:nvSpPr>
          <p:cNvPr id="16" name="Text 14"/>
          <p:cNvSpPr txBox="1"/>
          <p:nvPr/>
        </p:nvSpPr>
        <p:spPr>
          <a:xfrm>
            <a:off x="7726680" y="2011680"/>
            <a:ext cx="3840480" cy="320040"/>
          </a:xfrm>
          <a:prstGeom prst="rect">
            <a:avLst/>
          </a:prstGeom>
          <a:noFill/>
          <a:ln/>
        </p:spPr>
        <p:txBody>
          <a:bodyPr wrap="square" lIns="0" tIns="0" rIns="0" bIns="0" rtlCol="0" anchor="t"/>
          <a:lstStyle/>
          <a:p>
            <a:pPr algn="l" indent="0" marL="0">
              <a:buNone/>
            </a:pPr>
            <a:r>
              <a:rPr lang="en-US" sz="1300" dirty="0">
                <a:solidFill>
                  <a:srgbClr val="1E2761"/>
                </a:solidFill>
                <a:latin typeface="Calibri" pitchFamily="34" charset="0"/>
                <a:ea typeface="Calibri" pitchFamily="34" charset="-122"/>
                <a:cs typeface="Calibri" pitchFamily="34" charset="-120"/>
              </a:rPr>
              <a:t>対象</a:t>
            </a:r>
            <a:endParaRPr lang="en-US" sz="1300" dirty="0"/>
          </a:p>
        </p:txBody>
      </p:sp>
      <p:sp>
        <p:nvSpPr>
          <p:cNvPr id="17" name="Shape 15"/>
          <p:cNvSpPr/>
          <p:nvPr/>
        </p:nvSpPr>
        <p:spPr>
          <a:xfrm>
            <a:off x="7452360" y="2560320"/>
            <a:ext cx="118872" cy="118872"/>
          </a:xfrm>
          <a:prstGeom prst="ellipse">
            <a:avLst/>
          </a:prstGeom>
          <a:solidFill>
            <a:srgbClr val="E8623C"/>
          </a:solidFill>
          <a:ln/>
        </p:spPr>
      </p:sp>
      <p:sp>
        <p:nvSpPr>
          <p:cNvPr id="18" name="Text 16"/>
          <p:cNvSpPr txBox="1"/>
          <p:nvPr/>
        </p:nvSpPr>
        <p:spPr>
          <a:xfrm>
            <a:off x="7726680" y="2487168"/>
            <a:ext cx="3840480" cy="320040"/>
          </a:xfrm>
          <a:prstGeom prst="rect">
            <a:avLst/>
          </a:prstGeom>
          <a:noFill/>
          <a:ln/>
        </p:spPr>
        <p:txBody>
          <a:bodyPr wrap="square" lIns="0" tIns="0" rIns="0" bIns="0" rtlCol="0" anchor="t"/>
          <a:lstStyle/>
          <a:p>
            <a:pPr algn="l" indent="0" marL="0">
              <a:buNone/>
            </a:pPr>
            <a:r>
              <a:rPr lang="en-US" sz="1300" dirty="0">
                <a:solidFill>
                  <a:srgbClr val="1E2761"/>
                </a:solidFill>
                <a:latin typeface="Calibri" pitchFamily="34" charset="0"/>
                <a:ea typeface="Calibri" pitchFamily="34" charset="-122"/>
                <a:cs typeface="Calibri" pitchFamily="34" charset="-120"/>
              </a:rPr>
              <a:t>条件</a:t>
            </a:r>
            <a:endParaRPr lang="en-US" sz="1300" dirty="0"/>
          </a:p>
        </p:txBody>
      </p:sp>
      <p:sp>
        <p:nvSpPr>
          <p:cNvPr id="19" name="Shape 17"/>
          <p:cNvSpPr/>
          <p:nvPr/>
        </p:nvSpPr>
        <p:spPr>
          <a:xfrm>
            <a:off x="7452360" y="3035808"/>
            <a:ext cx="118872" cy="118872"/>
          </a:xfrm>
          <a:prstGeom prst="ellipse">
            <a:avLst/>
          </a:prstGeom>
          <a:solidFill>
            <a:srgbClr val="E8623C"/>
          </a:solidFill>
          <a:ln/>
        </p:spPr>
      </p:sp>
      <p:sp>
        <p:nvSpPr>
          <p:cNvPr id="20" name="Text 18"/>
          <p:cNvSpPr txBox="1"/>
          <p:nvPr/>
        </p:nvSpPr>
        <p:spPr>
          <a:xfrm>
            <a:off x="7726680" y="2962656"/>
            <a:ext cx="3840480" cy="320040"/>
          </a:xfrm>
          <a:prstGeom prst="rect">
            <a:avLst/>
          </a:prstGeom>
          <a:noFill/>
          <a:ln/>
        </p:spPr>
        <p:txBody>
          <a:bodyPr wrap="square" lIns="0" tIns="0" rIns="0" bIns="0" rtlCol="0" anchor="t"/>
          <a:lstStyle/>
          <a:p>
            <a:pPr algn="l" indent="0" marL="0">
              <a:buNone/>
            </a:pPr>
            <a:r>
              <a:rPr lang="en-US" sz="1300" dirty="0">
                <a:solidFill>
                  <a:srgbClr val="1E2761"/>
                </a:solidFill>
                <a:latin typeface="Calibri" pitchFamily="34" charset="0"/>
                <a:ea typeface="Calibri" pitchFamily="34" charset="-122"/>
                <a:cs typeface="Calibri" pitchFamily="34" charset="-120"/>
              </a:rPr>
              <a:t>定義</a:t>
            </a:r>
            <a:endParaRPr lang="en-US" sz="1300" dirty="0"/>
          </a:p>
        </p:txBody>
      </p:sp>
      <p:sp>
        <p:nvSpPr>
          <p:cNvPr id="21" name="Shape 19"/>
          <p:cNvSpPr/>
          <p:nvPr/>
        </p:nvSpPr>
        <p:spPr>
          <a:xfrm>
            <a:off x="7452360" y="3511296"/>
            <a:ext cx="118872" cy="118872"/>
          </a:xfrm>
          <a:prstGeom prst="ellipse">
            <a:avLst/>
          </a:prstGeom>
          <a:solidFill>
            <a:srgbClr val="E8623C"/>
          </a:solidFill>
          <a:ln/>
        </p:spPr>
      </p:sp>
      <p:sp>
        <p:nvSpPr>
          <p:cNvPr id="22" name="Text 20"/>
          <p:cNvSpPr txBox="1"/>
          <p:nvPr/>
        </p:nvSpPr>
        <p:spPr>
          <a:xfrm>
            <a:off x="7726680" y="3438144"/>
            <a:ext cx="3840480" cy="320040"/>
          </a:xfrm>
          <a:prstGeom prst="rect">
            <a:avLst/>
          </a:prstGeom>
          <a:noFill/>
          <a:ln/>
        </p:spPr>
        <p:txBody>
          <a:bodyPr wrap="square" lIns="0" tIns="0" rIns="0" bIns="0" rtlCol="0" anchor="t"/>
          <a:lstStyle/>
          <a:p>
            <a:pPr algn="l" indent="0" marL="0">
              <a:buNone/>
            </a:pPr>
            <a:r>
              <a:rPr lang="en-US" sz="1300" dirty="0">
                <a:solidFill>
                  <a:srgbClr val="1E2761"/>
                </a:solidFill>
                <a:latin typeface="Calibri" pitchFamily="34" charset="0"/>
                <a:ea typeface="Calibri" pitchFamily="34" charset="-122"/>
                <a:cs typeface="Calibri" pitchFamily="34" charset="-120"/>
              </a:rPr>
              <a:t>時間軸</a:t>
            </a:r>
            <a:endParaRPr lang="en-US" sz="1300" dirty="0"/>
          </a:p>
        </p:txBody>
      </p:sp>
      <p:sp>
        <p:nvSpPr>
          <p:cNvPr id="23" name="Shape 21"/>
          <p:cNvSpPr/>
          <p:nvPr/>
        </p:nvSpPr>
        <p:spPr>
          <a:xfrm>
            <a:off x="7452360" y="3986784"/>
            <a:ext cx="118872" cy="118872"/>
          </a:xfrm>
          <a:prstGeom prst="ellipse">
            <a:avLst/>
          </a:prstGeom>
          <a:solidFill>
            <a:srgbClr val="E8623C"/>
          </a:solidFill>
          <a:ln/>
        </p:spPr>
      </p:sp>
      <p:sp>
        <p:nvSpPr>
          <p:cNvPr id="24" name="Text 22"/>
          <p:cNvSpPr txBox="1"/>
          <p:nvPr/>
        </p:nvSpPr>
        <p:spPr>
          <a:xfrm>
            <a:off x="7726680" y="3913632"/>
            <a:ext cx="3840480" cy="320040"/>
          </a:xfrm>
          <a:prstGeom prst="rect">
            <a:avLst/>
          </a:prstGeom>
          <a:noFill/>
          <a:ln/>
        </p:spPr>
        <p:txBody>
          <a:bodyPr wrap="square" lIns="0" tIns="0" rIns="0" bIns="0" rtlCol="0" anchor="t"/>
          <a:lstStyle/>
          <a:p>
            <a:pPr algn="l" indent="0" marL="0">
              <a:buNone/>
            </a:pPr>
            <a:r>
              <a:rPr lang="en-US" sz="1300" dirty="0">
                <a:solidFill>
                  <a:srgbClr val="1E2761"/>
                </a:solidFill>
                <a:latin typeface="Calibri" pitchFamily="34" charset="0"/>
                <a:ea typeface="Calibri" pitchFamily="34" charset="-122"/>
                <a:cs typeface="Calibri" pitchFamily="34" charset="-120"/>
              </a:rPr>
              <a:t>問題設定</a:t>
            </a:r>
            <a:endParaRPr lang="en-US" sz="1300" dirty="0"/>
          </a:p>
        </p:txBody>
      </p:sp>
      <p:sp>
        <p:nvSpPr>
          <p:cNvPr id="25" name="Shape 23"/>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26" name="Shape 24"/>
          <p:cNvSpPr/>
          <p:nvPr/>
        </p:nvSpPr>
        <p:spPr>
          <a:xfrm>
            <a:off x="548640" y="5870448"/>
            <a:ext cx="54864" cy="713232"/>
          </a:xfrm>
          <a:prstGeom prst="rect">
            <a:avLst/>
          </a:prstGeom>
          <a:solidFill>
            <a:srgbClr val="E8623C"/>
          </a:solidFill>
          <a:ln/>
        </p:spPr>
      </p:sp>
      <p:sp>
        <p:nvSpPr>
          <p:cNvPr id="27" name="Text 25"/>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AIの回答は流暢なため、論点がズレていても「反論された」ように錯覚しやすいものです。これは壁打ちで最も見落とされやすい失敗です。</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パターン④ 推論を分解する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結論の正しさだけでなく、そこに至る道筋の正しさを検証する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9 / 19</a:t>
            </a:r>
            <a:endParaRPr lang="en-US" sz="900" dirty="0"/>
          </a:p>
        </p:txBody>
      </p:sp>
      <p:sp>
        <p:nvSpPr>
          <p:cNvPr id="5" name="Text 3"/>
          <p:cNvSpPr txBox="1"/>
          <p:nvPr/>
        </p:nvSpPr>
        <p:spPr>
          <a:xfrm>
            <a:off x="548640" y="1463040"/>
            <a:ext cx="1828800" cy="320040"/>
          </a:xfrm>
          <a:prstGeom prst="rect">
            <a:avLst/>
          </a:prstGeom>
          <a:noFill/>
          <a:ln/>
        </p:spPr>
        <p:txBody>
          <a:bodyPr wrap="square" lIns="0" tIns="0" rIns="0" bIns="0" rtlCol="0" anchor="t"/>
          <a:lstStyle/>
          <a:p>
            <a:pPr algn="l" indent="0" marL="0">
              <a:buNone/>
            </a:pPr>
            <a:r>
              <a:rPr lang="en-US" sz="1250" b="1" dirty="0">
                <a:solidFill>
                  <a:srgbClr val="5B6B87"/>
                </a:solidFill>
                <a:latin typeface="Calibri" pitchFamily="34" charset="0"/>
                <a:ea typeface="Calibri" pitchFamily="34" charset="-122"/>
                <a:cs typeface="Calibri" pitchFamily="34" charset="-120"/>
              </a:rPr>
              <a:t>Before</a:t>
            </a:r>
            <a:endParaRPr lang="en-US" sz="1250" dirty="0"/>
          </a:p>
        </p:txBody>
      </p:sp>
      <p:sp>
        <p:nvSpPr>
          <p:cNvPr id="6" name="Shape 4"/>
          <p:cNvSpPr/>
          <p:nvPr/>
        </p:nvSpPr>
        <p:spPr>
          <a:xfrm>
            <a:off x="2560320" y="1417320"/>
            <a:ext cx="1463040" cy="548640"/>
          </a:xfrm>
          <a:prstGeom prst="roundRect">
            <a:avLst>
              <a:gd name="adj" fmla="val 11667"/>
            </a:avLst>
          </a:prstGeom>
          <a:solidFill>
            <a:srgbClr val="F2F4F9"/>
          </a:solidFill>
          <a:ln w="15875">
            <a:solidFill>
              <a:srgbClr val="D3DAEA"/>
            </a:solidFill>
            <a:prstDash val="solid"/>
          </a:ln>
        </p:spPr>
      </p:sp>
      <p:sp>
        <p:nvSpPr>
          <p:cNvPr id="7" name="Text 5"/>
          <p:cNvSpPr txBox="1"/>
          <p:nvPr/>
        </p:nvSpPr>
        <p:spPr>
          <a:xfrm>
            <a:off x="2606040" y="1417320"/>
            <a:ext cx="1371600" cy="548640"/>
          </a:xfrm>
          <a:prstGeom prst="rect">
            <a:avLst/>
          </a:prstGeom>
          <a:noFill/>
          <a:ln/>
        </p:spPr>
        <p:txBody>
          <a:bodyPr wrap="square" lIns="12700" tIns="12700" rIns="12700" bIns="1270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A</a:t>
            </a:r>
            <a:endParaRPr lang="en-US" sz="1400" dirty="0"/>
          </a:p>
        </p:txBody>
      </p:sp>
      <p:sp>
        <p:nvSpPr>
          <p:cNvPr id="8" name="Shape 6"/>
          <p:cNvSpPr/>
          <p:nvPr/>
        </p:nvSpPr>
        <p:spPr>
          <a:xfrm>
            <a:off x="4023360" y="1691640"/>
            <a:ext cx="3840480" cy="0"/>
          </a:xfrm>
          <a:prstGeom prst="line">
            <a:avLst/>
          </a:prstGeom>
          <a:noFill/>
          <a:ln w="31750">
            <a:solidFill>
              <a:srgbClr val="9AA5B8"/>
            </a:solidFill>
            <a:prstDash val="solid"/>
            <a:tailEnd type="triangle"/>
          </a:ln>
        </p:spPr>
      </p:sp>
      <p:sp>
        <p:nvSpPr>
          <p:cNvPr id="9" name="Shape 7"/>
          <p:cNvSpPr/>
          <p:nvPr/>
        </p:nvSpPr>
        <p:spPr>
          <a:xfrm>
            <a:off x="7863840" y="1417320"/>
            <a:ext cx="1463040" cy="548640"/>
          </a:xfrm>
          <a:prstGeom prst="roundRect">
            <a:avLst>
              <a:gd name="adj" fmla="val 11667"/>
            </a:avLst>
          </a:prstGeom>
          <a:solidFill>
            <a:srgbClr val="F2F4F9"/>
          </a:solidFill>
          <a:ln w="15875">
            <a:solidFill>
              <a:srgbClr val="D3DAEA"/>
            </a:solidFill>
            <a:prstDash val="solid"/>
          </a:ln>
        </p:spPr>
      </p:sp>
      <p:sp>
        <p:nvSpPr>
          <p:cNvPr id="10" name="Text 8"/>
          <p:cNvSpPr txBox="1"/>
          <p:nvPr/>
        </p:nvSpPr>
        <p:spPr>
          <a:xfrm>
            <a:off x="7909560" y="1417320"/>
            <a:ext cx="1371600" cy="548640"/>
          </a:xfrm>
          <a:prstGeom prst="rect">
            <a:avLst/>
          </a:prstGeom>
          <a:noFill/>
          <a:ln/>
        </p:spPr>
        <p:txBody>
          <a:bodyPr wrap="square" lIns="12700" tIns="12700" rIns="12700" bIns="1270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B</a:t>
            </a:r>
            <a:endParaRPr lang="en-US" sz="1400" dirty="0"/>
          </a:p>
        </p:txBody>
      </p:sp>
      <p:sp>
        <p:nvSpPr>
          <p:cNvPr id="11" name="Text 9"/>
          <p:cNvSpPr txBox="1"/>
          <p:nvPr/>
        </p:nvSpPr>
        <p:spPr>
          <a:xfrm>
            <a:off x="8092440" y="2057400"/>
            <a:ext cx="3108960" cy="274320"/>
          </a:xfrm>
          <a:prstGeom prst="rect">
            <a:avLst/>
          </a:prstGeom>
          <a:noFill/>
          <a:ln/>
        </p:spPr>
        <p:txBody>
          <a:bodyPr wrap="square" lIns="0" tIns="0" rIns="0" bIns="0" rtlCol="0" anchor="t"/>
          <a:lstStyle/>
          <a:p>
            <a:pPr algn="l" indent="0" marL="0">
              <a:buNone/>
            </a:pPr>
            <a:r>
              <a:rPr lang="en-US" sz="1050" i="1" dirty="0">
                <a:solidFill>
                  <a:srgbClr val="5B6B87"/>
                </a:solidFill>
                <a:latin typeface="Calibri" pitchFamily="34" charset="0"/>
                <a:ea typeface="Calibri" pitchFamily="34" charset="-122"/>
                <a:cs typeface="Calibri" pitchFamily="34" charset="-120"/>
              </a:rPr>
              <a:t>（一気に飛ぶ結論）</a:t>
            </a:r>
            <a:endParaRPr lang="en-US" sz="1050" dirty="0"/>
          </a:p>
        </p:txBody>
      </p:sp>
      <p:sp>
        <p:nvSpPr>
          <p:cNvPr id="12" name="Text 10"/>
          <p:cNvSpPr txBox="1"/>
          <p:nvPr/>
        </p:nvSpPr>
        <p:spPr>
          <a:xfrm>
            <a:off x="548640" y="2514600"/>
            <a:ext cx="1828800" cy="320040"/>
          </a:xfrm>
          <a:prstGeom prst="rect">
            <a:avLst/>
          </a:prstGeom>
          <a:noFill/>
          <a:ln/>
        </p:spPr>
        <p:txBody>
          <a:bodyPr wrap="square" lIns="0" tIns="0" rIns="0" bIns="0" rtlCol="0" anchor="t"/>
          <a:lstStyle/>
          <a:p>
            <a:pPr algn="l" indent="0" marL="0">
              <a:buNone/>
            </a:pPr>
            <a:r>
              <a:rPr lang="en-US" sz="1250" b="1" dirty="0">
                <a:solidFill>
                  <a:srgbClr val="5B6B87"/>
                </a:solidFill>
                <a:latin typeface="Calibri" pitchFamily="34" charset="0"/>
                <a:ea typeface="Calibri" pitchFamily="34" charset="-122"/>
                <a:cs typeface="Calibri" pitchFamily="34" charset="-120"/>
              </a:rPr>
              <a:t>After</a:t>
            </a:r>
            <a:endParaRPr lang="en-US" sz="1250" dirty="0"/>
          </a:p>
        </p:txBody>
      </p:sp>
      <p:sp>
        <p:nvSpPr>
          <p:cNvPr id="13" name="Shape 11"/>
          <p:cNvSpPr/>
          <p:nvPr/>
        </p:nvSpPr>
        <p:spPr>
          <a:xfrm>
            <a:off x="2560320" y="2468880"/>
            <a:ext cx="1417320" cy="548640"/>
          </a:xfrm>
          <a:prstGeom prst="roundRect">
            <a:avLst>
              <a:gd name="adj" fmla="val 11667"/>
            </a:avLst>
          </a:prstGeom>
          <a:solidFill>
            <a:srgbClr val="F2F4F9"/>
          </a:solidFill>
          <a:ln w="15875">
            <a:solidFill>
              <a:srgbClr val="D3DAEA"/>
            </a:solidFill>
            <a:prstDash val="solid"/>
          </a:ln>
        </p:spPr>
      </p:sp>
      <p:sp>
        <p:nvSpPr>
          <p:cNvPr id="14" name="Text 12"/>
          <p:cNvSpPr txBox="1"/>
          <p:nvPr/>
        </p:nvSpPr>
        <p:spPr>
          <a:xfrm>
            <a:off x="2606040" y="2468880"/>
            <a:ext cx="1325880" cy="548640"/>
          </a:xfrm>
          <a:prstGeom prst="rect">
            <a:avLst/>
          </a:prstGeom>
          <a:noFill/>
          <a:ln/>
        </p:spPr>
        <p:txBody>
          <a:bodyPr wrap="square" lIns="12700" tIns="12700" rIns="12700" bIns="1270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A</a:t>
            </a:r>
            <a:endParaRPr lang="en-US" sz="1150" dirty="0"/>
          </a:p>
        </p:txBody>
      </p:sp>
      <p:sp>
        <p:nvSpPr>
          <p:cNvPr id="15" name="Shape 13"/>
          <p:cNvSpPr/>
          <p:nvPr/>
        </p:nvSpPr>
        <p:spPr>
          <a:xfrm>
            <a:off x="3977640" y="2743200"/>
            <a:ext cx="182880" cy="0"/>
          </a:xfrm>
          <a:prstGeom prst="line">
            <a:avLst/>
          </a:prstGeom>
          <a:noFill/>
          <a:ln w="22225">
            <a:solidFill>
              <a:srgbClr val="1E2761"/>
            </a:solidFill>
            <a:prstDash val="solid"/>
            <a:tailEnd type="triangle"/>
          </a:ln>
        </p:spPr>
      </p:sp>
      <p:sp>
        <p:nvSpPr>
          <p:cNvPr id="16" name="Shape 14"/>
          <p:cNvSpPr/>
          <p:nvPr/>
        </p:nvSpPr>
        <p:spPr>
          <a:xfrm>
            <a:off x="4160520" y="2468880"/>
            <a:ext cx="1417320" cy="548640"/>
          </a:xfrm>
          <a:prstGeom prst="roundRect">
            <a:avLst>
              <a:gd name="adj" fmla="val 11667"/>
            </a:avLst>
          </a:prstGeom>
          <a:solidFill>
            <a:srgbClr val="FBD9CC"/>
          </a:solidFill>
          <a:ln w="15875">
            <a:solidFill>
              <a:srgbClr val="D3DAEA"/>
            </a:solidFill>
            <a:prstDash val="solid"/>
          </a:ln>
        </p:spPr>
      </p:sp>
      <p:sp>
        <p:nvSpPr>
          <p:cNvPr id="17" name="Text 15"/>
          <p:cNvSpPr txBox="1"/>
          <p:nvPr/>
        </p:nvSpPr>
        <p:spPr>
          <a:xfrm>
            <a:off x="4206240" y="2468880"/>
            <a:ext cx="1325880" cy="548640"/>
          </a:xfrm>
          <a:prstGeom prst="rect">
            <a:avLst/>
          </a:prstGeom>
          <a:noFill/>
          <a:ln/>
        </p:spPr>
        <p:txBody>
          <a:bodyPr wrap="square" lIns="12700" tIns="12700" rIns="12700" bIns="12700" rtlCol="0" anchor="ctr"/>
          <a:lstStyle/>
          <a:p>
            <a:pPr algn="ctr" indent="0" marL="0">
              <a:buNone/>
            </a:pPr>
            <a:r>
              <a:rPr lang="en-US" sz="1150" dirty="0">
                <a:solidFill>
                  <a:srgbClr val="1E2761"/>
                </a:solidFill>
                <a:latin typeface="Calibri" pitchFamily="34" charset="0"/>
                <a:ea typeface="Calibri" pitchFamily="34" charset="-122"/>
                <a:cs typeface="Calibri" pitchFamily="34" charset="-120"/>
              </a:rPr>
              <a:t>ステップ1</a:t>
            </a:r>
            <a:endParaRPr lang="en-US" sz="1150" dirty="0"/>
          </a:p>
        </p:txBody>
      </p:sp>
      <p:sp>
        <p:nvSpPr>
          <p:cNvPr id="18" name="Shape 16"/>
          <p:cNvSpPr/>
          <p:nvPr/>
        </p:nvSpPr>
        <p:spPr>
          <a:xfrm>
            <a:off x="5577840" y="2743200"/>
            <a:ext cx="182880" cy="0"/>
          </a:xfrm>
          <a:prstGeom prst="line">
            <a:avLst/>
          </a:prstGeom>
          <a:noFill/>
          <a:ln w="22225">
            <a:solidFill>
              <a:srgbClr val="1E2761"/>
            </a:solidFill>
            <a:prstDash val="solid"/>
            <a:tailEnd type="triangle"/>
          </a:ln>
        </p:spPr>
      </p:sp>
      <p:sp>
        <p:nvSpPr>
          <p:cNvPr id="19" name="Shape 17"/>
          <p:cNvSpPr/>
          <p:nvPr/>
        </p:nvSpPr>
        <p:spPr>
          <a:xfrm>
            <a:off x="5760720" y="2468880"/>
            <a:ext cx="1417320" cy="548640"/>
          </a:xfrm>
          <a:prstGeom prst="roundRect">
            <a:avLst>
              <a:gd name="adj" fmla="val 11667"/>
            </a:avLst>
          </a:prstGeom>
          <a:solidFill>
            <a:srgbClr val="F2F4F9"/>
          </a:solidFill>
          <a:ln w="15875">
            <a:solidFill>
              <a:srgbClr val="D3DAEA"/>
            </a:solidFill>
            <a:prstDash val="solid"/>
          </a:ln>
        </p:spPr>
      </p:sp>
      <p:sp>
        <p:nvSpPr>
          <p:cNvPr id="20" name="Text 18"/>
          <p:cNvSpPr txBox="1"/>
          <p:nvPr/>
        </p:nvSpPr>
        <p:spPr>
          <a:xfrm>
            <a:off x="5806440" y="2468880"/>
            <a:ext cx="1325880" cy="548640"/>
          </a:xfrm>
          <a:prstGeom prst="rect">
            <a:avLst/>
          </a:prstGeom>
          <a:noFill/>
          <a:ln/>
        </p:spPr>
        <p:txBody>
          <a:bodyPr wrap="square" lIns="12700" tIns="12700" rIns="12700" bIns="12700" rtlCol="0" anchor="ctr"/>
          <a:lstStyle/>
          <a:p>
            <a:pPr algn="ctr" indent="0" marL="0">
              <a:buNone/>
            </a:pPr>
            <a:r>
              <a:rPr lang="en-US" sz="1150" dirty="0">
                <a:solidFill>
                  <a:srgbClr val="1E2761"/>
                </a:solidFill>
                <a:latin typeface="Calibri" pitchFamily="34" charset="0"/>
                <a:ea typeface="Calibri" pitchFamily="34" charset="-122"/>
                <a:cs typeface="Calibri" pitchFamily="34" charset="-120"/>
              </a:rPr>
              <a:t>ステップ2</a:t>
            </a:r>
            <a:endParaRPr lang="en-US" sz="1150" dirty="0"/>
          </a:p>
        </p:txBody>
      </p:sp>
      <p:sp>
        <p:nvSpPr>
          <p:cNvPr id="21" name="Shape 19"/>
          <p:cNvSpPr/>
          <p:nvPr/>
        </p:nvSpPr>
        <p:spPr>
          <a:xfrm>
            <a:off x="7178040" y="2743200"/>
            <a:ext cx="182880" cy="0"/>
          </a:xfrm>
          <a:prstGeom prst="line">
            <a:avLst/>
          </a:prstGeom>
          <a:noFill/>
          <a:ln w="22225">
            <a:solidFill>
              <a:srgbClr val="1E2761"/>
            </a:solidFill>
            <a:prstDash val="solid"/>
            <a:tailEnd type="triangle"/>
          </a:ln>
        </p:spPr>
      </p:sp>
      <p:sp>
        <p:nvSpPr>
          <p:cNvPr id="22" name="Shape 20"/>
          <p:cNvSpPr/>
          <p:nvPr/>
        </p:nvSpPr>
        <p:spPr>
          <a:xfrm>
            <a:off x="7360920" y="2468880"/>
            <a:ext cx="1417320" cy="548640"/>
          </a:xfrm>
          <a:prstGeom prst="roundRect">
            <a:avLst>
              <a:gd name="adj" fmla="val 11667"/>
            </a:avLst>
          </a:prstGeom>
          <a:solidFill>
            <a:srgbClr val="F2F4F9"/>
          </a:solidFill>
          <a:ln w="15875">
            <a:solidFill>
              <a:srgbClr val="D3DAEA"/>
            </a:solidFill>
            <a:prstDash val="solid"/>
          </a:ln>
        </p:spPr>
      </p:sp>
      <p:sp>
        <p:nvSpPr>
          <p:cNvPr id="23" name="Text 21"/>
          <p:cNvSpPr txBox="1"/>
          <p:nvPr/>
        </p:nvSpPr>
        <p:spPr>
          <a:xfrm>
            <a:off x="7406640" y="2468880"/>
            <a:ext cx="1325880" cy="548640"/>
          </a:xfrm>
          <a:prstGeom prst="rect">
            <a:avLst/>
          </a:prstGeom>
          <a:noFill/>
          <a:ln/>
        </p:spPr>
        <p:txBody>
          <a:bodyPr wrap="square" lIns="12700" tIns="12700" rIns="12700" bIns="12700" rtlCol="0" anchor="ctr"/>
          <a:lstStyle/>
          <a:p>
            <a:pPr algn="ctr" indent="0" marL="0">
              <a:buNone/>
            </a:pPr>
            <a:r>
              <a:rPr lang="en-US" sz="1150" dirty="0">
                <a:solidFill>
                  <a:srgbClr val="1E2761"/>
                </a:solidFill>
                <a:latin typeface="Calibri" pitchFamily="34" charset="0"/>
                <a:ea typeface="Calibri" pitchFamily="34" charset="-122"/>
                <a:cs typeface="Calibri" pitchFamily="34" charset="-120"/>
              </a:rPr>
              <a:t>ステップ3</a:t>
            </a:r>
            <a:endParaRPr lang="en-US" sz="1150" dirty="0"/>
          </a:p>
        </p:txBody>
      </p:sp>
      <p:sp>
        <p:nvSpPr>
          <p:cNvPr id="24" name="Shape 22"/>
          <p:cNvSpPr/>
          <p:nvPr/>
        </p:nvSpPr>
        <p:spPr>
          <a:xfrm>
            <a:off x="8778240" y="2743200"/>
            <a:ext cx="182880" cy="0"/>
          </a:xfrm>
          <a:prstGeom prst="line">
            <a:avLst/>
          </a:prstGeom>
          <a:noFill/>
          <a:ln w="22225">
            <a:solidFill>
              <a:srgbClr val="1E2761"/>
            </a:solidFill>
            <a:prstDash val="solid"/>
            <a:tailEnd type="triangle"/>
          </a:ln>
        </p:spPr>
      </p:sp>
      <p:sp>
        <p:nvSpPr>
          <p:cNvPr id="25" name="Shape 23"/>
          <p:cNvSpPr/>
          <p:nvPr/>
        </p:nvSpPr>
        <p:spPr>
          <a:xfrm>
            <a:off x="8961120" y="2468880"/>
            <a:ext cx="1417320" cy="548640"/>
          </a:xfrm>
          <a:prstGeom prst="roundRect">
            <a:avLst>
              <a:gd name="adj" fmla="val 11667"/>
            </a:avLst>
          </a:prstGeom>
          <a:solidFill>
            <a:srgbClr val="F2F4F9"/>
          </a:solidFill>
          <a:ln w="15875">
            <a:solidFill>
              <a:srgbClr val="D3DAEA"/>
            </a:solidFill>
            <a:prstDash val="solid"/>
          </a:ln>
        </p:spPr>
      </p:sp>
      <p:sp>
        <p:nvSpPr>
          <p:cNvPr id="26" name="Text 24"/>
          <p:cNvSpPr txBox="1"/>
          <p:nvPr/>
        </p:nvSpPr>
        <p:spPr>
          <a:xfrm>
            <a:off x="9006840" y="2468880"/>
            <a:ext cx="1325880" cy="548640"/>
          </a:xfrm>
          <a:prstGeom prst="rect">
            <a:avLst/>
          </a:prstGeom>
          <a:noFill/>
          <a:ln/>
        </p:spPr>
        <p:txBody>
          <a:bodyPr wrap="square" lIns="12700" tIns="12700" rIns="12700" bIns="1270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B</a:t>
            </a:r>
            <a:endParaRPr lang="en-US" sz="1150" dirty="0"/>
          </a:p>
        </p:txBody>
      </p:sp>
      <p:sp>
        <p:nvSpPr>
          <p:cNvPr id="27" name="Text 25"/>
          <p:cNvSpPr txBox="1"/>
          <p:nvPr/>
        </p:nvSpPr>
        <p:spPr>
          <a:xfrm>
            <a:off x="4023360" y="3108960"/>
            <a:ext cx="2103120" cy="274320"/>
          </a:xfrm>
          <a:prstGeom prst="rect">
            <a:avLst/>
          </a:prstGeom>
          <a:noFill/>
          <a:ln/>
        </p:spPr>
        <p:txBody>
          <a:bodyPr wrap="square" lIns="0" tIns="0" rIns="0" bIns="0" rtlCol="0" anchor="t"/>
          <a:lstStyle/>
          <a:p>
            <a:pPr algn="ctr" indent="0" marL="0">
              <a:buNone/>
            </a:pPr>
            <a:r>
              <a:rPr lang="en-US" sz="1050" b="1" dirty="0">
                <a:solidFill>
                  <a:srgbClr val="E8623C"/>
                </a:solidFill>
                <a:latin typeface="Calibri" pitchFamily="34" charset="0"/>
                <a:ea typeface="Calibri" pitchFamily="34" charset="-122"/>
                <a:cs typeface="Calibri" pitchFamily="34" charset="-120"/>
              </a:rPr>
              <a:t>注意：飛躍の疑い</a:t>
            </a:r>
            <a:endParaRPr lang="en-US" sz="1050" dirty="0"/>
          </a:p>
        </p:txBody>
      </p:sp>
      <p:sp>
        <p:nvSpPr>
          <p:cNvPr id="28" name="Text 26"/>
          <p:cNvSpPr txBox="1"/>
          <p:nvPr/>
        </p:nvSpPr>
        <p:spPr>
          <a:xfrm>
            <a:off x="914400" y="3794760"/>
            <a:ext cx="10332720" cy="320040"/>
          </a:xfrm>
          <a:prstGeom prst="rect">
            <a:avLst/>
          </a:prstGeom>
          <a:noFill/>
          <a:ln/>
        </p:spPr>
        <p:txBody>
          <a:bodyPr wrap="square" lIns="0" tIns="0" rIns="0" bIns="0" rtlCol="0" anchor="t"/>
          <a:lstStyle/>
          <a:p>
            <a:pPr algn="l" indent="0" marL="0">
              <a:buNone/>
            </a:pPr>
            <a:r>
              <a:rPr lang="en-US" sz="1400" b="1" dirty="0">
                <a:solidFill>
                  <a:srgbClr val="1E2761"/>
                </a:solidFill>
                <a:latin typeface="Calibri" pitchFamily="34" charset="0"/>
                <a:ea typeface="Calibri" pitchFamily="34" charset="-122"/>
                <a:cs typeface="Calibri" pitchFamily="34" charset="-120"/>
              </a:rPr>
              <a:t>チェック項目</a:t>
            </a:r>
            <a:endParaRPr lang="en-US" sz="1400" dirty="0"/>
          </a:p>
        </p:txBody>
      </p:sp>
      <p:sp>
        <p:nvSpPr>
          <p:cNvPr id="29" name="Shape 27"/>
          <p:cNvSpPr/>
          <p:nvPr/>
        </p:nvSpPr>
        <p:spPr>
          <a:xfrm>
            <a:off x="914400" y="4206240"/>
            <a:ext cx="2514600" cy="594360"/>
          </a:xfrm>
          <a:prstGeom prst="roundRect">
            <a:avLst>
              <a:gd name="adj" fmla="val 10769"/>
            </a:avLst>
          </a:prstGeom>
          <a:solidFill>
            <a:srgbClr val="F2F4F9"/>
          </a:solidFill>
          <a:ln w="15875">
            <a:solidFill>
              <a:srgbClr val="D3DAEA"/>
            </a:solidFill>
            <a:prstDash val="solid"/>
          </a:ln>
        </p:spPr>
      </p:sp>
      <p:sp>
        <p:nvSpPr>
          <p:cNvPr id="30" name="Text 28"/>
          <p:cNvSpPr txBox="1"/>
          <p:nvPr/>
        </p:nvSpPr>
        <p:spPr>
          <a:xfrm>
            <a:off x="960120" y="4206240"/>
            <a:ext cx="2423160" cy="594360"/>
          </a:xfrm>
          <a:prstGeom prst="rect">
            <a:avLst/>
          </a:prstGeom>
          <a:noFill/>
          <a:ln/>
        </p:spPr>
        <p:txBody>
          <a:bodyPr wrap="square" lIns="12700" tIns="12700" rIns="12700" bIns="12700" rtlCol="0" anchor="ctr"/>
          <a:lstStyle/>
          <a:p>
            <a:pPr algn="ctr" indent="0" marL="0">
              <a:buNone/>
            </a:pPr>
            <a:r>
              <a:rPr lang="en-US" sz="1150" dirty="0">
                <a:solidFill>
                  <a:srgbClr val="1E2761"/>
                </a:solidFill>
                <a:latin typeface="Calibri" pitchFamily="34" charset="0"/>
                <a:ea typeface="Calibri" pitchFamily="34" charset="-122"/>
                <a:cs typeface="Calibri" pitchFamily="34" charset="-120"/>
              </a:rPr>
              <a:t>論理の飛躍</a:t>
            </a:r>
            <a:endParaRPr lang="en-US" sz="1150" dirty="0"/>
          </a:p>
        </p:txBody>
      </p:sp>
      <p:sp>
        <p:nvSpPr>
          <p:cNvPr id="31" name="Shape 29"/>
          <p:cNvSpPr/>
          <p:nvPr/>
        </p:nvSpPr>
        <p:spPr>
          <a:xfrm>
            <a:off x="3611880" y="4206240"/>
            <a:ext cx="2514600" cy="594360"/>
          </a:xfrm>
          <a:prstGeom prst="roundRect">
            <a:avLst>
              <a:gd name="adj" fmla="val 10769"/>
            </a:avLst>
          </a:prstGeom>
          <a:solidFill>
            <a:srgbClr val="F2F4F9"/>
          </a:solidFill>
          <a:ln w="15875">
            <a:solidFill>
              <a:srgbClr val="D3DAEA"/>
            </a:solidFill>
            <a:prstDash val="solid"/>
          </a:ln>
        </p:spPr>
      </p:sp>
      <p:sp>
        <p:nvSpPr>
          <p:cNvPr id="32" name="Text 30"/>
          <p:cNvSpPr txBox="1"/>
          <p:nvPr/>
        </p:nvSpPr>
        <p:spPr>
          <a:xfrm>
            <a:off x="3657600" y="4206240"/>
            <a:ext cx="2423160" cy="594360"/>
          </a:xfrm>
          <a:prstGeom prst="rect">
            <a:avLst/>
          </a:prstGeom>
          <a:noFill/>
          <a:ln/>
        </p:spPr>
        <p:txBody>
          <a:bodyPr wrap="square" lIns="12700" tIns="12700" rIns="12700" bIns="12700" rtlCol="0" anchor="ctr"/>
          <a:lstStyle/>
          <a:p>
            <a:pPr algn="ctr" indent="0" marL="0">
              <a:buNone/>
            </a:pPr>
            <a:r>
              <a:rPr lang="en-US" sz="1150" dirty="0">
                <a:solidFill>
                  <a:srgbClr val="1E2761"/>
                </a:solidFill>
                <a:latin typeface="Calibri" pitchFamily="34" charset="0"/>
                <a:ea typeface="Calibri" pitchFamily="34" charset="-122"/>
                <a:cs typeface="Calibri" pitchFamily="34" charset="-120"/>
              </a:rPr>
              <a:t>因果関係の誤認</a:t>
            </a:r>
            <a:endParaRPr lang="en-US" sz="1150" dirty="0"/>
          </a:p>
        </p:txBody>
      </p:sp>
      <p:sp>
        <p:nvSpPr>
          <p:cNvPr id="33" name="Shape 31"/>
          <p:cNvSpPr/>
          <p:nvPr/>
        </p:nvSpPr>
        <p:spPr>
          <a:xfrm>
            <a:off x="6309360" y="4206240"/>
            <a:ext cx="2514600" cy="594360"/>
          </a:xfrm>
          <a:prstGeom prst="roundRect">
            <a:avLst>
              <a:gd name="adj" fmla="val 10769"/>
            </a:avLst>
          </a:prstGeom>
          <a:solidFill>
            <a:srgbClr val="F2F4F9"/>
          </a:solidFill>
          <a:ln w="15875">
            <a:solidFill>
              <a:srgbClr val="D3DAEA"/>
            </a:solidFill>
            <a:prstDash val="solid"/>
          </a:ln>
        </p:spPr>
      </p:sp>
      <p:sp>
        <p:nvSpPr>
          <p:cNvPr id="34" name="Text 32"/>
          <p:cNvSpPr txBox="1"/>
          <p:nvPr/>
        </p:nvSpPr>
        <p:spPr>
          <a:xfrm>
            <a:off x="6355080" y="4206240"/>
            <a:ext cx="2423160" cy="594360"/>
          </a:xfrm>
          <a:prstGeom prst="rect">
            <a:avLst/>
          </a:prstGeom>
          <a:noFill/>
          <a:ln/>
        </p:spPr>
        <p:txBody>
          <a:bodyPr wrap="square" lIns="12700" tIns="12700" rIns="12700" bIns="12700" rtlCol="0" anchor="ctr"/>
          <a:lstStyle/>
          <a:p>
            <a:pPr algn="ctr" indent="0" marL="0">
              <a:buNone/>
            </a:pPr>
            <a:r>
              <a:rPr lang="en-US" sz="1150" dirty="0">
                <a:solidFill>
                  <a:srgbClr val="1E2761"/>
                </a:solidFill>
                <a:latin typeface="Calibri" pitchFamily="34" charset="0"/>
                <a:ea typeface="Calibri" pitchFamily="34" charset="-122"/>
                <a:cs typeface="Calibri" pitchFamily="34" charset="-120"/>
              </a:rPr>
              <a:t>相関と因果の混同</a:t>
            </a:r>
            <a:endParaRPr lang="en-US" sz="1150" dirty="0"/>
          </a:p>
        </p:txBody>
      </p:sp>
      <p:sp>
        <p:nvSpPr>
          <p:cNvPr id="35" name="Shape 33"/>
          <p:cNvSpPr/>
          <p:nvPr/>
        </p:nvSpPr>
        <p:spPr>
          <a:xfrm>
            <a:off x="9006840" y="4206240"/>
            <a:ext cx="2514600" cy="594360"/>
          </a:xfrm>
          <a:prstGeom prst="roundRect">
            <a:avLst>
              <a:gd name="adj" fmla="val 10769"/>
            </a:avLst>
          </a:prstGeom>
          <a:solidFill>
            <a:srgbClr val="F2F4F9"/>
          </a:solidFill>
          <a:ln w="15875">
            <a:solidFill>
              <a:srgbClr val="D3DAEA"/>
            </a:solidFill>
            <a:prstDash val="solid"/>
          </a:ln>
        </p:spPr>
      </p:sp>
      <p:sp>
        <p:nvSpPr>
          <p:cNvPr id="36" name="Text 34"/>
          <p:cNvSpPr txBox="1"/>
          <p:nvPr/>
        </p:nvSpPr>
        <p:spPr>
          <a:xfrm>
            <a:off x="9052560" y="4206240"/>
            <a:ext cx="2423160" cy="594360"/>
          </a:xfrm>
          <a:prstGeom prst="rect">
            <a:avLst/>
          </a:prstGeom>
          <a:noFill/>
          <a:ln/>
        </p:spPr>
        <p:txBody>
          <a:bodyPr wrap="square" lIns="12700" tIns="12700" rIns="12700" bIns="12700" rtlCol="0" anchor="ctr"/>
          <a:lstStyle/>
          <a:p>
            <a:pPr algn="ctr" indent="0" marL="0">
              <a:buNone/>
            </a:pPr>
            <a:r>
              <a:rPr lang="en-US" sz="1150" dirty="0">
                <a:solidFill>
                  <a:srgbClr val="1E2761"/>
                </a:solidFill>
                <a:latin typeface="Calibri" pitchFamily="34" charset="0"/>
                <a:ea typeface="Calibri" pitchFamily="34" charset="-122"/>
                <a:cs typeface="Calibri" pitchFamily="34" charset="-120"/>
              </a:rPr>
              <a:t>必要条件と十分条件の混同</a:t>
            </a:r>
            <a:endParaRPr lang="en-US" sz="1150" dirty="0"/>
          </a:p>
        </p:txBody>
      </p:sp>
      <p:sp>
        <p:nvSpPr>
          <p:cNvPr id="37" name="Shape 35"/>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38" name="Shape 36"/>
          <p:cNvSpPr/>
          <p:nvPr/>
        </p:nvSpPr>
        <p:spPr>
          <a:xfrm>
            <a:off x="548640" y="5870448"/>
            <a:ext cx="54864" cy="713232"/>
          </a:xfrm>
          <a:prstGeom prst="rect">
            <a:avLst/>
          </a:prstGeom>
          <a:solidFill>
            <a:srgbClr val="E8623C"/>
          </a:solidFill>
          <a:ln/>
        </p:spPr>
      </p:sp>
      <p:sp>
        <p:nvSpPr>
          <p:cNvPr id="39" name="Text 37"/>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結論だけを見て「正しそう」と判断するのは危険です。途中のどこか一段が崩れていれば、結論全体が崩れる可能性があります。</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パターン⑤ 反例を探す</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支持する事例だけでなく、成立しない事例を探すことで適用範囲がわかる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10 / 19</a:t>
            </a:r>
            <a:endParaRPr lang="en-US" sz="900" dirty="0"/>
          </a:p>
        </p:txBody>
      </p:sp>
      <p:sp>
        <p:nvSpPr>
          <p:cNvPr id="5" name="Shape 3"/>
          <p:cNvSpPr/>
          <p:nvPr/>
        </p:nvSpPr>
        <p:spPr>
          <a:xfrm>
            <a:off x="2240280" y="1783080"/>
            <a:ext cx="3017520" cy="3017520"/>
          </a:xfrm>
          <a:prstGeom prst="ellipse">
            <a:avLst/>
          </a:prstGeom>
          <a:solidFill>
            <a:srgbClr val="FBD9CC"/>
          </a:solidFill>
          <a:ln w="28575">
            <a:solidFill>
              <a:srgbClr val="E8623C"/>
            </a:solidFill>
            <a:prstDash val="solid"/>
          </a:ln>
        </p:spPr>
      </p:sp>
      <p:sp>
        <p:nvSpPr>
          <p:cNvPr id="6" name="Text 4"/>
          <p:cNvSpPr txBox="1"/>
          <p:nvPr/>
        </p:nvSpPr>
        <p:spPr>
          <a:xfrm>
            <a:off x="2240280" y="1783080"/>
            <a:ext cx="3017520" cy="3017520"/>
          </a:xfrm>
          <a:prstGeom prst="rect">
            <a:avLst/>
          </a:prstGeom>
          <a:noFill/>
          <a:ln/>
        </p:spPr>
        <p:txBody>
          <a:bodyPr wrap="square" lIns="0" tIns="0" rIns="0" bIns="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成立する</a:t>
            </a:r>
            <a:endParaRPr lang="en-US" sz="1500" dirty="0"/>
          </a:p>
          <a:p>
            <a:pPr algn="ctr" indent="0" marL="0">
              <a:buNone/>
            </a:pPr>
            <a:r>
              <a:rPr lang="en-US" sz="1500" b="1" dirty="0">
                <a:solidFill>
                  <a:srgbClr val="1E2761"/>
                </a:solidFill>
                <a:latin typeface="Calibri" pitchFamily="34" charset="0"/>
                <a:ea typeface="Calibri" pitchFamily="34" charset="-122"/>
                <a:cs typeface="Calibri" pitchFamily="34" charset="-120"/>
              </a:rPr>
              <a:t>ケース</a:t>
            </a:r>
            <a:endParaRPr lang="en-US" sz="1500" dirty="0"/>
          </a:p>
        </p:txBody>
      </p:sp>
      <p:sp>
        <p:nvSpPr>
          <p:cNvPr id="7" name="Text 5"/>
          <p:cNvSpPr txBox="1"/>
          <p:nvPr/>
        </p:nvSpPr>
        <p:spPr>
          <a:xfrm>
            <a:off x="5577840" y="1920240"/>
            <a:ext cx="2926080" cy="457200"/>
          </a:xfrm>
          <a:prstGeom prst="rect">
            <a:avLst/>
          </a:prstGeom>
          <a:noFill/>
          <a:ln/>
        </p:spPr>
        <p:txBody>
          <a:bodyPr wrap="square" lIns="0" tIns="0" rIns="0" bIns="0" rtlCol="0" anchor="t"/>
          <a:lstStyle/>
          <a:p>
            <a:pPr algn="l" indent="0" marL="0">
              <a:buNone/>
            </a:pPr>
            <a:r>
              <a:rPr lang="en-US" sz="1250" b="1" dirty="0">
                <a:solidFill>
                  <a:srgbClr val="E8623C"/>
                </a:solidFill>
                <a:latin typeface="Calibri" pitchFamily="34" charset="0"/>
                <a:ea typeface="Calibri" pitchFamily="34" charset="-122"/>
                <a:cs typeface="Calibri" pitchFamily="34" charset="-120"/>
              </a:rPr>
              <a:t>反例</a:t>
            </a:r>
            <a:endParaRPr lang="en-US" sz="1250" dirty="0"/>
          </a:p>
          <a:p>
            <a:pPr algn="l" indent="0" marL="0">
              <a:buNone/>
            </a:pPr>
            <a:r>
              <a:rPr lang="en-US" sz="1250" b="1" dirty="0">
                <a:solidFill>
                  <a:srgbClr val="E8623C"/>
                </a:solidFill>
                <a:latin typeface="Calibri" pitchFamily="34" charset="0"/>
                <a:ea typeface="Calibri" pitchFamily="34" charset="-122"/>
                <a:cs typeface="Calibri" pitchFamily="34" charset="-120"/>
              </a:rPr>
              <a:t>（成立しないケース）</a:t>
            </a:r>
            <a:endParaRPr lang="en-US" sz="1250" dirty="0"/>
          </a:p>
        </p:txBody>
      </p:sp>
      <p:sp>
        <p:nvSpPr>
          <p:cNvPr id="8" name="Shape 6"/>
          <p:cNvSpPr/>
          <p:nvPr/>
        </p:nvSpPr>
        <p:spPr>
          <a:xfrm>
            <a:off x="5440680" y="2194560"/>
            <a:ext cx="-605333" cy="342900"/>
          </a:xfrm>
          <a:prstGeom prst="line">
            <a:avLst/>
          </a:prstGeom>
          <a:noFill/>
          <a:ln w="15875">
            <a:solidFill>
              <a:srgbClr val="E8623C"/>
            </a:solidFill>
            <a:prstDash val="dash"/>
          </a:ln>
        </p:spPr>
      </p:sp>
      <p:sp>
        <p:nvSpPr>
          <p:cNvPr id="9" name="Shape 7"/>
          <p:cNvSpPr/>
          <p:nvPr/>
        </p:nvSpPr>
        <p:spPr>
          <a:xfrm>
            <a:off x="6766560" y="3246120"/>
            <a:ext cx="4846320" cy="658368"/>
          </a:xfrm>
          <a:prstGeom prst="roundRect">
            <a:avLst>
              <a:gd name="adj" fmla="val 9722"/>
            </a:avLst>
          </a:prstGeom>
          <a:solidFill>
            <a:srgbClr val="FFFFFF"/>
          </a:solidFill>
          <a:ln w="15875">
            <a:solidFill>
              <a:srgbClr val="E8623C"/>
            </a:solidFill>
            <a:prstDash val="solid"/>
          </a:ln>
        </p:spPr>
      </p:sp>
      <p:sp>
        <p:nvSpPr>
          <p:cNvPr id="10" name="Text 8"/>
          <p:cNvSpPr txBox="1"/>
          <p:nvPr/>
        </p:nvSpPr>
        <p:spPr>
          <a:xfrm>
            <a:off x="6995160" y="3246120"/>
            <a:ext cx="4434840" cy="658368"/>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「この主張が成立しない</a:t>
            </a:r>
            <a:endParaRPr lang="en-US" sz="1200" dirty="0"/>
          </a:p>
          <a:p>
            <a:pPr algn="l" indent="0" marL="0">
              <a:buNone/>
            </a:pPr>
            <a:r>
              <a:rPr lang="en-US" sz="1200" i="1" dirty="0">
                <a:solidFill>
                  <a:srgbClr val="1E2761"/>
                </a:solidFill>
                <a:latin typeface="Calibri" pitchFamily="34" charset="0"/>
                <a:ea typeface="Calibri" pitchFamily="34" charset="-122"/>
                <a:cs typeface="Calibri" pitchFamily="34" charset="-120"/>
              </a:rPr>
              <a:t>ケースを挙げてください。」</a:t>
            </a:r>
            <a:endParaRPr lang="en-US" sz="1200" dirty="0"/>
          </a:p>
        </p:txBody>
      </p:sp>
      <p:sp>
        <p:nvSpPr>
          <p:cNvPr id="11" name="Shape 9"/>
          <p:cNvSpPr/>
          <p:nvPr/>
        </p:nvSpPr>
        <p:spPr>
          <a:xfrm>
            <a:off x="6766560" y="4023360"/>
            <a:ext cx="4846320" cy="777240"/>
          </a:xfrm>
          <a:prstGeom prst="roundRect">
            <a:avLst>
              <a:gd name="adj" fmla="val 8235"/>
            </a:avLst>
          </a:prstGeom>
          <a:solidFill>
            <a:srgbClr val="FFFFFF"/>
          </a:solidFill>
          <a:ln w="15875">
            <a:solidFill>
              <a:srgbClr val="E8623C"/>
            </a:solidFill>
            <a:prstDash val="solid"/>
          </a:ln>
        </p:spPr>
      </p:sp>
      <p:sp>
        <p:nvSpPr>
          <p:cNvPr id="12" name="Text 10"/>
          <p:cNvSpPr txBox="1"/>
          <p:nvPr/>
        </p:nvSpPr>
        <p:spPr>
          <a:xfrm>
            <a:off x="6995160" y="4023360"/>
            <a:ext cx="4434840" cy="777240"/>
          </a:xfrm>
          <a:prstGeom prst="rect">
            <a:avLst/>
          </a:prstGeom>
          <a:noFill/>
          <a:ln/>
        </p:spPr>
        <p:txBody>
          <a:bodyPr wrap="square" lIns="25400" tIns="25400" rIns="25400" bIns="25400" rtlCol="0" anchor="ctr"/>
          <a:lstStyle/>
          <a:p>
            <a:pPr algn="l" indent="0" marL="0">
              <a:buNone/>
            </a:pPr>
            <a:r>
              <a:rPr lang="en-US" sz="1200" i="1" dirty="0">
                <a:solidFill>
                  <a:srgbClr val="1E2761"/>
                </a:solidFill>
                <a:latin typeface="Calibri" pitchFamily="34" charset="0"/>
                <a:ea typeface="Calibri" pitchFamily="34" charset="-122"/>
                <a:cs typeface="Calibri" pitchFamily="34" charset="-120"/>
              </a:rPr>
              <a:t>「成立する条件と、成立しない条件を</a:t>
            </a:r>
            <a:endParaRPr lang="en-US" sz="1200" dirty="0"/>
          </a:p>
          <a:p>
            <a:pPr algn="l" indent="0" marL="0">
              <a:buNone/>
            </a:pPr>
            <a:r>
              <a:rPr lang="en-US" sz="1200" i="1" dirty="0">
                <a:solidFill>
                  <a:srgbClr val="1E2761"/>
                </a:solidFill>
                <a:latin typeface="Calibri" pitchFamily="34" charset="0"/>
                <a:ea typeface="Calibri" pitchFamily="34" charset="-122"/>
                <a:cs typeface="Calibri" pitchFamily="34" charset="-120"/>
              </a:rPr>
              <a:t>整理してください。」</a:t>
            </a:r>
            <a:endParaRPr lang="en-US" sz="1200" dirty="0"/>
          </a:p>
        </p:txBody>
      </p:sp>
      <p:sp>
        <p:nvSpPr>
          <p:cNvPr id="13" name="Text 11"/>
          <p:cNvSpPr txBox="1"/>
          <p:nvPr/>
        </p:nvSpPr>
        <p:spPr>
          <a:xfrm>
            <a:off x="640080" y="5074920"/>
            <a:ext cx="10881360" cy="365760"/>
          </a:xfrm>
          <a:prstGeom prst="rect">
            <a:avLst/>
          </a:prstGeom>
          <a:noFill/>
          <a:ln/>
        </p:spPr>
        <p:txBody>
          <a:bodyPr wrap="square" lIns="0" tIns="0" rIns="0" bIns="0" rtlCol="0" anchor="t"/>
          <a:lstStyle/>
          <a:p>
            <a:pPr algn="l" indent="0" marL="0">
              <a:buNone/>
            </a:pPr>
            <a:r>
              <a:rPr lang="en-US" sz="1150" i="1" dirty="0">
                <a:solidFill>
                  <a:srgbClr val="5B6B87"/>
                </a:solidFill>
                <a:latin typeface="Calibri" pitchFamily="34" charset="0"/>
                <a:ea typeface="Calibri" pitchFamily="34" charset="-122"/>
                <a:cs typeface="Calibri" pitchFamily="34" charset="-120"/>
              </a:rPr>
              <a:t>注意：反例が1つあることと、主張全体が否定されることは同じではない。</a:t>
            </a:r>
            <a:endParaRPr lang="en-US" sz="1150" dirty="0"/>
          </a:p>
        </p:txBody>
      </p:sp>
      <p:sp>
        <p:nvSpPr>
          <p:cNvPr id="14" name="Shape 12"/>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15" name="Shape 13"/>
          <p:cNvSpPr/>
          <p:nvPr/>
        </p:nvSpPr>
        <p:spPr>
          <a:xfrm>
            <a:off x="548640" y="5870448"/>
            <a:ext cx="54864" cy="713232"/>
          </a:xfrm>
          <a:prstGeom prst="rect">
            <a:avLst/>
          </a:prstGeom>
          <a:solidFill>
            <a:srgbClr val="E8623C"/>
          </a:solidFill>
          <a:ln/>
        </p:spPr>
      </p:sp>
      <p:sp>
        <p:nvSpPr>
          <p:cNvPr id="16" name="Text 14"/>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反例探しの目的は「主張を潰すこと」ではなく「主張が有効な範囲を明確にすること」です。この違いは誤解されやすいポイントです。</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パターン⑥ 別の仮説を作る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自分の説明が「唯一の説明」だと思い込まないための技法</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11 / 19</a:t>
            </a:r>
            <a:endParaRPr lang="en-US" sz="900" dirty="0"/>
          </a:p>
        </p:txBody>
      </p:sp>
      <p:sp>
        <p:nvSpPr>
          <p:cNvPr id="5" name="Shape 3"/>
          <p:cNvSpPr/>
          <p:nvPr/>
        </p:nvSpPr>
        <p:spPr>
          <a:xfrm>
            <a:off x="4709160" y="1463040"/>
            <a:ext cx="2743200" cy="594360"/>
          </a:xfrm>
          <a:prstGeom prst="roundRect">
            <a:avLst>
              <a:gd name="adj" fmla="val 10769"/>
            </a:avLst>
          </a:prstGeom>
          <a:solidFill>
            <a:srgbClr val="CADCFC"/>
          </a:solidFill>
          <a:ln w="15875">
            <a:solidFill>
              <a:srgbClr val="D3DAEA"/>
            </a:solidFill>
            <a:prstDash val="solid"/>
          </a:ln>
        </p:spPr>
      </p:sp>
      <p:sp>
        <p:nvSpPr>
          <p:cNvPr id="6" name="Text 4"/>
          <p:cNvSpPr txBox="1"/>
          <p:nvPr/>
        </p:nvSpPr>
        <p:spPr>
          <a:xfrm>
            <a:off x="4754880" y="1463040"/>
            <a:ext cx="2651760" cy="594360"/>
          </a:xfrm>
          <a:prstGeom prst="rect">
            <a:avLst/>
          </a:prstGeom>
          <a:noFill/>
          <a:ln/>
        </p:spPr>
        <p:txBody>
          <a:bodyPr wrap="square" lIns="12700" tIns="12700" rIns="12700" bIns="12700" rtlCol="0" anchor="ctr"/>
          <a:lstStyle/>
          <a:p>
            <a:pPr algn="ctr" indent="0" marL="0">
              <a:buNone/>
            </a:pPr>
            <a:r>
              <a:rPr lang="en-US" sz="1500" b="1" dirty="0">
                <a:solidFill>
                  <a:srgbClr val="1E2761"/>
                </a:solidFill>
                <a:latin typeface="Calibri" pitchFamily="34" charset="0"/>
                <a:ea typeface="Calibri" pitchFamily="34" charset="-122"/>
                <a:cs typeface="Calibri" pitchFamily="34" charset="-120"/>
              </a:rPr>
              <a:t>現象</a:t>
            </a:r>
            <a:endParaRPr lang="en-US" sz="1500" dirty="0"/>
          </a:p>
        </p:txBody>
      </p:sp>
      <p:sp>
        <p:nvSpPr>
          <p:cNvPr id="7" name="Shape 5"/>
          <p:cNvSpPr/>
          <p:nvPr/>
        </p:nvSpPr>
        <p:spPr>
          <a:xfrm>
            <a:off x="6080760" y="2057400"/>
            <a:ext cx="-3063240" cy="731520"/>
          </a:xfrm>
          <a:prstGeom prst="line">
            <a:avLst/>
          </a:prstGeom>
          <a:noFill/>
          <a:ln w="28575">
            <a:solidFill>
              <a:srgbClr val="E8623C"/>
            </a:solidFill>
            <a:prstDash val="solid"/>
            <a:tailEnd type="triangle"/>
          </a:ln>
        </p:spPr>
      </p:sp>
      <p:sp>
        <p:nvSpPr>
          <p:cNvPr id="8" name="Shape 6"/>
          <p:cNvSpPr/>
          <p:nvPr/>
        </p:nvSpPr>
        <p:spPr>
          <a:xfrm>
            <a:off x="1645920" y="2788920"/>
            <a:ext cx="2743200" cy="822960"/>
          </a:xfrm>
          <a:prstGeom prst="roundRect">
            <a:avLst>
              <a:gd name="adj" fmla="val 7778"/>
            </a:avLst>
          </a:prstGeom>
          <a:solidFill>
            <a:srgbClr val="FBD9CC"/>
          </a:solidFill>
          <a:ln w="15875">
            <a:solidFill>
              <a:srgbClr val="D3DAEA"/>
            </a:solidFill>
            <a:prstDash val="solid"/>
          </a:ln>
        </p:spPr>
      </p:sp>
      <p:sp>
        <p:nvSpPr>
          <p:cNvPr id="9" name="Text 7"/>
          <p:cNvSpPr txBox="1"/>
          <p:nvPr/>
        </p:nvSpPr>
        <p:spPr>
          <a:xfrm>
            <a:off x="1691640" y="2788920"/>
            <a:ext cx="2651760" cy="822960"/>
          </a:xfrm>
          <a:prstGeom prst="rect">
            <a:avLst/>
          </a:prstGeom>
          <a:noFill/>
          <a:ln/>
        </p:spPr>
        <p:txBody>
          <a:bodyPr wrap="square" lIns="12700" tIns="12700" rIns="12700" bIns="1270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A説</a:t>
            </a:r>
            <a:endParaRPr lang="en-US" sz="1250" dirty="0"/>
          </a:p>
          <a:p>
            <a:pPr algn="ctr" indent="0" marL="0">
              <a:buNone/>
            </a:pPr>
            <a:r>
              <a:rPr lang="en-US" sz="1250" b="1" dirty="0">
                <a:solidFill>
                  <a:srgbClr val="1E2761"/>
                </a:solidFill>
                <a:latin typeface="Calibri" pitchFamily="34" charset="0"/>
                <a:ea typeface="Calibri" pitchFamily="34" charset="-122"/>
                <a:cs typeface="Calibri" pitchFamily="34" charset="-120"/>
              </a:rPr>
              <a:t>（最初に思いついた説）</a:t>
            </a:r>
            <a:endParaRPr lang="en-US" sz="1250" dirty="0"/>
          </a:p>
        </p:txBody>
      </p:sp>
      <p:sp>
        <p:nvSpPr>
          <p:cNvPr id="10" name="Shape 8"/>
          <p:cNvSpPr/>
          <p:nvPr/>
        </p:nvSpPr>
        <p:spPr>
          <a:xfrm>
            <a:off x="6080760" y="2057400"/>
            <a:ext cx="457200" cy="731520"/>
          </a:xfrm>
          <a:prstGeom prst="line">
            <a:avLst/>
          </a:prstGeom>
          <a:noFill/>
          <a:ln w="28575">
            <a:solidFill>
              <a:srgbClr val="9AA5B8"/>
            </a:solidFill>
            <a:prstDash val="solid"/>
            <a:tailEnd type="triangle"/>
          </a:ln>
        </p:spPr>
      </p:sp>
      <p:sp>
        <p:nvSpPr>
          <p:cNvPr id="11" name="Shape 9"/>
          <p:cNvSpPr/>
          <p:nvPr/>
        </p:nvSpPr>
        <p:spPr>
          <a:xfrm>
            <a:off x="5166360" y="2788920"/>
            <a:ext cx="2743200" cy="822960"/>
          </a:xfrm>
          <a:prstGeom prst="roundRect">
            <a:avLst>
              <a:gd name="adj" fmla="val 7778"/>
            </a:avLst>
          </a:prstGeom>
          <a:solidFill>
            <a:srgbClr val="F2F4F9"/>
          </a:solidFill>
          <a:ln w="15875">
            <a:solidFill>
              <a:srgbClr val="D3DAEA"/>
            </a:solidFill>
            <a:prstDash val="solid"/>
          </a:ln>
        </p:spPr>
      </p:sp>
      <p:sp>
        <p:nvSpPr>
          <p:cNvPr id="12" name="Text 10"/>
          <p:cNvSpPr txBox="1"/>
          <p:nvPr/>
        </p:nvSpPr>
        <p:spPr>
          <a:xfrm>
            <a:off x="5212080" y="2788920"/>
            <a:ext cx="2651760" cy="822960"/>
          </a:xfrm>
          <a:prstGeom prst="rect">
            <a:avLst/>
          </a:prstGeom>
          <a:noFill/>
          <a:ln/>
        </p:spPr>
        <p:txBody>
          <a:bodyPr wrap="square" lIns="12700" tIns="12700" rIns="12700" bIns="12700" rtlCol="0" anchor="ctr"/>
          <a:lstStyle/>
          <a:p>
            <a:pPr algn="ctr" indent="0" marL="0">
              <a:buNone/>
            </a:pPr>
            <a:r>
              <a:rPr lang="en-US" sz="1250" dirty="0">
                <a:solidFill>
                  <a:srgbClr val="1E2761"/>
                </a:solidFill>
                <a:latin typeface="Calibri" pitchFamily="34" charset="0"/>
                <a:ea typeface="Calibri" pitchFamily="34" charset="-122"/>
                <a:cs typeface="Calibri" pitchFamily="34" charset="-120"/>
              </a:rPr>
              <a:t>B説</a:t>
            </a:r>
            <a:endParaRPr lang="en-US" sz="1250" dirty="0"/>
          </a:p>
        </p:txBody>
      </p:sp>
      <p:sp>
        <p:nvSpPr>
          <p:cNvPr id="13" name="Shape 11"/>
          <p:cNvSpPr/>
          <p:nvPr/>
        </p:nvSpPr>
        <p:spPr>
          <a:xfrm>
            <a:off x="6080760" y="2057400"/>
            <a:ext cx="3977640" cy="731520"/>
          </a:xfrm>
          <a:prstGeom prst="line">
            <a:avLst/>
          </a:prstGeom>
          <a:noFill/>
          <a:ln w="28575">
            <a:solidFill>
              <a:srgbClr val="9AA5B8"/>
            </a:solidFill>
            <a:prstDash val="solid"/>
            <a:tailEnd type="triangle"/>
          </a:ln>
        </p:spPr>
      </p:sp>
      <p:sp>
        <p:nvSpPr>
          <p:cNvPr id="14" name="Shape 12"/>
          <p:cNvSpPr/>
          <p:nvPr/>
        </p:nvSpPr>
        <p:spPr>
          <a:xfrm>
            <a:off x="8686800" y="2788920"/>
            <a:ext cx="2743200" cy="822960"/>
          </a:xfrm>
          <a:prstGeom prst="roundRect">
            <a:avLst>
              <a:gd name="adj" fmla="val 7778"/>
            </a:avLst>
          </a:prstGeom>
          <a:solidFill>
            <a:srgbClr val="F2F4F9"/>
          </a:solidFill>
          <a:ln w="15875">
            <a:solidFill>
              <a:srgbClr val="D3DAEA"/>
            </a:solidFill>
            <a:prstDash val="solid"/>
          </a:ln>
        </p:spPr>
      </p:sp>
      <p:sp>
        <p:nvSpPr>
          <p:cNvPr id="15" name="Text 13"/>
          <p:cNvSpPr txBox="1"/>
          <p:nvPr/>
        </p:nvSpPr>
        <p:spPr>
          <a:xfrm>
            <a:off x="8732520" y="2788920"/>
            <a:ext cx="2651760" cy="822960"/>
          </a:xfrm>
          <a:prstGeom prst="rect">
            <a:avLst/>
          </a:prstGeom>
          <a:noFill/>
          <a:ln/>
        </p:spPr>
        <p:txBody>
          <a:bodyPr wrap="square" lIns="12700" tIns="12700" rIns="12700" bIns="12700" rtlCol="0" anchor="ctr"/>
          <a:lstStyle/>
          <a:p>
            <a:pPr algn="ctr" indent="0" marL="0">
              <a:buNone/>
            </a:pPr>
            <a:r>
              <a:rPr lang="en-US" sz="1250" dirty="0">
                <a:solidFill>
                  <a:srgbClr val="1E2761"/>
                </a:solidFill>
                <a:latin typeface="Calibri" pitchFamily="34" charset="0"/>
                <a:ea typeface="Calibri" pitchFamily="34" charset="-122"/>
                <a:cs typeface="Calibri" pitchFamily="34" charset="-120"/>
              </a:rPr>
              <a:t>C説</a:t>
            </a:r>
            <a:endParaRPr lang="en-US" sz="1250" dirty="0"/>
          </a:p>
        </p:txBody>
      </p:sp>
      <p:sp>
        <p:nvSpPr>
          <p:cNvPr id="16" name="Shape 14"/>
          <p:cNvSpPr/>
          <p:nvPr/>
        </p:nvSpPr>
        <p:spPr>
          <a:xfrm>
            <a:off x="1645920" y="3977640"/>
            <a:ext cx="8869680" cy="594360"/>
          </a:xfrm>
          <a:prstGeom prst="roundRect">
            <a:avLst>
              <a:gd name="adj" fmla="val 10769"/>
            </a:avLst>
          </a:prstGeom>
          <a:solidFill>
            <a:srgbClr val="FFFFFF"/>
          </a:solidFill>
          <a:ln w="15875">
            <a:solidFill>
              <a:srgbClr val="E8623C"/>
            </a:solidFill>
            <a:prstDash val="solid"/>
          </a:ln>
        </p:spPr>
      </p:sp>
      <p:sp>
        <p:nvSpPr>
          <p:cNvPr id="17" name="Text 15"/>
          <p:cNvSpPr txBox="1"/>
          <p:nvPr/>
        </p:nvSpPr>
        <p:spPr>
          <a:xfrm>
            <a:off x="1874520" y="3977640"/>
            <a:ext cx="8458200" cy="594360"/>
          </a:xfrm>
          <a:prstGeom prst="rect">
            <a:avLst/>
          </a:prstGeom>
          <a:noFill/>
          <a:ln/>
        </p:spPr>
        <p:txBody>
          <a:bodyPr wrap="square" lIns="25400" tIns="25400" rIns="25400" bIns="25400" rtlCol="0" anchor="ctr"/>
          <a:lstStyle/>
          <a:p>
            <a:pPr algn="l" indent="0" marL="0">
              <a:buNone/>
            </a:pPr>
            <a:r>
              <a:rPr lang="en-US" sz="1350" i="1" dirty="0">
                <a:solidFill>
                  <a:srgbClr val="1E2761"/>
                </a:solidFill>
                <a:latin typeface="Calibri" pitchFamily="34" charset="0"/>
                <a:ea typeface="Calibri" pitchFamily="34" charset="-122"/>
                <a:cs typeface="Calibri" pitchFamily="34" charset="-120"/>
              </a:rPr>
              <a:t>「この現象を説明できる別の仮説を3つ挙げてください。」</a:t>
            </a:r>
            <a:endParaRPr lang="en-US" sz="1350" dirty="0"/>
          </a:p>
        </p:txBody>
      </p:sp>
      <p:sp>
        <p:nvSpPr>
          <p:cNvPr id="18" name="Text 16"/>
          <p:cNvSpPr txBox="1"/>
          <p:nvPr/>
        </p:nvSpPr>
        <p:spPr>
          <a:xfrm>
            <a:off x="1645920" y="4709160"/>
            <a:ext cx="8869680" cy="365760"/>
          </a:xfrm>
          <a:prstGeom prst="rect">
            <a:avLst/>
          </a:prstGeom>
          <a:noFill/>
          <a:ln/>
        </p:spPr>
        <p:txBody>
          <a:bodyPr wrap="square" lIns="0" tIns="0" rIns="0" bIns="0" rtlCol="0" anchor="t"/>
          <a:lstStyle/>
          <a:p>
            <a:pPr algn="ctr" indent="0" marL="0">
              <a:buNone/>
            </a:pPr>
            <a:r>
              <a:rPr lang="en-US" sz="1200" i="1" dirty="0">
                <a:solidFill>
                  <a:srgbClr val="5B6B87"/>
                </a:solidFill>
                <a:latin typeface="Calibri" pitchFamily="34" charset="0"/>
                <a:ea typeface="Calibri" pitchFamily="34" charset="-122"/>
                <a:cs typeface="Calibri" pitchFamily="34" charset="-120"/>
              </a:rPr>
              <a:t>最初に思いついた説明が、必ずしも正解とは限らない。</a:t>
            </a:r>
            <a:endParaRPr lang="en-US" sz="1200" dirty="0"/>
          </a:p>
        </p:txBody>
      </p:sp>
      <p:sp>
        <p:nvSpPr>
          <p:cNvPr id="19" name="Shape 17"/>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20" name="Shape 18"/>
          <p:cNvSpPr/>
          <p:nvPr/>
        </p:nvSpPr>
        <p:spPr>
          <a:xfrm>
            <a:off x="548640" y="5870448"/>
            <a:ext cx="54864" cy="713232"/>
          </a:xfrm>
          <a:prstGeom prst="rect">
            <a:avLst/>
          </a:prstGeom>
          <a:solidFill>
            <a:srgbClr val="E8623C"/>
          </a:solidFill>
          <a:ln/>
        </p:spPr>
      </p:sp>
      <p:sp>
        <p:nvSpPr>
          <p:cNvPr id="21" name="Text 19"/>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人は最初に思いついた説明に固執しやすいものです。特にAIが自分の説を肯定してくれると、それだけで安心してしまいます。他の説明可能性を並べることで、早すぎる結論を防げます。</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パターン⑦ 条件を変える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結論そのものより、結論が変わる境界を調べる方が多くを学べる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12 / 19</a:t>
            </a:r>
            <a:endParaRPr lang="en-US" sz="900" dirty="0"/>
          </a:p>
        </p:txBody>
      </p:sp>
      <p:sp>
        <p:nvSpPr>
          <p:cNvPr id="5" name="Shape 3"/>
          <p:cNvSpPr/>
          <p:nvPr/>
        </p:nvSpPr>
        <p:spPr>
          <a:xfrm>
            <a:off x="1188720" y="2286000"/>
            <a:ext cx="5120640" cy="365760"/>
          </a:xfrm>
          <a:prstGeom prst="rect">
            <a:avLst/>
          </a:prstGeom>
          <a:solidFill>
            <a:srgbClr val="E9EAEE"/>
          </a:solidFill>
          <a:ln/>
        </p:spPr>
      </p:sp>
      <p:sp>
        <p:nvSpPr>
          <p:cNvPr id="6" name="Shape 4"/>
          <p:cNvSpPr/>
          <p:nvPr/>
        </p:nvSpPr>
        <p:spPr>
          <a:xfrm>
            <a:off x="6309360" y="2286000"/>
            <a:ext cx="4480560" cy="365760"/>
          </a:xfrm>
          <a:prstGeom prst="rect">
            <a:avLst/>
          </a:prstGeom>
          <a:solidFill>
            <a:srgbClr val="FBD9CC"/>
          </a:solidFill>
          <a:ln/>
        </p:spPr>
      </p:sp>
      <p:sp>
        <p:nvSpPr>
          <p:cNvPr id="7" name="Shape 5"/>
          <p:cNvSpPr/>
          <p:nvPr/>
        </p:nvSpPr>
        <p:spPr>
          <a:xfrm>
            <a:off x="1188720" y="2468880"/>
            <a:ext cx="9601200" cy="0"/>
          </a:xfrm>
          <a:prstGeom prst="line">
            <a:avLst/>
          </a:prstGeom>
          <a:noFill/>
          <a:ln w="19050">
            <a:solidFill>
              <a:srgbClr val="1E2761"/>
            </a:solidFill>
            <a:prstDash val="solid"/>
          </a:ln>
        </p:spPr>
      </p:sp>
      <p:sp>
        <p:nvSpPr>
          <p:cNvPr id="8" name="Shape 6"/>
          <p:cNvSpPr/>
          <p:nvPr/>
        </p:nvSpPr>
        <p:spPr>
          <a:xfrm rot="10800000">
            <a:off x="6190488" y="2084832"/>
            <a:ext cx="237744" cy="237744"/>
          </a:xfrm>
          <a:prstGeom prst="triangle">
            <a:avLst/>
          </a:prstGeom>
          <a:solidFill>
            <a:srgbClr val="1E2761"/>
          </a:solidFill>
          <a:ln/>
        </p:spPr>
      </p:sp>
      <p:sp>
        <p:nvSpPr>
          <p:cNvPr id="9" name="Text 7"/>
          <p:cNvSpPr txBox="1"/>
          <p:nvPr/>
        </p:nvSpPr>
        <p:spPr>
          <a:xfrm>
            <a:off x="1188720" y="2743200"/>
            <a:ext cx="5120640" cy="320040"/>
          </a:xfrm>
          <a:prstGeom prst="rect">
            <a:avLst/>
          </a:prstGeom>
          <a:noFill/>
          <a:ln/>
        </p:spPr>
        <p:txBody>
          <a:bodyPr wrap="square" lIns="0" tIns="0" rIns="0" bIns="0" rtlCol="0" anchor="t"/>
          <a:lstStyle/>
          <a:p>
            <a:pPr algn="ctr" indent="0" marL="0">
              <a:buNone/>
            </a:pPr>
            <a:r>
              <a:rPr lang="en-US" sz="1250" dirty="0">
                <a:solidFill>
                  <a:srgbClr val="5B6B87"/>
                </a:solidFill>
                <a:latin typeface="Calibri" pitchFamily="34" charset="0"/>
                <a:ea typeface="Calibri" pitchFamily="34" charset="-122"/>
                <a:cs typeface="Calibri" pitchFamily="34" charset="-120"/>
              </a:rPr>
              <a:t>結論が成立しない</a:t>
            </a:r>
            <a:endParaRPr lang="en-US" sz="1250" dirty="0"/>
          </a:p>
        </p:txBody>
      </p:sp>
      <p:sp>
        <p:nvSpPr>
          <p:cNvPr id="10" name="Text 8"/>
          <p:cNvSpPr txBox="1"/>
          <p:nvPr/>
        </p:nvSpPr>
        <p:spPr>
          <a:xfrm>
            <a:off x="6309360" y="2743200"/>
            <a:ext cx="4480560" cy="320040"/>
          </a:xfrm>
          <a:prstGeom prst="rect">
            <a:avLst/>
          </a:prstGeom>
          <a:noFill/>
          <a:ln/>
        </p:spPr>
        <p:txBody>
          <a:bodyPr wrap="square" lIns="0" tIns="0" rIns="0" bIns="0" rtlCol="0" anchor="t"/>
          <a:lstStyle/>
          <a:p>
            <a:pPr algn="ctr" indent="0" marL="0">
              <a:buNone/>
            </a:pPr>
            <a:r>
              <a:rPr lang="en-US" sz="1250" b="1" dirty="0">
                <a:solidFill>
                  <a:srgbClr val="E8623C"/>
                </a:solidFill>
                <a:latin typeface="Calibri" pitchFamily="34" charset="0"/>
                <a:ea typeface="Calibri" pitchFamily="34" charset="-122"/>
                <a:cs typeface="Calibri" pitchFamily="34" charset="-120"/>
              </a:rPr>
              <a:t>結論が成立する</a:t>
            </a:r>
            <a:endParaRPr lang="en-US" sz="1250" dirty="0"/>
          </a:p>
        </p:txBody>
      </p:sp>
      <p:sp>
        <p:nvSpPr>
          <p:cNvPr id="11" name="Text 9"/>
          <p:cNvSpPr txBox="1"/>
          <p:nvPr/>
        </p:nvSpPr>
        <p:spPr>
          <a:xfrm>
            <a:off x="5303520" y="1600200"/>
            <a:ext cx="2011680" cy="320040"/>
          </a:xfrm>
          <a:prstGeom prst="rect">
            <a:avLst/>
          </a:prstGeom>
          <a:noFill/>
          <a:ln/>
        </p:spPr>
        <p:txBody>
          <a:bodyPr wrap="square" lIns="0" tIns="0" rIns="0" bIns="0" rtlCol="0" anchor="t"/>
          <a:lstStyle/>
          <a:p>
            <a:pPr algn="ctr" indent="0" marL="0">
              <a:buNone/>
            </a:pPr>
            <a:r>
              <a:rPr lang="en-US" sz="1300" b="1" dirty="0">
                <a:solidFill>
                  <a:srgbClr val="1E2761"/>
                </a:solidFill>
                <a:latin typeface="Calibri" pitchFamily="34" charset="0"/>
                <a:ea typeface="Calibri" pitchFamily="34" charset="-122"/>
                <a:cs typeface="Calibri" pitchFamily="34" charset="-120"/>
              </a:rPr>
              <a:t>境界条件</a:t>
            </a:r>
            <a:endParaRPr lang="en-US" sz="1300" dirty="0"/>
          </a:p>
        </p:txBody>
      </p:sp>
      <p:sp>
        <p:nvSpPr>
          <p:cNvPr id="12" name="Shape 10"/>
          <p:cNvSpPr/>
          <p:nvPr/>
        </p:nvSpPr>
        <p:spPr>
          <a:xfrm>
            <a:off x="1188720" y="3794760"/>
            <a:ext cx="9601200" cy="502920"/>
          </a:xfrm>
          <a:prstGeom prst="roundRect">
            <a:avLst>
              <a:gd name="adj" fmla="val 12727"/>
            </a:avLst>
          </a:prstGeom>
          <a:solidFill>
            <a:srgbClr val="FFFFFF"/>
          </a:solidFill>
          <a:ln w="15875">
            <a:solidFill>
              <a:srgbClr val="E8623C"/>
            </a:solidFill>
            <a:prstDash val="solid"/>
          </a:ln>
        </p:spPr>
      </p:sp>
      <p:sp>
        <p:nvSpPr>
          <p:cNvPr id="13" name="Text 11"/>
          <p:cNvSpPr txBox="1"/>
          <p:nvPr/>
        </p:nvSpPr>
        <p:spPr>
          <a:xfrm>
            <a:off x="1417320" y="3794760"/>
            <a:ext cx="9189720" cy="502920"/>
          </a:xfrm>
          <a:prstGeom prst="rect">
            <a:avLst/>
          </a:prstGeom>
          <a:noFill/>
          <a:ln/>
        </p:spPr>
        <p:txBody>
          <a:bodyPr wrap="square" lIns="25400" tIns="25400" rIns="25400" bIns="25400" rtlCol="0" anchor="ctr"/>
          <a:lstStyle/>
          <a:p>
            <a:pPr algn="l" indent="0" marL="0">
              <a:buNone/>
            </a:pPr>
            <a:r>
              <a:rPr lang="en-US" sz="1250" i="1" dirty="0">
                <a:solidFill>
                  <a:srgbClr val="1E2761"/>
                </a:solidFill>
                <a:latin typeface="Calibri" pitchFamily="34" charset="0"/>
                <a:ea typeface="Calibri" pitchFamily="34" charset="-122"/>
                <a:cs typeface="Calibri" pitchFamily="34" charset="-120"/>
              </a:rPr>
              <a:t>「条件Aを外した場合、結論は維持できますか？」</a:t>
            </a:r>
            <a:endParaRPr lang="en-US" sz="1250" dirty="0"/>
          </a:p>
        </p:txBody>
      </p:sp>
      <p:sp>
        <p:nvSpPr>
          <p:cNvPr id="14" name="Shape 12"/>
          <p:cNvSpPr/>
          <p:nvPr/>
        </p:nvSpPr>
        <p:spPr>
          <a:xfrm>
            <a:off x="1188720" y="4389120"/>
            <a:ext cx="9601200" cy="502920"/>
          </a:xfrm>
          <a:prstGeom prst="roundRect">
            <a:avLst>
              <a:gd name="adj" fmla="val 12727"/>
            </a:avLst>
          </a:prstGeom>
          <a:solidFill>
            <a:srgbClr val="FFFFFF"/>
          </a:solidFill>
          <a:ln w="15875">
            <a:solidFill>
              <a:srgbClr val="E8623C"/>
            </a:solidFill>
            <a:prstDash val="solid"/>
          </a:ln>
        </p:spPr>
      </p:sp>
      <p:sp>
        <p:nvSpPr>
          <p:cNvPr id="15" name="Text 13"/>
          <p:cNvSpPr txBox="1"/>
          <p:nvPr/>
        </p:nvSpPr>
        <p:spPr>
          <a:xfrm>
            <a:off x="1417320" y="4389120"/>
            <a:ext cx="9189720" cy="502920"/>
          </a:xfrm>
          <a:prstGeom prst="rect">
            <a:avLst/>
          </a:prstGeom>
          <a:noFill/>
          <a:ln/>
        </p:spPr>
        <p:txBody>
          <a:bodyPr wrap="square" lIns="25400" tIns="25400" rIns="25400" bIns="25400" rtlCol="0" anchor="ctr"/>
          <a:lstStyle/>
          <a:p>
            <a:pPr algn="l" indent="0" marL="0">
              <a:buNone/>
            </a:pPr>
            <a:r>
              <a:rPr lang="en-US" sz="1250" i="1" dirty="0">
                <a:solidFill>
                  <a:srgbClr val="1E2761"/>
                </a:solidFill>
                <a:latin typeface="Calibri" pitchFamily="34" charset="0"/>
                <a:ea typeface="Calibri" pitchFamily="34" charset="-122"/>
                <a:cs typeface="Calibri" pitchFamily="34" charset="-120"/>
              </a:rPr>
              <a:t>「逆の条件ではどうなりますか？」</a:t>
            </a:r>
            <a:endParaRPr lang="en-US" sz="1250" dirty="0"/>
          </a:p>
        </p:txBody>
      </p:sp>
      <p:sp>
        <p:nvSpPr>
          <p:cNvPr id="16" name="Shape 14"/>
          <p:cNvSpPr/>
          <p:nvPr/>
        </p:nvSpPr>
        <p:spPr>
          <a:xfrm>
            <a:off x="1188720" y="4983480"/>
            <a:ext cx="9601200" cy="502920"/>
          </a:xfrm>
          <a:prstGeom prst="roundRect">
            <a:avLst>
              <a:gd name="adj" fmla="val 12727"/>
            </a:avLst>
          </a:prstGeom>
          <a:solidFill>
            <a:srgbClr val="FFFFFF"/>
          </a:solidFill>
          <a:ln w="15875">
            <a:solidFill>
              <a:srgbClr val="E8623C"/>
            </a:solidFill>
            <a:prstDash val="solid"/>
          </a:ln>
        </p:spPr>
      </p:sp>
      <p:sp>
        <p:nvSpPr>
          <p:cNvPr id="17" name="Text 15"/>
          <p:cNvSpPr txBox="1"/>
          <p:nvPr/>
        </p:nvSpPr>
        <p:spPr>
          <a:xfrm>
            <a:off x="1417320" y="4983480"/>
            <a:ext cx="9189720" cy="502920"/>
          </a:xfrm>
          <a:prstGeom prst="rect">
            <a:avLst/>
          </a:prstGeom>
          <a:noFill/>
          <a:ln/>
        </p:spPr>
        <p:txBody>
          <a:bodyPr wrap="square" lIns="25400" tIns="25400" rIns="25400" bIns="25400" rtlCol="0" anchor="ctr"/>
          <a:lstStyle/>
          <a:p>
            <a:pPr algn="l" indent="0" marL="0">
              <a:buNone/>
            </a:pPr>
            <a:r>
              <a:rPr lang="en-US" sz="1250" i="1" dirty="0">
                <a:solidFill>
                  <a:srgbClr val="1E2761"/>
                </a:solidFill>
                <a:latin typeface="Calibri" pitchFamily="34" charset="0"/>
                <a:ea typeface="Calibri" pitchFamily="34" charset="-122"/>
                <a:cs typeface="Calibri" pitchFamily="34" charset="-120"/>
              </a:rPr>
              <a:t>「どの条件を境に結論が変化しますか？」</a:t>
            </a:r>
            <a:endParaRPr lang="en-US" sz="1250" dirty="0"/>
          </a:p>
        </p:txBody>
      </p:sp>
      <p:sp>
        <p:nvSpPr>
          <p:cNvPr id="18" name="Shape 16"/>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19" name="Shape 17"/>
          <p:cNvSpPr/>
          <p:nvPr/>
        </p:nvSpPr>
        <p:spPr>
          <a:xfrm>
            <a:off x="548640" y="5870448"/>
            <a:ext cx="54864" cy="713232"/>
          </a:xfrm>
          <a:prstGeom prst="rect">
            <a:avLst/>
          </a:prstGeom>
          <a:solidFill>
            <a:srgbClr val="E8623C"/>
          </a:solidFill>
          <a:ln/>
        </p:spPr>
      </p:sp>
      <p:sp>
        <p:nvSpPr>
          <p:cNvPr id="20" name="Text 18"/>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「結論はYESかNOか」という二択で考えると学びが少なくなります。「どこまでなら成立するか」を探る方が、主張の理解が深まります。</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パターン⑧ 事実・推論・仮説を分ける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「もっともらしい文章」と「確かな情報」は別物</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13 / 19</a:t>
            </a:r>
            <a:endParaRPr lang="en-US" sz="900" dirty="0"/>
          </a:p>
        </p:txBody>
      </p:sp>
      <p:sp>
        <p:nvSpPr>
          <p:cNvPr id="5" name="Text 3"/>
          <p:cNvSpPr txBox="1"/>
          <p:nvPr/>
        </p:nvSpPr>
        <p:spPr>
          <a:xfrm>
            <a:off x="822960" y="1463040"/>
            <a:ext cx="3657600" cy="320040"/>
          </a:xfrm>
          <a:prstGeom prst="rect">
            <a:avLst/>
          </a:prstGeom>
          <a:noFill/>
          <a:ln/>
        </p:spPr>
        <p:txBody>
          <a:bodyPr wrap="square" lIns="0" tIns="0" rIns="0" bIns="0" rtlCol="0" anchor="t"/>
          <a:lstStyle/>
          <a:p>
            <a:pPr algn="l" indent="0" marL="0">
              <a:buNone/>
            </a:pPr>
            <a:r>
              <a:rPr lang="en-US" sz="1400" b="1" dirty="0">
                <a:solidFill>
                  <a:srgbClr val="1E2761"/>
                </a:solidFill>
                <a:latin typeface="Calibri" pitchFamily="34" charset="0"/>
                <a:ea typeface="Calibri" pitchFamily="34" charset="-122"/>
                <a:cs typeface="Calibri" pitchFamily="34" charset="-120"/>
              </a:rPr>
              <a:t>AIの回答</a:t>
            </a:r>
            <a:endParaRPr lang="en-US" sz="1400" dirty="0"/>
          </a:p>
        </p:txBody>
      </p:sp>
      <p:sp>
        <p:nvSpPr>
          <p:cNvPr id="6" name="Shape 4"/>
          <p:cNvSpPr/>
          <p:nvPr/>
        </p:nvSpPr>
        <p:spPr>
          <a:xfrm>
            <a:off x="822960" y="1874520"/>
            <a:ext cx="7315200" cy="566928"/>
          </a:xfrm>
          <a:prstGeom prst="rect">
            <a:avLst/>
          </a:prstGeom>
          <a:solidFill>
            <a:srgbClr val="1E2761"/>
          </a:solidFill>
          <a:ln w="19050">
            <a:solidFill>
              <a:srgbClr val="FFFFFF"/>
            </a:solidFill>
            <a:prstDash val="solid"/>
          </a:ln>
        </p:spPr>
      </p:sp>
      <p:sp>
        <p:nvSpPr>
          <p:cNvPr id="7" name="Text 5"/>
          <p:cNvSpPr txBox="1"/>
          <p:nvPr/>
        </p:nvSpPr>
        <p:spPr>
          <a:xfrm>
            <a:off x="822960" y="1874520"/>
            <a:ext cx="7315200" cy="566928"/>
          </a:xfrm>
          <a:prstGeom prst="rect">
            <a:avLst/>
          </a:prstGeom>
          <a:noFill/>
          <a:ln/>
        </p:spPr>
        <p:txBody>
          <a:bodyPr wrap="square" lIns="101600" tIns="101600" rIns="101600" bIns="10160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事実</a:t>
            </a:r>
            <a:endParaRPr lang="en-US" sz="1350" dirty="0"/>
          </a:p>
        </p:txBody>
      </p:sp>
      <p:sp>
        <p:nvSpPr>
          <p:cNvPr id="8" name="Shape 6"/>
          <p:cNvSpPr/>
          <p:nvPr/>
        </p:nvSpPr>
        <p:spPr>
          <a:xfrm>
            <a:off x="822960" y="2441448"/>
            <a:ext cx="7315200" cy="566928"/>
          </a:xfrm>
          <a:prstGeom prst="rect">
            <a:avLst/>
          </a:prstGeom>
          <a:solidFill>
            <a:srgbClr val="5C6FA8"/>
          </a:solidFill>
          <a:ln w="19050">
            <a:solidFill>
              <a:srgbClr val="FFFFFF"/>
            </a:solidFill>
            <a:prstDash val="solid"/>
          </a:ln>
        </p:spPr>
      </p:sp>
      <p:sp>
        <p:nvSpPr>
          <p:cNvPr id="9" name="Text 7"/>
          <p:cNvSpPr txBox="1"/>
          <p:nvPr/>
        </p:nvSpPr>
        <p:spPr>
          <a:xfrm>
            <a:off x="822960" y="2441448"/>
            <a:ext cx="7315200" cy="566928"/>
          </a:xfrm>
          <a:prstGeom prst="rect">
            <a:avLst/>
          </a:prstGeom>
          <a:noFill/>
          <a:ln/>
        </p:spPr>
        <p:txBody>
          <a:bodyPr wrap="square" lIns="101600" tIns="101600" rIns="101600" bIns="101600" rtlCol="0" anchor="ctr"/>
          <a:lstStyle/>
          <a:p>
            <a:pPr algn="l" indent="0" marL="0">
              <a:buNone/>
            </a:pPr>
            <a:r>
              <a:rPr lang="en-US" sz="1350" b="1" dirty="0">
                <a:solidFill>
                  <a:srgbClr val="FFFFFF"/>
                </a:solidFill>
                <a:latin typeface="Calibri" pitchFamily="34" charset="0"/>
                <a:ea typeface="Calibri" pitchFamily="34" charset="-122"/>
                <a:cs typeface="Calibri" pitchFamily="34" charset="-120"/>
              </a:rPr>
              <a:t>推論</a:t>
            </a:r>
            <a:endParaRPr lang="en-US" sz="1350" dirty="0"/>
          </a:p>
        </p:txBody>
      </p:sp>
      <p:sp>
        <p:nvSpPr>
          <p:cNvPr id="10" name="Shape 8"/>
          <p:cNvSpPr/>
          <p:nvPr/>
        </p:nvSpPr>
        <p:spPr>
          <a:xfrm>
            <a:off x="822960" y="3008376"/>
            <a:ext cx="7315200" cy="566928"/>
          </a:xfrm>
          <a:prstGeom prst="rect">
            <a:avLst/>
          </a:prstGeom>
          <a:solidFill>
            <a:srgbClr val="9CADD6"/>
          </a:solidFill>
          <a:ln w="19050">
            <a:solidFill>
              <a:srgbClr val="FFFFFF"/>
            </a:solidFill>
            <a:prstDash val="solid"/>
          </a:ln>
        </p:spPr>
      </p:sp>
      <p:sp>
        <p:nvSpPr>
          <p:cNvPr id="11" name="Text 9"/>
          <p:cNvSpPr txBox="1"/>
          <p:nvPr/>
        </p:nvSpPr>
        <p:spPr>
          <a:xfrm>
            <a:off x="822960" y="3008376"/>
            <a:ext cx="7315200" cy="566928"/>
          </a:xfrm>
          <a:prstGeom prst="rect">
            <a:avLst/>
          </a:prstGeom>
          <a:noFill/>
          <a:ln/>
        </p:spPr>
        <p:txBody>
          <a:bodyPr wrap="square" lIns="101600" tIns="101600" rIns="101600" bIns="101600" rtlCol="0" anchor="ctr"/>
          <a:lstStyle/>
          <a:p>
            <a:pPr algn="l" indent="0" marL="0">
              <a:buNone/>
            </a:pPr>
            <a:r>
              <a:rPr lang="en-US" sz="1350" b="1" dirty="0">
                <a:solidFill>
                  <a:srgbClr val="1E2761"/>
                </a:solidFill>
                <a:latin typeface="Calibri" pitchFamily="34" charset="0"/>
                <a:ea typeface="Calibri" pitchFamily="34" charset="-122"/>
                <a:cs typeface="Calibri" pitchFamily="34" charset="-120"/>
              </a:rPr>
              <a:t>仮説</a:t>
            </a:r>
            <a:endParaRPr lang="en-US" sz="1350" dirty="0"/>
          </a:p>
        </p:txBody>
      </p:sp>
      <p:sp>
        <p:nvSpPr>
          <p:cNvPr id="12" name="Shape 10"/>
          <p:cNvSpPr/>
          <p:nvPr/>
        </p:nvSpPr>
        <p:spPr>
          <a:xfrm>
            <a:off x="822960" y="3575304"/>
            <a:ext cx="7315200" cy="566928"/>
          </a:xfrm>
          <a:prstGeom prst="rect">
            <a:avLst/>
          </a:prstGeom>
          <a:solidFill>
            <a:srgbClr val="DCE3F2"/>
          </a:solidFill>
          <a:ln w="19050">
            <a:solidFill>
              <a:srgbClr val="FFFFFF"/>
            </a:solidFill>
            <a:prstDash val="solid"/>
          </a:ln>
        </p:spPr>
      </p:sp>
      <p:sp>
        <p:nvSpPr>
          <p:cNvPr id="13" name="Text 11"/>
          <p:cNvSpPr txBox="1"/>
          <p:nvPr/>
        </p:nvSpPr>
        <p:spPr>
          <a:xfrm>
            <a:off x="822960" y="3575304"/>
            <a:ext cx="7315200" cy="566928"/>
          </a:xfrm>
          <a:prstGeom prst="rect">
            <a:avLst/>
          </a:prstGeom>
          <a:noFill/>
          <a:ln/>
        </p:spPr>
        <p:txBody>
          <a:bodyPr wrap="square" lIns="101600" tIns="101600" rIns="101600" bIns="101600" rtlCol="0" anchor="ctr"/>
          <a:lstStyle/>
          <a:p>
            <a:pPr algn="l" indent="0" marL="0">
              <a:buNone/>
            </a:pPr>
            <a:r>
              <a:rPr lang="en-US" sz="1350" b="1" dirty="0">
                <a:solidFill>
                  <a:srgbClr val="1E2761"/>
                </a:solidFill>
                <a:latin typeface="Calibri" pitchFamily="34" charset="0"/>
                <a:ea typeface="Calibri" pitchFamily="34" charset="-122"/>
                <a:cs typeface="Calibri" pitchFamily="34" charset="-120"/>
              </a:rPr>
              <a:t>推測</a:t>
            </a:r>
            <a:endParaRPr lang="en-US" sz="1350" dirty="0"/>
          </a:p>
        </p:txBody>
      </p:sp>
      <p:sp>
        <p:nvSpPr>
          <p:cNvPr id="14" name="Text 12"/>
          <p:cNvSpPr txBox="1"/>
          <p:nvPr/>
        </p:nvSpPr>
        <p:spPr>
          <a:xfrm>
            <a:off x="822960" y="4160520"/>
            <a:ext cx="7315200" cy="320040"/>
          </a:xfrm>
          <a:prstGeom prst="rect">
            <a:avLst/>
          </a:prstGeom>
          <a:noFill/>
          <a:ln/>
        </p:spPr>
        <p:txBody>
          <a:bodyPr wrap="square" lIns="0" tIns="0" rIns="0" bIns="0" rtlCol="0" anchor="t"/>
          <a:lstStyle/>
          <a:p>
            <a:pPr algn="l" indent="0" marL="0">
              <a:buNone/>
            </a:pPr>
            <a:r>
              <a:rPr lang="en-US" sz="1100" i="1" dirty="0">
                <a:solidFill>
                  <a:srgbClr val="5B6B87"/>
                </a:solidFill>
                <a:latin typeface="Calibri" pitchFamily="34" charset="0"/>
                <a:ea typeface="Calibri" pitchFamily="34" charset="-122"/>
                <a:cs typeface="Calibri" pitchFamily="34" charset="-120"/>
              </a:rPr>
              <a:t>確からしさ：高 → 低</a:t>
            </a:r>
            <a:endParaRPr lang="en-US" sz="1100" dirty="0"/>
          </a:p>
        </p:txBody>
      </p:sp>
      <p:sp>
        <p:nvSpPr>
          <p:cNvPr id="15" name="Shape 13"/>
          <p:cNvSpPr/>
          <p:nvPr/>
        </p:nvSpPr>
        <p:spPr>
          <a:xfrm>
            <a:off x="8549640" y="1874520"/>
            <a:ext cx="3063240" cy="822960"/>
          </a:xfrm>
          <a:prstGeom prst="roundRect">
            <a:avLst>
              <a:gd name="adj" fmla="val 7778"/>
            </a:avLst>
          </a:prstGeom>
          <a:solidFill>
            <a:srgbClr val="FFFFFF"/>
          </a:solidFill>
          <a:ln w="15875">
            <a:solidFill>
              <a:srgbClr val="E8623C"/>
            </a:solidFill>
            <a:prstDash val="solid"/>
          </a:ln>
        </p:spPr>
      </p:sp>
      <p:sp>
        <p:nvSpPr>
          <p:cNvPr id="16" name="Text 14"/>
          <p:cNvSpPr txBox="1"/>
          <p:nvPr/>
        </p:nvSpPr>
        <p:spPr>
          <a:xfrm>
            <a:off x="8778240" y="1874520"/>
            <a:ext cx="2651760" cy="822960"/>
          </a:xfrm>
          <a:prstGeom prst="rect">
            <a:avLst/>
          </a:prstGeom>
          <a:noFill/>
          <a:ln/>
        </p:spPr>
        <p:txBody>
          <a:bodyPr wrap="square" lIns="25400" tIns="25400" rIns="25400" bIns="25400" rtlCol="0" anchor="ctr"/>
          <a:lstStyle/>
          <a:p>
            <a:pPr algn="l" indent="0" marL="0">
              <a:buNone/>
            </a:pPr>
            <a:r>
              <a:rPr lang="en-US" sz="1100" i="1" dirty="0">
                <a:solidFill>
                  <a:srgbClr val="1E2761"/>
                </a:solidFill>
                <a:latin typeface="Calibri" pitchFamily="34" charset="0"/>
                <a:ea typeface="Calibri" pitchFamily="34" charset="-122"/>
                <a:cs typeface="Calibri" pitchFamily="34" charset="-120"/>
              </a:rPr>
              <a:t>「確認された事実と</a:t>
            </a:r>
            <a:endParaRPr lang="en-US" sz="1100" dirty="0"/>
          </a:p>
          <a:p>
            <a:pPr algn="l" indent="0" marL="0">
              <a:buNone/>
            </a:pPr>
            <a:r>
              <a:rPr lang="en-US" sz="1100" i="1" dirty="0">
                <a:solidFill>
                  <a:srgbClr val="1E2761"/>
                </a:solidFill>
                <a:latin typeface="Calibri" pitchFamily="34" charset="0"/>
                <a:ea typeface="Calibri" pitchFamily="34" charset="-122"/>
                <a:cs typeface="Calibri" pitchFamily="34" charset="-120"/>
              </a:rPr>
              <a:t>AIによる推論を</a:t>
            </a:r>
            <a:endParaRPr lang="en-US" sz="1100" dirty="0"/>
          </a:p>
          <a:p>
            <a:pPr algn="l" indent="0" marL="0">
              <a:buNone/>
            </a:pPr>
            <a:r>
              <a:rPr lang="en-US" sz="1100" i="1" dirty="0">
                <a:solidFill>
                  <a:srgbClr val="1E2761"/>
                </a:solidFill>
                <a:latin typeface="Calibri" pitchFamily="34" charset="0"/>
                <a:ea typeface="Calibri" pitchFamily="34" charset="-122"/>
                <a:cs typeface="Calibri" pitchFamily="34" charset="-120"/>
              </a:rPr>
              <a:t>分離してください。」</a:t>
            </a:r>
            <a:endParaRPr lang="en-US" sz="1100" dirty="0"/>
          </a:p>
        </p:txBody>
      </p:sp>
      <p:sp>
        <p:nvSpPr>
          <p:cNvPr id="17" name="Shape 15"/>
          <p:cNvSpPr/>
          <p:nvPr/>
        </p:nvSpPr>
        <p:spPr>
          <a:xfrm>
            <a:off x="8549640" y="2880360"/>
            <a:ext cx="3063240" cy="1280160"/>
          </a:xfrm>
          <a:prstGeom prst="roundRect">
            <a:avLst>
              <a:gd name="adj" fmla="val 5714"/>
            </a:avLst>
          </a:prstGeom>
          <a:solidFill>
            <a:srgbClr val="1E2761"/>
          </a:solidFill>
          <a:ln/>
        </p:spPr>
      </p:sp>
      <p:sp>
        <p:nvSpPr>
          <p:cNvPr id="18" name="Text 16"/>
          <p:cNvSpPr txBox="1"/>
          <p:nvPr/>
        </p:nvSpPr>
        <p:spPr>
          <a:xfrm>
            <a:off x="8641080" y="2880360"/>
            <a:ext cx="2880360" cy="1280160"/>
          </a:xfrm>
          <a:prstGeom prst="rect">
            <a:avLst/>
          </a:prstGeom>
          <a:noFill/>
          <a:ln/>
        </p:spPr>
        <p:txBody>
          <a:bodyPr wrap="square" lIns="25400" tIns="25400" rIns="25400" bIns="2540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「もっともらしい文章」と</a:t>
            </a:r>
            <a:endParaRPr lang="en-US" sz="1350" dirty="0"/>
          </a:p>
          <a:p>
            <a:pPr algn="ctr" indent="0" marL="0">
              <a:buNone/>
            </a:pPr>
            <a:r>
              <a:rPr lang="en-US" sz="1350" b="1" dirty="0">
                <a:solidFill>
                  <a:srgbClr val="FFFFFF"/>
                </a:solidFill>
                <a:latin typeface="Cambria" pitchFamily="34" charset="0"/>
                <a:ea typeface="Cambria" pitchFamily="34" charset="-122"/>
                <a:cs typeface="Cambria" pitchFamily="34" charset="-120"/>
              </a:rPr>
              <a:t>「確かな情報」は別物</a:t>
            </a:r>
            <a:endParaRPr lang="en-US" sz="1350" dirty="0"/>
          </a:p>
        </p:txBody>
      </p:sp>
      <p:sp>
        <p:nvSpPr>
          <p:cNvPr id="19" name="Shape 17"/>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20" name="Shape 18"/>
          <p:cNvSpPr/>
          <p:nvPr/>
        </p:nvSpPr>
        <p:spPr>
          <a:xfrm>
            <a:off x="548640" y="5870448"/>
            <a:ext cx="54864" cy="713232"/>
          </a:xfrm>
          <a:prstGeom prst="rect">
            <a:avLst/>
          </a:prstGeom>
          <a:solidFill>
            <a:srgbClr val="E8623C"/>
          </a:solidFill>
          <a:ln/>
        </p:spPr>
      </p:sp>
      <p:sp>
        <p:nvSpPr>
          <p:cNvPr id="21" name="Text 19"/>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AIの文章は事実も推測も同じ滑らかな文体で書かれるため、読み手が区別しづらいものです。これはAIの弱点というより、文章という形式そのものの弱点です。</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パターン⑨ AIの回答そのものを壁打ちする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AIは答えを出す相手であると同時に、検証される対象でもある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14 / 19</a:t>
            </a:r>
            <a:endParaRPr lang="en-US" sz="900" dirty="0"/>
          </a:p>
        </p:txBody>
      </p:sp>
      <p:sp>
        <p:nvSpPr>
          <p:cNvPr id="5" name="Shape 3"/>
          <p:cNvSpPr/>
          <p:nvPr/>
        </p:nvSpPr>
        <p:spPr>
          <a:xfrm>
            <a:off x="822960" y="1554480"/>
            <a:ext cx="2194560" cy="621792"/>
          </a:xfrm>
          <a:prstGeom prst="roundRect">
            <a:avLst>
              <a:gd name="adj" fmla="val 10294"/>
            </a:avLst>
          </a:prstGeom>
          <a:solidFill>
            <a:srgbClr val="CADCFC"/>
          </a:solidFill>
          <a:ln w="15875">
            <a:solidFill>
              <a:srgbClr val="D3DAEA"/>
            </a:solidFill>
            <a:prstDash val="solid"/>
          </a:ln>
        </p:spPr>
      </p:sp>
      <p:sp>
        <p:nvSpPr>
          <p:cNvPr id="6" name="Text 4"/>
          <p:cNvSpPr txBox="1"/>
          <p:nvPr/>
        </p:nvSpPr>
        <p:spPr>
          <a:xfrm>
            <a:off x="868680" y="1554480"/>
            <a:ext cx="2103120" cy="621792"/>
          </a:xfrm>
          <a:prstGeom prst="rect">
            <a:avLst/>
          </a:prstGeom>
          <a:noFill/>
          <a:ln/>
        </p:spPr>
        <p:txBody>
          <a:bodyPr wrap="square" lIns="12700" tIns="12700" rIns="12700" bIns="1270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自分</a:t>
            </a:r>
            <a:endParaRPr lang="en-US" sz="1400" dirty="0"/>
          </a:p>
        </p:txBody>
      </p:sp>
      <p:sp>
        <p:nvSpPr>
          <p:cNvPr id="7" name="Shape 5"/>
          <p:cNvSpPr/>
          <p:nvPr/>
        </p:nvSpPr>
        <p:spPr>
          <a:xfrm>
            <a:off x="3017520" y="1865376"/>
            <a:ext cx="1325880" cy="0"/>
          </a:xfrm>
          <a:prstGeom prst="line">
            <a:avLst/>
          </a:prstGeom>
          <a:noFill/>
          <a:ln w="28575">
            <a:solidFill>
              <a:srgbClr val="E8623C"/>
            </a:solidFill>
            <a:prstDash val="solid"/>
            <a:tailEnd type="triangle"/>
          </a:ln>
        </p:spPr>
      </p:sp>
      <p:sp>
        <p:nvSpPr>
          <p:cNvPr id="8" name="Shape 6"/>
          <p:cNvSpPr/>
          <p:nvPr/>
        </p:nvSpPr>
        <p:spPr>
          <a:xfrm>
            <a:off x="4343400" y="1554480"/>
            <a:ext cx="2194560" cy="621792"/>
          </a:xfrm>
          <a:prstGeom prst="roundRect">
            <a:avLst>
              <a:gd name="adj" fmla="val 10294"/>
            </a:avLst>
          </a:prstGeom>
          <a:solidFill>
            <a:srgbClr val="F2F4F9"/>
          </a:solidFill>
          <a:ln w="15875">
            <a:solidFill>
              <a:srgbClr val="D3DAEA"/>
            </a:solidFill>
            <a:prstDash val="solid"/>
          </a:ln>
        </p:spPr>
      </p:sp>
      <p:sp>
        <p:nvSpPr>
          <p:cNvPr id="9" name="Text 7"/>
          <p:cNvSpPr txBox="1"/>
          <p:nvPr/>
        </p:nvSpPr>
        <p:spPr>
          <a:xfrm>
            <a:off x="4389120" y="1554480"/>
            <a:ext cx="2103120" cy="621792"/>
          </a:xfrm>
          <a:prstGeom prst="rect">
            <a:avLst/>
          </a:prstGeom>
          <a:noFill/>
          <a:ln/>
        </p:spPr>
        <p:txBody>
          <a:bodyPr wrap="square" lIns="12700" tIns="12700" rIns="12700" bIns="1270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AI</a:t>
            </a:r>
            <a:endParaRPr lang="en-US" sz="1400" dirty="0"/>
          </a:p>
        </p:txBody>
      </p:sp>
      <p:sp>
        <p:nvSpPr>
          <p:cNvPr id="10" name="Shape 8"/>
          <p:cNvSpPr/>
          <p:nvPr/>
        </p:nvSpPr>
        <p:spPr>
          <a:xfrm>
            <a:off x="6537960" y="1865376"/>
            <a:ext cx="1325880" cy="0"/>
          </a:xfrm>
          <a:prstGeom prst="line">
            <a:avLst/>
          </a:prstGeom>
          <a:noFill/>
          <a:ln w="28575">
            <a:solidFill>
              <a:srgbClr val="E8623C"/>
            </a:solidFill>
            <a:prstDash val="solid"/>
            <a:tailEnd type="triangle"/>
          </a:ln>
        </p:spPr>
      </p:sp>
      <p:sp>
        <p:nvSpPr>
          <p:cNvPr id="11" name="Shape 9"/>
          <p:cNvSpPr/>
          <p:nvPr/>
        </p:nvSpPr>
        <p:spPr>
          <a:xfrm>
            <a:off x="7863840" y="1554480"/>
            <a:ext cx="2651760" cy="621792"/>
          </a:xfrm>
          <a:prstGeom prst="roundRect">
            <a:avLst>
              <a:gd name="adj" fmla="val 10294"/>
            </a:avLst>
          </a:prstGeom>
          <a:solidFill>
            <a:srgbClr val="F2F4F9"/>
          </a:solidFill>
          <a:ln w="15875">
            <a:solidFill>
              <a:srgbClr val="D3DAEA"/>
            </a:solidFill>
            <a:prstDash val="solid"/>
          </a:ln>
        </p:spPr>
      </p:sp>
      <p:sp>
        <p:nvSpPr>
          <p:cNvPr id="12" name="Text 10"/>
          <p:cNvSpPr txBox="1"/>
          <p:nvPr/>
        </p:nvSpPr>
        <p:spPr>
          <a:xfrm>
            <a:off x="7909560" y="1554480"/>
            <a:ext cx="2560320" cy="621792"/>
          </a:xfrm>
          <a:prstGeom prst="rect">
            <a:avLst/>
          </a:prstGeom>
          <a:noFill/>
          <a:ln/>
        </p:spPr>
        <p:txBody>
          <a:bodyPr wrap="square" lIns="12700" tIns="12700" rIns="12700" bIns="1270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AIの回答</a:t>
            </a:r>
            <a:endParaRPr lang="en-US" sz="1400" dirty="0"/>
          </a:p>
        </p:txBody>
      </p:sp>
      <p:sp>
        <p:nvSpPr>
          <p:cNvPr id="13" name="Shape 11"/>
          <p:cNvSpPr/>
          <p:nvPr/>
        </p:nvSpPr>
        <p:spPr>
          <a:xfrm>
            <a:off x="9189720" y="2176272"/>
            <a:ext cx="0" cy="612648"/>
          </a:xfrm>
          <a:prstGeom prst="line">
            <a:avLst/>
          </a:prstGeom>
          <a:noFill/>
          <a:ln w="28575">
            <a:solidFill>
              <a:srgbClr val="1E2761"/>
            </a:solidFill>
            <a:prstDash val="solid"/>
            <a:tailEnd type="triangle"/>
          </a:ln>
        </p:spPr>
      </p:sp>
      <p:sp>
        <p:nvSpPr>
          <p:cNvPr id="14" name="Shape 12"/>
          <p:cNvSpPr/>
          <p:nvPr/>
        </p:nvSpPr>
        <p:spPr>
          <a:xfrm>
            <a:off x="7452360" y="2788920"/>
            <a:ext cx="3429000" cy="685800"/>
          </a:xfrm>
          <a:prstGeom prst="roundRect">
            <a:avLst>
              <a:gd name="adj" fmla="val 9333"/>
            </a:avLst>
          </a:prstGeom>
          <a:solidFill>
            <a:srgbClr val="FBD9CC"/>
          </a:solidFill>
          <a:ln w="15875">
            <a:solidFill>
              <a:srgbClr val="D3DAEA"/>
            </a:solidFill>
            <a:prstDash val="solid"/>
          </a:ln>
        </p:spPr>
      </p:sp>
      <p:sp>
        <p:nvSpPr>
          <p:cNvPr id="15" name="Text 13"/>
          <p:cNvSpPr txBox="1"/>
          <p:nvPr/>
        </p:nvSpPr>
        <p:spPr>
          <a:xfrm>
            <a:off x="7498080" y="2788920"/>
            <a:ext cx="3337560" cy="685800"/>
          </a:xfrm>
          <a:prstGeom prst="rect">
            <a:avLst/>
          </a:prstGeom>
          <a:noFill/>
          <a:ln/>
        </p:spPr>
        <p:txBody>
          <a:bodyPr wrap="square" lIns="12700" tIns="12700" rIns="12700" bIns="12700" rtlCol="0" anchor="ctr"/>
          <a:lstStyle/>
          <a:p>
            <a:pPr algn="ctr" indent="0" marL="0">
              <a:buNone/>
            </a:pPr>
            <a:r>
              <a:rPr lang="en-US" sz="1400" b="1" dirty="0">
                <a:solidFill>
                  <a:srgbClr val="1E2761"/>
                </a:solidFill>
                <a:latin typeface="Calibri" pitchFamily="34" charset="0"/>
                <a:ea typeface="Calibri" pitchFamily="34" charset="-122"/>
                <a:cs typeface="Calibri" pitchFamily="34" charset="-120"/>
              </a:rPr>
              <a:t>再検証する</a:t>
            </a:r>
            <a:endParaRPr lang="en-US" sz="1400" dirty="0"/>
          </a:p>
        </p:txBody>
      </p:sp>
      <p:sp>
        <p:nvSpPr>
          <p:cNvPr id="16" name="Shape 14"/>
          <p:cNvSpPr/>
          <p:nvPr/>
        </p:nvSpPr>
        <p:spPr>
          <a:xfrm>
            <a:off x="7452360" y="3127248"/>
            <a:ext cx="-5532120" cy="-914400"/>
          </a:xfrm>
          <a:prstGeom prst="line">
            <a:avLst/>
          </a:prstGeom>
          <a:noFill/>
          <a:ln w="28575">
            <a:solidFill>
              <a:srgbClr val="1E2761"/>
            </a:solidFill>
            <a:prstDash val="solid"/>
            <a:tailEnd type="triangle"/>
          </a:ln>
        </p:spPr>
      </p:sp>
      <p:sp>
        <p:nvSpPr>
          <p:cNvPr id="17" name="Text 15"/>
          <p:cNvSpPr txBox="1"/>
          <p:nvPr/>
        </p:nvSpPr>
        <p:spPr>
          <a:xfrm>
            <a:off x="7406640" y="3566160"/>
            <a:ext cx="3566160" cy="640080"/>
          </a:xfrm>
          <a:prstGeom prst="rect">
            <a:avLst/>
          </a:prstGeom>
          <a:noFill/>
          <a:ln/>
        </p:spPr>
        <p:txBody>
          <a:bodyPr wrap="square" lIns="0" tIns="0" rIns="0" bIns="0" rtlCol="0" anchor="t"/>
          <a:lstStyle/>
          <a:p>
            <a:pPr algn="l" indent="0" marL="0">
              <a:buNone/>
            </a:pPr>
            <a:r>
              <a:rPr lang="en-US" sz="1100" i="1" dirty="0">
                <a:solidFill>
                  <a:srgbClr val="5B6B87"/>
                </a:solidFill>
                <a:latin typeface="Calibri" pitchFamily="34" charset="0"/>
                <a:ea typeface="Calibri" pitchFamily="34" charset="-122"/>
                <a:cs typeface="Calibri" pitchFamily="34" charset="-120"/>
              </a:rPr>
              <a:t>「今の回答に論理的な飛躍は</a:t>
            </a:r>
            <a:endParaRPr lang="en-US" sz="1100" dirty="0"/>
          </a:p>
          <a:p>
            <a:pPr algn="l" indent="0" marL="0">
              <a:buNone/>
            </a:pPr>
            <a:r>
              <a:rPr lang="en-US" sz="1100" i="1" dirty="0">
                <a:solidFill>
                  <a:srgbClr val="5B6B87"/>
                </a:solidFill>
                <a:latin typeface="Calibri" pitchFamily="34" charset="0"/>
                <a:ea typeface="Calibri" pitchFamily="34" charset="-122"/>
                <a:cs typeface="Calibri" pitchFamily="34" charset="-120"/>
              </a:rPr>
              <a:t>ありませんか？」</a:t>
            </a:r>
            <a:endParaRPr lang="en-US" sz="1100" dirty="0"/>
          </a:p>
        </p:txBody>
      </p:sp>
      <p:sp>
        <p:nvSpPr>
          <p:cNvPr id="18" name="Shape 16"/>
          <p:cNvSpPr/>
          <p:nvPr/>
        </p:nvSpPr>
        <p:spPr>
          <a:xfrm>
            <a:off x="822960" y="4297680"/>
            <a:ext cx="5029200" cy="502920"/>
          </a:xfrm>
          <a:prstGeom prst="roundRect">
            <a:avLst>
              <a:gd name="adj" fmla="val 12727"/>
            </a:avLst>
          </a:prstGeom>
          <a:solidFill>
            <a:srgbClr val="FFFFFF"/>
          </a:solidFill>
          <a:ln w="15875">
            <a:solidFill>
              <a:srgbClr val="E8623C"/>
            </a:solidFill>
            <a:prstDash val="solid"/>
          </a:ln>
        </p:spPr>
      </p:sp>
      <p:sp>
        <p:nvSpPr>
          <p:cNvPr id="19" name="Text 17"/>
          <p:cNvSpPr txBox="1"/>
          <p:nvPr/>
        </p:nvSpPr>
        <p:spPr>
          <a:xfrm>
            <a:off x="1051560" y="4297680"/>
            <a:ext cx="4617720" cy="502920"/>
          </a:xfrm>
          <a:prstGeom prst="rect">
            <a:avLst/>
          </a:prstGeom>
          <a:noFill/>
          <a:ln/>
        </p:spPr>
        <p:txBody>
          <a:bodyPr wrap="square" lIns="25400" tIns="25400" rIns="25400" bIns="25400" rtlCol="0" anchor="ctr"/>
          <a:lstStyle/>
          <a:p>
            <a:pPr algn="l" indent="0" marL="0">
              <a:buNone/>
            </a:pPr>
            <a:r>
              <a:rPr lang="en-US" sz="1150" i="1" dirty="0">
                <a:solidFill>
                  <a:srgbClr val="1E2761"/>
                </a:solidFill>
                <a:latin typeface="Calibri" pitchFamily="34" charset="0"/>
                <a:ea typeface="Calibri" pitchFamily="34" charset="-122"/>
                <a:cs typeface="Calibri" pitchFamily="34" charset="-120"/>
              </a:rPr>
              <a:t>「根拠のない仮定を置いていませんか？」</a:t>
            </a:r>
            <a:endParaRPr lang="en-US" sz="1150" dirty="0"/>
          </a:p>
        </p:txBody>
      </p:sp>
      <p:sp>
        <p:nvSpPr>
          <p:cNvPr id="20" name="Shape 18"/>
          <p:cNvSpPr/>
          <p:nvPr/>
        </p:nvSpPr>
        <p:spPr>
          <a:xfrm>
            <a:off x="822960" y="4892040"/>
            <a:ext cx="5029200" cy="502920"/>
          </a:xfrm>
          <a:prstGeom prst="roundRect">
            <a:avLst>
              <a:gd name="adj" fmla="val 12727"/>
            </a:avLst>
          </a:prstGeom>
          <a:solidFill>
            <a:srgbClr val="FFFFFF"/>
          </a:solidFill>
          <a:ln w="15875">
            <a:solidFill>
              <a:srgbClr val="E8623C"/>
            </a:solidFill>
            <a:prstDash val="solid"/>
          </a:ln>
        </p:spPr>
      </p:sp>
      <p:sp>
        <p:nvSpPr>
          <p:cNvPr id="21" name="Text 19"/>
          <p:cNvSpPr txBox="1"/>
          <p:nvPr/>
        </p:nvSpPr>
        <p:spPr>
          <a:xfrm>
            <a:off x="1051560" y="4892040"/>
            <a:ext cx="4617720" cy="502920"/>
          </a:xfrm>
          <a:prstGeom prst="rect">
            <a:avLst/>
          </a:prstGeom>
          <a:noFill/>
          <a:ln/>
        </p:spPr>
        <p:txBody>
          <a:bodyPr wrap="square" lIns="25400" tIns="25400" rIns="25400" bIns="25400" rtlCol="0" anchor="ctr"/>
          <a:lstStyle/>
          <a:p>
            <a:pPr algn="l" indent="0" marL="0">
              <a:buNone/>
            </a:pPr>
            <a:r>
              <a:rPr lang="en-US" sz="1150" i="1" dirty="0">
                <a:solidFill>
                  <a:srgbClr val="1E2761"/>
                </a:solidFill>
                <a:latin typeface="Calibri" pitchFamily="34" charset="0"/>
                <a:ea typeface="Calibri" pitchFamily="34" charset="-122"/>
                <a:cs typeface="Calibri" pitchFamily="34" charset="-120"/>
              </a:rPr>
              <a:t>「反論として本当に十分ですか？」</a:t>
            </a:r>
            <a:endParaRPr lang="en-US" sz="1150" dirty="0"/>
          </a:p>
        </p:txBody>
      </p:sp>
      <p:sp>
        <p:nvSpPr>
          <p:cNvPr id="22" name="Shape 20"/>
          <p:cNvSpPr/>
          <p:nvPr/>
        </p:nvSpPr>
        <p:spPr>
          <a:xfrm>
            <a:off x="6126480" y="4297680"/>
            <a:ext cx="5257800" cy="1097280"/>
          </a:xfrm>
          <a:prstGeom prst="roundRect">
            <a:avLst>
              <a:gd name="adj" fmla="val 8333"/>
            </a:avLst>
          </a:prstGeom>
          <a:solidFill>
            <a:srgbClr val="1E2761"/>
          </a:solidFill>
          <a:ln/>
        </p:spPr>
      </p:sp>
      <p:sp>
        <p:nvSpPr>
          <p:cNvPr id="23" name="Text 21"/>
          <p:cNvSpPr txBox="1"/>
          <p:nvPr/>
        </p:nvSpPr>
        <p:spPr>
          <a:xfrm>
            <a:off x="6309360" y="4297680"/>
            <a:ext cx="4892040" cy="109728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AIは答えではなく、</a:t>
            </a:r>
            <a:endParaRPr lang="en-US" sz="1700" dirty="0"/>
          </a:p>
          <a:p>
            <a:pPr algn="ctr" indent="0" marL="0">
              <a:buNone/>
            </a:pPr>
            <a:r>
              <a:rPr lang="en-US" sz="1700" b="1" dirty="0">
                <a:solidFill>
                  <a:srgbClr val="FFFFFF"/>
                </a:solidFill>
                <a:latin typeface="Cambria" pitchFamily="34" charset="0"/>
                <a:ea typeface="Cambria" pitchFamily="34" charset="-122"/>
                <a:cs typeface="Cambria" pitchFamily="34" charset="-120"/>
              </a:rPr>
              <a:t>検証対象にもなる。</a:t>
            </a:r>
            <a:endParaRPr lang="en-US" sz="1700" dirty="0"/>
          </a:p>
        </p:txBody>
      </p:sp>
      <p:sp>
        <p:nvSpPr>
          <p:cNvPr id="24" name="Shape 22"/>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25" name="Shape 23"/>
          <p:cNvSpPr/>
          <p:nvPr/>
        </p:nvSpPr>
        <p:spPr>
          <a:xfrm>
            <a:off x="548640" y="5870448"/>
            <a:ext cx="54864" cy="713232"/>
          </a:xfrm>
          <a:prstGeom prst="rect">
            <a:avLst/>
          </a:prstGeom>
          <a:solidFill>
            <a:srgbClr val="E8623C"/>
          </a:solidFill>
          <a:ln/>
        </p:spPr>
      </p:sp>
      <p:sp>
        <p:nvSpPr>
          <p:cNvPr id="26" name="Text 24"/>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本資料の中でも特に重要な技法です。AIの回答を最終結論として受け取らず、もう一段検証にかけるという発想が、壁打ちを一問一答から区別する核心です。</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パターン⑩ 自分の考えにも同じ基準を適用する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AIだけを検証し、自分は検証しないのはフェアではない</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15 / 19</a:t>
            </a:r>
            <a:endParaRPr lang="en-US" sz="900" dirty="0"/>
          </a:p>
        </p:txBody>
      </p:sp>
      <p:sp>
        <p:nvSpPr>
          <p:cNvPr id="5" name="Shape 3"/>
          <p:cNvSpPr/>
          <p:nvPr/>
        </p:nvSpPr>
        <p:spPr>
          <a:xfrm>
            <a:off x="3456432" y="2194560"/>
            <a:ext cx="585216" cy="502920"/>
          </a:xfrm>
          <a:prstGeom prst="triangle">
            <a:avLst/>
          </a:prstGeom>
          <a:solidFill>
            <a:srgbClr val="1E2761"/>
          </a:solidFill>
          <a:ln/>
        </p:spPr>
      </p:sp>
      <p:sp>
        <p:nvSpPr>
          <p:cNvPr id="6" name="Shape 4"/>
          <p:cNvSpPr/>
          <p:nvPr/>
        </p:nvSpPr>
        <p:spPr>
          <a:xfrm>
            <a:off x="1463040" y="2148840"/>
            <a:ext cx="4572000" cy="0"/>
          </a:xfrm>
          <a:prstGeom prst="line">
            <a:avLst/>
          </a:prstGeom>
          <a:noFill/>
          <a:ln w="38100">
            <a:solidFill>
              <a:srgbClr val="1E2761"/>
            </a:solidFill>
            <a:prstDash val="solid"/>
          </a:ln>
        </p:spPr>
      </p:sp>
      <p:sp>
        <p:nvSpPr>
          <p:cNvPr id="7" name="Shape 5"/>
          <p:cNvSpPr/>
          <p:nvPr/>
        </p:nvSpPr>
        <p:spPr>
          <a:xfrm>
            <a:off x="1463040" y="2148840"/>
            <a:ext cx="0" cy="457200"/>
          </a:xfrm>
          <a:prstGeom prst="line">
            <a:avLst/>
          </a:prstGeom>
          <a:noFill/>
          <a:ln w="19050">
            <a:solidFill>
              <a:srgbClr val="1E2761"/>
            </a:solidFill>
            <a:prstDash val="solid"/>
          </a:ln>
        </p:spPr>
      </p:sp>
      <p:sp>
        <p:nvSpPr>
          <p:cNvPr id="8" name="Shape 6"/>
          <p:cNvSpPr/>
          <p:nvPr/>
        </p:nvSpPr>
        <p:spPr>
          <a:xfrm>
            <a:off x="6035040" y="2148840"/>
            <a:ext cx="0" cy="457200"/>
          </a:xfrm>
          <a:prstGeom prst="line">
            <a:avLst/>
          </a:prstGeom>
          <a:noFill/>
          <a:ln w="19050">
            <a:solidFill>
              <a:srgbClr val="1E2761"/>
            </a:solidFill>
            <a:prstDash val="solid"/>
          </a:ln>
        </p:spPr>
      </p:sp>
      <p:sp>
        <p:nvSpPr>
          <p:cNvPr id="9" name="Shape 7"/>
          <p:cNvSpPr/>
          <p:nvPr/>
        </p:nvSpPr>
        <p:spPr>
          <a:xfrm>
            <a:off x="548640" y="2606040"/>
            <a:ext cx="1828800" cy="621792"/>
          </a:xfrm>
          <a:prstGeom prst="roundRect">
            <a:avLst>
              <a:gd name="adj" fmla="val 10294"/>
            </a:avLst>
          </a:prstGeom>
          <a:solidFill>
            <a:srgbClr val="CADCFC"/>
          </a:solidFill>
          <a:ln w="15875">
            <a:solidFill>
              <a:srgbClr val="D3DAEA"/>
            </a:solidFill>
            <a:prstDash val="solid"/>
          </a:ln>
        </p:spPr>
      </p:sp>
      <p:sp>
        <p:nvSpPr>
          <p:cNvPr id="10" name="Text 8"/>
          <p:cNvSpPr txBox="1"/>
          <p:nvPr/>
        </p:nvSpPr>
        <p:spPr>
          <a:xfrm>
            <a:off x="594360" y="2606040"/>
            <a:ext cx="1737360" cy="621792"/>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自分の論理</a:t>
            </a:r>
            <a:endParaRPr lang="en-US" sz="1300" dirty="0"/>
          </a:p>
        </p:txBody>
      </p:sp>
      <p:sp>
        <p:nvSpPr>
          <p:cNvPr id="11" name="Shape 9"/>
          <p:cNvSpPr/>
          <p:nvPr/>
        </p:nvSpPr>
        <p:spPr>
          <a:xfrm>
            <a:off x="5120640" y="2606040"/>
            <a:ext cx="1828800" cy="621792"/>
          </a:xfrm>
          <a:prstGeom prst="roundRect">
            <a:avLst>
              <a:gd name="adj" fmla="val 10294"/>
            </a:avLst>
          </a:prstGeom>
          <a:solidFill>
            <a:srgbClr val="F2F4F9"/>
          </a:solidFill>
          <a:ln w="15875">
            <a:solidFill>
              <a:srgbClr val="D3DAEA"/>
            </a:solidFill>
            <a:prstDash val="solid"/>
          </a:ln>
        </p:spPr>
      </p:sp>
      <p:sp>
        <p:nvSpPr>
          <p:cNvPr id="12" name="Text 10"/>
          <p:cNvSpPr txBox="1"/>
          <p:nvPr/>
        </p:nvSpPr>
        <p:spPr>
          <a:xfrm>
            <a:off x="5166360" y="2606040"/>
            <a:ext cx="1737360" cy="621792"/>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AIの論理</a:t>
            </a:r>
            <a:endParaRPr lang="en-US" sz="1300" dirty="0"/>
          </a:p>
        </p:txBody>
      </p:sp>
      <p:sp>
        <p:nvSpPr>
          <p:cNvPr id="13" name="Shape 11"/>
          <p:cNvSpPr/>
          <p:nvPr/>
        </p:nvSpPr>
        <p:spPr>
          <a:xfrm>
            <a:off x="1463040" y="3227832"/>
            <a:ext cx="0" cy="384048"/>
          </a:xfrm>
          <a:prstGeom prst="line">
            <a:avLst/>
          </a:prstGeom>
          <a:noFill/>
          <a:ln w="28575">
            <a:solidFill>
              <a:srgbClr val="E8623C"/>
            </a:solidFill>
            <a:prstDash val="solid"/>
            <a:tailEnd type="triangle"/>
          </a:ln>
        </p:spPr>
      </p:sp>
      <p:sp>
        <p:nvSpPr>
          <p:cNvPr id="14" name="Shape 12"/>
          <p:cNvSpPr/>
          <p:nvPr/>
        </p:nvSpPr>
        <p:spPr>
          <a:xfrm>
            <a:off x="6035040" y="3227832"/>
            <a:ext cx="0" cy="384048"/>
          </a:xfrm>
          <a:prstGeom prst="line">
            <a:avLst/>
          </a:prstGeom>
          <a:noFill/>
          <a:ln w="28575">
            <a:solidFill>
              <a:srgbClr val="E8623C"/>
            </a:solidFill>
            <a:prstDash val="solid"/>
            <a:tailEnd type="triangle"/>
          </a:ln>
        </p:spPr>
      </p:sp>
      <p:sp>
        <p:nvSpPr>
          <p:cNvPr id="15" name="Shape 13"/>
          <p:cNvSpPr/>
          <p:nvPr/>
        </p:nvSpPr>
        <p:spPr>
          <a:xfrm>
            <a:off x="548640" y="3611880"/>
            <a:ext cx="1828800" cy="530352"/>
          </a:xfrm>
          <a:prstGeom prst="roundRect">
            <a:avLst>
              <a:gd name="adj" fmla="val 12069"/>
            </a:avLst>
          </a:prstGeom>
          <a:solidFill>
            <a:srgbClr val="FBD9CC"/>
          </a:solidFill>
          <a:ln w="15875">
            <a:solidFill>
              <a:srgbClr val="D3DAEA"/>
            </a:solidFill>
            <a:prstDash val="solid"/>
          </a:ln>
        </p:spPr>
      </p:sp>
      <p:sp>
        <p:nvSpPr>
          <p:cNvPr id="16" name="Text 14"/>
          <p:cNvSpPr txBox="1"/>
          <p:nvPr/>
        </p:nvSpPr>
        <p:spPr>
          <a:xfrm>
            <a:off x="594360" y="3611880"/>
            <a:ext cx="1737360" cy="530352"/>
          </a:xfrm>
          <a:prstGeom prst="rect">
            <a:avLst/>
          </a:prstGeom>
          <a:noFill/>
          <a:ln/>
        </p:spPr>
        <p:txBody>
          <a:bodyPr wrap="square" lIns="12700" tIns="12700" rIns="12700" bIns="1270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検証</a:t>
            </a:r>
            <a:endParaRPr lang="en-US" sz="1200" dirty="0"/>
          </a:p>
        </p:txBody>
      </p:sp>
      <p:sp>
        <p:nvSpPr>
          <p:cNvPr id="17" name="Shape 15"/>
          <p:cNvSpPr/>
          <p:nvPr/>
        </p:nvSpPr>
        <p:spPr>
          <a:xfrm>
            <a:off x="5120640" y="3611880"/>
            <a:ext cx="1828800" cy="530352"/>
          </a:xfrm>
          <a:prstGeom prst="roundRect">
            <a:avLst>
              <a:gd name="adj" fmla="val 12069"/>
            </a:avLst>
          </a:prstGeom>
          <a:solidFill>
            <a:srgbClr val="FBD9CC"/>
          </a:solidFill>
          <a:ln w="15875">
            <a:solidFill>
              <a:srgbClr val="D3DAEA"/>
            </a:solidFill>
            <a:prstDash val="solid"/>
          </a:ln>
        </p:spPr>
      </p:sp>
      <p:sp>
        <p:nvSpPr>
          <p:cNvPr id="18" name="Text 16"/>
          <p:cNvSpPr txBox="1"/>
          <p:nvPr/>
        </p:nvSpPr>
        <p:spPr>
          <a:xfrm>
            <a:off x="5166360" y="3611880"/>
            <a:ext cx="1737360" cy="530352"/>
          </a:xfrm>
          <a:prstGeom prst="rect">
            <a:avLst/>
          </a:prstGeom>
          <a:noFill/>
          <a:ln/>
        </p:spPr>
        <p:txBody>
          <a:bodyPr wrap="square" lIns="12700" tIns="12700" rIns="12700" bIns="1270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検証</a:t>
            </a:r>
            <a:endParaRPr lang="en-US" sz="1200" dirty="0"/>
          </a:p>
        </p:txBody>
      </p:sp>
      <p:sp>
        <p:nvSpPr>
          <p:cNvPr id="19" name="Text 17"/>
          <p:cNvSpPr txBox="1"/>
          <p:nvPr/>
        </p:nvSpPr>
        <p:spPr>
          <a:xfrm>
            <a:off x="2560320" y="1600200"/>
            <a:ext cx="2377440" cy="320040"/>
          </a:xfrm>
          <a:prstGeom prst="rect">
            <a:avLst/>
          </a:prstGeom>
          <a:noFill/>
          <a:ln/>
        </p:spPr>
        <p:txBody>
          <a:bodyPr wrap="square" lIns="0" tIns="0" rIns="0" bIns="0" rtlCol="0" anchor="t"/>
          <a:lstStyle/>
          <a:p>
            <a:pPr algn="ctr" indent="0" marL="0">
              <a:buNone/>
            </a:pPr>
            <a:r>
              <a:rPr lang="en-US" sz="1250" i="1" dirty="0">
                <a:solidFill>
                  <a:srgbClr val="5B6B87"/>
                </a:solidFill>
                <a:latin typeface="Calibri" pitchFamily="34" charset="0"/>
                <a:ea typeface="Calibri" pitchFamily="34" charset="-122"/>
                <a:cs typeface="Calibri" pitchFamily="34" charset="-120"/>
              </a:rPr>
              <a:t>同じ基準</a:t>
            </a:r>
            <a:endParaRPr lang="en-US" sz="1250" dirty="0"/>
          </a:p>
        </p:txBody>
      </p:sp>
      <p:sp>
        <p:nvSpPr>
          <p:cNvPr id="20" name="Shape 18"/>
          <p:cNvSpPr/>
          <p:nvPr/>
        </p:nvSpPr>
        <p:spPr>
          <a:xfrm>
            <a:off x="7315200" y="1691640"/>
            <a:ext cx="4023360" cy="822960"/>
          </a:xfrm>
          <a:prstGeom prst="roundRect">
            <a:avLst>
              <a:gd name="adj" fmla="val 7778"/>
            </a:avLst>
          </a:prstGeom>
          <a:solidFill>
            <a:srgbClr val="FFFFFF"/>
          </a:solidFill>
          <a:ln w="15875">
            <a:solidFill>
              <a:srgbClr val="E8623C"/>
            </a:solidFill>
            <a:prstDash val="solid"/>
          </a:ln>
        </p:spPr>
      </p:sp>
      <p:sp>
        <p:nvSpPr>
          <p:cNvPr id="21" name="Text 19"/>
          <p:cNvSpPr txBox="1"/>
          <p:nvPr/>
        </p:nvSpPr>
        <p:spPr>
          <a:xfrm>
            <a:off x="7543800" y="1691640"/>
            <a:ext cx="3611880" cy="822960"/>
          </a:xfrm>
          <a:prstGeom prst="rect">
            <a:avLst/>
          </a:prstGeom>
          <a:noFill/>
          <a:ln/>
        </p:spPr>
        <p:txBody>
          <a:bodyPr wrap="square" lIns="25400" tIns="25400" rIns="25400" bIns="25400" rtlCol="0" anchor="ctr"/>
          <a:lstStyle/>
          <a:p>
            <a:pPr algn="l" indent="0" marL="0">
              <a:buNone/>
            </a:pPr>
            <a:r>
              <a:rPr lang="en-US" sz="1150" i="1" dirty="0">
                <a:solidFill>
                  <a:srgbClr val="1E2761"/>
                </a:solidFill>
                <a:latin typeface="Calibri" pitchFamily="34" charset="0"/>
                <a:ea typeface="Calibri" pitchFamily="34" charset="-122"/>
                <a:cs typeface="Calibri" pitchFamily="34" charset="-120"/>
              </a:rPr>
              <a:t>「私の主張にも同じ基準を</a:t>
            </a:r>
            <a:endParaRPr lang="en-US" sz="1150" dirty="0"/>
          </a:p>
          <a:p>
            <a:pPr algn="l" indent="0" marL="0">
              <a:buNone/>
            </a:pPr>
            <a:r>
              <a:rPr lang="en-US" sz="1150" i="1" dirty="0">
                <a:solidFill>
                  <a:srgbClr val="1E2761"/>
                </a:solidFill>
                <a:latin typeface="Calibri" pitchFamily="34" charset="0"/>
                <a:ea typeface="Calibri" pitchFamily="34" charset="-122"/>
                <a:cs typeface="Calibri" pitchFamily="34" charset="-120"/>
              </a:rPr>
              <a:t>適用して、弱点を指摘して</a:t>
            </a:r>
            <a:endParaRPr lang="en-US" sz="1150" dirty="0"/>
          </a:p>
          <a:p>
            <a:pPr algn="l" indent="0" marL="0">
              <a:buNone/>
            </a:pPr>
            <a:r>
              <a:rPr lang="en-US" sz="1150" i="1" dirty="0">
                <a:solidFill>
                  <a:srgbClr val="1E2761"/>
                </a:solidFill>
                <a:latin typeface="Calibri" pitchFamily="34" charset="0"/>
                <a:ea typeface="Calibri" pitchFamily="34" charset="-122"/>
                <a:cs typeface="Calibri" pitchFamily="34" charset="-120"/>
              </a:rPr>
              <a:t>ください。」</a:t>
            </a:r>
            <a:endParaRPr lang="en-US" sz="1150" dirty="0"/>
          </a:p>
        </p:txBody>
      </p:sp>
      <p:sp>
        <p:nvSpPr>
          <p:cNvPr id="22" name="Shape 20"/>
          <p:cNvSpPr/>
          <p:nvPr/>
        </p:nvSpPr>
        <p:spPr>
          <a:xfrm>
            <a:off x="7315200" y="2697480"/>
            <a:ext cx="4023360" cy="1097280"/>
          </a:xfrm>
          <a:prstGeom prst="roundRect">
            <a:avLst>
              <a:gd name="adj" fmla="val 6667"/>
            </a:avLst>
          </a:prstGeom>
          <a:solidFill>
            <a:srgbClr val="1E2761"/>
          </a:solidFill>
          <a:ln/>
        </p:spPr>
      </p:sp>
      <p:sp>
        <p:nvSpPr>
          <p:cNvPr id="23" name="Text 21"/>
          <p:cNvSpPr txBox="1"/>
          <p:nvPr/>
        </p:nvSpPr>
        <p:spPr>
          <a:xfrm>
            <a:off x="7406640" y="2697480"/>
            <a:ext cx="3840480" cy="1097280"/>
          </a:xfrm>
          <a:prstGeom prst="rect">
            <a:avLst/>
          </a:prstGeom>
          <a:noFill/>
          <a:ln/>
        </p:spPr>
        <p:txBody>
          <a:bodyPr wrap="square" lIns="25400" tIns="25400" rIns="25400" bIns="2540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「自分が勝つこと」ではなく</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「より妥当な説明に</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近づくこと」</a:t>
            </a:r>
            <a:endParaRPr lang="en-US" sz="1250" dirty="0"/>
          </a:p>
        </p:txBody>
      </p:sp>
      <p:sp>
        <p:nvSpPr>
          <p:cNvPr id="24" name="Shape 22"/>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25" name="Shape 23"/>
          <p:cNvSpPr/>
          <p:nvPr/>
        </p:nvSpPr>
        <p:spPr>
          <a:xfrm>
            <a:off x="548640" y="5870448"/>
            <a:ext cx="54864" cy="713232"/>
          </a:xfrm>
          <a:prstGeom prst="rect">
            <a:avLst/>
          </a:prstGeom>
          <a:solidFill>
            <a:srgbClr val="E8623C"/>
          </a:solidFill>
          <a:ln/>
        </p:spPr>
      </p:sp>
      <p:sp>
        <p:nvSpPr>
          <p:cNvPr id="26" name="Text 24"/>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壁打ちが「議論に勝つゲーム」になってしまうと機能しなくなります。自分の主張も等しく検証対象であるという姿勢が、壁打ちを他の議論と分ける最大の違いです。</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技法は単独ではなく組み合わせる</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すべてを毎回実行する必要はない。問題に応じて技法を選ぶ</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16 / 19</a:t>
            </a:r>
            <a:endParaRPr lang="en-US" sz="900" dirty="0"/>
          </a:p>
        </p:txBody>
      </p:sp>
      <p:sp>
        <p:nvSpPr>
          <p:cNvPr id="5" name="Text 3"/>
          <p:cNvSpPr txBox="1"/>
          <p:nvPr/>
        </p:nvSpPr>
        <p:spPr>
          <a:xfrm>
            <a:off x="548640" y="1463040"/>
            <a:ext cx="2743200" cy="320040"/>
          </a:xfrm>
          <a:prstGeom prst="rect">
            <a:avLst/>
          </a:prstGeom>
          <a:noFill/>
          <a:ln/>
        </p:spPr>
        <p:txBody>
          <a:bodyPr wrap="square" lIns="0" tIns="0" rIns="0" bIns="0" rtlCol="0" anchor="t"/>
          <a:lstStyle/>
          <a:p>
            <a:pPr algn="l" indent="0" marL="0">
              <a:buNone/>
            </a:pPr>
            <a:r>
              <a:rPr lang="en-US" sz="1400" b="1" dirty="0">
                <a:solidFill>
                  <a:srgbClr val="1E2761"/>
                </a:solidFill>
                <a:latin typeface="Calibri" pitchFamily="34" charset="0"/>
                <a:ea typeface="Calibri" pitchFamily="34" charset="-122"/>
                <a:cs typeface="Calibri" pitchFamily="34" charset="-120"/>
              </a:rPr>
              <a:t>基本セット</a:t>
            </a:r>
            <a:endParaRPr lang="en-US" sz="1400" dirty="0"/>
          </a:p>
        </p:txBody>
      </p:sp>
      <p:sp>
        <p:nvSpPr>
          <p:cNvPr id="6" name="Shape 4"/>
          <p:cNvSpPr/>
          <p:nvPr/>
        </p:nvSpPr>
        <p:spPr>
          <a:xfrm>
            <a:off x="548640" y="1874520"/>
            <a:ext cx="1554480" cy="621792"/>
          </a:xfrm>
          <a:prstGeom prst="roundRect">
            <a:avLst>
              <a:gd name="adj" fmla="val 10294"/>
            </a:avLst>
          </a:prstGeom>
          <a:solidFill>
            <a:srgbClr val="F2F4F9"/>
          </a:solidFill>
          <a:ln w="15875">
            <a:solidFill>
              <a:srgbClr val="D3DAEA"/>
            </a:solidFill>
            <a:prstDash val="solid"/>
          </a:ln>
        </p:spPr>
      </p:sp>
      <p:sp>
        <p:nvSpPr>
          <p:cNvPr id="7" name="Text 5"/>
          <p:cNvSpPr txBox="1"/>
          <p:nvPr/>
        </p:nvSpPr>
        <p:spPr>
          <a:xfrm>
            <a:off x="594360" y="1874520"/>
            <a:ext cx="1463040" cy="621792"/>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自説</a:t>
            </a:r>
            <a:endParaRPr lang="en-US" sz="1300" dirty="0"/>
          </a:p>
        </p:txBody>
      </p:sp>
      <p:sp>
        <p:nvSpPr>
          <p:cNvPr id="8" name="Shape 6"/>
          <p:cNvSpPr/>
          <p:nvPr/>
        </p:nvSpPr>
        <p:spPr>
          <a:xfrm>
            <a:off x="2103120" y="2185416"/>
            <a:ext cx="201168" cy="0"/>
          </a:xfrm>
          <a:prstGeom prst="line">
            <a:avLst/>
          </a:prstGeom>
          <a:noFill/>
          <a:ln w="28575">
            <a:solidFill>
              <a:srgbClr val="E8623C"/>
            </a:solidFill>
            <a:prstDash val="solid"/>
            <a:tailEnd type="triangle"/>
          </a:ln>
        </p:spPr>
      </p:sp>
      <p:sp>
        <p:nvSpPr>
          <p:cNvPr id="9" name="Shape 7"/>
          <p:cNvSpPr/>
          <p:nvPr/>
        </p:nvSpPr>
        <p:spPr>
          <a:xfrm>
            <a:off x="2304288" y="1874520"/>
            <a:ext cx="1554480" cy="621792"/>
          </a:xfrm>
          <a:prstGeom prst="roundRect">
            <a:avLst>
              <a:gd name="adj" fmla="val 10294"/>
            </a:avLst>
          </a:prstGeom>
          <a:solidFill>
            <a:srgbClr val="F2F4F9"/>
          </a:solidFill>
          <a:ln w="15875">
            <a:solidFill>
              <a:srgbClr val="D3DAEA"/>
            </a:solidFill>
            <a:prstDash val="solid"/>
          </a:ln>
        </p:spPr>
      </p:sp>
      <p:sp>
        <p:nvSpPr>
          <p:cNvPr id="10" name="Text 8"/>
          <p:cNvSpPr txBox="1"/>
          <p:nvPr/>
        </p:nvSpPr>
        <p:spPr>
          <a:xfrm>
            <a:off x="2350008" y="1874520"/>
            <a:ext cx="1463040" cy="621792"/>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反論</a:t>
            </a:r>
            <a:endParaRPr lang="en-US" sz="1300" dirty="0"/>
          </a:p>
        </p:txBody>
      </p:sp>
      <p:sp>
        <p:nvSpPr>
          <p:cNvPr id="11" name="Shape 9"/>
          <p:cNvSpPr/>
          <p:nvPr/>
        </p:nvSpPr>
        <p:spPr>
          <a:xfrm>
            <a:off x="3858768" y="2185416"/>
            <a:ext cx="201168" cy="0"/>
          </a:xfrm>
          <a:prstGeom prst="line">
            <a:avLst/>
          </a:prstGeom>
          <a:noFill/>
          <a:ln w="28575">
            <a:solidFill>
              <a:srgbClr val="E8623C"/>
            </a:solidFill>
            <a:prstDash val="solid"/>
            <a:tailEnd type="triangle"/>
          </a:ln>
        </p:spPr>
      </p:sp>
      <p:sp>
        <p:nvSpPr>
          <p:cNvPr id="12" name="Shape 10"/>
          <p:cNvSpPr/>
          <p:nvPr/>
        </p:nvSpPr>
        <p:spPr>
          <a:xfrm>
            <a:off x="4059936" y="1874520"/>
            <a:ext cx="1554480" cy="621792"/>
          </a:xfrm>
          <a:prstGeom prst="roundRect">
            <a:avLst>
              <a:gd name="adj" fmla="val 10294"/>
            </a:avLst>
          </a:prstGeom>
          <a:solidFill>
            <a:srgbClr val="F2F4F9"/>
          </a:solidFill>
          <a:ln w="15875">
            <a:solidFill>
              <a:srgbClr val="D3DAEA"/>
            </a:solidFill>
            <a:prstDash val="solid"/>
          </a:ln>
        </p:spPr>
      </p:sp>
      <p:sp>
        <p:nvSpPr>
          <p:cNvPr id="13" name="Text 11"/>
          <p:cNvSpPr txBox="1"/>
          <p:nvPr/>
        </p:nvSpPr>
        <p:spPr>
          <a:xfrm>
            <a:off x="4105656" y="1874520"/>
            <a:ext cx="1463040" cy="621792"/>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前提</a:t>
            </a:r>
            <a:endParaRPr lang="en-US" sz="1300" dirty="0"/>
          </a:p>
        </p:txBody>
      </p:sp>
      <p:sp>
        <p:nvSpPr>
          <p:cNvPr id="14" name="Shape 12"/>
          <p:cNvSpPr/>
          <p:nvPr/>
        </p:nvSpPr>
        <p:spPr>
          <a:xfrm>
            <a:off x="5614416" y="2185416"/>
            <a:ext cx="201168" cy="0"/>
          </a:xfrm>
          <a:prstGeom prst="line">
            <a:avLst/>
          </a:prstGeom>
          <a:noFill/>
          <a:ln w="28575">
            <a:solidFill>
              <a:srgbClr val="E8623C"/>
            </a:solidFill>
            <a:prstDash val="solid"/>
            <a:tailEnd type="triangle"/>
          </a:ln>
        </p:spPr>
      </p:sp>
      <p:sp>
        <p:nvSpPr>
          <p:cNvPr id="15" name="Shape 13"/>
          <p:cNvSpPr/>
          <p:nvPr/>
        </p:nvSpPr>
        <p:spPr>
          <a:xfrm>
            <a:off x="5815584" y="1874520"/>
            <a:ext cx="1554480" cy="621792"/>
          </a:xfrm>
          <a:prstGeom prst="roundRect">
            <a:avLst>
              <a:gd name="adj" fmla="val 10294"/>
            </a:avLst>
          </a:prstGeom>
          <a:solidFill>
            <a:srgbClr val="F2F4F9"/>
          </a:solidFill>
          <a:ln w="15875">
            <a:solidFill>
              <a:srgbClr val="D3DAEA"/>
            </a:solidFill>
            <a:prstDash val="solid"/>
          </a:ln>
        </p:spPr>
      </p:sp>
      <p:sp>
        <p:nvSpPr>
          <p:cNvPr id="16" name="Text 14"/>
          <p:cNvSpPr txBox="1"/>
          <p:nvPr/>
        </p:nvSpPr>
        <p:spPr>
          <a:xfrm>
            <a:off x="5861304" y="1874520"/>
            <a:ext cx="1463040" cy="621792"/>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推論</a:t>
            </a:r>
            <a:endParaRPr lang="en-US" sz="1300" dirty="0"/>
          </a:p>
        </p:txBody>
      </p:sp>
      <p:sp>
        <p:nvSpPr>
          <p:cNvPr id="17" name="Shape 15"/>
          <p:cNvSpPr/>
          <p:nvPr/>
        </p:nvSpPr>
        <p:spPr>
          <a:xfrm>
            <a:off x="7370064" y="2185416"/>
            <a:ext cx="201168" cy="0"/>
          </a:xfrm>
          <a:prstGeom prst="line">
            <a:avLst/>
          </a:prstGeom>
          <a:noFill/>
          <a:ln w="28575">
            <a:solidFill>
              <a:srgbClr val="E8623C"/>
            </a:solidFill>
            <a:prstDash val="solid"/>
            <a:tailEnd type="triangle"/>
          </a:ln>
        </p:spPr>
      </p:sp>
      <p:sp>
        <p:nvSpPr>
          <p:cNvPr id="18" name="Shape 16"/>
          <p:cNvSpPr/>
          <p:nvPr/>
        </p:nvSpPr>
        <p:spPr>
          <a:xfrm>
            <a:off x="7571232" y="1874520"/>
            <a:ext cx="1554480" cy="621792"/>
          </a:xfrm>
          <a:prstGeom prst="roundRect">
            <a:avLst>
              <a:gd name="adj" fmla="val 10294"/>
            </a:avLst>
          </a:prstGeom>
          <a:solidFill>
            <a:srgbClr val="F2F4F9"/>
          </a:solidFill>
          <a:ln w="15875">
            <a:solidFill>
              <a:srgbClr val="D3DAEA"/>
            </a:solidFill>
            <a:prstDash val="solid"/>
          </a:ln>
        </p:spPr>
      </p:sp>
      <p:sp>
        <p:nvSpPr>
          <p:cNvPr id="19" name="Text 17"/>
          <p:cNvSpPr txBox="1"/>
          <p:nvPr/>
        </p:nvSpPr>
        <p:spPr>
          <a:xfrm>
            <a:off x="7616952" y="1874520"/>
            <a:ext cx="1463040" cy="621792"/>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反例</a:t>
            </a:r>
            <a:endParaRPr lang="en-US" sz="1300" dirty="0"/>
          </a:p>
        </p:txBody>
      </p:sp>
      <p:sp>
        <p:nvSpPr>
          <p:cNvPr id="20" name="Shape 18"/>
          <p:cNvSpPr/>
          <p:nvPr/>
        </p:nvSpPr>
        <p:spPr>
          <a:xfrm>
            <a:off x="9125712" y="2185416"/>
            <a:ext cx="201168" cy="0"/>
          </a:xfrm>
          <a:prstGeom prst="line">
            <a:avLst/>
          </a:prstGeom>
          <a:noFill/>
          <a:ln w="28575">
            <a:solidFill>
              <a:srgbClr val="E8623C"/>
            </a:solidFill>
            <a:prstDash val="solid"/>
            <a:tailEnd type="triangle"/>
          </a:ln>
        </p:spPr>
      </p:sp>
      <p:sp>
        <p:nvSpPr>
          <p:cNvPr id="21" name="Shape 19"/>
          <p:cNvSpPr/>
          <p:nvPr/>
        </p:nvSpPr>
        <p:spPr>
          <a:xfrm>
            <a:off x="9326880" y="1874520"/>
            <a:ext cx="1554480" cy="621792"/>
          </a:xfrm>
          <a:prstGeom prst="roundRect">
            <a:avLst>
              <a:gd name="adj" fmla="val 10294"/>
            </a:avLst>
          </a:prstGeom>
          <a:solidFill>
            <a:srgbClr val="F2F4F9"/>
          </a:solidFill>
          <a:ln w="15875">
            <a:solidFill>
              <a:srgbClr val="D3DAEA"/>
            </a:solidFill>
            <a:prstDash val="solid"/>
          </a:ln>
        </p:spPr>
      </p:sp>
      <p:sp>
        <p:nvSpPr>
          <p:cNvPr id="22" name="Text 20"/>
          <p:cNvSpPr txBox="1"/>
          <p:nvPr/>
        </p:nvSpPr>
        <p:spPr>
          <a:xfrm>
            <a:off x="9372600" y="1874520"/>
            <a:ext cx="1463040" cy="621792"/>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修正</a:t>
            </a:r>
            <a:endParaRPr lang="en-US" sz="1300" dirty="0"/>
          </a:p>
        </p:txBody>
      </p:sp>
      <p:sp>
        <p:nvSpPr>
          <p:cNvPr id="23" name="Text 21"/>
          <p:cNvSpPr txBox="1"/>
          <p:nvPr/>
        </p:nvSpPr>
        <p:spPr>
          <a:xfrm>
            <a:off x="548640" y="2834640"/>
            <a:ext cx="3657600" cy="320040"/>
          </a:xfrm>
          <a:prstGeom prst="rect">
            <a:avLst/>
          </a:prstGeom>
          <a:noFill/>
          <a:ln/>
        </p:spPr>
        <p:txBody>
          <a:bodyPr wrap="square" lIns="0" tIns="0" rIns="0" bIns="0" rtlCol="0" anchor="t"/>
          <a:lstStyle/>
          <a:p>
            <a:pPr algn="l" indent="0" marL="0">
              <a:buNone/>
            </a:pPr>
            <a:r>
              <a:rPr lang="en-US" sz="1250" i="1" dirty="0">
                <a:solidFill>
                  <a:srgbClr val="5B6B87"/>
                </a:solidFill>
                <a:latin typeface="Calibri" pitchFamily="34" charset="0"/>
                <a:ea typeface="Calibri" pitchFamily="34" charset="-122"/>
                <a:cs typeface="Calibri" pitchFamily="34" charset="-120"/>
              </a:rPr>
              <a:t>オプション（必要に応じて追加）</a:t>
            </a:r>
            <a:endParaRPr lang="en-US" sz="1250" dirty="0"/>
          </a:p>
        </p:txBody>
      </p:sp>
      <p:sp>
        <p:nvSpPr>
          <p:cNvPr id="24" name="Shape 22"/>
          <p:cNvSpPr/>
          <p:nvPr/>
        </p:nvSpPr>
        <p:spPr>
          <a:xfrm>
            <a:off x="2926080" y="3291840"/>
            <a:ext cx="1554480" cy="621792"/>
          </a:xfrm>
          <a:prstGeom prst="roundRect">
            <a:avLst>
              <a:gd name="adj" fmla="val 10294"/>
            </a:avLst>
          </a:prstGeom>
          <a:solidFill>
            <a:srgbClr val="FFFFFF"/>
          </a:solidFill>
          <a:ln w="19050">
            <a:solidFill>
              <a:srgbClr val="E8623C"/>
            </a:solidFill>
            <a:prstDash val="dash"/>
          </a:ln>
        </p:spPr>
      </p:sp>
      <p:sp>
        <p:nvSpPr>
          <p:cNvPr id="25" name="Text 23"/>
          <p:cNvSpPr txBox="1"/>
          <p:nvPr/>
        </p:nvSpPr>
        <p:spPr>
          <a:xfrm>
            <a:off x="2971800" y="3291840"/>
            <a:ext cx="1463040" cy="621792"/>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別解</a:t>
            </a:r>
            <a:endParaRPr lang="en-US" sz="1300" dirty="0"/>
          </a:p>
        </p:txBody>
      </p:sp>
      <p:sp>
        <p:nvSpPr>
          <p:cNvPr id="26" name="Shape 24"/>
          <p:cNvSpPr/>
          <p:nvPr/>
        </p:nvSpPr>
        <p:spPr>
          <a:xfrm>
            <a:off x="4480560" y="3602736"/>
            <a:ext cx="201168" cy="0"/>
          </a:xfrm>
          <a:prstGeom prst="line">
            <a:avLst/>
          </a:prstGeom>
          <a:noFill/>
          <a:ln w="28575">
            <a:solidFill>
              <a:srgbClr val="E8623C"/>
            </a:solidFill>
            <a:prstDash val="solid"/>
            <a:tailEnd type="triangle"/>
          </a:ln>
        </p:spPr>
      </p:sp>
      <p:sp>
        <p:nvSpPr>
          <p:cNvPr id="27" name="Shape 25"/>
          <p:cNvSpPr/>
          <p:nvPr/>
        </p:nvSpPr>
        <p:spPr>
          <a:xfrm>
            <a:off x="4681728" y="3291840"/>
            <a:ext cx="1554480" cy="621792"/>
          </a:xfrm>
          <a:prstGeom prst="roundRect">
            <a:avLst>
              <a:gd name="adj" fmla="val 10294"/>
            </a:avLst>
          </a:prstGeom>
          <a:solidFill>
            <a:srgbClr val="FFFFFF"/>
          </a:solidFill>
          <a:ln w="19050">
            <a:solidFill>
              <a:srgbClr val="E8623C"/>
            </a:solidFill>
            <a:prstDash val="dash"/>
          </a:ln>
        </p:spPr>
      </p:sp>
      <p:sp>
        <p:nvSpPr>
          <p:cNvPr id="28" name="Text 26"/>
          <p:cNvSpPr txBox="1"/>
          <p:nvPr/>
        </p:nvSpPr>
        <p:spPr>
          <a:xfrm>
            <a:off x="4727448" y="3291840"/>
            <a:ext cx="1463040" cy="621792"/>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条件変更</a:t>
            </a:r>
            <a:endParaRPr lang="en-US" sz="1300" dirty="0"/>
          </a:p>
        </p:txBody>
      </p:sp>
      <p:sp>
        <p:nvSpPr>
          <p:cNvPr id="29" name="Shape 27"/>
          <p:cNvSpPr/>
          <p:nvPr/>
        </p:nvSpPr>
        <p:spPr>
          <a:xfrm>
            <a:off x="6236208" y="3602736"/>
            <a:ext cx="201168" cy="0"/>
          </a:xfrm>
          <a:prstGeom prst="line">
            <a:avLst/>
          </a:prstGeom>
          <a:noFill/>
          <a:ln w="28575">
            <a:solidFill>
              <a:srgbClr val="E8623C"/>
            </a:solidFill>
            <a:prstDash val="solid"/>
            <a:tailEnd type="triangle"/>
          </a:ln>
        </p:spPr>
      </p:sp>
      <p:sp>
        <p:nvSpPr>
          <p:cNvPr id="30" name="Shape 28"/>
          <p:cNvSpPr/>
          <p:nvPr/>
        </p:nvSpPr>
        <p:spPr>
          <a:xfrm>
            <a:off x="6437376" y="3291840"/>
            <a:ext cx="1554480" cy="621792"/>
          </a:xfrm>
          <a:prstGeom prst="roundRect">
            <a:avLst>
              <a:gd name="adj" fmla="val 10294"/>
            </a:avLst>
          </a:prstGeom>
          <a:solidFill>
            <a:srgbClr val="FFFFFF"/>
          </a:solidFill>
          <a:ln w="19050">
            <a:solidFill>
              <a:srgbClr val="E8623C"/>
            </a:solidFill>
            <a:prstDash val="dash"/>
          </a:ln>
        </p:spPr>
      </p:sp>
      <p:sp>
        <p:nvSpPr>
          <p:cNvPr id="31" name="Text 29"/>
          <p:cNvSpPr txBox="1"/>
          <p:nvPr/>
        </p:nvSpPr>
        <p:spPr>
          <a:xfrm>
            <a:off x="6483096" y="3291840"/>
            <a:ext cx="1463040" cy="621792"/>
          </a:xfrm>
          <a:prstGeom prst="rect">
            <a:avLst/>
          </a:prstGeom>
          <a:noFill/>
          <a:ln/>
        </p:spPr>
        <p:txBody>
          <a:bodyPr wrap="square" lIns="12700" tIns="12700" rIns="12700" bIns="1270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再検証</a:t>
            </a:r>
            <a:endParaRPr lang="en-US" sz="1300" dirty="0"/>
          </a:p>
        </p:txBody>
      </p:sp>
      <p:sp>
        <p:nvSpPr>
          <p:cNvPr id="32" name="Shape 30"/>
          <p:cNvSpPr/>
          <p:nvPr/>
        </p:nvSpPr>
        <p:spPr>
          <a:xfrm>
            <a:off x="10104120" y="2496312"/>
            <a:ext cx="-6400800" cy="795528"/>
          </a:xfrm>
          <a:prstGeom prst="line">
            <a:avLst/>
          </a:prstGeom>
          <a:noFill/>
          <a:ln w="19050">
            <a:solidFill>
              <a:srgbClr val="E8623C"/>
            </a:solidFill>
            <a:prstDash val="dash"/>
            <a:tailEnd type="triangle"/>
          </a:ln>
        </p:spPr>
      </p:sp>
      <p:sp>
        <p:nvSpPr>
          <p:cNvPr id="33" name="Shape 31"/>
          <p:cNvSpPr/>
          <p:nvPr/>
        </p:nvSpPr>
        <p:spPr>
          <a:xfrm>
            <a:off x="1371600" y="4434840"/>
            <a:ext cx="9418320" cy="777240"/>
          </a:xfrm>
          <a:prstGeom prst="roundRect">
            <a:avLst>
              <a:gd name="adj" fmla="val 11765"/>
            </a:avLst>
          </a:prstGeom>
          <a:solidFill>
            <a:srgbClr val="1E2761"/>
          </a:solidFill>
          <a:ln/>
        </p:spPr>
      </p:sp>
      <p:sp>
        <p:nvSpPr>
          <p:cNvPr id="34" name="Text 32"/>
          <p:cNvSpPr txBox="1"/>
          <p:nvPr/>
        </p:nvSpPr>
        <p:spPr>
          <a:xfrm>
            <a:off x="1554480" y="4434840"/>
            <a:ext cx="9052560" cy="77724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すべてを毎回実行する必要はない。問題に応じて技法を選ぶことが重要。</a:t>
            </a:r>
            <a:endParaRPr lang="en-US" sz="1450" dirty="0"/>
          </a:p>
        </p:txBody>
      </p:sp>
      <p:sp>
        <p:nvSpPr>
          <p:cNvPr id="35" name="Shape 33"/>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36" name="Shape 34"/>
          <p:cNvSpPr/>
          <p:nvPr/>
        </p:nvSpPr>
        <p:spPr>
          <a:xfrm>
            <a:off x="548640" y="5870448"/>
            <a:ext cx="54864" cy="713232"/>
          </a:xfrm>
          <a:prstGeom prst="rect">
            <a:avLst/>
          </a:prstGeom>
          <a:solidFill>
            <a:srgbClr val="E8623C"/>
          </a:solidFill>
          <a:ln/>
        </p:spPr>
      </p:sp>
      <p:sp>
        <p:nvSpPr>
          <p:cNvPr id="37" name="Text 35"/>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初心者は「全部やらなければ」と気負いがちですが、簡単な問題には基本セットの一部だけで十分な場合もあります。問題の重要度・複雑さに応じて技法の量を調整しましょう。</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壁打ちの習熟度</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増えるのは「AI任せの範囲」ではなく「検証の深さ」</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17 / 19</a:t>
            </a:r>
            <a:endParaRPr lang="en-US" sz="900" dirty="0"/>
          </a:p>
        </p:txBody>
      </p:sp>
      <p:sp>
        <p:nvSpPr>
          <p:cNvPr id="5" name="Shape 3"/>
          <p:cNvSpPr/>
          <p:nvPr/>
        </p:nvSpPr>
        <p:spPr>
          <a:xfrm>
            <a:off x="914400" y="5029200"/>
            <a:ext cx="1417320" cy="457200"/>
          </a:xfrm>
          <a:prstGeom prst="rect">
            <a:avLst/>
          </a:prstGeom>
          <a:solidFill>
            <a:srgbClr val="1E2761"/>
          </a:solidFill>
          <a:ln w="12700">
            <a:solidFill>
              <a:srgbClr val="FFFFFF"/>
            </a:solidFill>
            <a:prstDash val="solid"/>
          </a:ln>
        </p:spPr>
      </p:sp>
      <p:sp>
        <p:nvSpPr>
          <p:cNvPr id="6" name="Text 4"/>
          <p:cNvSpPr txBox="1"/>
          <p:nvPr/>
        </p:nvSpPr>
        <p:spPr>
          <a:xfrm>
            <a:off x="914400" y="4645152"/>
            <a:ext cx="1417320" cy="365760"/>
          </a:xfrm>
          <a:prstGeom prst="rect">
            <a:avLst/>
          </a:prstGeom>
          <a:noFill/>
          <a:ln/>
        </p:spPr>
        <p:txBody>
          <a:bodyPr wrap="square" lIns="0" tIns="0" rIns="0" bIns="0" rtlCol="0" anchor="b"/>
          <a:lstStyle/>
          <a:p>
            <a:pPr algn="ctr" indent="0" marL="0">
              <a:buNone/>
            </a:pPr>
            <a:r>
              <a:rPr lang="en-US" sz="1050" b="1" dirty="0">
                <a:solidFill>
                  <a:srgbClr val="1E2761"/>
                </a:solidFill>
                <a:latin typeface="Calibri" pitchFamily="34" charset="0"/>
                <a:ea typeface="Calibri" pitchFamily="34" charset="-122"/>
                <a:cs typeface="Calibri" pitchFamily="34" charset="-120"/>
              </a:rPr>
              <a:t>LV1</a:t>
            </a:r>
            <a:endParaRPr lang="en-US" sz="1050" dirty="0"/>
          </a:p>
          <a:p>
            <a:pPr algn="ctr" indent="0" marL="0">
              <a:buNone/>
            </a:pPr>
            <a:r>
              <a:rPr lang="en-US" sz="1050" b="1" dirty="0">
                <a:solidFill>
                  <a:srgbClr val="1E2761"/>
                </a:solidFill>
                <a:latin typeface="Calibri" pitchFamily="34" charset="0"/>
                <a:ea typeface="Calibri" pitchFamily="34" charset="-122"/>
                <a:cs typeface="Calibri" pitchFamily="34" charset="-120"/>
              </a:rPr>
              <a:t>整理</a:t>
            </a:r>
            <a:endParaRPr lang="en-US" sz="1050" dirty="0"/>
          </a:p>
        </p:txBody>
      </p:sp>
      <p:sp>
        <p:nvSpPr>
          <p:cNvPr id="7" name="Shape 5"/>
          <p:cNvSpPr/>
          <p:nvPr/>
        </p:nvSpPr>
        <p:spPr>
          <a:xfrm>
            <a:off x="2468880" y="4572000"/>
            <a:ext cx="1417320" cy="914400"/>
          </a:xfrm>
          <a:prstGeom prst="rect">
            <a:avLst/>
          </a:prstGeom>
          <a:solidFill>
            <a:srgbClr val="1E2761"/>
          </a:solidFill>
          <a:ln w="12700">
            <a:solidFill>
              <a:srgbClr val="FFFFFF"/>
            </a:solidFill>
            <a:prstDash val="solid"/>
          </a:ln>
        </p:spPr>
      </p:sp>
      <p:sp>
        <p:nvSpPr>
          <p:cNvPr id="8" name="Text 6"/>
          <p:cNvSpPr txBox="1"/>
          <p:nvPr/>
        </p:nvSpPr>
        <p:spPr>
          <a:xfrm>
            <a:off x="2468880" y="4187952"/>
            <a:ext cx="1417320" cy="365760"/>
          </a:xfrm>
          <a:prstGeom prst="rect">
            <a:avLst/>
          </a:prstGeom>
          <a:noFill/>
          <a:ln/>
        </p:spPr>
        <p:txBody>
          <a:bodyPr wrap="square" lIns="0" tIns="0" rIns="0" bIns="0" rtlCol="0" anchor="b"/>
          <a:lstStyle/>
          <a:p>
            <a:pPr algn="ctr" indent="0" marL="0">
              <a:buNone/>
            </a:pPr>
            <a:r>
              <a:rPr lang="en-US" sz="1050" b="1" dirty="0">
                <a:solidFill>
                  <a:srgbClr val="1E2761"/>
                </a:solidFill>
                <a:latin typeface="Calibri" pitchFamily="34" charset="0"/>
                <a:ea typeface="Calibri" pitchFamily="34" charset="-122"/>
                <a:cs typeface="Calibri" pitchFamily="34" charset="-120"/>
              </a:rPr>
              <a:t>LV2</a:t>
            </a:r>
            <a:endParaRPr lang="en-US" sz="1050" dirty="0"/>
          </a:p>
          <a:p>
            <a:pPr algn="ctr" indent="0" marL="0">
              <a:buNone/>
            </a:pPr>
            <a:r>
              <a:rPr lang="en-US" sz="1050" b="1" dirty="0">
                <a:solidFill>
                  <a:srgbClr val="1E2761"/>
                </a:solidFill>
                <a:latin typeface="Calibri" pitchFamily="34" charset="0"/>
                <a:ea typeface="Calibri" pitchFamily="34" charset="-122"/>
                <a:cs typeface="Calibri" pitchFamily="34" charset="-120"/>
              </a:rPr>
              <a:t>反論</a:t>
            </a:r>
            <a:endParaRPr lang="en-US" sz="1050" dirty="0"/>
          </a:p>
        </p:txBody>
      </p:sp>
      <p:sp>
        <p:nvSpPr>
          <p:cNvPr id="9" name="Shape 7"/>
          <p:cNvSpPr/>
          <p:nvPr/>
        </p:nvSpPr>
        <p:spPr>
          <a:xfrm>
            <a:off x="4023360" y="4114800"/>
            <a:ext cx="1417320" cy="1371600"/>
          </a:xfrm>
          <a:prstGeom prst="rect">
            <a:avLst/>
          </a:prstGeom>
          <a:solidFill>
            <a:srgbClr val="1E2761"/>
          </a:solidFill>
          <a:ln w="12700">
            <a:solidFill>
              <a:srgbClr val="FFFFFF"/>
            </a:solidFill>
            <a:prstDash val="solid"/>
          </a:ln>
        </p:spPr>
      </p:sp>
      <p:sp>
        <p:nvSpPr>
          <p:cNvPr id="10" name="Text 8"/>
          <p:cNvSpPr txBox="1"/>
          <p:nvPr/>
        </p:nvSpPr>
        <p:spPr>
          <a:xfrm>
            <a:off x="4023360" y="3730752"/>
            <a:ext cx="1417320" cy="365760"/>
          </a:xfrm>
          <a:prstGeom prst="rect">
            <a:avLst/>
          </a:prstGeom>
          <a:noFill/>
          <a:ln/>
        </p:spPr>
        <p:txBody>
          <a:bodyPr wrap="square" lIns="0" tIns="0" rIns="0" bIns="0" rtlCol="0" anchor="b"/>
          <a:lstStyle/>
          <a:p>
            <a:pPr algn="ctr" indent="0" marL="0">
              <a:buNone/>
            </a:pPr>
            <a:r>
              <a:rPr lang="en-US" sz="1050" b="1" dirty="0">
                <a:solidFill>
                  <a:srgbClr val="1E2761"/>
                </a:solidFill>
                <a:latin typeface="Calibri" pitchFamily="34" charset="0"/>
                <a:ea typeface="Calibri" pitchFamily="34" charset="-122"/>
                <a:cs typeface="Calibri" pitchFamily="34" charset="-120"/>
              </a:rPr>
              <a:t>LV3</a:t>
            </a:r>
            <a:endParaRPr lang="en-US" sz="1050" dirty="0"/>
          </a:p>
          <a:p>
            <a:pPr algn="ctr" indent="0" marL="0">
              <a:buNone/>
            </a:pPr>
            <a:r>
              <a:rPr lang="en-US" sz="1050" b="1" dirty="0">
                <a:solidFill>
                  <a:srgbClr val="1E2761"/>
                </a:solidFill>
                <a:latin typeface="Calibri" pitchFamily="34" charset="0"/>
                <a:ea typeface="Calibri" pitchFamily="34" charset="-122"/>
                <a:cs typeface="Calibri" pitchFamily="34" charset="-120"/>
              </a:rPr>
              <a:t>検証</a:t>
            </a:r>
            <a:endParaRPr lang="en-US" sz="1050" dirty="0"/>
          </a:p>
        </p:txBody>
      </p:sp>
      <p:sp>
        <p:nvSpPr>
          <p:cNvPr id="11" name="Shape 9"/>
          <p:cNvSpPr/>
          <p:nvPr/>
        </p:nvSpPr>
        <p:spPr>
          <a:xfrm>
            <a:off x="5577840" y="3657600"/>
            <a:ext cx="1417320" cy="1828800"/>
          </a:xfrm>
          <a:prstGeom prst="rect">
            <a:avLst/>
          </a:prstGeom>
          <a:solidFill>
            <a:srgbClr val="1E2761"/>
          </a:solidFill>
          <a:ln w="12700">
            <a:solidFill>
              <a:srgbClr val="FFFFFF"/>
            </a:solidFill>
            <a:prstDash val="solid"/>
          </a:ln>
        </p:spPr>
      </p:sp>
      <p:sp>
        <p:nvSpPr>
          <p:cNvPr id="12" name="Text 10"/>
          <p:cNvSpPr txBox="1"/>
          <p:nvPr/>
        </p:nvSpPr>
        <p:spPr>
          <a:xfrm>
            <a:off x="5577840" y="3273552"/>
            <a:ext cx="1417320" cy="365760"/>
          </a:xfrm>
          <a:prstGeom prst="rect">
            <a:avLst/>
          </a:prstGeom>
          <a:noFill/>
          <a:ln/>
        </p:spPr>
        <p:txBody>
          <a:bodyPr wrap="square" lIns="0" tIns="0" rIns="0" bIns="0" rtlCol="0" anchor="b"/>
          <a:lstStyle/>
          <a:p>
            <a:pPr algn="ctr" indent="0" marL="0">
              <a:buNone/>
            </a:pPr>
            <a:r>
              <a:rPr lang="en-US" sz="1050" b="1" dirty="0">
                <a:solidFill>
                  <a:srgbClr val="1E2761"/>
                </a:solidFill>
                <a:latin typeface="Calibri" pitchFamily="34" charset="0"/>
                <a:ea typeface="Calibri" pitchFamily="34" charset="-122"/>
                <a:cs typeface="Calibri" pitchFamily="34" charset="-120"/>
              </a:rPr>
              <a:t>LV4</a:t>
            </a:r>
            <a:endParaRPr lang="en-US" sz="1050" dirty="0"/>
          </a:p>
          <a:p>
            <a:pPr algn="ctr" indent="0" marL="0">
              <a:buNone/>
            </a:pPr>
            <a:r>
              <a:rPr lang="en-US" sz="1050" b="1" dirty="0">
                <a:solidFill>
                  <a:srgbClr val="1E2761"/>
                </a:solidFill>
                <a:latin typeface="Calibri" pitchFamily="34" charset="0"/>
                <a:ea typeface="Calibri" pitchFamily="34" charset="-122"/>
                <a:cs typeface="Calibri" pitchFamily="34" charset="-120"/>
              </a:rPr>
              <a:t>対立仮説</a:t>
            </a:r>
            <a:endParaRPr lang="en-US" sz="1050" dirty="0"/>
          </a:p>
        </p:txBody>
      </p:sp>
      <p:sp>
        <p:nvSpPr>
          <p:cNvPr id="13" name="Shape 11"/>
          <p:cNvSpPr/>
          <p:nvPr/>
        </p:nvSpPr>
        <p:spPr>
          <a:xfrm>
            <a:off x="7132320" y="3200400"/>
            <a:ext cx="1417320" cy="2286000"/>
          </a:xfrm>
          <a:prstGeom prst="rect">
            <a:avLst/>
          </a:prstGeom>
          <a:solidFill>
            <a:srgbClr val="E8623C"/>
          </a:solidFill>
          <a:ln w="12700">
            <a:solidFill>
              <a:srgbClr val="FFFFFF"/>
            </a:solidFill>
            <a:prstDash val="solid"/>
          </a:ln>
        </p:spPr>
      </p:sp>
      <p:sp>
        <p:nvSpPr>
          <p:cNvPr id="14" name="Text 12"/>
          <p:cNvSpPr txBox="1"/>
          <p:nvPr/>
        </p:nvSpPr>
        <p:spPr>
          <a:xfrm>
            <a:off x="7132320" y="2816352"/>
            <a:ext cx="1417320" cy="365760"/>
          </a:xfrm>
          <a:prstGeom prst="rect">
            <a:avLst/>
          </a:prstGeom>
          <a:noFill/>
          <a:ln/>
        </p:spPr>
        <p:txBody>
          <a:bodyPr wrap="square" lIns="0" tIns="0" rIns="0" bIns="0" rtlCol="0" anchor="b"/>
          <a:lstStyle/>
          <a:p>
            <a:pPr algn="ctr" indent="0" marL="0">
              <a:buNone/>
            </a:pPr>
            <a:r>
              <a:rPr lang="en-US" sz="1050" b="1" dirty="0">
                <a:solidFill>
                  <a:srgbClr val="1E2761"/>
                </a:solidFill>
                <a:latin typeface="Calibri" pitchFamily="34" charset="0"/>
                <a:ea typeface="Calibri" pitchFamily="34" charset="-122"/>
                <a:cs typeface="Calibri" pitchFamily="34" charset="-120"/>
              </a:rPr>
              <a:t>LV5</a:t>
            </a:r>
            <a:endParaRPr lang="en-US" sz="1050" dirty="0"/>
          </a:p>
          <a:p>
            <a:pPr algn="ctr" indent="0" marL="0">
              <a:buNone/>
            </a:pPr>
            <a:r>
              <a:rPr lang="en-US" sz="1050" b="1" dirty="0">
                <a:solidFill>
                  <a:srgbClr val="1E2761"/>
                </a:solidFill>
                <a:latin typeface="Calibri" pitchFamily="34" charset="0"/>
                <a:ea typeface="Calibri" pitchFamily="34" charset="-122"/>
                <a:cs typeface="Calibri" pitchFamily="34" charset="-120"/>
              </a:rPr>
              <a:t>相互検証</a:t>
            </a:r>
            <a:endParaRPr lang="en-US" sz="1050" dirty="0"/>
          </a:p>
        </p:txBody>
      </p:sp>
      <p:sp>
        <p:nvSpPr>
          <p:cNvPr id="15" name="Shape 13"/>
          <p:cNvSpPr/>
          <p:nvPr/>
        </p:nvSpPr>
        <p:spPr>
          <a:xfrm>
            <a:off x="594360" y="5532120"/>
            <a:ext cx="0" cy="-2560320"/>
          </a:xfrm>
          <a:prstGeom prst="line">
            <a:avLst/>
          </a:prstGeom>
          <a:noFill/>
          <a:ln w="28575">
            <a:solidFill>
              <a:srgbClr val="1E2761"/>
            </a:solidFill>
            <a:prstDash val="solid"/>
            <a:tailEnd type="triangle"/>
          </a:ln>
        </p:spPr>
      </p:sp>
      <p:sp>
        <p:nvSpPr>
          <p:cNvPr id="16" name="Text 14"/>
          <p:cNvSpPr txBox="1"/>
          <p:nvPr/>
        </p:nvSpPr>
        <p:spPr>
          <a:xfrm>
            <a:off x="45720" y="2697480"/>
            <a:ext cx="1188720" cy="274320"/>
          </a:xfrm>
          <a:prstGeom prst="rect">
            <a:avLst/>
          </a:prstGeom>
          <a:noFill/>
          <a:ln/>
        </p:spPr>
        <p:txBody>
          <a:bodyPr wrap="square" lIns="0" tIns="0" rIns="0" bIns="0" rtlCol="0" anchor="t"/>
          <a:lstStyle/>
          <a:p>
            <a:pPr algn="l" indent="0" marL="0">
              <a:buNone/>
            </a:pPr>
            <a:r>
              <a:rPr lang="en-US" sz="1000" dirty="0">
                <a:solidFill>
                  <a:srgbClr val="5B6B87"/>
                </a:solidFill>
                <a:latin typeface="Calibri" pitchFamily="34" charset="0"/>
                <a:ea typeface="Calibri" pitchFamily="34" charset="-122"/>
                <a:cs typeface="Calibri" pitchFamily="34" charset="-120"/>
              </a:rPr>
              <a:t>検証の深さ</a:t>
            </a:r>
            <a:endParaRPr lang="en-US" sz="1000" dirty="0"/>
          </a:p>
        </p:txBody>
      </p:sp>
      <p:sp>
        <p:nvSpPr>
          <p:cNvPr id="17" name="Shape 15"/>
          <p:cNvSpPr/>
          <p:nvPr/>
        </p:nvSpPr>
        <p:spPr>
          <a:xfrm>
            <a:off x="8915400" y="1417320"/>
            <a:ext cx="2743200" cy="640080"/>
          </a:xfrm>
          <a:prstGeom prst="roundRect">
            <a:avLst>
              <a:gd name="adj" fmla="val 10000"/>
            </a:avLst>
          </a:prstGeom>
          <a:solidFill>
            <a:srgbClr val="FFFFFF"/>
          </a:solidFill>
          <a:ln w="15875">
            <a:solidFill>
              <a:srgbClr val="E8623C"/>
            </a:solidFill>
            <a:prstDash val="solid"/>
          </a:ln>
        </p:spPr>
      </p:sp>
      <p:sp>
        <p:nvSpPr>
          <p:cNvPr id="18" name="Text 16"/>
          <p:cNvSpPr txBox="1"/>
          <p:nvPr/>
        </p:nvSpPr>
        <p:spPr>
          <a:xfrm>
            <a:off x="9144000" y="1417320"/>
            <a:ext cx="2331720" cy="640080"/>
          </a:xfrm>
          <a:prstGeom prst="rect">
            <a:avLst/>
          </a:prstGeom>
          <a:noFill/>
          <a:ln/>
        </p:spPr>
        <p:txBody>
          <a:bodyPr wrap="square" lIns="25400" tIns="25400" rIns="25400" bIns="25400" rtlCol="0" anchor="ctr"/>
          <a:lstStyle/>
          <a:p>
            <a:pPr algn="l" indent="0" marL="0">
              <a:buNone/>
            </a:pPr>
            <a:r>
              <a:rPr lang="en-US" sz="950" i="1" dirty="0">
                <a:solidFill>
                  <a:srgbClr val="1E2761"/>
                </a:solidFill>
                <a:latin typeface="Calibri" pitchFamily="34" charset="0"/>
                <a:ea typeface="Calibri" pitchFamily="34" charset="-122"/>
                <a:cs typeface="Calibri" pitchFamily="34" charset="-120"/>
              </a:rPr>
              <a:t>「私の考えを整理してください。」</a:t>
            </a:r>
            <a:endParaRPr lang="en-US" sz="950" dirty="0"/>
          </a:p>
        </p:txBody>
      </p:sp>
      <p:sp>
        <p:nvSpPr>
          <p:cNvPr id="19" name="Shape 17"/>
          <p:cNvSpPr/>
          <p:nvPr/>
        </p:nvSpPr>
        <p:spPr>
          <a:xfrm>
            <a:off x="8915400" y="2148840"/>
            <a:ext cx="2743200" cy="640080"/>
          </a:xfrm>
          <a:prstGeom prst="roundRect">
            <a:avLst>
              <a:gd name="adj" fmla="val 10000"/>
            </a:avLst>
          </a:prstGeom>
          <a:solidFill>
            <a:srgbClr val="FFFFFF"/>
          </a:solidFill>
          <a:ln w="15875">
            <a:solidFill>
              <a:srgbClr val="E8623C"/>
            </a:solidFill>
            <a:prstDash val="solid"/>
          </a:ln>
        </p:spPr>
      </p:sp>
      <p:sp>
        <p:nvSpPr>
          <p:cNvPr id="20" name="Text 18"/>
          <p:cNvSpPr txBox="1"/>
          <p:nvPr/>
        </p:nvSpPr>
        <p:spPr>
          <a:xfrm>
            <a:off x="9144000" y="2148840"/>
            <a:ext cx="2331720" cy="640080"/>
          </a:xfrm>
          <a:prstGeom prst="rect">
            <a:avLst/>
          </a:prstGeom>
          <a:noFill/>
          <a:ln/>
        </p:spPr>
        <p:txBody>
          <a:bodyPr wrap="square" lIns="25400" tIns="25400" rIns="25400" bIns="25400" rtlCol="0" anchor="ctr"/>
          <a:lstStyle/>
          <a:p>
            <a:pPr algn="l" indent="0" marL="0">
              <a:buNone/>
            </a:pPr>
            <a:r>
              <a:rPr lang="en-US" sz="950" i="1" dirty="0">
                <a:solidFill>
                  <a:srgbClr val="1E2761"/>
                </a:solidFill>
                <a:latin typeface="Calibri" pitchFamily="34" charset="0"/>
                <a:ea typeface="Calibri" pitchFamily="34" charset="-122"/>
                <a:cs typeface="Calibri" pitchFamily="34" charset="-120"/>
              </a:rPr>
              <a:t>「この考えの弱点を指摘してください。」</a:t>
            </a:r>
            <a:endParaRPr lang="en-US" sz="950" dirty="0"/>
          </a:p>
        </p:txBody>
      </p:sp>
      <p:sp>
        <p:nvSpPr>
          <p:cNvPr id="21" name="Shape 19"/>
          <p:cNvSpPr/>
          <p:nvPr/>
        </p:nvSpPr>
        <p:spPr>
          <a:xfrm>
            <a:off x="8915400" y="2880360"/>
            <a:ext cx="2743200" cy="640080"/>
          </a:xfrm>
          <a:prstGeom prst="roundRect">
            <a:avLst>
              <a:gd name="adj" fmla="val 10000"/>
            </a:avLst>
          </a:prstGeom>
          <a:solidFill>
            <a:srgbClr val="FFFFFF"/>
          </a:solidFill>
          <a:ln w="15875">
            <a:solidFill>
              <a:srgbClr val="E8623C"/>
            </a:solidFill>
            <a:prstDash val="solid"/>
          </a:ln>
        </p:spPr>
      </p:sp>
      <p:sp>
        <p:nvSpPr>
          <p:cNvPr id="22" name="Text 20"/>
          <p:cNvSpPr txBox="1"/>
          <p:nvPr/>
        </p:nvSpPr>
        <p:spPr>
          <a:xfrm>
            <a:off x="9144000" y="2880360"/>
            <a:ext cx="2331720" cy="640080"/>
          </a:xfrm>
          <a:prstGeom prst="rect">
            <a:avLst/>
          </a:prstGeom>
          <a:noFill/>
          <a:ln/>
        </p:spPr>
        <p:txBody>
          <a:bodyPr wrap="square" lIns="25400" tIns="25400" rIns="25400" bIns="25400" rtlCol="0" anchor="ctr"/>
          <a:lstStyle/>
          <a:p>
            <a:pPr algn="l" indent="0" marL="0">
              <a:buNone/>
            </a:pPr>
            <a:r>
              <a:rPr lang="en-US" sz="950" i="1" dirty="0">
                <a:solidFill>
                  <a:srgbClr val="1E2761"/>
                </a:solidFill>
                <a:latin typeface="Calibri" pitchFamily="34" charset="0"/>
                <a:ea typeface="Calibri" pitchFamily="34" charset="-122"/>
                <a:cs typeface="Calibri" pitchFamily="34" charset="-120"/>
              </a:rPr>
              <a:t>「反論の前提と推論を検証してください。」</a:t>
            </a:r>
            <a:endParaRPr lang="en-US" sz="950" dirty="0"/>
          </a:p>
        </p:txBody>
      </p:sp>
      <p:sp>
        <p:nvSpPr>
          <p:cNvPr id="23" name="Shape 21"/>
          <p:cNvSpPr/>
          <p:nvPr/>
        </p:nvSpPr>
        <p:spPr>
          <a:xfrm>
            <a:off x="8915400" y="3611880"/>
            <a:ext cx="2743200" cy="640080"/>
          </a:xfrm>
          <a:prstGeom prst="roundRect">
            <a:avLst>
              <a:gd name="adj" fmla="val 10000"/>
            </a:avLst>
          </a:prstGeom>
          <a:solidFill>
            <a:srgbClr val="FFFFFF"/>
          </a:solidFill>
          <a:ln w="15875">
            <a:solidFill>
              <a:srgbClr val="E8623C"/>
            </a:solidFill>
            <a:prstDash val="solid"/>
          </a:ln>
        </p:spPr>
      </p:sp>
      <p:sp>
        <p:nvSpPr>
          <p:cNvPr id="24" name="Text 22"/>
          <p:cNvSpPr txBox="1"/>
          <p:nvPr/>
        </p:nvSpPr>
        <p:spPr>
          <a:xfrm>
            <a:off x="9144000" y="3611880"/>
            <a:ext cx="2331720" cy="640080"/>
          </a:xfrm>
          <a:prstGeom prst="rect">
            <a:avLst/>
          </a:prstGeom>
          <a:noFill/>
          <a:ln/>
        </p:spPr>
        <p:txBody>
          <a:bodyPr wrap="square" lIns="25400" tIns="25400" rIns="25400" bIns="25400" rtlCol="0" anchor="ctr"/>
          <a:lstStyle/>
          <a:p>
            <a:pPr algn="l" indent="0" marL="0">
              <a:buNone/>
            </a:pPr>
            <a:r>
              <a:rPr lang="en-US" sz="950" i="1" dirty="0">
                <a:solidFill>
                  <a:srgbClr val="1E2761"/>
                </a:solidFill>
                <a:latin typeface="Calibri" pitchFamily="34" charset="0"/>
                <a:ea typeface="Calibri" pitchFamily="34" charset="-122"/>
                <a:cs typeface="Calibri" pitchFamily="34" charset="-120"/>
              </a:rPr>
              <a:t>「別の説明を構築してください。」</a:t>
            </a:r>
            <a:endParaRPr lang="en-US" sz="950" dirty="0"/>
          </a:p>
        </p:txBody>
      </p:sp>
      <p:sp>
        <p:nvSpPr>
          <p:cNvPr id="25" name="Shape 23"/>
          <p:cNvSpPr/>
          <p:nvPr/>
        </p:nvSpPr>
        <p:spPr>
          <a:xfrm>
            <a:off x="8915400" y="4343400"/>
            <a:ext cx="2743200" cy="640080"/>
          </a:xfrm>
          <a:prstGeom prst="roundRect">
            <a:avLst>
              <a:gd name="adj" fmla="val 10000"/>
            </a:avLst>
          </a:prstGeom>
          <a:solidFill>
            <a:srgbClr val="FFFFFF"/>
          </a:solidFill>
          <a:ln w="15875">
            <a:solidFill>
              <a:srgbClr val="E8623C"/>
            </a:solidFill>
            <a:prstDash val="solid"/>
          </a:ln>
        </p:spPr>
      </p:sp>
      <p:sp>
        <p:nvSpPr>
          <p:cNvPr id="26" name="Text 24"/>
          <p:cNvSpPr txBox="1"/>
          <p:nvPr/>
        </p:nvSpPr>
        <p:spPr>
          <a:xfrm>
            <a:off x="9144000" y="4343400"/>
            <a:ext cx="2331720" cy="640080"/>
          </a:xfrm>
          <a:prstGeom prst="rect">
            <a:avLst/>
          </a:prstGeom>
          <a:noFill/>
          <a:ln/>
        </p:spPr>
        <p:txBody>
          <a:bodyPr wrap="square" lIns="25400" tIns="25400" rIns="25400" bIns="25400" rtlCol="0" anchor="ctr"/>
          <a:lstStyle/>
          <a:p>
            <a:pPr algn="l" indent="0" marL="0">
              <a:buNone/>
            </a:pPr>
            <a:r>
              <a:rPr lang="en-US" sz="950" i="1" dirty="0">
                <a:solidFill>
                  <a:srgbClr val="1E2761"/>
                </a:solidFill>
                <a:latin typeface="Calibri" pitchFamily="34" charset="0"/>
                <a:ea typeface="Calibri" pitchFamily="34" charset="-122"/>
                <a:cs typeface="Calibri" pitchFamily="34" charset="-120"/>
              </a:rPr>
              <a:t>「私とAI双方の論理を同じ基準で評価してください。」</a:t>
            </a:r>
            <a:endParaRPr lang="en-US" sz="950" dirty="0"/>
          </a:p>
        </p:txBody>
      </p:sp>
      <p:sp>
        <p:nvSpPr>
          <p:cNvPr id="27" name="Text 25"/>
          <p:cNvSpPr txBox="1"/>
          <p:nvPr/>
        </p:nvSpPr>
        <p:spPr>
          <a:xfrm>
            <a:off x="8915400" y="1051560"/>
            <a:ext cx="2743200" cy="320040"/>
          </a:xfrm>
          <a:prstGeom prst="rect">
            <a:avLst/>
          </a:prstGeom>
          <a:noFill/>
          <a:ln/>
        </p:spPr>
        <p:txBody>
          <a:bodyPr wrap="square" lIns="0" tIns="0" rIns="0" bIns="0" rtlCol="0" anchor="t"/>
          <a:lstStyle/>
          <a:p>
            <a:pPr algn="l" indent="0" marL="0">
              <a:buNone/>
            </a:pPr>
            <a:r>
              <a:rPr lang="en-US" sz="1250" b="1" dirty="0">
                <a:solidFill>
                  <a:srgbClr val="1E2761"/>
                </a:solidFill>
                <a:latin typeface="Calibri" pitchFamily="34" charset="0"/>
                <a:ea typeface="Calibri" pitchFamily="34" charset="-122"/>
                <a:cs typeface="Calibri" pitchFamily="34" charset="-120"/>
              </a:rPr>
              <a:t>指示例</a:t>
            </a:r>
            <a:endParaRPr lang="en-US" sz="1250" dirty="0"/>
          </a:p>
        </p:txBody>
      </p:sp>
      <p:sp>
        <p:nvSpPr>
          <p:cNvPr id="28" name="Shape 26"/>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29" name="Shape 27"/>
          <p:cNvSpPr/>
          <p:nvPr/>
        </p:nvSpPr>
        <p:spPr>
          <a:xfrm>
            <a:off x="548640" y="5870448"/>
            <a:ext cx="54864" cy="713232"/>
          </a:xfrm>
          <a:prstGeom prst="rect">
            <a:avLst/>
          </a:prstGeom>
          <a:solidFill>
            <a:srgbClr val="E8623C"/>
          </a:solidFill>
          <a:ln/>
        </p:spPr>
      </p:sp>
      <p:sp>
        <p:nvSpPr>
          <p:cNvPr id="30" name="Text 28"/>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レベルが上がるとプロンプトが複雑になるように見えますが、本質的な変化は「何を確認しているか」の深さです。単なる高度なプロンプトテクニックの話ではありません。</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1672" cy="621792"/>
          </a:xfrm>
          <a:prstGeom prst="rect">
            <a:avLst/>
          </a:prstGeom>
          <a:noFill/>
          <a:ln/>
        </p:spPr>
        <p:txBody>
          <a:bodyPr wrap="square" lIns="0" tIns="0" rIns="0" bIns="0"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壁打ちでやってはいけないこと</a:t>
            </a:r>
            <a:endParaRPr lang="en-US" sz="2800" dirty="0"/>
          </a:p>
        </p:txBody>
      </p:sp>
      <p:sp>
        <p:nvSpPr>
          <p:cNvPr id="3" name="Text 1"/>
          <p:cNvSpPr txBox="1"/>
          <p:nvPr/>
        </p:nvSpPr>
        <p:spPr>
          <a:xfrm>
            <a:off x="548640" y="896112"/>
            <a:ext cx="11091672" cy="365760"/>
          </a:xfrm>
          <a:prstGeom prst="rect">
            <a:avLst/>
          </a:prstGeom>
          <a:noFill/>
          <a:ln/>
        </p:spPr>
        <p:txBody>
          <a:bodyPr wrap="square" lIns="0" tIns="0" rIns="0" bIns="0" rtlCol="0" anchor="ctr"/>
          <a:lstStyle/>
          <a:p>
            <a:pPr algn="l" indent="0" marL="0">
              <a:buNone/>
            </a:pPr>
            <a:r>
              <a:rPr lang="en-US" sz="1400" i="1" dirty="0">
                <a:solidFill>
                  <a:srgbClr val="5B6B87"/>
                </a:solidFill>
                <a:latin typeface="Calibri" pitchFamily="34" charset="0"/>
                <a:ea typeface="Calibri" pitchFamily="34" charset="-122"/>
                <a:cs typeface="Calibri" pitchFamily="34" charset="-120"/>
              </a:rPr>
              <a:t>技法を覚えても、使い方を誤ると逆効果になる</a:t>
            </a:r>
            <a:endParaRPr lang="en-US" sz="1400" dirty="0"/>
          </a:p>
        </p:txBody>
      </p:sp>
      <p:sp>
        <p:nvSpPr>
          <p:cNvPr id="4" name="Text 2"/>
          <p:cNvSpPr txBox="1"/>
          <p:nvPr/>
        </p:nvSpPr>
        <p:spPr>
          <a:xfrm>
            <a:off x="10972800" y="6656832"/>
            <a:ext cx="1033272" cy="201168"/>
          </a:xfrm>
          <a:prstGeom prst="rect">
            <a:avLst/>
          </a:prstGeom>
          <a:noFill/>
          <a:ln/>
        </p:spPr>
        <p:txBody>
          <a:bodyPr wrap="square" lIns="0" tIns="0" rIns="0" bIns="0" rtlCol="0" anchor="ctr"/>
          <a:lstStyle/>
          <a:p>
            <a:pPr algn="r" indent="0" marL="0">
              <a:buNone/>
            </a:pPr>
            <a:r>
              <a:rPr lang="en-US" sz="900" dirty="0">
                <a:solidFill>
                  <a:srgbClr val="5B6B87"/>
                </a:solidFill>
                <a:latin typeface="Calibri" pitchFamily="34" charset="0"/>
                <a:ea typeface="Calibri" pitchFamily="34" charset="-122"/>
                <a:cs typeface="Calibri" pitchFamily="34" charset="-120"/>
              </a:rPr>
              <a:t>18 / 19</a:t>
            </a:r>
            <a:endParaRPr lang="en-US" sz="900" dirty="0"/>
          </a:p>
        </p:txBody>
      </p:sp>
      <p:sp>
        <p:nvSpPr>
          <p:cNvPr id="5" name="Shape 3"/>
          <p:cNvSpPr/>
          <p:nvPr/>
        </p:nvSpPr>
        <p:spPr>
          <a:xfrm>
            <a:off x="548640" y="1463040"/>
            <a:ext cx="3611880" cy="1234440"/>
          </a:xfrm>
          <a:prstGeom prst="roundRect">
            <a:avLst>
              <a:gd name="adj" fmla="val 5926"/>
            </a:avLst>
          </a:prstGeom>
          <a:solidFill>
            <a:srgbClr val="F2F4F9"/>
          </a:solidFill>
          <a:ln w="15875">
            <a:solidFill>
              <a:srgbClr val="D3DAEA"/>
            </a:solidFill>
            <a:prstDash val="solid"/>
          </a:ln>
        </p:spPr>
      </p:sp>
      <p:sp>
        <p:nvSpPr>
          <p:cNvPr id="6" name="Shape 4"/>
          <p:cNvSpPr/>
          <p:nvPr/>
        </p:nvSpPr>
        <p:spPr>
          <a:xfrm>
            <a:off x="713232" y="1627632"/>
            <a:ext cx="402336" cy="402336"/>
          </a:xfrm>
          <a:prstGeom prst="ellipse">
            <a:avLst/>
          </a:prstGeom>
          <a:solidFill>
            <a:srgbClr val="E8623C"/>
          </a:solidFill>
          <a:ln/>
        </p:spPr>
      </p:sp>
      <p:sp>
        <p:nvSpPr>
          <p:cNvPr id="7" name="Text 5"/>
          <p:cNvSpPr txBox="1"/>
          <p:nvPr/>
        </p:nvSpPr>
        <p:spPr>
          <a:xfrm>
            <a:off x="713232" y="16276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txBox="1"/>
          <p:nvPr/>
        </p:nvSpPr>
        <p:spPr>
          <a:xfrm>
            <a:off x="1234440" y="1609344"/>
            <a:ext cx="2788920" cy="457200"/>
          </a:xfrm>
          <a:prstGeom prst="rect">
            <a:avLst/>
          </a:prstGeom>
          <a:noFill/>
          <a:ln/>
        </p:spPr>
        <p:txBody>
          <a:bodyPr wrap="square" lIns="0" tIns="0" rIns="0" bIns="0" rtlCol="0" anchor="t"/>
          <a:lstStyle/>
          <a:p>
            <a:pPr algn="l" indent="0" marL="0">
              <a:buNone/>
            </a:pPr>
            <a:r>
              <a:rPr lang="en-US" sz="1200" b="1" dirty="0">
                <a:solidFill>
                  <a:srgbClr val="1E2761"/>
                </a:solidFill>
                <a:latin typeface="Calibri" pitchFamily="34" charset="0"/>
                <a:ea typeface="Calibri" pitchFamily="34" charset="-122"/>
                <a:cs typeface="Calibri" pitchFamily="34" charset="-120"/>
              </a:rPr>
              <a:t>最初から答えを聞く</a:t>
            </a:r>
            <a:endParaRPr lang="en-US" sz="1200" dirty="0"/>
          </a:p>
        </p:txBody>
      </p:sp>
      <p:sp>
        <p:nvSpPr>
          <p:cNvPr id="9" name="Text 7"/>
          <p:cNvSpPr txBox="1"/>
          <p:nvPr/>
        </p:nvSpPr>
        <p:spPr>
          <a:xfrm>
            <a:off x="749808" y="2148840"/>
            <a:ext cx="3209544" cy="502920"/>
          </a:xfrm>
          <a:prstGeom prst="rect">
            <a:avLst/>
          </a:prstGeom>
          <a:noFill/>
          <a:ln/>
        </p:spPr>
        <p:txBody>
          <a:bodyPr wrap="square" lIns="0" tIns="0" rIns="0" bIns="0" rtlCol="0" anchor="t"/>
          <a:lstStyle/>
          <a:p>
            <a:pPr algn="l" indent="0" marL="0">
              <a:buNone/>
            </a:pPr>
            <a:r>
              <a:rPr lang="en-US" sz="1050" dirty="0">
                <a:solidFill>
                  <a:srgbClr val="5B6B87"/>
                </a:solidFill>
                <a:latin typeface="Calibri" pitchFamily="34" charset="0"/>
                <a:ea typeface="Calibri" pitchFamily="34" charset="-122"/>
                <a:cs typeface="Calibri" pitchFamily="34" charset="-120"/>
              </a:rPr>
              <a:t>自分の思考過程をAIに丸投げする</a:t>
            </a:r>
            <a:endParaRPr lang="en-US" sz="1050" dirty="0"/>
          </a:p>
        </p:txBody>
      </p:sp>
      <p:sp>
        <p:nvSpPr>
          <p:cNvPr id="10" name="Shape 8"/>
          <p:cNvSpPr/>
          <p:nvPr/>
        </p:nvSpPr>
        <p:spPr>
          <a:xfrm>
            <a:off x="4343400" y="1463040"/>
            <a:ext cx="3611880" cy="1234440"/>
          </a:xfrm>
          <a:prstGeom prst="roundRect">
            <a:avLst>
              <a:gd name="adj" fmla="val 5926"/>
            </a:avLst>
          </a:prstGeom>
          <a:solidFill>
            <a:srgbClr val="F2F4F9"/>
          </a:solidFill>
          <a:ln w="15875">
            <a:solidFill>
              <a:srgbClr val="D3DAEA"/>
            </a:solidFill>
            <a:prstDash val="solid"/>
          </a:ln>
        </p:spPr>
      </p:sp>
      <p:sp>
        <p:nvSpPr>
          <p:cNvPr id="11" name="Shape 9"/>
          <p:cNvSpPr/>
          <p:nvPr/>
        </p:nvSpPr>
        <p:spPr>
          <a:xfrm>
            <a:off x="4507992" y="1627632"/>
            <a:ext cx="402336" cy="402336"/>
          </a:xfrm>
          <a:prstGeom prst="ellipse">
            <a:avLst/>
          </a:prstGeom>
          <a:solidFill>
            <a:srgbClr val="E8623C"/>
          </a:solidFill>
          <a:ln/>
        </p:spPr>
      </p:sp>
      <p:sp>
        <p:nvSpPr>
          <p:cNvPr id="12" name="Text 10"/>
          <p:cNvSpPr txBox="1"/>
          <p:nvPr/>
        </p:nvSpPr>
        <p:spPr>
          <a:xfrm>
            <a:off x="4507992" y="16276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5029200" y="1609344"/>
            <a:ext cx="2788920" cy="457200"/>
          </a:xfrm>
          <a:prstGeom prst="rect">
            <a:avLst/>
          </a:prstGeom>
          <a:noFill/>
          <a:ln/>
        </p:spPr>
        <p:txBody>
          <a:bodyPr wrap="square" lIns="0" tIns="0" rIns="0" bIns="0" rtlCol="0" anchor="t"/>
          <a:lstStyle/>
          <a:p>
            <a:pPr algn="l" indent="0" marL="0">
              <a:buNone/>
            </a:pPr>
            <a:r>
              <a:rPr lang="en-US" sz="1200" b="1" dirty="0">
                <a:solidFill>
                  <a:srgbClr val="1E2761"/>
                </a:solidFill>
                <a:latin typeface="Calibri" pitchFamily="34" charset="0"/>
                <a:ea typeface="Calibri" pitchFamily="34" charset="-122"/>
                <a:cs typeface="Calibri" pitchFamily="34" charset="-120"/>
              </a:rPr>
              <a:t>「正しいですか？」だけ聞く</a:t>
            </a:r>
            <a:endParaRPr lang="en-US" sz="1200" dirty="0"/>
          </a:p>
        </p:txBody>
      </p:sp>
      <p:sp>
        <p:nvSpPr>
          <p:cNvPr id="14" name="Text 12"/>
          <p:cNvSpPr txBox="1"/>
          <p:nvPr/>
        </p:nvSpPr>
        <p:spPr>
          <a:xfrm>
            <a:off x="4544568" y="2148840"/>
            <a:ext cx="3209544" cy="502920"/>
          </a:xfrm>
          <a:prstGeom prst="rect">
            <a:avLst/>
          </a:prstGeom>
          <a:noFill/>
          <a:ln/>
        </p:spPr>
        <p:txBody>
          <a:bodyPr wrap="square" lIns="0" tIns="0" rIns="0" bIns="0" rtlCol="0" anchor="t"/>
          <a:lstStyle/>
          <a:p>
            <a:pPr algn="l" indent="0" marL="0">
              <a:buNone/>
            </a:pPr>
            <a:r>
              <a:rPr lang="en-US" sz="1050" dirty="0">
                <a:solidFill>
                  <a:srgbClr val="5B6B87"/>
                </a:solidFill>
                <a:latin typeface="Calibri" pitchFamily="34" charset="0"/>
                <a:ea typeface="Calibri" pitchFamily="34" charset="-122"/>
                <a:cs typeface="Calibri" pitchFamily="34" charset="-120"/>
              </a:rPr>
              <a:t>判定をAIに委ねる</a:t>
            </a:r>
            <a:endParaRPr lang="en-US" sz="1050" dirty="0"/>
          </a:p>
        </p:txBody>
      </p:sp>
      <p:sp>
        <p:nvSpPr>
          <p:cNvPr id="15" name="Shape 13"/>
          <p:cNvSpPr/>
          <p:nvPr/>
        </p:nvSpPr>
        <p:spPr>
          <a:xfrm>
            <a:off x="8138160" y="1463040"/>
            <a:ext cx="3611880" cy="1234440"/>
          </a:xfrm>
          <a:prstGeom prst="roundRect">
            <a:avLst>
              <a:gd name="adj" fmla="val 5926"/>
            </a:avLst>
          </a:prstGeom>
          <a:solidFill>
            <a:srgbClr val="F2F4F9"/>
          </a:solidFill>
          <a:ln w="15875">
            <a:solidFill>
              <a:srgbClr val="D3DAEA"/>
            </a:solidFill>
            <a:prstDash val="solid"/>
          </a:ln>
        </p:spPr>
      </p:sp>
      <p:sp>
        <p:nvSpPr>
          <p:cNvPr id="16" name="Shape 14"/>
          <p:cNvSpPr/>
          <p:nvPr/>
        </p:nvSpPr>
        <p:spPr>
          <a:xfrm>
            <a:off x="8302752" y="1627632"/>
            <a:ext cx="402336" cy="402336"/>
          </a:xfrm>
          <a:prstGeom prst="ellipse">
            <a:avLst/>
          </a:prstGeom>
          <a:solidFill>
            <a:srgbClr val="E8623C"/>
          </a:solidFill>
          <a:ln/>
        </p:spPr>
      </p:sp>
      <p:sp>
        <p:nvSpPr>
          <p:cNvPr id="17" name="Text 15"/>
          <p:cNvSpPr txBox="1"/>
          <p:nvPr/>
        </p:nvSpPr>
        <p:spPr>
          <a:xfrm>
            <a:off x="8302752" y="16276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8823960" y="1609344"/>
            <a:ext cx="2788920" cy="457200"/>
          </a:xfrm>
          <a:prstGeom prst="rect">
            <a:avLst/>
          </a:prstGeom>
          <a:noFill/>
          <a:ln/>
        </p:spPr>
        <p:txBody>
          <a:bodyPr wrap="square" lIns="0" tIns="0" rIns="0" bIns="0" rtlCol="0" anchor="t"/>
          <a:lstStyle/>
          <a:p>
            <a:pPr algn="l" indent="0" marL="0">
              <a:buNone/>
            </a:pPr>
            <a:r>
              <a:rPr lang="en-US" sz="1200" b="1" dirty="0">
                <a:solidFill>
                  <a:srgbClr val="1E2761"/>
                </a:solidFill>
                <a:latin typeface="Calibri" pitchFamily="34" charset="0"/>
                <a:ea typeface="Calibri" pitchFamily="34" charset="-122"/>
                <a:cs typeface="Calibri" pitchFamily="34" charset="-120"/>
              </a:rPr>
              <a:t>AIの反論を無条件に受け入れる</a:t>
            </a:r>
            <a:endParaRPr lang="en-US" sz="1200" dirty="0"/>
          </a:p>
        </p:txBody>
      </p:sp>
      <p:sp>
        <p:nvSpPr>
          <p:cNvPr id="19" name="Text 17"/>
          <p:cNvSpPr txBox="1"/>
          <p:nvPr/>
        </p:nvSpPr>
        <p:spPr>
          <a:xfrm>
            <a:off x="8339328" y="2148840"/>
            <a:ext cx="3209544" cy="502920"/>
          </a:xfrm>
          <a:prstGeom prst="rect">
            <a:avLst/>
          </a:prstGeom>
          <a:noFill/>
          <a:ln/>
        </p:spPr>
        <p:txBody>
          <a:bodyPr wrap="square" lIns="0" tIns="0" rIns="0" bIns="0" rtlCol="0" anchor="t"/>
          <a:lstStyle/>
          <a:p>
            <a:pPr algn="l" indent="0" marL="0">
              <a:buNone/>
            </a:pPr>
            <a:r>
              <a:rPr lang="en-US" sz="1050" dirty="0">
                <a:solidFill>
                  <a:srgbClr val="5B6B87"/>
                </a:solidFill>
                <a:latin typeface="Calibri" pitchFamily="34" charset="0"/>
                <a:ea typeface="Calibri" pitchFamily="34" charset="-122"/>
                <a:cs typeface="Calibri" pitchFamily="34" charset="-120"/>
              </a:rPr>
              <a:t>AIの論理も間違う</a:t>
            </a:r>
            <a:endParaRPr lang="en-US" sz="1050" dirty="0"/>
          </a:p>
        </p:txBody>
      </p:sp>
      <p:sp>
        <p:nvSpPr>
          <p:cNvPr id="20" name="Shape 18"/>
          <p:cNvSpPr/>
          <p:nvPr/>
        </p:nvSpPr>
        <p:spPr>
          <a:xfrm>
            <a:off x="548640" y="2880360"/>
            <a:ext cx="3611880" cy="1234440"/>
          </a:xfrm>
          <a:prstGeom prst="roundRect">
            <a:avLst>
              <a:gd name="adj" fmla="val 5926"/>
            </a:avLst>
          </a:prstGeom>
          <a:solidFill>
            <a:srgbClr val="F2F4F9"/>
          </a:solidFill>
          <a:ln w="15875">
            <a:solidFill>
              <a:srgbClr val="D3DAEA"/>
            </a:solidFill>
            <a:prstDash val="solid"/>
          </a:ln>
        </p:spPr>
      </p:sp>
      <p:sp>
        <p:nvSpPr>
          <p:cNvPr id="21" name="Shape 19"/>
          <p:cNvSpPr/>
          <p:nvPr/>
        </p:nvSpPr>
        <p:spPr>
          <a:xfrm>
            <a:off x="713232" y="3044952"/>
            <a:ext cx="402336" cy="402336"/>
          </a:xfrm>
          <a:prstGeom prst="ellipse">
            <a:avLst/>
          </a:prstGeom>
          <a:solidFill>
            <a:srgbClr val="E8623C"/>
          </a:solidFill>
          <a:ln/>
        </p:spPr>
      </p:sp>
      <p:sp>
        <p:nvSpPr>
          <p:cNvPr id="22" name="Text 20"/>
          <p:cNvSpPr txBox="1"/>
          <p:nvPr/>
        </p:nvSpPr>
        <p:spPr>
          <a:xfrm>
            <a:off x="713232" y="30449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3" name="Text 21"/>
          <p:cNvSpPr txBox="1"/>
          <p:nvPr/>
        </p:nvSpPr>
        <p:spPr>
          <a:xfrm>
            <a:off x="1234440" y="3026664"/>
            <a:ext cx="2788920" cy="457200"/>
          </a:xfrm>
          <a:prstGeom prst="rect">
            <a:avLst/>
          </a:prstGeom>
          <a:noFill/>
          <a:ln/>
        </p:spPr>
        <p:txBody>
          <a:bodyPr wrap="square" lIns="0" tIns="0" rIns="0" bIns="0" rtlCol="0" anchor="t"/>
          <a:lstStyle/>
          <a:p>
            <a:pPr algn="l" indent="0" marL="0">
              <a:buNone/>
            </a:pPr>
            <a:r>
              <a:rPr lang="en-US" sz="1200" b="1" dirty="0">
                <a:solidFill>
                  <a:srgbClr val="1E2761"/>
                </a:solidFill>
                <a:latin typeface="Calibri" pitchFamily="34" charset="0"/>
                <a:ea typeface="Calibri" pitchFamily="34" charset="-122"/>
                <a:cs typeface="Calibri" pitchFamily="34" charset="-120"/>
              </a:rPr>
              <a:t>都合のいい反論だけ求める</a:t>
            </a:r>
            <a:endParaRPr lang="en-US" sz="1200" dirty="0"/>
          </a:p>
        </p:txBody>
      </p:sp>
      <p:sp>
        <p:nvSpPr>
          <p:cNvPr id="24" name="Text 22"/>
          <p:cNvSpPr txBox="1"/>
          <p:nvPr/>
        </p:nvSpPr>
        <p:spPr>
          <a:xfrm>
            <a:off x="749808" y="3566160"/>
            <a:ext cx="3209544" cy="502920"/>
          </a:xfrm>
          <a:prstGeom prst="rect">
            <a:avLst/>
          </a:prstGeom>
          <a:noFill/>
          <a:ln/>
        </p:spPr>
        <p:txBody>
          <a:bodyPr wrap="square" lIns="0" tIns="0" rIns="0" bIns="0" rtlCol="0" anchor="t"/>
          <a:lstStyle/>
          <a:p>
            <a:pPr algn="l" indent="0" marL="0">
              <a:buNone/>
            </a:pPr>
            <a:r>
              <a:rPr lang="en-US" sz="1050" dirty="0">
                <a:solidFill>
                  <a:srgbClr val="5B6B87"/>
                </a:solidFill>
                <a:latin typeface="Calibri" pitchFamily="34" charset="0"/>
                <a:ea typeface="Calibri" pitchFamily="34" charset="-122"/>
                <a:cs typeface="Calibri" pitchFamily="34" charset="-120"/>
              </a:rPr>
              <a:t>確証バイアスを強化する</a:t>
            </a:r>
            <a:endParaRPr lang="en-US" sz="1050" dirty="0"/>
          </a:p>
        </p:txBody>
      </p:sp>
      <p:sp>
        <p:nvSpPr>
          <p:cNvPr id="25" name="Shape 23"/>
          <p:cNvSpPr/>
          <p:nvPr/>
        </p:nvSpPr>
        <p:spPr>
          <a:xfrm>
            <a:off x="4343400" y="2880360"/>
            <a:ext cx="3611880" cy="1234440"/>
          </a:xfrm>
          <a:prstGeom prst="roundRect">
            <a:avLst>
              <a:gd name="adj" fmla="val 5926"/>
            </a:avLst>
          </a:prstGeom>
          <a:solidFill>
            <a:srgbClr val="F2F4F9"/>
          </a:solidFill>
          <a:ln w="15875">
            <a:solidFill>
              <a:srgbClr val="D3DAEA"/>
            </a:solidFill>
            <a:prstDash val="solid"/>
          </a:ln>
        </p:spPr>
      </p:sp>
      <p:sp>
        <p:nvSpPr>
          <p:cNvPr id="26" name="Shape 24"/>
          <p:cNvSpPr/>
          <p:nvPr/>
        </p:nvSpPr>
        <p:spPr>
          <a:xfrm>
            <a:off x="4507992" y="3044952"/>
            <a:ext cx="402336" cy="402336"/>
          </a:xfrm>
          <a:prstGeom prst="ellipse">
            <a:avLst/>
          </a:prstGeom>
          <a:solidFill>
            <a:srgbClr val="E8623C"/>
          </a:solidFill>
          <a:ln/>
        </p:spPr>
      </p:sp>
      <p:sp>
        <p:nvSpPr>
          <p:cNvPr id="27" name="Text 25"/>
          <p:cNvSpPr txBox="1"/>
          <p:nvPr/>
        </p:nvSpPr>
        <p:spPr>
          <a:xfrm>
            <a:off x="4507992" y="30449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8" name="Text 26"/>
          <p:cNvSpPr txBox="1"/>
          <p:nvPr/>
        </p:nvSpPr>
        <p:spPr>
          <a:xfrm>
            <a:off x="5029200" y="3026664"/>
            <a:ext cx="2788920" cy="457200"/>
          </a:xfrm>
          <a:prstGeom prst="rect">
            <a:avLst/>
          </a:prstGeom>
          <a:noFill/>
          <a:ln/>
        </p:spPr>
        <p:txBody>
          <a:bodyPr wrap="square" lIns="0" tIns="0" rIns="0" bIns="0" rtlCol="0" anchor="t"/>
          <a:lstStyle/>
          <a:p>
            <a:pPr algn="l" indent="0" marL="0">
              <a:buNone/>
            </a:pPr>
            <a:r>
              <a:rPr lang="en-US" sz="1200" b="1" dirty="0">
                <a:solidFill>
                  <a:srgbClr val="1E2761"/>
                </a:solidFill>
                <a:latin typeface="Calibri" pitchFamily="34" charset="0"/>
                <a:ea typeface="Calibri" pitchFamily="34" charset="-122"/>
                <a:cs typeface="Calibri" pitchFamily="34" charset="-120"/>
              </a:rPr>
              <a:t>仮定を際限なく追加する</a:t>
            </a:r>
            <a:endParaRPr lang="en-US" sz="1200" dirty="0"/>
          </a:p>
        </p:txBody>
      </p:sp>
      <p:sp>
        <p:nvSpPr>
          <p:cNvPr id="29" name="Text 27"/>
          <p:cNvSpPr txBox="1"/>
          <p:nvPr/>
        </p:nvSpPr>
        <p:spPr>
          <a:xfrm>
            <a:off x="4544568" y="3566160"/>
            <a:ext cx="3209544" cy="502920"/>
          </a:xfrm>
          <a:prstGeom prst="rect">
            <a:avLst/>
          </a:prstGeom>
          <a:noFill/>
          <a:ln/>
        </p:spPr>
        <p:txBody>
          <a:bodyPr wrap="square" lIns="0" tIns="0" rIns="0" bIns="0" rtlCol="0" anchor="t"/>
          <a:lstStyle/>
          <a:p>
            <a:pPr algn="l" indent="0" marL="0">
              <a:buNone/>
            </a:pPr>
            <a:r>
              <a:rPr lang="en-US" sz="1050" dirty="0">
                <a:solidFill>
                  <a:srgbClr val="5B6B87"/>
                </a:solidFill>
                <a:latin typeface="Calibri" pitchFamily="34" charset="0"/>
                <a:ea typeface="Calibri" pitchFamily="34" charset="-122"/>
                <a:cs typeface="Calibri" pitchFamily="34" charset="-120"/>
              </a:rPr>
              <a:t>どんな結論でも説明できてしまう</a:t>
            </a:r>
            <a:endParaRPr lang="en-US" sz="1050" dirty="0"/>
          </a:p>
        </p:txBody>
      </p:sp>
      <p:sp>
        <p:nvSpPr>
          <p:cNvPr id="30" name="Shape 28"/>
          <p:cNvSpPr/>
          <p:nvPr/>
        </p:nvSpPr>
        <p:spPr>
          <a:xfrm>
            <a:off x="8138160" y="2880360"/>
            <a:ext cx="3611880" cy="1234440"/>
          </a:xfrm>
          <a:prstGeom prst="roundRect">
            <a:avLst>
              <a:gd name="adj" fmla="val 5926"/>
            </a:avLst>
          </a:prstGeom>
          <a:solidFill>
            <a:srgbClr val="F2F4F9"/>
          </a:solidFill>
          <a:ln w="15875">
            <a:solidFill>
              <a:srgbClr val="D3DAEA"/>
            </a:solidFill>
            <a:prstDash val="solid"/>
          </a:ln>
        </p:spPr>
      </p:sp>
      <p:sp>
        <p:nvSpPr>
          <p:cNvPr id="31" name="Shape 29"/>
          <p:cNvSpPr/>
          <p:nvPr/>
        </p:nvSpPr>
        <p:spPr>
          <a:xfrm>
            <a:off x="8302752" y="3044952"/>
            <a:ext cx="402336" cy="402336"/>
          </a:xfrm>
          <a:prstGeom prst="ellipse">
            <a:avLst/>
          </a:prstGeom>
          <a:solidFill>
            <a:srgbClr val="E8623C"/>
          </a:solidFill>
          <a:ln/>
        </p:spPr>
      </p:sp>
      <p:sp>
        <p:nvSpPr>
          <p:cNvPr id="32" name="Text 30"/>
          <p:cNvSpPr txBox="1"/>
          <p:nvPr/>
        </p:nvSpPr>
        <p:spPr>
          <a:xfrm>
            <a:off x="8302752" y="30449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3" name="Text 31"/>
          <p:cNvSpPr txBox="1"/>
          <p:nvPr/>
        </p:nvSpPr>
        <p:spPr>
          <a:xfrm>
            <a:off x="8823960" y="3026664"/>
            <a:ext cx="2788920" cy="457200"/>
          </a:xfrm>
          <a:prstGeom prst="rect">
            <a:avLst/>
          </a:prstGeom>
          <a:noFill/>
          <a:ln/>
        </p:spPr>
        <p:txBody>
          <a:bodyPr wrap="square" lIns="0" tIns="0" rIns="0" bIns="0" rtlCol="0" anchor="t"/>
          <a:lstStyle/>
          <a:p>
            <a:pPr algn="l" indent="0" marL="0">
              <a:buNone/>
            </a:pPr>
            <a:r>
              <a:rPr lang="en-US" sz="1200" b="1" dirty="0">
                <a:solidFill>
                  <a:srgbClr val="1E2761"/>
                </a:solidFill>
                <a:latin typeface="Calibri" pitchFamily="34" charset="0"/>
                <a:ea typeface="Calibri" pitchFamily="34" charset="-122"/>
                <a:cs typeface="Calibri" pitchFamily="34" charset="-120"/>
              </a:rPr>
              <a:t>議論を無限に続ける</a:t>
            </a:r>
            <a:endParaRPr lang="en-US" sz="1200" dirty="0"/>
          </a:p>
        </p:txBody>
      </p:sp>
      <p:sp>
        <p:nvSpPr>
          <p:cNvPr id="34" name="Text 32"/>
          <p:cNvSpPr txBox="1"/>
          <p:nvPr/>
        </p:nvSpPr>
        <p:spPr>
          <a:xfrm>
            <a:off x="8339328" y="3566160"/>
            <a:ext cx="3209544" cy="502920"/>
          </a:xfrm>
          <a:prstGeom prst="rect">
            <a:avLst/>
          </a:prstGeom>
          <a:noFill/>
          <a:ln/>
        </p:spPr>
        <p:txBody>
          <a:bodyPr wrap="square" lIns="0" tIns="0" rIns="0" bIns="0" rtlCol="0" anchor="t"/>
          <a:lstStyle/>
          <a:p>
            <a:pPr algn="l" indent="0" marL="0">
              <a:buNone/>
            </a:pPr>
            <a:r>
              <a:rPr lang="en-US" sz="1050" dirty="0">
                <a:solidFill>
                  <a:srgbClr val="5B6B87"/>
                </a:solidFill>
                <a:latin typeface="Calibri" pitchFamily="34" charset="0"/>
                <a:ea typeface="Calibri" pitchFamily="34" charset="-122"/>
                <a:cs typeface="Calibri" pitchFamily="34" charset="-120"/>
              </a:rPr>
              <a:t>検証ではなく単なる言い合いになる</a:t>
            </a:r>
            <a:endParaRPr lang="en-US" sz="1050" dirty="0"/>
          </a:p>
        </p:txBody>
      </p:sp>
      <p:sp>
        <p:nvSpPr>
          <p:cNvPr id="35" name="Shape 33"/>
          <p:cNvSpPr/>
          <p:nvPr/>
        </p:nvSpPr>
        <p:spPr>
          <a:xfrm>
            <a:off x="548640" y="5870448"/>
            <a:ext cx="11091672" cy="713232"/>
          </a:xfrm>
          <a:prstGeom prst="roundRect">
            <a:avLst>
              <a:gd name="adj" fmla="val 7692"/>
            </a:avLst>
          </a:prstGeom>
          <a:solidFill>
            <a:srgbClr val="F2F4F9"/>
          </a:solidFill>
          <a:ln w="12700">
            <a:solidFill>
              <a:srgbClr val="D3DAEA"/>
            </a:solidFill>
            <a:prstDash val="solid"/>
          </a:ln>
        </p:spPr>
      </p:sp>
      <p:sp>
        <p:nvSpPr>
          <p:cNvPr id="36" name="Shape 34"/>
          <p:cNvSpPr/>
          <p:nvPr/>
        </p:nvSpPr>
        <p:spPr>
          <a:xfrm>
            <a:off x="548640" y="5870448"/>
            <a:ext cx="54864" cy="713232"/>
          </a:xfrm>
          <a:prstGeom prst="rect">
            <a:avLst/>
          </a:prstGeom>
          <a:solidFill>
            <a:srgbClr val="E8623C"/>
          </a:solidFill>
          <a:ln/>
        </p:spPr>
      </p:sp>
      <p:sp>
        <p:nvSpPr>
          <p:cNvPr id="37" name="Text 35"/>
          <p:cNvSpPr txBox="1"/>
          <p:nvPr/>
        </p:nvSpPr>
        <p:spPr>
          <a:xfrm>
            <a:off x="868680" y="5907024"/>
            <a:ext cx="10607040" cy="640080"/>
          </a:xfrm>
          <a:prstGeom prst="rect">
            <a:avLst/>
          </a:prstGeom>
          <a:noFill/>
          <a:ln/>
        </p:spPr>
        <p:txBody>
          <a:bodyPr wrap="square" lIns="25400" tIns="25400" rIns="25400" bIns="25400" rtlCol="0" anchor="ctr"/>
          <a:lstStyle/>
          <a:p>
            <a:pPr algn="l" indent="0" marL="0">
              <a:lnSpc>
                <a:spcPct val="108000"/>
              </a:lnSpc>
              <a:buNone/>
            </a:pPr>
            <a:r>
              <a:rPr lang="en-US" sz="1100" dirty="0">
                <a:solidFill>
                  <a:srgbClr val="1E2761"/>
                </a:solidFill>
                <a:latin typeface="Calibri" pitchFamily="34" charset="0"/>
                <a:ea typeface="Calibri" pitchFamily="34" charset="-122"/>
                <a:cs typeface="Calibri" pitchFamily="34" charset="-120"/>
              </a:rPr>
              <a:t>この6つはいずれも、本資料で説明してきたことの逆です。特に④は反論を集める技法の悪用形で、技法自体は正しくても目的を誤ると確証バイアス強化の道具になってしまいます。</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144000" y="-2377440"/>
            <a:ext cx="5486400" cy="5486400"/>
          </a:xfrm>
          <a:prstGeom prst="ellipse">
            <a:avLst/>
          </a:prstGeom>
          <a:solidFill>
            <a:srgbClr val="141A46"/>
          </a:solidFill>
          <a:ln/>
        </p:spPr>
      </p:sp>
      <p:sp>
        <p:nvSpPr>
          <p:cNvPr id="3" name="Shape 1"/>
          <p:cNvSpPr/>
          <p:nvPr/>
        </p:nvSpPr>
        <p:spPr>
          <a:xfrm>
            <a:off x="-2560320" y="5303520"/>
            <a:ext cx="4572000" cy="4572000"/>
          </a:xfrm>
          <a:prstGeom prst="ellipse">
            <a:avLst/>
          </a:prstGeom>
          <a:solidFill>
            <a:srgbClr val="141A46"/>
          </a:solidFill>
          <a:ln/>
        </p:spPr>
      </p:sp>
      <p:sp>
        <p:nvSpPr>
          <p:cNvPr id="4" name="Shape 2"/>
          <p:cNvSpPr/>
          <p:nvPr/>
        </p:nvSpPr>
        <p:spPr>
          <a:xfrm>
            <a:off x="2286000" y="1920240"/>
            <a:ext cx="7616952" cy="0"/>
          </a:xfrm>
          <a:prstGeom prst="line">
            <a:avLst/>
          </a:prstGeom>
          <a:noFill/>
          <a:ln w="12700">
            <a:solidFill>
              <a:srgbClr val="3A4590"/>
            </a:solidFill>
            <a:prstDash val="solid"/>
          </a:ln>
        </p:spPr>
      </p:sp>
      <p:sp>
        <p:nvSpPr>
          <p:cNvPr id="5" name="Text 3"/>
          <p:cNvSpPr txBox="1"/>
          <p:nvPr/>
        </p:nvSpPr>
        <p:spPr>
          <a:xfrm>
            <a:off x="914400" y="2103120"/>
            <a:ext cx="10360152" cy="1371600"/>
          </a:xfrm>
          <a:prstGeom prst="rect">
            <a:avLst/>
          </a:prstGeom>
          <a:noFill/>
          <a:ln/>
        </p:spPr>
        <p:txBody>
          <a:bodyPr wrap="square" lIns="0" tIns="0" rIns="0" bIns="0" rtlCol="0" anchor="ctr"/>
          <a:lstStyle/>
          <a:p>
            <a:pPr algn="ctr" indent="0" marL="0">
              <a:lnSpc>
                <a:spcPct val="130000"/>
              </a:lnSpc>
              <a:buNone/>
            </a:pPr>
            <a:r>
              <a:rPr lang="en-US" sz="2700" b="1" dirty="0">
                <a:solidFill>
                  <a:srgbClr val="FFFFFF"/>
                </a:solidFill>
                <a:latin typeface="Cambria" pitchFamily="34" charset="0"/>
                <a:ea typeface="Cambria" pitchFamily="34" charset="-122"/>
                <a:cs typeface="Cambria" pitchFamily="34" charset="-120"/>
              </a:rPr>
              <a:t>AIに「答え」を求めるのではなく、</a:t>
            </a:r>
            <a:endParaRPr lang="en-US" sz="2700" dirty="0"/>
          </a:p>
          <a:p>
            <a:pPr algn="ctr" indent="0" marL="0">
              <a:lnSpc>
                <a:spcPct val="130000"/>
              </a:lnSpc>
              <a:buNone/>
            </a:pPr>
            <a:r>
              <a:rPr lang="en-US" sz="2700" b="1" dirty="0">
                <a:solidFill>
                  <a:srgbClr val="FFFFFF"/>
                </a:solidFill>
                <a:latin typeface="Cambria" pitchFamily="34" charset="0"/>
                <a:ea typeface="Cambria" pitchFamily="34" charset="-122"/>
                <a:cs typeface="Cambria" pitchFamily="34" charset="-120"/>
              </a:rPr>
              <a:t>AIに「考え」をぶつける。</a:t>
            </a:r>
            <a:endParaRPr lang="en-US" sz="2700" dirty="0"/>
          </a:p>
        </p:txBody>
      </p:sp>
      <p:sp>
        <p:nvSpPr>
          <p:cNvPr id="6" name="Text 4"/>
          <p:cNvSpPr txBox="1"/>
          <p:nvPr/>
        </p:nvSpPr>
        <p:spPr>
          <a:xfrm>
            <a:off x="914400" y="3703320"/>
            <a:ext cx="10360152" cy="1783080"/>
          </a:xfrm>
          <a:prstGeom prst="rect">
            <a:avLst/>
          </a:prstGeom>
          <a:noFill/>
          <a:ln/>
        </p:spPr>
        <p:txBody>
          <a:bodyPr wrap="square" lIns="0" tIns="0" rIns="0" bIns="0" rtlCol="0" anchor="ctr"/>
          <a:lstStyle/>
          <a:p>
            <a:pPr algn="ctr" indent="0" marL="0">
              <a:lnSpc>
                <a:spcPct val="130000"/>
              </a:lnSpc>
              <a:buNone/>
            </a:pPr>
            <a:r>
              <a:rPr lang="en-US" sz="2500" b="1" dirty="0">
                <a:solidFill>
                  <a:srgbClr val="E8623C"/>
                </a:solidFill>
                <a:latin typeface="Cambria" pitchFamily="34" charset="0"/>
                <a:ea typeface="Cambria" pitchFamily="34" charset="-122"/>
                <a:cs typeface="Cambria" pitchFamily="34" charset="-120"/>
              </a:rPr>
              <a:t>良い壁打ちは、</a:t>
            </a:r>
            <a:endParaRPr lang="en-US" sz="2500" dirty="0"/>
          </a:p>
          <a:p>
            <a:pPr algn="ctr" indent="0" marL="0">
              <a:lnSpc>
                <a:spcPct val="130000"/>
              </a:lnSpc>
              <a:buNone/>
            </a:pPr>
            <a:r>
              <a:rPr lang="en-US" sz="2500" b="1" dirty="0">
                <a:solidFill>
                  <a:srgbClr val="E8623C"/>
                </a:solidFill>
                <a:latin typeface="Cambria" pitchFamily="34" charset="0"/>
                <a:ea typeface="Cambria" pitchFamily="34" charset="-122"/>
                <a:cs typeface="Cambria" pitchFamily="34" charset="-120"/>
              </a:rPr>
              <a:t>「自分の意見を強くする」のではなく、</a:t>
            </a:r>
            <a:endParaRPr lang="en-US" sz="2500" dirty="0"/>
          </a:p>
          <a:p>
            <a:pPr algn="ctr" indent="0" marL="0">
              <a:lnSpc>
                <a:spcPct val="130000"/>
              </a:lnSpc>
              <a:buNone/>
            </a:pPr>
            <a:r>
              <a:rPr lang="en-US" sz="2500" b="1" dirty="0">
                <a:solidFill>
                  <a:srgbClr val="E8623C"/>
                </a:solidFill>
                <a:latin typeface="Cambria" pitchFamily="34" charset="0"/>
                <a:ea typeface="Cambria" pitchFamily="34" charset="-122"/>
                <a:cs typeface="Cambria" pitchFamily="34" charset="-120"/>
              </a:rPr>
              <a:t>「自分の意見を壊しても残る部分を見つける」。</a:t>
            </a:r>
            <a:endParaRPr lang="en-US" sz="2500" dirty="0"/>
          </a:p>
        </p:txBody>
      </p:sp>
      <p:sp>
        <p:nvSpPr>
          <p:cNvPr id="7" name="Shape 5"/>
          <p:cNvSpPr/>
          <p:nvPr/>
        </p:nvSpPr>
        <p:spPr>
          <a:xfrm>
            <a:off x="2286000" y="5669280"/>
            <a:ext cx="7616952" cy="0"/>
          </a:xfrm>
          <a:prstGeom prst="line">
            <a:avLst/>
          </a:prstGeom>
          <a:noFill/>
          <a:ln w="12700">
            <a:solidFill>
              <a:srgbClr val="3A4590"/>
            </a:solidFill>
            <a:prstDash val="solid"/>
          </a:ln>
        </p:spPr>
      </p:sp>
      <p:sp>
        <p:nvSpPr>
          <p:cNvPr id="8" name="Text 6"/>
          <p:cNvSpPr txBox="1"/>
          <p:nvPr/>
        </p:nvSpPr>
        <p:spPr>
          <a:xfrm>
            <a:off x="914400" y="5806440"/>
            <a:ext cx="10360152" cy="365760"/>
          </a:xfrm>
          <a:prstGeom prst="rect">
            <a:avLst/>
          </a:prstGeom>
          <a:noFill/>
          <a:ln/>
        </p:spPr>
        <p:txBody>
          <a:bodyPr wrap="square" lIns="0" tIns="0" rIns="0" bIns="0" rtlCol="0" anchor="ctr"/>
          <a:lstStyle/>
          <a:p>
            <a:pPr algn="ctr" indent="0" marL="0">
              <a:buNone/>
            </a:pPr>
            <a:r>
              <a:rPr lang="en-US" sz="1200" i="1" dirty="0">
                <a:solidFill>
                  <a:srgbClr val="9FB3E0"/>
                </a:solidFill>
                <a:latin typeface="Calibri" pitchFamily="34" charset="0"/>
                <a:ea typeface="Calibri" pitchFamily="34" charset="-122"/>
                <a:cs typeface="Calibri" pitchFamily="34" charset="-120"/>
              </a:rPr>
              <a:t>実践編（コピーして使えるプロンプト集）は「AI壁打ち実践ハンドブック」をご覧ください。</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2026-09-08T07:17:40Z</dcterms:created>
  <dcterms:modified xsi:type="dcterms:W3CDTF">2026-09-08T07:17:40Z</dcterms:modified>
</cp:coreProperties>
</file>