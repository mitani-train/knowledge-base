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このハンドブックは概念編とは独立して読める実践資料です。目的を理解した上でプロンプトを選んでほしいと伝えてください。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列挙してください』は単に数を出させるためではありません。自分が最初に思いついた1つの答えで思考を止めないための技法です。列挙した後に、分類・比較・評価に進むという流れの入り口であることを説明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広げること自体はゴールではありません。広げた後に整理して初めて、次の検証や反論に進めることを説明してください。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このスライドは概念編パターン①の実践版です。特に2番目の『好意的に解釈した上での反論（スチールマン）』が最も重要であることを繰り返し伝えてください。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壁打ちが『議論に勝つゲーム』になってしまうと機能しなくなります。自分の主張も等しく検証対象であるという姿勢が、壁打ちを他の議論と分ける最大の違いであることを伝えてください。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このスライドは概念編パターン②・④の実践版です。反論をもらって終わりにせず、その反論自体の妥当性を検証するために使うプロンプトであることを伝えてください。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このスライドは概念編パターン③の実践版であり、付録の中でも特に重要です。反論の『内容』ではなく『対応関係』を確認する視点を持たせてください。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このスライドは概念編パターン⑧・⑨の実践版です。『AIは答えではなく、検証対象にもなる』という概念編の核心メッセージをここで再確認させてください。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壁打ちは『正解に辿り着くこと』がゴールではありません。結論に条件と確からしさの段階をつけられた時点で、壁打ちは十分に機能しています。最後の一段強調したプロンプトが、壁打ちの締めくくりに最もよく使う問いであることを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証を続けているだけでは、それ自体は仕事の成果にはなりません。最後に清書・要約・生成用プロンプト作成・生成という工程を経て初めて、壁打ちの成果が実際のアウトプットになることを説明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は概念編『技法は単独ではなく組み合わせる』の具体的な実演です。前半（検証ループ）だけで終わらせず、後半（清書・まとめ・指示プロンプト作成・生成）まで通すことで、壁打ちが実際の仕事の成果物につながることを示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このスライドだけ切り出して、デスクの手元に置いて使ってもらうことを想定しています。『目的別の索引』であることを伝えてください。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プロンプトの暗記ではなく、目的（広げる／整理する／攻撃する／検証する／監査する／精密化する／成果物にする）を理解した上で、その場に応じて言葉を選んでほしいと伝えてください。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03120"/>
            <a:ext cx="5943600" cy="5943600"/>
          </a:xfrm>
          <a:prstGeom prst="ellipse">
            <a:avLst/>
          </a:prstGeom>
          <a:solidFill>
            <a:srgbClr val="141A46"/>
          </a:solidFill>
          <a:ln/>
        </p:spPr>
      </p:sp>
      <p:sp>
        <p:nvSpPr>
          <p:cNvPr id="3" name="Shape 1"/>
          <p:cNvSpPr/>
          <p:nvPr/>
        </p:nvSpPr>
        <p:spPr>
          <a:xfrm>
            <a:off x="-2377440" y="4937760"/>
            <a:ext cx="4206240" cy="4206240"/>
          </a:xfrm>
          <a:prstGeom prst="ellipse">
            <a:avLst/>
          </a:prstGeom>
          <a:solidFill>
            <a:srgbClr val="141A46"/>
          </a:solidFill>
          <a:ln/>
        </p:spPr>
      </p:sp>
      <p:sp>
        <p:nvSpPr>
          <p:cNvPr id="4" name="Text 2"/>
          <p:cNvSpPr txBox="1"/>
          <p:nvPr/>
        </p:nvSpPr>
        <p:spPr>
          <a:xfrm>
            <a:off x="914400" y="1920240"/>
            <a:ext cx="10360152" cy="100584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AI壁打ち実践ハンドブック</a:t>
            </a:r>
            <a:endParaRPr lang="en-US" sz="3800" dirty="0"/>
          </a:p>
        </p:txBody>
      </p:sp>
      <p:sp>
        <p:nvSpPr>
          <p:cNvPr id="5" name="Text 3"/>
          <p:cNvSpPr txBox="1"/>
          <p:nvPr/>
        </p:nvSpPr>
        <p:spPr>
          <a:xfrm>
            <a:off x="914400" y="3017520"/>
            <a:ext cx="10360152" cy="502920"/>
          </a:xfrm>
          <a:prstGeom prst="rect">
            <a:avLst/>
          </a:prstGeom>
          <a:noFill/>
          <a:ln/>
        </p:spPr>
        <p:txBody>
          <a:bodyPr wrap="square" lIns="0" tIns="0" rIns="0" bIns="0" rtlCol="0" anchor="ctr"/>
          <a:lstStyle/>
          <a:p>
            <a:pPr algn="ctr" indent="0" marL="0">
              <a:buNone/>
            </a:pPr>
            <a:r>
              <a:rPr lang="en-US" sz="1700" i="1" dirty="0">
                <a:solidFill>
                  <a:srgbClr val="CADCFC"/>
                </a:solidFill>
                <a:latin typeface="Calibri" pitchFamily="34" charset="0"/>
                <a:ea typeface="Calibri" pitchFamily="34" charset="-122"/>
                <a:cs typeface="Calibri" pitchFamily="34" charset="-120"/>
              </a:rPr>
              <a:t>そのままコピーして使える、壁打ち用プロンプト集</a:t>
            </a:r>
            <a:endParaRPr lang="en-US" sz="1700" dirty="0"/>
          </a:p>
        </p:txBody>
      </p:sp>
      <p:sp>
        <p:nvSpPr>
          <p:cNvPr id="6" name="Shape 4"/>
          <p:cNvSpPr/>
          <p:nvPr/>
        </p:nvSpPr>
        <p:spPr>
          <a:xfrm>
            <a:off x="2011680" y="3840480"/>
            <a:ext cx="8165592" cy="1554480"/>
          </a:xfrm>
          <a:prstGeom prst="roundRect">
            <a:avLst>
              <a:gd name="adj" fmla="val 4706"/>
            </a:avLst>
          </a:prstGeom>
          <a:solidFill>
            <a:srgbClr val="141A46"/>
          </a:solidFill>
          <a:ln w="12700">
            <a:solidFill>
              <a:srgbClr val="3A4590"/>
            </a:solidFill>
            <a:prstDash val="solid"/>
          </a:ln>
        </p:spPr>
      </p:sp>
      <p:sp>
        <p:nvSpPr>
          <p:cNvPr id="7" name="Text 5"/>
          <p:cNvSpPr txBox="1"/>
          <p:nvPr/>
        </p:nvSpPr>
        <p:spPr>
          <a:xfrm>
            <a:off x="2286000" y="3840480"/>
            <a:ext cx="7616952" cy="1554480"/>
          </a:xfrm>
          <a:prstGeom prst="rect">
            <a:avLst/>
          </a:prstGeom>
          <a:noFill/>
          <a:ln/>
        </p:spPr>
        <p:txBody>
          <a:bodyPr wrap="square" lIns="76200" tIns="76200" rIns="76200" bIns="76200"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このハンドブックは、概念編「AIとの壁打ちを、思考技術にする」の実践版です。プロンプトは答えを出すためだけのものではなく、思考を操作するための道具として分類しています。目的（広げる・整理する・攻撃する・検証する・監査する・精密化する・成果物にする）を理解した上で、その場に応じて言葉を選んでください。</a:t>
            </a:r>
            <a:endParaRPr lang="en-US" sz="1200" dirty="0"/>
          </a:p>
        </p:txBody>
      </p:sp>
      <p:sp>
        <p:nvSpPr>
          <p:cNvPr id="8" name="Text 6"/>
          <p:cNvSpPr txBox="1"/>
          <p:nvPr/>
        </p:nvSpPr>
        <p:spPr>
          <a:xfrm>
            <a:off x="914400" y="5623560"/>
            <a:ext cx="10360152" cy="365760"/>
          </a:xfrm>
          <a:prstGeom prst="rect">
            <a:avLst/>
          </a:prstGeom>
          <a:noFill/>
          <a:ln/>
        </p:spPr>
        <p:txBody>
          <a:bodyPr wrap="square" lIns="0" tIns="0" rIns="0" bIns="0" rtlCol="0" anchor="ctr"/>
          <a:lstStyle/>
          <a:p>
            <a:pPr algn="ctr" indent="0" marL="0">
              <a:buNone/>
            </a:pPr>
            <a:r>
              <a:rPr lang="en-US" sz="1150" i="1" dirty="0">
                <a:solidFill>
                  <a:srgbClr val="9FB3E0"/>
                </a:solidFill>
                <a:latin typeface="Calibri" pitchFamily="34" charset="0"/>
                <a:ea typeface="Calibri" pitchFamily="34" charset="-122"/>
                <a:cs typeface="Calibri" pitchFamily="34" charset="-120"/>
              </a:rPr>
              <a:t>概念（なぜそう考えるか）は概念編「AIとの壁打ちを、思考技術にする」をご覧ください。</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1 思考を広げる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「列挙してください」は、最初に思いついた答えに固定されないための基本技法</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2 / 13</a:t>
            </a:r>
            <a:endParaRPr lang="en-US" sz="900" dirty="0"/>
          </a:p>
        </p:txBody>
      </p:sp>
      <p:sp>
        <p:nvSpPr>
          <p:cNvPr id="5" name="Shape 3"/>
          <p:cNvSpPr/>
          <p:nvPr/>
        </p:nvSpPr>
        <p:spPr>
          <a:xfrm>
            <a:off x="731520" y="1417320"/>
            <a:ext cx="2468880" cy="457200"/>
          </a:xfrm>
          <a:prstGeom prst="roundRect">
            <a:avLst>
              <a:gd name="adj" fmla="val 14000"/>
            </a:avLst>
          </a:prstGeom>
          <a:solidFill>
            <a:srgbClr val="FBD9CC"/>
          </a:solidFill>
          <a:ln w="15875">
            <a:solidFill>
              <a:srgbClr val="D3DAEA"/>
            </a:solidFill>
            <a:prstDash val="solid"/>
          </a:ln>
        </p:spPr>
      </p:sp>
      <p:sp>
        <p:nvSpPr>
          <p:cNvPr id="6" name="Text 4"/>
          <p:cNvSpPr txBox="1"/>
          <p:nvPr/>
        </p:nvSpPr>
        <p:spPr>
          <a:xfrm>
            <a:off x="777240" y="1417320"/>
            <a:ext cx="2377440" cy="457200"/>
          </a:xfrm>
          <a:prstGeom prst="rect">
            <a:avLst/>
          </a:prstGeom>
          <a:noFill/>
          <a:ln/>
        </p:spPr>
        <p:txBody>
          <a:bodyPr wrap="square" lIns="12700" tIns="12700" rIns="12700" bIns="1270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列挙</a:t>
            </a:r>
            <a:endParaRPr lang="en-US" sz="1250" dirty="0"/>
          </a:p>
        </p:txBody>
      </p:sp>
      <p:sp>
        <p:nvSpPr>
          <p:cNvPr id="7" name="Shape 5"/>
          <p:cNvSpPr/>
          <p:nvPr/>
        </p:nvSpPr>
        <p:spPr>
          <a:xfrm>
            <a:off x="3200400" y="1645920"/>
            <a:ext cx="228600" cy="0"/>
          </a:xfrm>
          <a:prstGeom prst="line">
            <a:avLst/>
          </a:prstGeom>
          <a:noFill/>
          <a:ln w="28575">
            <a:solidFill>
              <a:srgbClr val="1E2761"/>
            </a:solidFill>
            <a:prstDash val="solid"/>
            <a:tailEnd type="triangle"/>
          </a:ln>
        </p:spPr>
      </p:sp>
      <p:sp>
        <p:nvSpPr>
          <p:cNvPr id="8" name="Shape 6"/>
          <p:cNvSpPr/>
          <p:nvPr/>
        </p:nvSpPr>
        <p:spPr>
          <a:xfrm>
            <a:off x="3429000" y="1417320"/>
            <a:ext cx="2468880" cy="457200"/>
          </a:xfrm>
          <a:prstGeom prst="roundRect">
            <a:avLst>
              <a:gd name="adj" fmla="val 14000"/>
            </a:avLst>
          </a:prstGeom>
          <a:solidFill>
            <a:srgbClr val="F2F4F9"/>
          </a:solidFill>
          <a:ln w="15875">
            <a:solidFill>
              <a:srgbClr val="D3DAEA"/>
            </a:solidFill>
            <a:prstDash val="solid"/>
          </a:ln>
        </p:spPr>
      </p:sp>
      <p:sp>
        <p:nvSpPr>
          <p:cNvPr id="9" name="Text 7"/>
          <p:cNvSpPr txBox="1"/>
          <p:nvPr/>
        </p:nvSpPr>
        <p:spPr>
          <a:xfrm>
            <a:off x="3474720" y="1417320"/>
            <a:ext cx="2377440" cy="457200"/>
          </a:xfrm>
          <a:prstGeom prst="rect">
            <a:avLst/>
          </a:prstGeom>
          <a:noFill/>
          <a:ln/>
        </p:spPr>
        <p:txBody>
          <a:bodyPr wrap="square" lIns="12700" tIns="12700" rIns="12700" bIns="1270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分類</a:t>
            </a:r>
            <a:endParaRPr lang="en-US" sz="1250" dirty="0"/>
          </a:p>
        </p:txBody>
      </p:sp>
      <p:sp>
        <p:nvSpPr>
          <p:cNvPr id="10" name="Shape 8"/>
          <p:cNvSpPr/>
          <p:nvPr/>
        </p:nvSpPr>
        <p:spPr>
          <a:xfrm>
            <a:off x="5897880" y="1645920"/>
            <a:ext cx="228600" cy="0"/>
          </a:xfrm>
          <a:prstGeom prst="line">
            <a:avLst/>
          </a:prstGeom>
          <a:noFill/>
          <a:ln w="28575">
            <a:solidFill>
              <a:srgbClr val="1E2761"/>
            </a:solidFill>
            <a:prstDash val="solid"/>
            <a:tailEnd type="triangle"/>
          </a:ln>
        </p:spPr>
      </p:sp>
      <p:sp>
        <p:nvSpPr>
          <p:cNvPr id="11" name="Shape 9"/>
          <p:cNvSpPr/>
          <p:nvPr/>
        </p:nvSpPr>
        <p:spPr>
          <a:xfrm>
            <a:off x="6126480" y="1417320"/>
            <a:ext cx="2468880" cy="457200"/>
          </a:xfrm>
          <a:prstGeom prst="roundRect">
            <a:avLst>
              <a:gd name="adj" fmla="val 14000"/>
            </a:avLst>
          </a:prstGeom>
          <a:solidFill>
            <a:srgbClr val="F2F4F9"/>
          </a:solidFill>
          <a:ln w="15875">
            <a:solidFill>
              <a:srgbClr val="D3DAEA"/>
            </a:solidFill>
            <a:prstDash val="solid"/>
          </a:ln>
        </p:spPr>
      </p:sp>
      <p:sp>
        <p:nvSpPr>
          <p:cNvPr id="12" name="Text 10"/>
          <p:cNvSpPr txBox="1"/>
          <p:nvPr/>
        </p:nvSpPr>
        <p:spPr>
          <a:xfrm>
            <a:off x="6172200" y="1417320"/>
            <a:ext cx="2377440" cy="457200"/>
          </a:xfrm>
          <a:prstGeom prst="rect">
            <a:avLst/>
          </a:prstGeom>
          <a:noFill/>
          <a:ln/>
        </p:spPr>
        <p:txBody>
          <a:bodyPr wrap="square" lIns="12700" tIns="12700" rIns="12700" bIns="1270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比較</a:t>
            </a:r>
            <a:endParaRPr lang="en-US" sz="1250" dirty="0"/>
          </a:p>
        </p:txBody>
      </p:sp>
      <p:sp>
        <p:nvSpPr>
          <p:cNvPr id="13" name="Shape 11"/>
          <p:cNvSpPr/>
          <p:nvPr/>
        </p:nvSpPr>
        <p:spPr>
          <a:xfrm>
            <a:off x="8595360" y="1645920"/>
            <a:ext cx="228600" cy="0"/>
          </a:xfrm>
          <a:prstGeom prst="line">
            <a:avLst/>
          </a:prstGeom>
          <a:noFill/>
          <a:ln w="28575">
            <a:solidFill>
              <a:srgbClr val="1E2761"/>
            </a:solidFill>
            <a:prstDash val="solid"/>
            <a:tailEnd type="triangle"/>
          </a:ln>
        </p:spPr>
      </p:sp>
      <p:sp>
        <p:nvSpPr>
          <p:cNvPr id="14" name="Shape 12"/>
          <p:cNvSpPr/>
          <p:nvPr/>
        </p:nvSpPr>
        <p:spPr>
          <a:xfrm>
            <a:off x="8823960" y="1417320"/>
            <a:ext cx="2468880" cy="457200"/>
          </a:xfrm>
          <a:prstGeom prst="roundRect">
            <a:avLst>
              <a:gd name="adj" fmla="val 14000"/>
            </a:avLst>
          </a:prstGeom>
          <a:solidFill>
            <a:srgbClr val="F2F4F9"/>
          </a:solidFill>
          <a:ln w="15875">
            <a:solidFill>
              <a:srgbClr val="D3DAEA"/>
            </a:solidFill>
            <a:prstDash val="solid"/>
          </a:ln>
        </p:spPr>
      </p:sp>
      <p:sp>
        <p:nvSpPr>
          <p:cNvPr id="15" name="Text 13"/>
          <p:cNvSpPr txBox="1"/>
          <p:nvPr/>
        </p:nvSpPr>
        <p:spPr>
          <a:xfrm>
            <a:off x="8869680" y="1417320"/>
            <a:ext cx="2377440" cy="457200"/>
          </a:xfrm>
          <a:prstGeom prst="rect">
            <a:avLst/>
          </a:prstGeom>
          <a:noFill/>
          <a:ln/>
        </p:spPr>
        <p:txBody>
          <a:bodyPr wrap="square" lIns="12700" tIns="12700" rIns="12700" bIns="1270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評価</a:t>
            </a:r>
            <a:endParaRPr lang="en-US" sz="1250" dirty="0"/>
          </a:p>
        </p:txBody>
      </p:sp>
      <p:sp>
        <p:nvSpPr>
          <p:cNvPr id="16" name="Shape 14"/>
          <p:cNvSpPr/>
          <p:nvPr/>
        </p:nvSpPr>
        <p:spPr>
          <a:xfrm>
            <a:off x="914400" y="2148840"/>
            <a:ext cx="10332720" cy="566928"/>
          </a:xfrm>
          <a:prstGeom prst="roundRect">
            <a:avLst>
              <a:gd name="adj" fmla="val 11290"/>
            </a:avLst>
          </a:prstGeom>
          <a:solidFill>
            <a:srgbClr val="FFFFFF"/>
          </a:solidFill>
          <a:ln w="15875">
            <a:solidFill>
              <a:srgbClr val="E8623C"/>
            </a:solidFill>
            <a:prstDash val="solid"/>
          </a:ln>
        </p:spPr>
      </p:sp>
      <p:sp>
        <p:nvSpPr>
          <p:cNvPr id="17" name="Text 15"/>
          <p:cNvSpPr txBox="1"/>
          <p:nvPr/>
        </p:nvSpPr>
        <p:spPr>
          <a:xfrm>
            <a:off x="1143000" y="2148840"/>
            <a:ext cx="9921240" cy="566928"/>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「［テーマ］について、考えられる要素をできるだけ漏れなく列挙してください。」</a:t>
            </a:r>
            <a:endParaRPr lang="en-US" sz="1200" dirty="0"/>
          </a:p>
        </p:txBody>
      </p:sp>
      <p:sp>
        <p:nvSpPr>
          <p:cNvPr id="18" name="Shape 16"/>
          <p:cNvSpPr/>
          <p:nvPr/>
        </p:nvSpPr>
        <p:spPr>
          <a:xfrm>
            <a:off x="914400" y="2825496"/>
            <a:ext cx="10332720" cy="566928"/>
          </a:xfrm>
          <a:prstGeom prst="roundRect">
            <a:avLst>
              <a:gd name="adj" fmla="val 11290"/>
            </a:avLst>
          </a:prstGeom>
          <a:solidFill>
            <a:srgbClr val="FFFFFF"/>
          </a:solidFill>
          <a:ln w="15875">
            <a:solidFill>
              <a:srgbClr val="E8623C"/>
            </a:solidFill>
            <a:prstDash val="solid"/>
          </a:ln>
        </p:spPr>
      </p:sp>
      <p:sp>
        <p:nvSpPr>
          <p:cNvPr id="19" name="Text 17"/>
          <p:cNvSpPr txBox="1"/>
          <p:nvPr/>
        </p:nvSpPr>
        <p:spPr>
          <a:xfrm>
            <a:off x="1143000" y="2825496"/>
            <a:ext cx="9921240" cy="566928"/>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「［問題・現象］が起こる原因として考えられるものを列挙してください。」</a:t>
            </a:r>
            <a:endParaRPr lang="en-US" sz="1200" dirty="0"/>
          </a:p>
        </p:txBody>
      </p:sp>
      <p:sp>
        <p:nvSpPr>
          <p:cNvPr id="20" name="Shape 18"/>
          <p:cNvSpPr/>
          <p:nvPr/>
        </p:nvSpPr>
        <p:spPr>
          <a:xfrm>
            <a:off x="914400" y="3502152"/>
            <a:ext cx="10332720" cy="566928"/>
          </a:xfrm>
          <a:prstGeom prst="roundRect">
            <a:avLst>
              <a:gd name="adj" fmla="val 11290"/>
            </a:avLst>
          </a:prstGeom>
          <a:solidFill>
            <a:srgbClr val="FFFFFF"/>
          </a:solidFill>
          <a:ln w="15875">
            <a:solidFill>
              <a:srgbClr val="E8623C"/>
            </a:solidFill>
            <a:prstDash val="solid"/>
          </a:ln>
        </p:spPr>
      </p:sp>
      <p:sp>
        <p:nvSpPr>
          <p:cNvPr id="21" name="Text 19"/>
          <p:cNvSpPr txBox="1"/>
          <p:nvPr/>
        </p:nvSpPr>
        <p:spPr>
          <a:xfrm>
            <a:off x="1143000" y="3502152"/>
            <a:ext cx="9921240" cy="566928"/>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「この現象について、私の仮説以外に考えられる説明を列挙してください。」</a:t>
            </a:r>
            <a:endParaRPr lang="en-US" sz="1200" dirty="0"/>
          </a:p>
        </p:txBody>
      </p:sp>
      <p:sp>
        <p:nvSpPr>
          <p:cNvPr id="22" name="Shape 20"/>
          <p:cNvSpPr/>
          <p:nvPr/>
        </p:nvSpPr>
        <p:spPr>
          <a:xfrm>
            <a:off x="914400" y="4178808"/>
            <a:ext cx="10332720" cy="566928"/>
          </a:xfrm>
          <a:prstGeom prst="roundRect">
            <a:avLst>
              <a:gd name="adj" fmla="val 11290"/>
            </a:avLst>
          </a:prstGeom>
          <a:solidFill>
            <a:srgbClr val="FFFFFF"/>
          </a:solidFill>
          <a:ln w="15875">
            <a:solidFill>
              <a:srgbClr val="E8623C"/>
            </a:solidFill>
            <a:prstDash val="solid"/>
          </a:ln>
        </p:spPr>
      </p:sp>
      <p:sp>
        <p:nvSpPr>
          <p:cNvPr id="23" name="Text 21"/>
          <p:cNvSpPr txBox="1"/>
          <p:nvPr/>
        </p:nvSpPr>
        <p:spPr>
          <a:xfrm>
            <a:off x="1143000" y="4178808"/>
            <a:ext cx="9921240" cy="566928"/>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「この主張が成立しないケースを列挙してください。」</a:t>
            </a:r>
            <a:endParaRPr lang="en-US" sz="1200" dirty="0"/>
          </a:p>
        </p:txBody>
      </p:sp>
      <p:sp>
        <p:nvSpPr>
          <p:cNvPr id="24" name="Shape 22"/>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5" name="Shape 23"/>
          <p:cNvSpPr/>
          <p:nvPr/>
        </p:nvSpPr>
        <p:spPr>
          <a:xfrm>
            <a:off x="548640" y="5870448"/>
            <a:ext cx="54864" cy="713232"/>
          </a:xfrm>
          <a:prstGeom prst="rect">
            <a:avLst/>
          </a:prstGeom>
          <a:solidFill>
            <a:srgbClr val="E8623C"/>
          </a:solidFill>
          <a:ln/>
        </p:spPr>
      </p:sp>
      <p:sp>
        <p:nvSpPr>
          <p:cNvPr id="26" name="Text 24"/>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「列挙してください」は単に数を出させるためではありません。自分が最初に思いついた1つの答えで思考を止めないための技法です。列挙した後に、分類・比較・評価に進むという流れの入り口です。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2 思考を整理する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広げた思考は、整理しないと使えない</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3 / 13</a:t>
            </a:r>
            <a:endParaRPr lang="en-US" sz="900" dirty="0"/>
          </a:p>
        </p:txBody>
      </p:sp>
      <p:sp>
        <p:nvSpPr>
          <p:cNvPr id="5" name="Shape 3"/>
          <p:cNvSpPr/>
          <p:nvPr/>
        </p:nvSpPr>
        <p:spPr>
          <a:xfrm>
            <a:off x="822960" y="1746504"/>
            <a:ext cx="5120640" cy="1179576"/>
          </a:xfrm>
          <a:prstGeom prst="roundRect">
            <a:avLst>
              <a:gd name="adj" fmla="val 5426"/>
            </a:avLst>
          </a:prstGeom>
          <a:solidFill>
            <a:srgbClr val="FFFFFF"/>
          </a:solidFill>
          <a:ln w="15875">
            <a:solidFill>
              <a:srgbClr val="E8623C"/>
            </a:solidFill>
            <a:prstDash val="solid"/>
          </a:ln>
        </p:spPr>
      </p:sp>
      <p:sp>
        <p:nvSpPr>
          <p:cNvPr id="6" name="Text 4"/>
          <p:cNvSpPr txBox="1"/>
          <p:nvPr/>
        </p:nvSpPr>
        <p:spPr>
          <a:xfrm>
            <a:off x="1051560" y="1746504"/>
            <a:ext cx="4709160" cy="1179576"/>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「今列挙した項目を、共通する観点で分類してください。」</a:t>
            </a:r>
            <a:endParaRPr lang="en-US" sz="1200" dirty="0"/>
          </a:p>
        </p:txBody>
      </p:sp>
      <p:sp>
        <p:nvSpPr>
          <p:cNvPr id="7" name="Shape 5"/>
          <p:cNvSpPr/>
          <p:nvPr/>
        </p:nvSpPr>
        <p:spPr>
          <a:xfrm>
            <a:off x="914400" y="1600200"/>
            <a:ext cx="1005840" cy="292608"/>
          </a:xfrm>
          <a:prstGeom prst="roundRect">
            <a:avLst>
              <a:gd name="adj" fmla="val 50000"/>
            </a:avLst>
          </a:prstGeom>
          <a:solidFill>
            <a:srgbClr val="1E2761"/>
          </a:solidFill>
          <a:ln/>
        </p:spPr>
      </p:sp>
      <p:sp>
        <p:nvSpPr>
          <p:cNvPr id="8" name="Text 6"/>
          <p:cNvSpPr txBox="1"/>
          <p:nvPr/>
        </p:nvSpPr>
        <p:spPr>
          <a:xfrm>
            <a:off x="914400" y="1600200"/>
            <a:ext cx="1005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分類</a:t>
            </a:r>
            <a:endParaRPr lang="en-US" sz="1050" dirty="0"/>
          </a:p>
        </p:txBody>
      </p:sp>
      <p:sp>
        <p:nvSpPr>
          <p:cNvPr id="9" name="Shape 7"/>
          <p:cNvSpPr/>
          <p:nvPr/>
        </p:nvSpPr>
        <p:spPr>
          <a:xfrm>
            <a:off x="6217920" y="1746504"/>
            <a:ext cx="5120640" cy="1179576"/>
          </a:xfrm>
          <a:prstGeom prst="roundRect">
            <a:avLst>
              <a:gd name="adj" fmla="val 5426"/>
            </a:avLst>
          </a:prstGeom>
          <a:solidFill>
            <a:srgbClr val="FFFFFF"/>
          </a:solidFill>
          <a:ln w="15875">
            <a:solidFill>
              <a:srgbClr val="E8623C"/>
            </a:solidFill>
            <a:prstDash val="solid"/>
          </a:ln>
        </p:spPr>
      </p:sp>
      <p:sp>
        <p:nvSpPr>
          <p:cNvPr id="10" name="Text 8"/>
          <p:cNvSpPr txBox="1"/>
          <p:nvPr/>
        </p:nvSpPr>
        <p:spPr>
          <a:xfrm>
            <a:off x="6446520" y="1746504"/>
            <a:ext cx="4709160" cy="1179576"/>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「［A］と［B］を、共通点と相違点の観点で比較してください。」</a:t>
            </a:r>
            <a:endParaRPr lang="en-US" sz="1200" dirty="0"/>
          </a:p>
        </p:txBody>
      </p:sp>
      <p:sp>
        <p:nvSpPr>
          <p:cNvPr id="11" name="Shape 9"/>
          <p:cNvSpPr/>
          <p:nvPr/>
        </p:nvSpPr>
        <p:spPr>
          <a:xfrm>
            <a:off x="6309360" y="1600200"/>
            <a:ext cx="1005840" cy="292608"/>
          </a:xfrm>
          <a:prstGeom prst="roundRect">
            <a:avLst>
              <a:gd name="adj" fmla="val 50000"/>
            </a:avLst>
          </a:prstGeom>
          <a:solidFill>
            <a:srgbClr val="1E2761"/>
          </a:solidFill>
          <a:ln/>
        </p:spPr>
      </p:sp>
      <p:sp>
        <p:nvSpPr>
          <p:cNvPr id="12" name="Text 10"/>
          <p:cNvSpPr txBox="1"/>
          <p:nvPr/>
        </p:nvSpPr>
        <p:spPr>
          <a:xfrm>
            <a:off x="6309360" y="1600200"/>
            <a:ext cx="1005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比較</a:t>
            </a:r>
            <a:endParaRPr lang="en-US" sz="1050" dirty="0"/>
          </a:p>
        </p:txBody>
      </p:sp>
      <p:sp>
        <p:nvSpPr>
          <p:cNvPr id="13" name="Shape 11"/>
          <p:cNvSpPr/>
          <p:nvPr/>
        </p:nvSpPr>
        <p:spPr>
          <a:xfrm>
            <a:off x="822960" y="3419856"/>
            <a:ext cx="5120640" cy="1179576"/>
          </a:xfrm>
          <a:prstGeom prst="roundRect">
            <a:avLst>
              <a:gd name="adj" fmla="val 5426"/>
            </a:avLst>
          </a:prstGeom>
          <a:solidFill>
            <a:srgbClr val="FFFFFF"/>
          </a:solidFill>
          <a:ln w="15875">
            <a:solidFill>
              <a:srgbClr val="E8623C"/>
            </a:solidFill>
            <a:prstDash val="solid"/>
          </a:ln>
        </p:spPr>
      </p:sp>
      <p:sp>
        <p:nvSpPr>
          <p:cNvPr id="14" name="Text 12"/>
          <p:cNvSpPr txBox="1"/>
          <p:nvPr/>
        </p:nvSpPr>
        <p:spPr>
          <a:xfrm>
            <a:off x="1051560" y="3419856"/>
            <a:ext cx="4709160" cy="1179576"/>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「この議論で使われている［用語］の定義を明確にしてください。」</a:t>
            </a:r>
            <a:endParaRPr lang="en-US" sz="1200" dirty="0"/>
          </a:p>
        </p:txBody>
      </p:sp>
      <p:sp>
        <p:nvSpPr>
          <p:cNvPr id="15" name="Shape 13"/>
          <p:cNvSpPr/>
          <p:nvPr/>
        </p:nvSpPr>
        <p:spPr>
          <a:xfrm>
            <a:off x="914400" y="3273552"/>
            <a:ext cx="1005840" cy="292608"/>
          </a:xfrm>
          <a:prstGeom prst="roundRect">
            <a:avLst>
              <a:gd name="adj" fmla="val 50000"/>
            </a:avLst>
          </a:prstGeom>
          <a:solidFill>
            <a:srgbClr val="1E2761"/>
          </a:solidFill>
          <a:ln/>
        </p:spPr>
      </p:sp>
      <p:sp>
        <p:nvSpPr>
          <p:cNvPr id="16" name="Text 14"/>
          <p:cNvSpPr txBox="1"/>
          <p:nvPr/>
        </p:nvSpPr>
        <p:spPr>
          <a:xfrm>
            <a:off x="914400" y="3273552"/>
            <a:ext cx="1005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定義</a:t>
            </a:r>
            <a:endParaRPr lang="en-US" sz="1050" dirty="0"/>
          </a:p>
        </p:txBody>
      </p:sp>
      <p:sp>
        <p:nvSpPr>
          <p:cNvPr id="17" name="Shape 15"/>
          <p:cNvSpPr/>
          <p:nvPr/>
        </p:nvSpPr>
        <p:spPr>
          <a:xfrm>
            <a:off x="6217920" y="3419856"/>
            <a:ext cx="5120640" cy="1179576"/>
          </a:xfrm>
          <a:prstGeom prst="roundRect">
            <a:avLst>
              <a:gd name="adj" fmla="val 5426"/>
            </a:avLst>
          </a:prstGeom>
          <a:solidFill>
            <a:srgbClr val="FFFFFF"/>
          </a:solidFill>
          <a:ln w="15875">
            <a:solidFill>
              <a:srgbClr val="E8623C"/>
            </a:solidFill>
            <a:prstDash val="solid"/>
          </a:ln>
        </p:spPr>
      </p:sp>
      <p:sp>
        <p:nvSpPr>
          <p:cNvPr id="18" name="Text 16"/>
          <p:cNvSpPr txBox="1"/>
          <p:nvPr/>
        </p:nvSpPr>
        <p:spPr>
          <a:xfrm>
            <a:off x="6446520" y="3419856"/>
            <a:ext cx="4709160" cy="1179576"/>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「この問題に含まれる論点を整理し、それぞれ独立に検討できる形に分けてください。」</a:t>
            </a:r>
            <a:endParaRPr lang="en-US" sz="1200" dirty="0"/>
          </a:p>
        </p:txBody>
      </p:sp>
      <p:sp>
        <p:nvSpPr>
          <p:cNvPr id="19" name="Shape 17"/>
          <p:cNvSpPr/>
          <p:nvPr/>
        </p:nvSpPr>
        <p:spPr>
          <a:xfrm>
            <a:off x="6309360" y="3273552"/>
            <a:ext cx="1005840" cy="292608"/>
          </a:xfrm>
          <a:prstGeom prst="roundRect">
            <a:avLst>
              <a:gd name="adj" fmla="val 50000"/>
            </a:avLst>
          </a:prstGeom>
          <a:solidFill>
            <a:srgbClr val="1E2761"/>
          </a:solidFill>
          <a:ln/>
        </p:spPr>
      </p:sp>
      <p:sp>
        <p:nvSpPr>
          <p:cNvPr id="20" name="Text 18"/>
          <p:cNvSpPr txBox="1"/>
          <p:nvPr/>
        </p:nvSpPr>
        <p:spPr>
          <a:xfrm>
            <a:off x="6309360" y="3273552"/>
            <a:ext cx="1005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論点整理</a:t>
            </a:r>
            <a:endParaRPr lang="en-US" sz="1050" dirty="0"/>
          </a:p>
        </p:txBody>
      </p:sp>
      <p:sp>
        <p:nvSpPr>
          <p:cNvPr id="21" name="Shape 19"/>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2" name="Shape 20"/>
          <p:cNvSpPr/>
          <p:nvPr/>
        </p:nvSpPr>
        <p:spPr>
          <a:xfrm>
            <a:off x="548640" y="5870448"/>
            <a:ext cx="54864" cy="713232"/>
          </a:xfrm>
          <a:prstGeom prst="rect">
            <a:avLst/>
          </a:prstGeom>
          <a:solidFill>
            <a:srgbClr val="E8623C"/>
          </a:solidFill>
          <a:ln/>
        </p:spPr>
      </p:sp>
      <p:sp>
        <p:nvSpPr>
          <p:cNvPr id="23" name="Text 21"/>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広げること自体はゴールではありません。広げた後に整理して初めて、次の検証や反論に進めます。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3 自説を攻撃する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自分の主張は、自分が最も甘く評価しやすい対象である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4 / 13</a:t>
            </a:r>
            <a:endParaRPr lang="en-US" sz="900" dirty="0"/>
          </a:p>
        </p:txBody>
      </p:sp>
      <p:sp>
        <p:nvSpPr>
          <p:cNvPr id="5" name="Shape 3"/>
          <p:cNvSpPr/>
          <p:nvPr/>
        </p:nvSpPr>
        <p:spPr>
          <a:xfrm>
            <a:off x="5166360" y="1371600"/>
            <a:ext cx="1828800" cy="457200"/>
          </a:xfrm>
          <a:prstGeom prst="roundRect">
            <a:avLst>
              <a:gd name="adj" fmla="val 14000"/>
            </a:avLst>
          </a:prstGeom>
          <a:solidFill>
            <a:srgbClr val="CADCFC"/>
          </a:solidFill>
          <a:ln w="15875">
            <a:solidFill>
              <a:srgbClr val="D3DAEA"/>
            </a:solidFill>
            <a:prstDash val="solid"/>
          </a:ln>
        </p:spPr>
      </p:sp>
      <p:sp>
        <p:nvSpPr>
          <p:cNvPr id="6" name="Text 4"/>
          <p:cNvSpPr txBox="1"/>
          <p:nvPr/>
        </p:nvSpPr>
        <p:spPr>
          <a:xfrm>
            <a:off x="5212080" y="1371600"/>
            <a:ext cx="1737360" cy="457200"/>
          </a:xfrm>
          <a:prstGeom prst="rect">
            <a:avLst/>
          </a:prstGeom>
          <a:noFill/>
          <a:ln/>
        </p:spPr>
        <p:txBody>
          <a:bodyPr wrap="square" lIns="12700" tIns="12700" rIns="12700" bIns="1270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主張</a:t>
            </a:r>
            <a:endParaRPr lang="en-US" sz="1250" dirty="0"/>
          </a:p>
        </p:txBody>
      </p:sp>
      <p:sp>
        <p:nvSpPr>
          <p:cNvPr id="7" name="Shape 5"/>
          <p:cNvSpPr/>
          <p:nvPr/>
        </p:nvSpPr>
        <p:spPr>
          <a:xfrm>
            <a:off x="5394960" y="1828800"/>
            <a:ext cx="-1280160" cy="365760"/>
          </a:xfrm>
          <a:prstGeom prst="line">
            <a:avLst/>
          </a:prstGeom>
          <a:noFill/>
          <a:ln w="28575">
            <a:solidFill>
              <a:srgbClr val="9AA5B8"/>
            </a:solidFill>
            <a:prstDash val="solid"/>
            <a:tailEnd type="triangle"/>
          </a:ln>
        </p:spPr>
      </p:sp>
      <p:sp>
        <p:nvSpPr>
          <p:cNvPr id="8" name="Shape 6"/>
          <p:cNvSpPr/>
          <p:nvPr/>
        </p:nvSpPr>
        <p:spPr>
          <a:xfrm>
            <a:off x="6720840" y="1828800"/>
            <a:ext cx="1280160" cy="365760"/>
          </a:xfrm>
          <a:prstGeom prst="line">
            <a:avLst/>
          </a:prstGeom>
          <a:noFill/>
          <a:ln w="28575">
            <a:solidFill>
              <a:srgbClr val="E8623C"/>
            </a:solidFill>
            <a:prstDash val="solid"/>
            <a:tailEnd type="triangle"/>
          </a:ln>
        </p:spPr>
      </p:sp>
      <p:sp>
        <p:nvSpPr>
          <p:cNvPr id="9" name="Shape 7"/>
          <p:cNvSpPr/>
          <p:nvPr/>
        </p:nvSpPr>
        <p:spPr>
          <a:xfrm>
            <a:off x="2926080" y="2194560"/>
            <a:ext cx="2377440" cy="548640"/>
          </a:xfrm>
          <a:prstGeom prst="roundRect">
            <a:avLst>
              <a:gd name="adj" fmla="val 11667"/>
            </a:avLst>
          </a:prstGeom>
          <a:solidFill>
            <a:srgbClr val="E9EAEE"/>
          </a:solidFill>
          <a:ln w="15875">
            <a:solidFill>
              <a:srgbClr val="D3DAEA"/>
            </a:solidFill>
            <a:prstDash val="solid"/>
          </a:ln>
        </p:spPr>
      </p:sp>
      <p:sp>
        <p:nvSpPr>
          <p:cNvPr id="10" name="Text 8"/>
          <p:cNvSpPr txBox="1"/>
          <p:nvPr/>
        </p:nvSpPr>
        <p:spPr>
          <a:xfrm>
            <a:off x="2971800" y="2194560"/>
            <a:ext cx="2286000" cy="548640"/>
          </a:xfrm>
          <a:prstGeom prst="rect">
            <a:avLst/>
          </a:prstGeom>
          <a:noFill/>
          <a:ln/>
        </p:spPr>
        <p:txBody>
          <a:bodyPr wrap="square" lIns="12700" tIns="12700" rIns="12700" bIns="12700" rtlCol="0" anchor="ctr"/>
          <a:lstStyle/>
          <a:p>
            <a:pPr algn="ctr" indent="0" marL="0">
              <a:buNone/>
            </a:pPr>
            <a:r>
              <a:rPr lang="en-US" sz="1100" dirty="0">
                <a:solidFill>
                  <a:srgbClr val="5B6B87"/>
                </a:solidFill>
                <a:latin typeface="Calibri" pitchFamily="34" charset="0"/>
                <a:ea typeface="Calibri" pitchFamily="34" charset="-122"/>
                <a:cs typeface="Calibri" pitchFamily="34" charset="-120"/>
              </a:rPr>
              <a:t>✕ 弱い反論</a:t>
            </a:r>
            <a:endParaRPr lang="en-US" sz="1100" dirty="0"/>
          </a:p>
        </p:txBody>
      </p:sp>
      <p:sp>
        <p:nvSpPr>
          <p:cNvPr id="11" name="Shape 9"/>
          <p:cNvSpPr/>
          <p:nvPr/>
        </p:nvSpPr>
        <p:spPr>
          <a:xfrm>
            <a:off x="6903720" y="2194560"/>
            <a:ext cx="2377440" cy="548640"/>
          </a:xfrm>
          <a:prstGeom prst="roundRect">
            <a:avLst>
              <a:gd name="adj" fmla="val 11667"/>
            </a:avLst>
          </a:prstGeom>
          <a:solidFill>
            <a:srgbClr val="FBD9CC"/>
          </a:solidFill>
          <a:ln w="15875">
            <a:solidFill>
              <a:srgbClr val="D3DAEA"/>
            </a:solidFill>
            <a:prstDash val="solid"/>
          </a:ln>
        </p:spPr>
      </p:sp>
      <p:sp>
        <p:nvSpPr>
          <p:cNvPr id="12" name="Text 10"/>
          <p:cNvSpPr txBox="1"/>
          <p:nvPr/>
        </p:nvSpPr>
        <p:spPr>
          <a:xfrm>
            <a:off x="6949440" y="2194560"/>
            <a:ext cx="2286000" cy="548640"/>
          </a:xfrm>
          <a:prstGeom prst="rect">
            <a:avLst/>
          </a:prstGeom>
          <a:noFill/>
          <a:ln/>
        </p:spPr>
        <p:txBody>
          <a:bodyPr wrap="square" lIns="12700" tIns="12700" rIns="12700" bIns="1270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 最強の反論</a:t>
            </a:r>
            <a:endParaRPr lang="en-US" sz="1100" dirty="0"/>
          </a:p>
        </p:txBody>
      </p:sp>
      <p:sp>
        <p:nvSpPr>
          <p:cNvPr id="13" name="Shape 11"/>
          <p:cNvSpPr/>
          <p:nvPr/>
        </p:nvSpPr>
        <p:spPr>
          <a:xfrm>
            <a:off x="914400" y="3017520"/>
            <a:ext cx="10332720" cy="530352"/>
          </a:xfrm>
          <a:prstGeom prst="roundRect">
            <a:avLst>
              <a:gd name="adj" fmla="val 12069"/>
            </a:avLst>
          </a:prstGeom>
          <a:solidFill>
            <a:srgbClr val="FFFFFF"/>
          </a:solidFill>
          <a:ln w="15875">
            <a:solidFill>
              <a:srgbClr val="E8623C"/>
            </a:solidFill>
            <a:prstDash val="solid"/>
          </a:ln>
        </p:spPr>
      </p:sp>
      <p:sp>
        <p:nvSpPr>
          <p:cNvPr id="14" name="Text 12"/>
          <p:cNvSpPr txBox="1"/>
          <p:nvPr/>
        </p:nvSpPr>
        <p:spPr>
          <a:xfrm>
            <a:off x="1143000" y="3017520"/>
            <a:ext cx="9921240" cy="530352"/>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「私の主張に対して、最も強い反論をしてください。」</a:t>
            </a:r>
            <a:endParaRPr lang="en-US" sz="1200" dirty="0"/>
          </a:p>
        </p:txBody>
      </p:sp>
      <p:sp>
        <p:nvSpPr>
          <p:cNvPr id="15" name="Shape 13"/>
          <p:cNvSpPr/>
          <p:nvPr/>
        </p:nvSpPr>
        <p:spPr>
          <a:xfrm>
            <a:off x="914400" y="3657600"/>
            <a:ext cx="10332720" cy="530352"/>
          </a:xfrm>
          <a:prstGeom prst="roundRect">
            <a:avLst>
              <a:gd name="adj" fmla="val 12069"/>
            </a:avLst>
          </a:prstGeom>
          <a:solidFill>
            <a:srgbClr val="FFFFFF"/>
          </a:solidFill>
          <a:ln w="15875">
            <a:solidFill>
              <a:srgbClr val="E8623C"/>
            </a:solidFill>
            <a:prstDash val="solid"/>
          </a:ln>
        </p:spPr>
      </p:sp>
      <p:sp>
        <p:nvSpPr>
          <p:cNvPr id="16" name="Text 14"/>
          <p:cNvSpPr txBox="1"/>
          <p:nvPr/>
        </p:nvSpPr>
        <p:spPr>
          <a:xfrm>
            <a:off x="1143000" y="3657600"/>
            <a:ext cx="9921240" cy="530352"/>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「私の主張をできるだけ好意的に解釈した上で、それでも成立する最も強い反論を構築してください。」</a:t>
            </a:r>
            <a:endParaRPr lang="en-US" sz="1200" dirty="0"/>
          </a:p>
        </p:txBody>
      </p:sp>
      <p:sp>
        <p:nvSpPr>
          <p:cNvPr id="17" name="Shape 15"/>
          <p:cNvSpPr/>
          <p:nvPr/>
        </p:nvSpPr>
        <p:spPr>
          <a:xfrm>
            <a:off x="914400" y="4297680"/>
            <a:ext cx="10332720" cy="530352"/>
          </a:xfrm>
          <a:prstGeom prst="roundRect">
            <a:avLst>
              <a:gd name="adj" fmla="val 12069"/>
            </a:avLst>
          </a:prstGeom>
          <a:solidFill>
            <a:srgbClr val="FFFFFF"/>
          </a:solidFill>
          <a:ln w="15875">
            <a:solidFill>
              <a:srgbClr val="E8623C"/>
            </a:solidFill>
            <a:prstDash val="solid"/>
          </a:ln>
        </p:spPr>
      </p:sp>
      <p:sp>
        <p:nvSpPr>
          <p:cNvPr id="18" name="Text 16"/>
          <p:cNvSpPr txBox="1"/>
          <p:nvPr/>
        </p:nvSpPr>
        <p:spPr>
          <a:xfrm>
            <a:off x="1143000" y="4297680"/>
            <a:ext cx="9921240" cy="530352"/>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「私の主張について、論理的な弱点、暗黙の前提、反証可能な点を指摘してください。」</a:t>
            </a:r>
            <a:endParaRPr lang="en-US" sz="1200" dirty="0"/>
          </a:p>
        </p:txBody>
      </p:sp>
      <p:sp>
        <p:nvSpPr>
          <p:cNvPr id="19" name="Shape 17"/>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0" name="Shape 18"/>
          <p:cNvSpPr/>
          <p:nvPr/>
        </p:nvSpPr>
        <p:spPr>
          <a:xfrm>
            <a:off x="548640" y="5870448"/>
            <a:ext cx="54864" cy="713232"/>
          </a:xfrm>
          <a:prstGeom prst="rect">
            <a:avLst/>
          </a:prstGeom>
          <a:solidFill>
            <a:srgbClr val="E8623C"/>
          </a:solidFill>
          <a:ln/>
        </p:spPr>
      </p:sp>
      <p:sp>
        <p:nvSpPr>
          <p:cNvPr id="21" name="Text 19"/>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このセクションは概念編パターン①の実践版です。特に2番目の「好意的に解釈した上での反論（スチールマン）」が最も重要です。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4 自分の論理にも同じ基準を適用する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AIだけを検証し、自分は検証しないのはフェアではない</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5 / 13</a:t>
            </a:r>
            <a:endParaRPr lang="en-US" sz="900" dirty="0"/>
          </a:p>
        </p:txBody>
      </p:sp>
      <p:sp>
        <p:nvSpPr>
          <p:cNvPr id="5" name="Shape 3"/>
          <p:cNvSpPr/>
          <p:nvPr/>
        </p:nvSpPr>
        <p:spPr>
          <a:xfrm>
            <a:off x="3054096" y="1728216"/>
            <a:ext cx="475488" cy="402336"/>
          </a:xfrm>
          <a:prstGeom prst="triangle">
            <a:avLst/>
          </a:prstGeom>
          <a:solidFill>
            <a:srgbClr val="1E2761"/>
          </a:solidFill>
          <a:ln/>
        </p:spPr>
      </p:sp>
      <p:sp>
        <p:nvSpPr>
          <p:cNvPr id="6" name="Shape 4"/>
          <p:cNvSpPr/>
          <p:nvPr/>
        </p:nvSpPr>
        <p:spPr>
          <a:xfrm>
            <a:off x="1463040" y="1691640"/>
            <a:ext cx="3657600" cy="0"/>
          </a:xfrm>
          <a:prstGeom prst="line">
            <a:avLst/>
          </a:prstGeom>
          <a:noFill/>
          <a:ln w="31750">
            <a:solidFill>
              <a:srgbClr val="1E2761"/>
            </a:solidFill>
            <a:prstDash val="solid"/>
          </a:ln>
        </p:spPr>
      </p:sp>
      <p:sp>
        <p:nvSpPr>
          <p:cNvPr id="7" name="Shape 5"/>
          <p:cNvSpPr/>
          <p:nvPr/>
        </p:nvSpPr>
        <p:spPr>
          <a:xfrm>
            <a:off x="1463040" y="1691640"/>
            <a:ext cx="0" cy="365760"/>
          </a:xfrm>
          <a:prstGeom prst="line">
            <a:avLst/>
          </a:prstGeom>
          <a:noFill/>
          <a:ln w="15875">
            <a:solidFill>
              <a:srgbClr val="1E2761"/>
            </a:solidFill>
            <a:prstDash val="solid"/>
          </a:ln>
        </p:spPr>
      </p:sp>
      <p:sp>
        <p:nvSpPr>
          <p:cNvPr id="8" name="Shape 6"/>
          <p:cNvSpPr/>
          <p:nvPr/>
        </p:nvSpPr>
        <p:spPr>
          <a:xfrm>
            <a:off x="5120640" y="1691640"/>
            <a:ext cx="0" cy="365760"/>
          </a:xfrm>
          <a:prstGeom prst="line">
            <a:avLst/>
          </a:prstGeom>
          <a:noFill/>
          <a:ln w="15875">
            <a:solidFill>
              <a:srgbClr val="1E2761"/>
            </a:solidFill>
            <a:prstDash val="solid"/>
          </a:ln>
        </p:spPr>
      </p:sp>
      <p:sp>
        <p:nvSpPr>
          <p:cNvPr id="9" name="Shape 7"/>
          <p:cNvSpPr/>
          <p:nvPr/>
        </p:nvSpPr>
        <p:spPr>
          <a:xfrm>
            <a:off x="731520" y="2057400"/>
            <a:ext cx="1463040" cy="457200"/>
          </a:xfrm>
          <a:prstGeom prst="roundRect">
            <a:avLst>
              <a:gd name="adj" fmla="val 14000"/>
            </a:avLst>
          </a:prstGeom>
          <a:solidFill>
            <a:srgbClr val="CADCFC"/>
          </a:solidFill>
          <a:ln w="15875">
            <a:solidFill>
              <a:srgbClr val="D3DAEA"/>
            </a:solidFill>
            <a:prstDash val="solid"/>
          </a:ln>
        </p:spPr>
      </p:sp>
      <p:sp>
        <p:nvSpPr>
          <p:cNvPr id="10" name="Text 8"/>
          <p:cNvSpPr txBox="1"/>
          <p:nvPr/>
        </p:nvSpPr>
        <p:spPr>
          <a:xfrm>
            <a:off x="777240" y="2057400"/>
            <a:ext cx="1371600" cy="457200"/>
          </a:xfrm>
          <a:prstGeom prst="rect">
            <a:avLst/>
          </a:prstGeom>
          <a:noFill/>
          <a:ln/>
        </p:spPr>
        <p:txBody>
          <a:bodyPr wrap="square" lIns="12700" tIns="12700" rIns="12700" bIns="1270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自分の論理</a:t>
            </a:r>
            <a:endParaRPr lang="en-US" sz="1050" dirty="0"/>
          </a:p>
        </p:txBody>
      </p:sp>
      <p:sp>
        <p:nvSpPr>
          <p:cNvPr id="11" name="Shape 9"/>
          <p:cNvSpPr/>
          <p:nvPr/>
        </p:nvSpPr>
        <p:spPr>
          <a:xfrm>
            <a:off x="4389120" y="2057400"/>
            <a:ext cx="1463040" cy="457200"/>
          </a:xfrm>
          <a:prstGeom prst="roundRect">
            <a:avLst>
              <a:gd name="adj" fmla="val 14000"/>
            </a:avLst>
          </a:prstGeom>
          <a:solidFill>
            <a:srgbClr val="F2F4F9"/>
          </a:solidFill>
          <a:ln w="15875">
            <a:solidFill>
              <a:srgbClr val="D3DAEA"/>
            </a:solidFill>
            <a:prstDash val="solid"/>
          </a:ln>
        </p:spPr>
      </p:sp>
      <p:sp>
        <p:nvSpPr>
          <p:cNvPr id="12" name="Text 10"/>
          <p:cNvSpPr txBox="1"/>
          <p:nvPr/>
        </p:nvSpPr>
        <p:spPr>
          <a:xfrm>
            <a:off x="4434840" y="2057400"/>
            <a:ext cx="1371600" cy="457200"/>
          </a:xfrm>
          <a:prstGeom prst="rect">
            <a:avLst/>
          </a:prstGeom>
          <a:noFill/>
          <a:ln/>
        </p:spPr>
        <p:txBody>
          <a:bodyPr wrap="square" lIns="12700" tIns="12700" rIns="12700" bIns="1270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AIの論理</a:t>
            </a:r>
            <a:endParaRPr lang="en-US" sz="1050" dirty="0"/>
          </a:p>
        </p:txBody>
      </p:sp>
      <p:sp>
        <p:nvSpPr>
          <p:cNvPr id="13" name="Text 11"/>
          <p:cNvSpPr txBox="1"/>
          <p:nvPr/>
        </p:nvSpPr>
        <p:spPr>
          <a:xfrm>
            <a:off x="2286000" y="1234440"/>
            <a:ext cx="2011680" cy="274320"/>
          </a:xfrm>
          <a:prstGeom prst="rect">
            <a:avLst/>
          </a:prstGeom>
          <a:noFill/>
          <a:ln/>
        </p:spPr>
        <p:txBody>
          <a:bodyPr wrap="square" lIns="0" tIns="0" rIns="0" bIns="0" rtlCol="0" anchor="t"/>
          <a:lstStyle/>
          <a:p>
            <a:pPr algn="ctr" indent="0" marL="0">
              <a:buNone/>
            </a:pPr>
            <a:r>
              <a:rPr lang="en-US" sz="1100" i="1" dirty="0">
                <a:solidFill>
                  <a:srgbClr val="5B6B87"/>
                </a:solidFill>
                <a:latin typeface="Calibri" pitchFamily="34" charset="0"/>
                <a:ea typeface="Calibri" pitchFamily="34" charset="-122"/>
                <a:cs typeface="Calibri" pitchFamily="34" charset="-120"/>
              </a:rPr>
              <a:t>同じ基準</a:t>
            </a:r>
            <a:endParaRPr lang="en-US" sz="1100" dirty="0"/>
          </a:p>
        </p:txBody>
      </p:sp>
      <p:sp>
        <p:nvSpPr>
          <p:cNvPr id="14" name="Shape 12"/>
          <p:cNvSpPr/>
          <p:nvPr/>
        </p:nvSpPr>
        <p:spPr>
          <a:xfrm>
            <a:off x="914400" y="3081528"/>
            <a:ext cx="10332720" cy="475488"/>
          </a:xfrm>
          <a:prstGeom prst="roundRect">
            <a:avLst>
              <a:gd name="adj" fmla="val 13462"/>
            </a:avLst>
          </a:prstGeom>
          <a:solidFill>
            <a:srgbClr val="FFFFFF"/>
          </a:solidFill>
          <a:ln w="15875">
            <a:solidFill>
              <a:srgbClr val="E8623C"/>
            </a:solidFill>
            <a:prstDash val="solid"/>
          </a:ln>
        </p:spPr>
      </p:sp>
      <p:sp>
        <p:nvSpPr>
          <p:cNvPr id="15" name="Text 13"/>
          <p:cNvSpPr txBox="1"/>
          <p:nvPr/>
        </p:nvSpPr>
        <p:spPr>
          <a:xfrm>
            <a:off x="1143000" y="3081528"/>
            <a:ext cx="9921240" cy="475488"/>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「私の主張にも同じ基準を適用して、弱点を指摘してください。」</a:t>
            </a:r>
            <a:endParaRPr lang="en-US" sz="1150" dirty="0"/>
          </a:p>
        </p:txBody>
      </p:sp>
      <p:sp>
        <p:nvSpPr>
          <p:cNvPr id="16" name="Shape 14"/>
          <p:cNvSpPr/>
          <p:nvPr/>
        </p:nvSpPr>
        <p:spPr>
          <a:xfrm>
            <a:off x="1005840" y="2935224"/>
            <a:ext cx="1188720" cy="292608"/>
          </a:xfrm>
          <a:prstGeom prst="roundRect">
            <a:avLst>
              <a:gd name="adj" fmla="val 50000"/>
            </a:avLst>
          </a:prstGeom>
          <a:solidFill>
            <a:srgbClr val="1E2761"/>
          </a:solidFill>
          <a:ln/>
        </p:spPr>
      </p:sp>
      <p:sp>
        <p:nvSpPr>
          <p:cNvPr id="17" name="Text 15"/>
          <p:cNvSpPr txBox="1"/>
          <p:nvPr/>
        </p:nvSpPr>
        <p:spPr>
          <a:xfrm>
            <a:off x="1005840" y="2935224"/>
            <a:ext cx="11887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適用</a:t>
            </a:r>
            <a:endParaRPr lang="en-US" sz="1050" dirty="0"/>
          </a:p>
        </p:txBody>
      </p:sp>
      <p:sp>
        <p:nvSpPr>
          <p:cNvPr id="18" name="Shape 16"/>
          <p:cNvSpPr/>
          <p:nvPr/>
        </p:nvSpPr>
        <p:spPr>
          <a:xfrm>
            <a:off x="914400" y="3703320"/>
            <a:ext cx="10332720" cy="475488"/>
          </a:xfrm>
          <a:prstGeom prst="roundRect">
            <a:avLst>
              <a:gd name="adj" fmla="val 13462"/>
            </a:avLst>
          </a:prstGeom>
          <a:solidFill>
            <a:srgbClr val="FFFFFF"/>
          </a:solidFill>
          <a:ln w="15875">
            <a:solidFill>
              <a:srgbClr val="E8623C"/>
            </a:solidFill>
            <a:prstDash val="solid"/>
          </a:ln>
        </p:spPr>
      </p:sp>
      <p:sp>
        <p:nvSpPr>
          <p:cNvPr id="19" name="Text 17"/>
          <p:cNvSpPr txBox="1"/>
          <p:nvPr/>
        </p:nvSpPr>
        <p:spPr>
          <a:xfrm>
            <a:off x="1143000" y="3703320"/>
            <a:ext cx="9921240" cy="475488"/>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「反論の検証に使った基準を、私の主張にもそのまま当てはめてください。」</a:t>
            </a:r>
            <a:endParaRPr lang="en-US" sz="1150" dirty="0"/>
          </a:p>
        </p:txBody>
      </p:sp>
      <p:sp>
        <p:nvSpPr>
          <p:cNvPr id="20" name="Shape 18"/>
          <p:cNvSpPr/>
          <p:nvPr/>
        </p:nvSpPr>
        <p:spPr>
          <a:xfrm>
            <a:off x="1005840" y="3557016"/>
            <a:ext cx="1188720" cy="292608"/>
          </a:xfrm>
          <a:prstGeom prst="roundRect">
            <a:avLst>
              <a:gd name="adj" fmla="val 50000"/>
            </a:avLst>
          </a:prstGeom>
          <a:solidFill>
            <a:srgbClr val="1E2761"/>
          </a:solidFill>
          <a:ln/>
        </p:spPr>
      </p:sp>
      <p:sp>
        <p:nvSpPr>
          <p:cNvPr id="21" name="Text 19"/>
          <p:cNvSpPr txBox="1"/>
          <p:nvPr/>
        </p:nvSpPr>
        <p:spPr>
          <a:xfrm>
            <a:off x="1005840" y="3557016"/>
            <a:ext cx="11887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基準統一</a:t>
            </a:r>
            <a:endParaRPr lang="en-US" sz="1050" dirty="0"/>
          </a:p>
        </p:txBody>
      </p:sp>
      <p:sp>
        <p:nvSpPr>
          <p:cNvPr id="22" name="Shape 20"/>
          <p:cNvSpPr/>
          <p:nvPr/>
        </p:nvSpPr>
        <p:spPr>
          <a:xfrm>
            <a:off x="914400" y="4325112"/>
            <a:ext cx="10332720" cy="475488"/>
          </a:xfrm>
          <a:prstGeom prst="roundRect">
            <a:avLst>
              <a:gd name="adj" fmla="val 13462"/>
            </a:avLst>
          </a:prstGeom>
          <a:solidFill>
            <a:srgbClr val="FFFFFF"/>
          </a:solidFill>
          <a:ln w="15875">
            <a:solidFill>
              <a:srgbClr val="E8623C"/>
            </a:solidFill>
            <a:prstDash val="solid"/>
          </a:ln>
        </p:spPr>
      </p:sp>
      <p:sp>
        <p:nvSpPr>
          <p:cNvPr id="23" name="Text 21"/>
          <p:cNvSpPr txBox="1"/>
          <p:nvPr/>
        </p:nvSpPr>
        <p:spPr>
          <a:xfrm>
            <a:off x="1143000" y="4325112"/>
            <a:ext cx="9921240" cy="475488"/>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「私とAI、双方の論理を同じ基準で評価してください。」</a:t>
            </a:r>
            <a:endParaRPr lang="en-US" sz="1150" dirty="0"/>
          </a:p>
        </p:txBody>
      </p:sp>
      <p:sp>
        <p:nvSpPr>
          <p:cNvPr id="24" name="Shape 22"/>
          <p:cNvSpPr/>
          <p:nvPr/>
        </p:nvSpPr>
        <p:spPr>
          <a:xfrm>
            <a:off x="1005840" y="4178808"/>
            <a:ext cx="1188720" cy="292608"/>
          </a:xfrm>
          <a:prstGeom prst="roundRect">
            <a:avLst>
              <a:gd name="adj" fmla="val 50000"/>
            </a:avLst>
          </a:prstGeom>
          <a:solidFill>
            <a:srgbClr val="1E2761"/>
          </a:solidFill>
          <a:ln/>
        </p:spPr>
      </p:sp>
      <p:sp>
        <p:nvSpPr>
          <p:cNvPr id="25" name="Text 23"/>
          <p:cNvSpPr txBox="1"/>
          <p:nvPr/>
        </p:nvSpPr>
        <p:spPr>
          <a:xfrm>
            <a:off x="1005840" y="4178808"/>
            <a:ext cx="11887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相互評価</a:t>
            </a:r>
            <a:endParaRPr lang="en-US" sz="1050" dirty="0"/>
          </a:p>
        </p:txBody>
      </p:sp>
      <p:sp>
        <p:nvSpPr>
          <p:cNvPr id="26" name="Shape 24"/>
          <p:cNvSpPr/>
          <p:nvPr/>
        </p:nvSpPr>
        <p:spPr>
          <a:xfrm>
            <a:off x="6492240" y="1371600"/>
            <a:ext cx="4754880" cy="777240"/>
          </a:xfrm>
          <a:prstGeom prst="roundRect">
            <a:avLst>
              <a:gd name="adj" fmla="val 8235"/>
            </a:avLst>
          </a:prstGeom>
          <a:solidFill>
            <a:srgbClr val="F2F4F9"/>
          </a:solidFill>
          <a:ln w="15875">
            <a:solidFill>
              <a:srgbClr val="1E2761"/>
            </a:solidFill>
            <a:prstDash val="solid"/>
          </a:ln>
        </p:spPr>
      </p:sp>
      <p:sp>
        <p:nvSpPr>
          <p:cNvPr id="27" name="Text 25"/>
          <p:cNvSpPr txBox="1"/>
          <p:nvPr/>
        </p:nvSpPr>
        <p:spPr>
          <a:xfrm>
            <a:off x="6720840" y="1371600"/>
            <a:ext cx="4343400" cy="777240"/>
          </a:xfrm>
          <a:prstGeom prst="rect">
            <a:avLst/>
          </a:prstGeom>
          <a:noFill/>
          <a:ln/>
        </p:spPr>
        <p:txBody>
          <a:bodyPr wrap="square" lIns="25400" tIns="25400" rIns="25400" bIns="25400" rtlCol="0" anchor="ctr"/>
          <a:lstStyle/>
          <a:p>
            <a:pPr algn="l" indent="0" marL="0">
              <a:buNone/>
            </a:pPr>
            <a:r>
              <a:rPr lang="en-US" sz="1100" i="1" dirty="0">
                <a:solidFill>
                  <a:srgbClr val="1E2761"/>
                </a:solidFill>
                <a:latin typeface="Calibri" pitchFamily="34" charset="0"/>
                <a:ea typeface="Calibri" pitchFamily="34" charset="-122"/>
                <a:cs typeface="Calibri" pitchFamily="34" charset="-120"/>
              </a:rPr>
              <a:t>「自分が勝つこと」ではなく</a:t>
            </a:r>
            <a:endParaRPr lang="en-US" sz="1100" dirty="0"/>
          </a:p>
          <a:p>
            <a:pPr algn="l" indent="0" marL="0">
              <a:buNone/>
            </a:pPr>
            <a:r>
              <a:rPr lang="en-US" sz="1100" i="1" dirty="0">
                <a:solidFill>
                  <a:srgbClr val="1E2761"/>
                </a:solidFill>
                <a:latin typeface="Calibri" pitchFamily="34" charset="0"/>
                <a:ea typeface="Calibri" pitchFamily="34" charset="-122"/>
                <a:cs typeface="Calibri" pitchFamily="34" charset="-120"/>
              </a:rPr>
              <a:t>「より妥当な説明に近づくこと」が目的です。</a:t>
            </a:r>
            <a:endParaRPr lang="en-US" sz="1100" dirty="0"/>
          </a:p>
        </p:txBody>
      </p:sp>
      <p:sp>
        <p:nvSpPr>
          <p:cNvPr id="28" name="Shape 26"/>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9" name="Shape 27"/>
          <p:cNvSpPr/>
          <p:nvPr/>
        </p:nvSpPr>
        <p:spPr>
          <a:xfrm>
            <a:off x="548640" y="5870448"/>
            <a:ext cx="54864" cy="713232"/>
          </a:xfrm>
          <a:prstGeom prst="rect">
            <a:avLst/>
          </a:prstGeom>
          <a:solidFill>
            <a:srgbClr val="E8623C"/>
          </a:solidFill>
          <a:ln/>
        </p:spPr>
      </p:sp>
      <p:sp>
        <p:nvSpPr>
          <p:cNvPr id="30" name="Text 28"/>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壁打ちが「議論に勝つゲーム」になってしまうと機能しなくなります。反論・検証を一通り終えた仕上げとして、自分の主張も等しく検証対象にしましょう。これは概念編パターン⑩の実践版です。</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5 論理を検証する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結論の正しさではなく、そこに至る道筋の正しさを確認する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6 / 13</a:t>
            </a:r>
            <a:endParaRPr lang="en-US" sz="900" dirty="0"/>
          </a:p>
        </p:txBody>
      </p:sp>
      <p:sp>
        <p:nvSpPr>
          <p:cNvPr id="5" name="Shape 3"/>
          <p:cNvSpPr/>
          <p:nvPr/>
        </p:nvSpPr>
        <p:spPr>
          <a:xfrm>
            <a:off x="2011680" y="1371600"/>
            <a:ext cx="1463040" cy="347472"/>
          </a:xfrm>
          <a:prstGeom prst="roundRect">
            <a:avLst>
              <a:gd name="adj" fmla="val 18421"/>
            </a:avLst>
          </a:prstGeom>
          <a:solidFill>
            <a:srgbClr val="CADCFC"/>
          </a:solidFill>
          <a:ln w="15875">
            <a:solidFill>
              <a:srgbClr val="D3DAEA"/>
            </a:solidFill>
            <a:prstDash val="solid"/>
          </a:ln>
        </p:spPr>
      </p:sp>
      <p:sp>
        <p:nvSpPr>
          <p:cNvPr id="6" name="Text 4"/>
          <p:cNvSpPr txBox="1"/>
          <p:nvPr/>
        </p:nvSpPr>
        <p:spPr>
          <a:xfrm>
            <a:off x="2057400" y="1371600"/>
            <a:ext cx="1371600" cy="347472"/>
          </a:xfrm>
          <a:prstGeom prst="rect">
            <a:avLst/>
          </a:prstGeom>
          <a:noFill/>
          <a:ln/>
        </p:spPr>
        <p:txBody>
          <a:bodyPr wrap="square" lIns="12700" tIns="12700" rIns="12700" bIns="1270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結論</a:t>
            </a:r>
            <a:endParaRPr lang="en-US" sz="1050" dirty="0"/>
          </a:p>
        </p:txBody>
      </p:sp>
      <p:sp>
        <p:nvSpPr>
          <p:cNvPr id="7" name="Shape 5"/>
          <p:cNvSpPr/>
          <p:nvPr/>
        </p:nvSpPr>
        <p:spPr>
          <a:xfrm>
            <a:off x="1737360" y="1773936"/>
            <a:ext cx="2011680" cy="347472"/>
          </a:xfrm>
          <a:prstGeom prst="roundRect">
            <a:avLst>
              <a:gd name="adj" fmla="val 18421"/>
            </a:avLst>
          </a:prstGeom>
          <a:solidFill>
            <a:srgbClr val="F2F4F9"/>
          </a:solidFill>
          <a:ln w="15875">
            <a:solidFill>
              <a:srgbClr val="D3DAEA"/>
            </a:solidFill>
            <a:prstDash val="solid"/>
          </a:ln>
        </p:spPr>
      </p:sp>
      <p:sp>
        <p:nvSpPr>
          <p:cNvPr id="8" name="Text 6"/>
          <p:cNvSpPr txBox="1"/>
          <p:nvPr/>
        </p:nvSpPr>
        <p:spPr>
          <a:xfrm>
            <a:off x="1783080" y="1773936"/>
            <a:ext cx="1920240" cy="347472"/>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推論</a:t>
            </a:r>
            <a:endParaRPr lang="en-US" sz="1050" dirty="0"/>
          </a:p>
        </p:txBody>
      </p:sp>
      <p:sp>
        <p:nvSpPr>
          <p:cNvPr id="9" name="Shape 7"/>
          <p:cNvSpPr/>
          <p:nvPr/>
        </p:nvSpPr>
        <p:spPr>
          <a:xfrm>
            <a:off x="1463040" y="2176272"/>
            <a:ext cx="2560320" cy="347472"/>
          </a:xfrm>
          <a:prstGeom prst="roundRect">
            <a:avLst>
              <a:gd name="adj" fmla="val 18421"/>
            </a:avLst>
          </a:prstGeom>
          <a:solidFill>
            <a:srgbClr val="F2F4F9"/>
          </a:solidFill>
          <a:ln w="15875">
            <a:solidFill>
              <a:srgbClr val="D3DAEA"/>
            </a:solidFill>
            <a:prstDash val="solid"/>
          </a:ln>
        </p:spPr>
      </p:sp>
      <p:sp>
        <p:nvSpPr>
          <p:cNvPr id="10" name="Text 8"/>
          <p:cNvSpPr txBox="1"/>
          <p:nvPr/>
        </p:nvSpPr>
        <p:spPr>
          <a:xfrm>
            <a:off x="1508760" y="2176272"/>
            <a:ext cx="2468880" cy="347472"/>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根拠</a:t>
            </a:r>
            <a:endParaRPr lang="en-US" sz="1050" dirty="0"/>
          </a:p>
        </p:txBody>
      </p:sp>
      <p:sp>
        <p:nvSpPr>
          <p:cNvPr id="11" name="Shape 9"/>
          <p:cNvSpPr/>
          <p:nvPr/>
        </p:nvSpPr>
        <p:spPr>
          <a:xfrm>
            <a:off x="1188720" y="2578608"/>
            <a:ext cx="3108960" cy="347472"/>
          </a:xfrm>
          <a:prstGeom prst="roundRect">
            <a:avLst>
              <a:gd name="adj" fmla="val 18421"/>
            </a:avLst>
          </a:prstGeom>
          <a:solidFill>
            <a:srgbClr val="F2F4F9"/>
          </a:solidFill>
          <a:ln w="15875">
            <a:solidFill>
              <a:srgbClr val="E8623C"/>
            </a:solidFill>
            <a:prstDash val="dash"/>
          </a:ln>
        </p:spPr>
      </p:sp>
      <p:sp>
        <p:nvSpPr>
          <p:cNvPr id="12" name="Text 10"/>
          <p:cNvSpPr txBox="1"/>
          <p:nvPr/>
        </p:nvSpPr>
        <p:spPr>
          <a:xfrm>
            <a:off x="1234440" y="2578608"/>
            <a:ext cx="3017520" cy="347472"/>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前提</a:t>
            </a:r>
            <a:endParaRPr lang="en-US" sz="1050" dirty="0"/>
          </a:p>
        </p:txBody>
      </p:sp>
      <p:sp>
        <p:nvSpPr>
          <p:cNvPr id="13" name="Shape 11"/>
          <p:cNvSpPr/>
          <p:nvPr/>
        </p:nvSpPr>
        <p:spPr>
          <a:xfrm>
            <a:off x="7315200" y="1463040"/>
            <a:ext cx="1097280" cy="411480"/>
          </a:xfrm>
          <a:prstGeom prst="roundRect">
            <a:avLst>
              <a:gd name="adj" fmla="val 15556"/>
            </a:avLst>
          </a:prstGeom>
          <a:solidFill>
            <a:srgbClr val="F2F4F9"/>
          </a:solidFill>
          <a:ln w="15875">
            <a:solidFill>
              <a:srgbClr val="D3DAEA"/>
            </a:solidFill>
            <a:prstDash val="solid"/>
          </a:ln>
        </p:spPr>
      </p:sp>
      <p:sp>
        <p:nvSpPr>
          <p:cNvPr id="14" name="Text 12"/>
          <p:cNvSpPr txBox="1"/>
          <p:nvPr/>
        </p:nvSpPr>
        <p:spPr>
          <a:xfrm>
            <a:off x="7360920" y="1463040"/>
            <a:ext cx="1005840" cy="411480"/>
          </a:xfrm>
          <a:prstGeom prst="rect">
            <a:avLst/>
          </a:prstGeom>
          <a:noFill/>
          <a:ln/>
        </p:spPr>
        <p:txBody>
          <a:bodyPr wrap="square" lIns="12700" tIns="12700" rIns="12700" bIns="1270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A</a:t>
            </a:r>
            <a:endParaRPr lang="en-US" sz="1100" dirty="0"/>
          </a:p>
        </p:txBody>
      </p:sp>
      <p:sp>
        <p:nvSpPr>
          <p:cNvPr id="15" name="Shape 13"/>
          <p:cNvSpPr/>
          <p:nvPr/>
        </p:nvSpPr>
        <p:spPr>
          <a:xfrm>
            <a:off x="8412480" y="1664208"/>
            <a:ext cx="274320" cy="0"/>
          </a:xfrm>
          <a:prstGeom prst="line">
            <a:avLst/>
          </a:prstGeom>
          <a:noFill/>
          <a:ln w="28575">
            <a:solidFill>
              <a:srgbClr val="1E2761"/>
            </a:solidFill>
            <a:prstDash val="solid"/>
            <a:tailEnd type="triangle"/>
          </a:ln>
        </p:spPr>
      </p:sp>
      <p:sp>
        <p:nvSpPr>
          <p:cNvPr id="16" name="Shape 14"/>
          <p:cNvSpPr/>
          <p:nvPr/>
        </p:nvSpPr>
        <p:spPr>
          <a:xfrm>
            <a:off x="8686800" y="1463040"/>
            <a:ext cx="1097280" cy="411480"/>
          </a:xfrm>
          <a:prstGeom prst="roundRect">
            <a:avLst>
              <a:gd name="adj" fmla="val 15556"/>
            </a:avLst>
          </a:prstGeom>
          <a:solidFill>
            <a:srgbClr val="FBD9CC"/>
          </a:solidFill>
          <a:ln w="15875">
            <a:solidFill>
              <a:srgbClr val="D3DAEA"/>
            </a:solidFill>
            <a:prstDash val="solid"/>
          </a:ln>
        </p:spPr>
      </p:sp>
      <p:sp>
        <p:nvSpPr>
          <p:cNvPr id="17" name="Text 15"/>
          <p:cNvSpPr txBox="1"/>
          <p:nvPr/>
        </p:nvSpPr>
        <p:spPr>
          <a:xfrm>
            <a:off x="8732520" y="1463040"/>
            <a:ext cx="1005840" cy="411480"/>
          </a:xfrm>
          <a:prstGeom prst="rect">
            <a:avLst/>
          </a:prstGeom>
          <a:noFill/>
          <a:ln/>
        </p:spPr>
        <p:txBody>
          <a:bodyPr wrap="square" lIns="12700" tIns="12700" rIns="12700" bIns="1270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9784080" y="1664208"/>
            <a:ext cx="274320" cy="0"/>
          </a:xfrm>
          <a:prstGeom prst="line">
            <a:avLst/>
          </a:prstGeom>
          <a:noFill/>
          <a:ln w="28575">
            <a:solidFill>
              <a:srgbClr val="1E2761"/>
            </a:solidFill>
            <a:prstDash val="solid"/>
            <a:tailEnd type="triangle"/>
          </a:ln>
        </p:spPr>
      </p:sp>
      <p:sp>
        <p:nvSpPr>
          <p:cNvPr id="19" name="Shape 17"/>
          <p:cNvSpPr/>
          <p:nvPr/>
        </p:nvSpPr>
        <p:spPr>
          <a:xfrm>
            <a:off x="10058400" y="1463040"/>
            <a:ext cx="1097280" cy="411480"/>
          </a:xfrm>
          <a:prstGeom prst="roundRect">
            <a:avLst>
              <a:gd name="adj" fmla="val 15556"/>
            </a:avLst>
          </a:prstGeom>
          <a:solidFill>
            <a:srgbClr val="F2F4F9"/>
          </a:solidFill>
          <a:ln w="15875">
            <a:solidFill>
              <a:srgbClr val="D3DAEA"/>
            </a:solidFill>
            <a:prstDash val="solid"/>
          </a:ln>
        </p:spPr>
      </p:sp>
      <p:sp>
        <p:nvSpPr>
          <p:cNvPr id="20" name="Text 18"/>
          <p:cNvSpPr txBox="1"/>
          <p:nvPr/>
        </p:nvSpPr>
        <p:spPr>
          <a:xfrm>
            <a:off x="10104120" y="1463040"/>
            <a:ext cx="1005840" cy="411480"/>
          </a:xfrm>
          <a:prstGeom prst="rect">
            <a:avLst/>
          </a:prstGeom>
          <a:noFill/>
          <a:ln/>
        </p:spPr>
        <p:txBody>
          <a:bodyPr wrap="square" lIns="12700" tIns="12700" rIns="12700" bIns="1270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B</a:t>
            </a:r>
            <a:endParaRPr lang="en-US" sz="1100" dirty="0"/>
          </a:p>
        </p:txBody>
      </p:sp>
      <p:sp>
        <p:nvSpPr>
          <p:cNvPr id="21" name="Text 19"/>
          <p:cNvSpPr txBox="1"/>
          <p:nvPr/>
        </p:nvSpPr>
        <p:spPr>
          <a:xfrm>
            <a:off x="6949440" y="2011680"/>
            <a:ext cx="3657600" cy="274320"/>
          </a:xfrm>
          <a:prstGeom prst="rect">
            <a:avLst/>
          </a:prstGeom>
          <a:noFill/>
          <a:ln/>
        </p:spPr>
        <p:txBody>
          <a:bodyPr wrap="square" lIns="0" tIns="0" rIns="0" bIns="0" rtlCol="0" anchor="t"/>
          <a:lstStyle/>
          <a:p>
            <a:pPr algn="ctr" indent="0" marL="0">
              <a:buNone/>
            </a:pPr>
            <a:r>
              <a:rPr lang="en-US" sz="1000" i="1" dirty="0">
                <a:solidFill>
                  <a:srgbClr val="5B6B87"/>
                </a:solidFill>
                <a:latin typeface="Calibri" pitchFamily="34" charset="0"/>
                <a:ea typeface="Calibri" pitchFamily="34" charset="-122"/>
                <a:cs typeface="Calibri" pitchFamily="34" charset="-120"/>
              </a:rPr>
              <a:t>推論を一段ずつ確認する</a:t>
            </a:r>
            <a:endParaRPr lang="en-US" sz="1000" dirty="0"/>
          </a:p>
        </p:txBody>
      </p:sp>
      <p:sp>
        <p:nvSpPr>
          <p:cNvPr id="22" name="Shape 20"/>
          <p:cNvSpPr/>
          <p:nvPr/>
        </p:nvSpPr>
        <p:spPr>
          <a:xfrm>
            <a:off x="914400" y="3017520"/>
            <a:ext cx="10332720" cy="475488"/>
          </a:xfrm>
          <a:prstGeom prst="roundRect">
            <a:avLst>
              <a:gd name="adj" fmla="val 13462"/>
            </a:avLst>
          </a:prstGeom>
          <a:solidFill>
            <a:srgbClr val="FFFFFF"/>
          </a:solidFill>
          <a:ln w="15875">
            <a:solidFill>
              <a:srgbClr val="E8623C"/>
            </a:solidFill>
            <a:prstDash val="solid"/>
          </a:ln>
        </p:spPr>
      </p:sp>
      <p:sp>
        <p:nvSpPr>
          <p:cNvPr id="23" name="Text 21"/>
          <p:cNvSpPr txBox="1"/>
          <p:nvPr/>
        </p:nvSpPr>
        <p:spPr>
          <a:xfrm>
            <a:off x="1143000" y="3017520"/>
            <a:ext cx="9921240" cy="475488"/>
          </a:xfrm>
          <a:prstGeom prst="rect">
            <a:avLst/>
          </a:prstGeom>
          <a:noFill/>
          <a:ln/>
        </p:spPr>
        <p:txBody>
          <a:bodyPr wrap="square" lIns="25400" tIns="25400" rIns="25400" bIns="25400" rtlCol="0" anchor="ctr"/>
          <a:lstStyle/>
          <a:p>
            <a:pPr algn="l" indent="0" marL="0">
              <a:buNone/>
            </a:pPr>
            <a:r>
              <a:rPr lang="en-US" sz="1050" i="1" dirty="0">
                <a:solidFill>
                  <a:srgbClr val="1E2761"/>
                </a:solidFill>
                <a:latin typeface="Calibri" pitchFamily="34" charset="0"/>
                <a:ea typeface="Calibri" pitchFamily="34" charset="-122"/>
                <a:cs typeface="Calibri" pitchFamily="34" charset="-120"/>
              </a:rPr>
              <a:t>「今の反論が成立するために必要な前提をすべて列挙してください。」</a:t>
            </a:r>
            <a:endParaRPr lang="en-US" sz="1050" dirty="0"/>
          </a:p>
        </p:txBody>
      </p:sp>
      <p:sp>
        <p:nvSpPr>
          <p:cNvPr id="24" name="Shape 22"/>
          <p:cNvSpPr/>
          <p:nvPr/>
        </p:nvSpPr>
        <p:spPr>
          <a:xfrm>
            <a:off x="914400" y="3593592"/>
            <a:ext cx="10332720" cy="475488"/>
          </a:xfrm>
          <a:prstGeom prst="roundRect">
            <a:avLst>
              <a:gd name="adj" fmla="val 13462"/>
            </a:avLst>
          </a:prstGeom>
          <a:solidFill>
            <a:srgbClr val="FFFFFF"/>
          </a:solidFill>
          <a:ln w="15875">
            <a:solidFill>
              <a:srgbClr val="E8623C"/>
            </a:solidFill>
            <a:prstDash val="solid"/>
          </a:ln>
        </p:spPr>
      </p:sp>
      <p:sp>
        <p:nvSpPr>
          <p:cNvPr id="25" name="Text 23"/>
          <p:cNvSpPr txBox="1"/>
          <p:nvPr/>
        </p:nvSpPr>
        <p:spPr>
          <a:xfrm>
            <a:off x="1143000" y="3593592"/>
            <a:ext cx="9921240" cy="475488"/>
          </a:xfrm>
          <a:prstGeom prst="rect">
            <a:avLst/>
          </a:prstGeom>
          <a:noFill/>
          <a:ln/>
        </p:spPr>
        <p:txBody>
          <a:bodyPr wrap="square" lIns="25400" tIns="25400" rIns="25400" bIns="25400" rtlCol="0" anchor="ctr"/>
          <a:lstStyle/>
          <a:p>
            <a:pPr algn="l" indent="0" marL="0">
              <a:buNone/>
            </a:pPr>
            <a:r>
              <a:rPr lang="en-US" sz="1050" i="1" dirty="0">
                <a:solidFill>
                  <a:srgbClr val="1E2761"/>
                </a:solidFill>
                <a:latin typeface="Calibri" pitchFamily="34" charset="0"/>
                <a:ea typeface="Calibri" pitchFamily="34" charset="-122"/>
                <a:cs typeface="Calibri" pitchFamily="34" charset="-120"/>
              </a:rPr>
              <a:t>「この結論に至る推論を、一段ずつ分解してください。各ステップについて、その推論が妥当か検証してください。」</a:t>
            </a:r>
            <a:endParaRPr lang="en-US" sz="1050" dirty="0"/>
          </a:p>
        </p:txBody>
      </p:sp>
      <p:sp>
        <p:nvSpPr>
          <p:cNvPr id="26" name="Shape 24"/>
          <p:cNvSpPr/>
          <p:nvPr/>
        </p:nvSpPr>
        <p:spPr>
          <a:xfrm>
            <a:off x="914400" y="4169664"/>
            <a:ext cx="10332720" cy="475488"/>
          </a:xfrm>
          <a:prstGeom prst="roundRect">
            <a:avLst>
              <a:gd name="adj" fmla="val 13462"/>
            </a:avLst>
          </a:prstGeom>
          <a:solidFill>
            <a:srgbClr val="FFFFFF"/>
          </a:solidFill>
          <a:ln w="15875">
            <a:solidFill>
              <a:srgbClr val="E8623C"/>
            </a:solidFill>
            <a:prstDash val="solid"/>
          </a:ln>
        </p:spPr>
      </p:sp>
      <p:sp>
        <p:nvSpPr>
          <p:cNvPr id="27" name="Text 25"/>
          <p:cNvSpPr txBox="1"/>
          <p:nvPr/>
        </p:nvSpPr>
        <p:spPr>
          <a:xfrm>
            <a:off x="1143000" y="4169664"/>
            <a:ext cx="9921240" cy="475488"/>
          </a:xfrm>
          <a:prstGeom prst="rect">
            <a:avLst/>
          </a:prstGeom>
          <a:noFill/>
          <a:ln/>
        </p:spPr>
        <p:txBody>
          <a:bodyPr wrap="square" lIns="25400" tIns="25400" rIns="25400" bIns="25400" rtlCol="0" anchor="ctr"/>
          <a:lstStyle/>
          <a:p>
            <a:pPr algn="l" indent="0" marL="0">
              <a:buNone/>
            </a:pPr>
            <a:r>
              <a:rPr lang="en-US" sz="1050" i="1" dirty="0">
                <a:solidFill>
                  <a:srgbClr val="1E2761"/>
                </a:solidFill>
                <a:latin typeface="Calibri" pitchFamily="34" charset="0"/>
                <a:ea typeface="Calibri" pitchFamily="34" charset="-122"/>
                <a:cs typeface="Calibri" pitchFamily="34" charset="-120"/>
              </a:rPr>
              <a:t>「これは因果関係ですか、それとも相関関係ですか。区別して説明してください。」</a:t>
            </a:r>
            <a:endParaRPr lang="en-US" sz="1050" dirty="0"/>
          </a:p>
        </p:txBody>
      </p:sp>
      <p:sp>
        <p:nvSpPr>
          <p:cNvPr id="28" name="Shape 26"/>
          <p:cNvSpPr/>
          <p:nvPr/>
        </p:nvSpPr>
        <p:spPr>
          <a:xfrm>
            <a:off x="914400" y="4745736"/>
            <a:ext cx="10332720" cy="475488"/>
          </a:xfrm>
          <a:prstGeom prst="roundRect">
            <a:avLst>
              <a:gd name="adj" fmla="val 13462"/>
            </a:avLst>
          </a:prstGeom>
          <a:solidFill>
            <a:srgbClr val="FFFFFF"/>
          </a:solidFill>
          <a:ln w="15875">
            <a:solidFill>
              <a:srgbClr val="E8623C"/>
            </a:solidFill>
            <a:prstDash val="solid"/>
          </a:ln>
        </p:spPr>
      </p:sp>
      <p:sp>
        <p:nvSpPr>
          <p:cNvPr id="29" name="Text 27"/>
          <p:cNvSpPr txBox="1"/>
          <p:nvPr/>
        </p:nvSpPr>
        <p:spPr>
          <a:xfrm>
            <a:off x="1143000" y="4745736"/>
            <a:ext cx="9921240" cy="475488"/>
          </a:xfrm>
          <a:prstGeom prst="rect">
            <a:avLst/>
          </a:prstGeom>
          <a:noFill/>
          <a:ln/>
        </p:spPr>
        <p:txBody>
          <a:bodyPr wrap="square" lIns="25400" tIns="25400" rIns="25400" bIns="25400" rtlCol="0" anchor="ctr"/>
          <a:lstStyle/>
          <a:p>
            <a:pPr algn="l" indent="0" marL="0">
              <a:buNone/>
            </a:pPr>
            <a:r>
              <a:rPr lang="en-US" sz="1050" i="1" dirty="0">
                <a:solidFill>
                  <a:srgbClr val="1E2761"/>
                </a:solidFill>
                <a:latin typeface="Calibri" pitchFamily="34" charset="0"/>
                <a:ea typeface="Calibri" pitchFamily="34" charset="-122"/>
                <a:cs typeface="Calibri" pitchFamily="34" charset="-120"/>
              </a:rPr>
              <a:t>「これは結論が成立するための必要条件ですか、十分条件ですか。」</a:t>
            </a:r>
            <a:endParaRPr lang="en-US" sz="1050" dirty="0"/>
          </a:p>
        </p:txBody>
      </p:sp>
      <p:sp>
        <p:nvSpPr>
          <p:cNvPr id="30" name="Shape 28"/>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1" name="Shape 29"/>
          <p:cNvSpPr/>
          <p:nvPr/>
        </p:nvSpPr>
        <p:spPr>
          <a:xfrm>
            <a:off x="548640" y="5870448"/>
            <a:ext cx="54864" cy="713232"/>
          </a:xfrm>
          <a:prstGeom prst="rect">
            <a:avLst/>
          </a:prstGeom>
          <a:solidFill>
            <a:srgbClr val="E8623C"/>
          </a:solidFill>
          <a:ln/>
        </p:spPr>
      </p:sp>
      <p:sp>
        <p:nvSpPr>
          <p:cNvPr id="32" name="Text 30"/>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反論をもらって終わりにせず、その反論自体の妥当性を検証するために使うプロンプトです。これは概念編パターン②・④の実践版です。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6 議論を監査する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反論に見えても、実は別の議論をしているだけのことがある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7 / 13</a:t>
            </a:r>
            <a:endParaRPr lang="en-US" sz="900" dirty="0"/>
          </a:p>
        </p:txBody>
      </p:sp>
      <p:sp>
        <p:nvSpPr>
          <p:cNvPr id="5" name="Shape 3"/>
          <p:cNvSpPr/>
          <p:nvPr/>
        </p:nvSpPr>
        <p:spPr>
          <a:xfrm>
            <a:off x="3566160" y="1371600"/>
            <a:ext cx="5029200" cy="457200"/>
          </a:xfrm>
          <a:prstGeom prst="roundRect">
            <a:avLst>
              <a:gd name="adj" fmla="val 14000"/>
            </a:avLst>
          </a:prstGeom>
          <a:solidFill>
            <a:srgbClr val="CADCFC"/>
          </a:solidFill>
          <a:ln w="15875">
            <a:solidFill>
              <a:srgbClr val="D3DAEA"/>
            </a:solidFill>
            <a:prstDash val="solid"/>
          </a:ln>
        </p:spPr>
      </p:sp>
      <p:sp>
        <p:nvSpPr>
          <p:cNvPr id="6" name="Text 4"/>
          <p:cNvSpPr txBox="1"/>
          <p:nvPr/>
        </p:nvSpPr>
        <p:spPr>
          <a:xfrm>
            <a:off x="3611880" y="1371600"/>
            <a:ext cx="4937760" cy="457200"/>
          </a:xfrm>
          <a:prstGeom prst="rect">
            <a:avLst/>
          </a:prstGeom>
          <a:noFill/>
          <a:ln/>
        </p:spPr>
        <p:txBody>
          <a:bodyPr wrap="square" lIns="12700" tIns="12700" rIns="12700" bIns="1270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自分の論点 A</a:t>
            </a:r>
            <a:endParaRPr lang="en-US" sz="1200" dirty="0"/>
          </a:p>
        </p:txBody>
      </p:sp>
      <p:sp>
        <p:nvSpPr>
          <p:cNvPr id="7" name="Shape 5"/>
          <p:cNvSpPr/>
          <p:nvPr/>
        </p:nvSpPr>
        <p:spPr>
          <a:xfrm>
            <a:off x="3566160" y="2148840"/>
            <a:ext cx="5029200" cy="457200"/>
          </a:xfrm>
          <a:prstGeom prst="roundRect">
            <a:avLst>
              <a:gd name="adj" fmla="val 14000"/>
            </a:avLst>
          </a:prstGeom>
          <a:solidFill>
            <a:srgbClr val="F2E2DD"/>
          </a:solidFill>
          <a:ln w="15875">
            <a:solidFill>
              <a:srgbClr val="D3DAEA"/>
            </a:solidFill>
            <a:prstDash val="solid"/>
          </a:ln>
        </p:spPr>
      </p:sp>
      <p:sp>
        <p:nvSpPr>
          <p:cNvPr id="8" name="Text 6"/>
          <p:cNvSpPr txBox="1"/>
          <p:nvPr/>
        </p:nvSpPr>
        <p:spPr>
          <a:xfrm>
            <a:off x="3611880" y="2148840"/>
            <a:ext cx="4937760" cy="457200"/>
          </a:xfrm>
          <a:prstGeom prst="rect">
            <a:avLst/>
          </a:prstGeom>
          <a:noFill/>
          <a:ln/>
        </p:spPr>
        <p:txBody>
          <a:bodyPr wrap="square" lIns="12700" tIns="12700" rIns="12700" bIns="12700" rtlCol="0" anchor="ctr"/>
          <a:lstStyle/>
          <a:p>
            <a:pPr algn="ctr" indent="0" marL="0">
              <a:buNone/>
            </a:pPr>
            <a:r>
              <a:rPr lang="en-US" sz="1200" b="1" dirty="0">
                <a:solidFill>
                  <a:srgbClr val="E8623C"/>
                </a:solidFill>
                <a:latin typeface="Calibri" pitchFamily="34" charset="0"/>
                <a:ea typeface="Calibri" pitchFamily="34" charset="-122"/>
                <a:cs typeface="Calibri" pitchFamily="34" charset="-120"/>
              </a:rPr>
              <a:t>AIの回答が扱う論点 B</a:t>
            </a:r>
            <a:endParaRPr lang="en-US" sz="1200" dirty="0"/>
          </a:p>
        </p:txBody>
      </p:sp>
      <p:sp>
        <p:nvSpPr>
          <p:cNvPr id="9" name="Shape 7"/>
          <p:cNvSpPr/>
          <p:nvPr/>
        </p:nvSpPr>
        <p:spPr>
          <a:xfrm>
            <a:off x="6080760" y="1828800"/>
            <a:ext cx="-411480" cy="320040"/>
          </a:xfrm>
          <a:prstGeom prst="line">
            <a:avLst/>
          </a:prstGeom>
          <a:noFill/>
          <a:ln w="19050">
            <a:solidFill>
              <a:srgbClr val="E8623C"/>
            </a:solidFill>
            <a:prstDash val="dash"/>
          </a:ln>
        </p:spPr>
      </p:sp>
      <p:sp>
        <p:nvSpPr>
          <p:cNvPr id="10" name="Shape 8"/>
          <p:cNvSpPr/>
          <p:nvPr/>
        </p:nvSpPr>
        <p:spPr>
          <a:xfrm>
            <a:off x="6080760" y="1828800"/>
            <a:ext cx="411480" cy="320040"/>
          </a:xfrm>
          <a:prstGeom prst="line">
            <a:avLst/>
          </a:prstGeom>
          <a:noFill/>
          <a:ln w="19050">
            <a:solidFill>
              <a:srgbClr val="E8623C"/>
            </a:solidFill>
            <a:prstDash val="dash"/>
          </a:ln>
        </p:spPr>
      </p:sp>
      <p:sp>
        <p:nvSpPr>
          <p:cNvPr id="11" name="Text 9"/>
          <p:cNvSpPr txBox="1"/>
          <p:nvPr/>
        </p:nvSpPr>
        <p:spPr>
          <a:xfrm>
            <a:off x="6675120" y="1737360"/>
            <a:ext cx="1645920" cy="320040"/>
          </a:xfrm>
          <a:prstGeom prst="rect">
            <a:avLst/>
          </a:prstGeom>
          <a:noFill/>
          <a:ln/>
        </p:spPr>
        <p:txBody>
          <a:bodyPr wrap="square" lIns="0" tIns="0" rIns="0" bIns="0" rtlCol="0" anchor="t"/>
          <a:lstStyle/>
          <a:p>
            <a:pPr algn="l" indent="0" marL="0">
              <a:buNone/>
            </a:pPr>
            <a:r>
              <a:rPr lang="en-US" sz="1150" b="1" dirty="0">
                <a:solidFill>
                  <a:srgbClr val="E8623C"/>
                </a:solidFill>
                <a:latin typeface="Calibri" pitchFamily="34" charset="0"/>
                <a:ea typeface="Calibri" pitchFamily="34" charset="-122"/>
                <a:cs typeface="Calibri" pitchFamily="34" charset="-120"/>
              </a:rPr>
              <a:t>✕ ズレ</a:t>
            </a:r>
            <a:endParaRPr lang="en-US" sz="1150" dirty="0"/>
          </a:p>
        </p:txBody>
      </p:sp>
      <p:sp>
        <p:nvSpPr>
          <p:cNvPr id="12" name="Shape 10"/>
          <p:cNvSpPr/>
          <p:nvPr/>
        </p:nvSpPr>
        <p:spPr>
          <a:xfrm>
            <a:off x="914400" y="2880360"/>
            <a:ext cx="10332720" cy="640080"/>
          </a:xfrm>
          <a:prstGeom prst="roundRect">
            <a:avLst>
              <a:gd name="adj" fmla="val 10000"/>
            </a:avLst>
          </a:prstGeom>
          <a:solidFill>
            <a:srgbClr val="FFFFFF"/>
          </a:solidFill>
          <a:ln w="15875">
            <a:solidFill>
              <a:srgbClr val="E8623C"/>
            </a:solidFill>
            <a:prstDash val="solid"/>
          </a:ln>
        </p:spPr>
      </p:sp>
      <p:sp>
        <p:nvSpPr>
          <p:cNvPr id="13" name="Text 11"/>
          <p:cNvSpPr txBox="1"/>
          <p:nvPr/>
        </p:nvSpPr>
        <p:spPr>
          <a:xfrm>
            <a:off x="1143000" y="2880360"/>
            <a:ext cx="9921240" cy="640080"/>
          </a:xfrm>
          <a:prstGeom prst="rect">
            <a:avLst/>
          </a:prstGeom>
          <a:noFill/>
          <a:ln/>
        </p:spPr>
        <p:txBody>
          <a:bodyPr wrap="square" lIns="25400" tIns="25400" rIns="25400" bIns="25400" rtlCol="0" anchor="ctr"/>
          <a:lstStyle/>
          <a:p>
            <a:pPr algn="l" indent="0" marL="0">
              <a:buNone/>
            </a:pPr>
            <a:r>
              <a:rPr lang="en-US" sz="1100" i="1" dirty="0">
                <a:solidFill>
                  <a:srgbClr val="1E2761"/>
                </a:solidFill>
                <a:latin typeface="Calibri" pitchFamily="34" charset="0"/>
                <a:ea typeface="Calibri" pitchFamily="34" charset="-122"/>
                <a:cs typeface="Calibri" pitchFamily="34" charset="-120"/>
              </a:rPr>
              <a:t>「今の反論は、私の元の主張を直接否定していますか。それとも、私が主張していない別の命題を否定していますか。」</a:t>
            </a:r>
            <a:endParaRPr lang="en-US" sz="1100" dirty="0"/>
          </a:p>
        </p:txBody>
      </p:sp>
      <p:sp>
        <p:nvSpPr>
          <p:cNvPr id="14" name="Shape 12"/>
          <p:cNvSpPr/>
          <p:nvPr/>
        </p:nvSpPr>
        <p:spPr>
          <a:xfrm>
            <a:off x="914400" y="3630168"/>
            <a:ext cx="10332720" cy="640080"/>
          </a:xfrm>
          <a:prstGeom prst="roundRect">
            <a:avLst>
              <a:gd name="adj" fmla="val 10000"/>
            </a:avLst>
          </a:prstGeom>
          <a:solidFill>
            <a:srgbClr val="FFFFFF"/>
          </a:solidFill>
          <a:ln w="15875">
            <a:solidFill>
              <a:srgbClr val="E8623C"/>
            </a:solidFill>
            <a:prstDash val="solid"/>
          </a:ln>
        </p:spPr>
      </p:sp>
      <p:sp>
        <p:nvSpPr>
          <p:cNvPr id="15" name="Text 13"/>
          <p:cNvSpPr txBox="1"/>
          <p:nvPr/>
        </p:nvSpPr>
        <p:spPr>
          <a:xfrm>
            <a:off x="1143000" y="3630168"/>
            <a:ext cx="9921240" cy="640080"/>
          </a:xfrm>
          <a:prstGeom prst="rect">
            <a:avLst/>
          </a:prstGeom>
          <a:noFill/>
          <a:ln/>
        </p:spPr>
        <p:txBody>
          <a:bodyPr wrap="square" lIns="25400" tIns="25400" rIns="25400" bIns="25400" rtlCol="0" anchor="ctr"/>
          <a:lstStyle/>
          <a:p>
            <a:pPr algn="l" indent="0" marL="0">
              <a:buNone/>
            </a:pPr>
            <a:r>
              <a:rPr lang="en-US" sz="1100" i="1" dirty="0">
                <a:solidFill>
                  <a:srgbClr val="1E2761"/>
                </a:solidFill>
                <a:latin typeface="Calibri" pitchFamily="34" charset="0"/>
                <a:ea typeface="Calibri" pitchFamily="34" charset="-122"/>
                <a:cs typeface="Calibri" pitchFamily="34" charset="-120"/>
              </a:rPr>
              <a:t>「私の元の主張を一文で再掲した上で、あなたの反論がそのどの部分に対応しているか確認してください。」</a:t>
            </a:r>
            <a:endParaRPr lang="en-US" sz="1100" dirty="0"/>
          </a:p>
        </p:txBody>
      </p:sp>
      <p:sp>
        <p:nvSpPr>
          <p:cNvPr id="16" name="Shape 14"/>
          <p:cNvSpPr/>
          <p:nvPr/>
        </p:nvSpPr>
        <p:spPr>
          <a:xfrm>
            <a:off x="914400" y="4379976"/>
            <a:ext cx="10332720" cy="640080"/>
          </a:xfrm>
          <a:prstGeom prst="roundRect">
            <a:avLst>
              <a:gd name="adj" fmla="val 10000"/>
            </a:avLst>
          </a:prstGeom>
          <a:solidFill>
            <a:srgbClr val="FFFFFF"/>
          </a:solidFill>
          <a:ln w="15875">
            <a:solidFill>
              <a:srgbClr val="E8623C"/>
            </a:solidFill>
            <a:prstDash val="solid"/>
          </a:ln>
        </p:spPr>
      </p:sp>
      <p:sp>
        <p:nvSpPr>
          <p:cNvPr id="17" name="Text 15"/>
          <p:cNvSpPr txBox="1"/>
          <p:nvPr/>
        </p:nvSpPr>
        <p:spPr>
          <a:xfrm>
            <a:off x="1143000" y="4379976"/>
            <a:ext cx="9921240" cy="640080"/>
          </a:xfrm>
          <a:prstGeom prst="rect">
            <a:avLst/>
          </a:prstGeom>
          <a:noFill/>
          <a:ln/>
        </p:spPr>
        <p:txBody>
          <a:bodyPr wrap="square" lIns="25400" tIns="25400" rIns="25400" bIns="25400" rtlCol="0" anchor="ctr"/>
          <a:lstStyle/>
          <a:p>
            <a:pPr algn="l" indent="0" marL="0">
              <a:buNone/>
            </a:pPr>
            <a:r>
              <a:rPr lang="en-US" sz="1100" i="1" dirty="0">
                <a:solidFill>
                  <a:srgbClr val="1E2761"/>
                </a:solidFill>
                <a:latin typeface="Calibri" pitchFamily="34" charset="0"/>
                <a:ea typeface="Calibri" pitchFamily="34" charset="-122"/>
                <a:cs typeface="Calibri" pitchFamily="34" charset="-120"/>
              </a:rPr>
              <a:t>「私が明示していない前提を、回答の中で追加していないか確認してください。私が提示した条件と、あなたが追加した条件を分けて列挙してください。」</a:t>
            </a:r>
            <a:endParaRPr lang="en-US" sz="1100" dirty="0"/>
          </a:p>
        </p:txBody>
      </p:sp>
      <p:sp>
        <p:nvSpPr>
          <p:cNvPr id="18" name="Shape 16"/>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19" name="Shape 17"/>
          <p:cNvSpPr/>
          <p:nvPr/>
        </p:nvSpPr>
        <p:spPr>
          <a:xfrm>
            <a:off x="548640" y="5870448"/>
            <a:ext cx="54864" cy="713232"/>
          </a:xfrm>
          <a:prstGeom prst="rect">
            <a:avLst/>
          </a:prstGeom>
          <a:solidFill>
            <a:srgbClr val="E8623C"/>
          </a:solidFill>
          <a:ln/>
        </p:spPr>
      </p:sp>
      <p:sp>
        <p:nvSpPr>
          <p:cNvPr id="20" name="Text 18"/>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反論の『内容』ではなく『対応関係』を確認する視点を持ちましょう。これは概念編パターン③の実践版であり、付録の中でも特に重要です。</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7 AIの回答を監査する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AIの回答も、最終結論ではなく検証対象である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8 / 13</a:t>
            </a:r>
            <a:endParaRPr lang="en-US" sz="900" dirty="0"/>
          </a:p>
        </p:txBody>
      </p:sp>
      <p:sp>
        <p:nvSpPr>
          <p:cNvPr id="5" name="Shape 3"/>
          <p:cNvSpPr/>
          <p:nvPr/>
        </p:nvSpPr>
        <p:spPr>
          <a:xfrm>
            <a:off x="822960" y="1371600"/>
            <a:ext cx="2514600" cy="457200"/>
          </a:xfrm>
          <a:prstGeom prst="rect">
            <a:avLst/>
          </a:prstGeom>
          <a:solidFill>
            <a:srgbClr val="1E2761"/>
          </a:solidFill>
          <a:ln w="12700">
            <a:solidFill>
              <a:srgbClr val="FFFFFF"/>
            </a:solidFill>
            <a:prstDash val="solid"/>
          </a:ln>
        </p:spPr>
      </p:sp>
      <p:sp>
        <p:nvSpPr>
          <p:cNvPr id="6" name="Text 4"/>
          <p:cNvSpPr txBox="1"/>
          <p:nvPr/>
        </p:nvSpPr>
        <p:spPr>
          <a:xfrm>
            <a:off x="822960" y="1371600"/>
            <a:ext cx="25146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事実</a:t>
            </a:r>
            <a:endParaRPr lang="en-US" sz="1200" dirty="0"/>
          </a:p>
        </p:txBody>
      </p:sp>
      <p:sp>
        <p:nvSpPr>
          <p:cNvPr id="7" name="Shape 5"/>
          <p:cNvSpPr/>
          <p:nvPr/>
        </p:nvSpPr>
        <p:spPr>
          <a:xfrm>
            <a:off x="3337560" y="1371600"/>
            <a:ext cx="2514600" cy="457200"/>
          </a:xfrm>
          <a:prstGeom prst="rect">
            <a:avLst/>
          </a:prstGeom>
          <a:solidFill>
            <a:srgbClr val="5C6FA8"/>
          </a:solidFill>
          <a:ln w="12700">
            <a:solidFill>
              <a:srgbClr val="FFFFFF"/>
            </a:solidFill>
            <a:prstDash val="solid"/>
          </a:ln>
        </p:spPr>
      </p:sp>
      <p:sp>
        <p:nvSpPr>
          <p:cNvPr id="8" name="Text 6"/>
          <p:cNvSpPr txBox="1"/>
          <p:nvPr/>
        </p:nvSpPr>
        <p:spPr>
          <a:xfrm>
            <a:off x="3337560" y="1371600"/>
            <a:ext cx="25146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推論</a:t>
            </a:r>
            <a:endParaRPr lang="en-US" sz="1200" dirty="0"/>
          </a:p>
        </p:txBody>
      </p:sp>
      <p:sp>
        <p:nvSpPr>
          <p:cNvPr id="9" name="Shape 7"/>
          <p:cNvSpPr/>
          <p:nvPr/>
        </p:nvSpPr>
        <p:spPr>
          <a:xfrm>
            <a:off x="5852160" y="1371600"/>
            <a:ext cx="2514600" cy="457200"/>
          </a:xfrm>
          <a:prstGeom prst="rect">
            <a:avLst/>
          </a:prstGeom>
          <a:solidFill>
            <a:srgbClr val="9CADD6"/>
          </a:solidFill>
          <a:ln w="12700">
            <a:solidFill>
              <a:srgbClr val="FFFFFF"/>
            </a:solidFill>
            <a:prstDash val="solid"/>
          </a:ln>
        </p:spPr>
      </p:sp>
      <p:sp>
        <p:nvSpPr>
          <p:cNvPr id="10" name="Text 8"/>
          <p:cNvSpPr txBox="1"/>
          <p:nvPr/>
        </p:nvSpPr>
        <p:spPr>
          <a:xfrm>
            <a:off x="5852160" y="1371600"/>
            <a:ext cx="251460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仮説</a:t>
            </a:r>
            <a:endParaRPr lang="en-US" sz="1200" dirty="0"/>
          </a:p>
        </p:txBody>
      </p:sp>
      <p:sp>
        <p:nvSpPr>
          <p:cNvPr id="11" name="Shape 9"/>
          <p:cNvSpPr/>
          <p:nvPr/>
        </p:nvSpPr>
        <p:spPr>
          <a:xfrm>
            <a:off x="8366760" y="1371600"/>
            <a:ext cx="2514600" cy="457200"/>
          </a:xfrm>
          <a:prstGeom prst="rect">
            <a:avLst/>
          </a:prstGeom>
          <a:solidFill>
            <a:srgbClr val="DCE3F2"/>
          </a:solidFill>
          <a:ln w="12700">
            <a:solidFill>
              <a:srgbClr val="FFFFFF"/>
            </a:solidFill>
            <a:prstDash val="solid"/>
          </a:ln>
        </p:spPr>
      </p:sp>
      <p:sp>
        <p:nvSpPr>
          <p:cNvPr id="12" name="Text 10"/>
          <p:cNvSpPr txBox="1"/>
          <p:nvPr/>
        </p:nvSpPr>
        <p:spPr>
          <a:xfrm>
            <a:off x="8366760" y="1371600"/>
            <a:ext cx="251460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推測</a:t>
            </a:r>
            <a:endParaRPr lang="en-US" sz="1200" dirty="0"/>
          </a:p>
        </p:txBody>
      </p:sp>
      <p:sp>
        <p:nvSpPr>
          <p:cNvPr id="13" name="Shape 11"/>
          <p:cNvSpPr/>
          <p:nvPr/>
        </p:nvSpPr>
        <p:spPr>
          <a:xfrm>
            <a:off x="822960" y="2148840"/>
            <a:ext cx="10515600" cy="548640"/>
          </a:xfrm>
          <a:prstGeom prst="roundRect">
            <a:avLst>
              <a:gd name="adj" fmla="val 11667"/>
            </a:avLst>
          </a:prstGeom>
          <a:solidFill>
            <a:srgbClr val="FFFFFF"/>
          </a:solidFill>
          <a:ln w="15875">
            <a:solidFill>
              <a:srgbClr val="E8623C"/>
            </a:solidFill>
            <a:prstDash val="solid"/>
          </a:ln>
        </p:spPr>
      </p:sp>
      <p:sp>
        <p:nvSpPr>
          <p:cNvPr id="14" name="Text 12"/>
          <p:cNvSpPr txBox="1"/>
          <p:nvPr/>
        </p:nvSpPr>
        <p:spPr>
          <a:xfrm>
            <a:off x="1051560" y="2148840"/>
            <a:ext cx="10104120" cy="548640"/>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「今の回答を『確認された事実』『推論』『仮説』『推測』に分類してください。」</a:t>
            </a:r>
            <a:endParaRPr lang="en-US" sz="1150" dirty="0"/>
          </a:p>
        </p:txBody>
      </p:sp>
      <p:sp>
        <p:nvSpPr>
          <p:cNvPr id="15" name="Shape 13"/>
          <p:cNvSpPr/>
          <p:nvPr/>
        </p:nvSpPr>
        <p:spPr>
          <a:xfrm>
            <a:off x="822960" y="2807208"/>
            <a:ext cx="10515600" cy="548640"/>
          </a:xfrm>
          <a:prstGeom prst="roundRect">
            <a:avLst>
              <a:gd name="adj" fmla="val 11667"/>
            </a:avLst>
          </a:prstGeom>
          <a:solidFill>
            <a:srgbClr val="FFFFFF"/>
          </a:solidFill>
          <a:ln w="15875">
            <a:solidFill>
              <a:srgbClr val="E8623C"/>
            </a:solidFill>
            <a:prstDash val="solid"/>
          </a:ln>
        </p:spPr>
      </p:sp>
      <p:sp>
        <p:nvSpPr>
          <p:cNvPr id="16" name="Text 14"/>
          <p:cNvSpPr txBox="1"/>
          <p:nvPr/>
        </p:nvSpPr>
        <p:spPr>
          <a:xfrm>
            <a:off x="1051560" y="2807208"/>
            <a:ext cx="10104120" cy="548640"/>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「『事実』として扱っている情報について、根拠が提示されているか確認してください。」</a:t>
            </a:r>
            <a:endParaRPr lang="en-US" sz="1150" dirty="0"/>
          </a:p>
        </p:txBody>
      </p:sp>
      <p:sp>
        <p:nvSpPr>
          <p:cNvPr id="17" name="Shape 15"/>
          <p:cNvSpPr/>
          <p:nvPr/>
        </p:nvSpPr>
        <p:spPr>
          <a:xfrm>
            <a:off x="822960" y="3465576"/>
            <a:ext cx="10515600" cy="548640"/>
          </a:xfrm>
          <a:prstGeom prst="roundRect">
            <a:avLst>
              <a:gd name="adj" fmla="val 11667"/>
            </a:avLst>
          </a:prstGeom>
          <a:solidFill>
            <a:srgbClr val="FFFFFF"/>
          </a:solidFill>
          <a:ln w="15875">
            <a:solidFill>
              <a:srgbClr val="E8623C"/>
            </a:solidFill>
            <a:prstDash val="solid"/>
          </a:ln>
        </p:spPr>
      </p:sp>
      <p:sp>
        <p:nvSpPr>
          <p:cNvPr id="18" name="Text 16"/>
          <p:cNvSpPr txBox="1"/>
          <p:nvPr/>
        </p:nvSpPr>
        <p:spPr>
          <a:xfrm>
            <a:off x="1051560" y="3465576"/>
            <a:ext cx="10104120" cy="548640"/>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「今のあなたの回答自体に、論理的な飛躍や根拠のない仮定がないか検証してください。」</a:t>
            </a:r>
            <a:endParaRPr lang="en-US" sz="1150" dirty="0"/>
          </a:p>
        </p:txBody>
      </p:sp>
      <p:sp>
        <p:nvSpPr>
          <p:cNvPr id="19" name="Shape 17"/>
          <p:cNvSpPr/>
          <p:nvPr/>
        </p:nvSpPr>
        <p:spPr>
          <a:xfrm>
            <a:off x="822960" y="4123944"/>
            <a:ext cx="10515600" cy="548640"/>
          </a:xfrm>
          <a:prstGeom prst="roundRect">
            <a:avLst>
              <a:gd name="adj" fmla="val 11667"/>
            </a:avLst>
          </a:prstGeom>
          <a:solidFill>
            <a:srgbClr val="FFFFFF"/>
          </a:solidFill>
          <a:ln w="15875">
            <a:solidFill>
              <a:srgbClr val="E8623C"/>
            </a:solidFill>
            <a:prstDash val="solid"/>
          </a:ln>
        </p:spPr>
      </p:sp>
      <p:sp>
        <p:nvSpPr>
          <p:cNvPr id="20" name="Text 18"/>
          <p:cNvSpPr txBox="1"/>
          <p:nvPr/>
        </p:nvSpPr>
        <p:spPr>
          <a:xfrm>
            <a:off x="1051560" y="4123944"/>
            <a:ext cx="10104120" cy="548640"/>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「あなた自身が今の回答に反論する立場になって、問題点を指摘してください。」</a:t>
            </a:r>
            <a:endParaRPr lang="en-US" sz="1150" dirty="0"/>
          </a:p>
        </p:txBody>
      </p:sp>
      <p:sp>
        <p:nvSpPr>
          <p:cNvPr id="21" name="Shape 19"/>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2" name="Shape 20"/>
          <p:cNvSpPr/>
          <p:nvPr/>
        </p:nvSpPr>
        <p:spPr>
          <a:xfrm>
            <a:off x="548640" y="5870448"/>
            <a:ext cx="54864" cy="713232"/>
          </a:xfrm>
          <a:prstGeom prst="rect">
            <a:avLst/>
          </a:prstGeom>
          <a:solidFill>
            <a:srgbClr val="E8623C"/>
          </a:solidFill>
          <a:ln/>
        </p:spPr>
      </p:sp>
      <p:sp>
        <p:nvSpPr>
          <p:cNvPr id="23" name="Text 21"/>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『AIは答えではなく、検証対象にもなる』という概念編の核心メッセージをここで再確認しましょう。これは概念編パターン⑧・⑨の実践版です。</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8 結論を精密化する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壁打ちのゴールは、結論に段階と条件をつけることである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9 / 13</a:t>
            </a:r>
            <a:endParaRPr lang="en-US" sz="900" dirty="0"/>
          </a:p>
        </p:txBody>
      </p:sp>
      <p:sp>
        <p:nvSpPr>
          <p:cNvPr id="5" name="Shape 3"/>
          <p:cNvSpPr/>
          <p:nvPr/>
        </p:nvSpPr>
        <p:spPr>
          <a:xfrm>
            <a:off x="1828800" y="1563624"/>
            <a:ext cx="4251960" cy="256032"/>
          </a:xfrm>
          <a:prstGeom prst="rect">
            <a:avLst/>
          </a:prstGeom>
          <a:solidFill>
            <a:srgbClr val="E9EAEE"/>
          </a:solidFill>
          <a:ln/>
        </p:spPr>
      </p:sp>
      <p:sp>
        <p:nvSpPr>
          <p:cNvPr id="6" name="Shape 4"/>
          <p:cNvSpPr/>
          <p:nvPr/>
        </p:nvSpPr>
        <p:spPr>
          <a:xfrm>
            <a:off x="6080760" y="1563624"/>
            <a:ext cx="4251960" cy="256032"/>
          </a:xfrm>
          <a:prstGeom prst="rect">
            <a:avLst/>
          </a:prstGeom>
          <a:solidFill>
            <a:srgbClr val="FBD9CC"/>
          </a:solidFill>
          <a:ln/>
        </p:spPr>
      </p:sp>
      <p:sp>
        <p:nvSpPr>
          <p:cNvPr id="7" name="Text 5"/>
          <p:cNvSpPr txBox="1"/>
          <p:nvPr/>
        </p:nvSpPr>
        <p:spPr>
          <a:xfrm>
            <a:off x="1828800" y="1874520"/>
            <a:ext cx="4251960" cy="256032"/>
          </a:xfrm>
          <a:prstGeom prst="rect">
            <a:avLst/>
          </a:prstGeom>
          <a:noFill/>
          <a:ln/>
        </p:spPr>
        <p:txBody>
          <a:bodyPr wrap="square" lIns="0" tIns="0" rIns="0" bIns="0" rtlCol="0" anchor="t"/>
          <a:lstStyle/>
          <a:p>
            <a:pPr algn="ctr" indent="0" marL="0">
              <a:buNone/>
            </a:pPr>
            <a:r>
              <a:rPr lang="en-US" sz="1050" dirty="0">
                <a:solidFill>
                  <a:srgbClr val="5B6B87"/>
                </a:solidFill>
                <a:latin typeface="Calibri" pitchFamily="34" charset="0"/>
                <a:ea typeface="Calibri" pitchFamily="34" charset="-122"/>
                <a:cs typeface="Calibri" pitchFamily="34" charset="-120"/>
              </a:rPr>
              <a:t>結論が成立しない</a:t>
            </a:r>
            <a:endParaRPr lang="en-US" sz="1050" dirty="0"/>
          </a:p>
        </p:txBody>
      </p:sp>
      <p:sp>
        <p:nvSpPr>
          <p:cNvPr id="8" name="Text 6"/>
          <p:cNvSpPr txBox="1"/>
          <p:nvPr/>
        </p:nvSpPr>
        <p:spPr>
          <a:xfrm>
            <a:off x="6080760" y="1874520"/>
            <a:ext cx="4251960" cy="256032"/>
          </a:xfrm>
          <a:prstGeom prst="rect">
            <a:avLst/>
          </a:prstGeom>
          <a:noFill/>
          <a:ln/>
        </p:spPr>
        <p:txBody>
          <a:bodyPr wrap="square" lIns="0" tIns="0" rIns="0" bIns="0" rtlCol="0" anchor="t"/>
          <a:lstStyle/>
          <a:p>
            <a:pPr algn="ctr" indent="0" marL="0">
              <a:buNone/>
            </a:pPr>
            <a:r>
              <a:rPr lang="en-US" sz="1050" b="1" dirty="0">
                <a:solidFill>
                  <a:srgbClr val="E8623C"/>
                </a:solidFill>
                <a:latin typeface="Calibri" pitchFamily="34" charset="0"/>
                <a:ea typeface="Calibri" pitchFamily="34" charset="-122"/>
                <a:cs typeface="Calibri" pitchFamily="34" charset="-120"/>
              </a:rPr>
              <a:t>結論が成立する</a:t>
            </a:r>
            <a:endParaRPr lang="en-US" sz="1050" dirty="0"/>
          </a:p>
        </p:txBody>
      </p:sp>
      <p:sp>
        <p:nvSpPr>
          <p:cNvPr id="9" name="Text 7"/>
          <p:cNvSpPr txBox="1"/>
          <p:nvPr/>
        </p:nvSpPr>
        <p:spPr>
          <a:xfrm>
            <a:off x="5166360" y="1234440"/>
            <a:ext cx="1828800" cy="256032"/>
          </a:xfrm>
          <a:prstGeom prst="rect">
            <a:avLst/>
          </a:prstGeom>
          <a:noFill/>
          <a:ln/>
        </p:spPr>
        <p:txBody>
          <a:bodyPr wrap="square" lIns="0" tIns="0" rIns="0" bIns="0" rtlCol="0" anchor="t"/>
          <a:lstStyle/>
          <a:p>
            <a:pPr algn="ctr" indent="0" marL="0">
              <a:buNone/>
            </a:pPr>
            <a:r>
              <a:rPr lang="en-US" sz="1100" b="1" dirty="0">
                <a:solidFill>
                  <a:srgbClr val="1E2761"/>
                </a:solidFill>
                <a:latin typeface="Calibri" pitchFamily="34" charset="0"/>
                <a:ea typeface="Calibri" pitchFamily="34" charset="-122"/>
                <a:cs typeface="Calibri" pitchFamily="34" charset="-120"/>
              </a:rPr>
              <a:t>境界条件</a:t>
            </a:r>
            <a:endParaRPr lang="en-US" sz="1100" dirty="0"/>
          </a:p>
        </p:txBody>
      </p:sp>
      <p:sp>
        <p:nvSpPr>
          <p:cNvPr id="10" name="Shape 8"/>
          <p:cNvSpPr/>
          <p:nvPr/>
        </p:nvSpPr>
        <p:spPr>
          <a:xfrm>
            <a:off x="914400" y="2468880"/>
            <a:ext cx="10332720" cy="530352"/>
          </a:xfrm>
          <a:prstGeom prst="roundRect">
            <a:avLst>
              <a:gd name="adj" fmla="val 12069"/>
            </a:avLst>
          </a:prstGeom>
          <a:solidFill>
            <a:srgbClr val="FFFFFF"/>
          </a:solidFill>
          <a:ln w="15875">
            <a:solidFill>
              <a:srgbClr val="E8623C"/>
            </a:solidFill>
            <a:prstDash val="solid"/>
          </a:ln>
        </p:spPr>
      </p:sp>
      <p:sp>
        <p:nvSpPr>
          <p:cNvPr id="11" name="Text 9"/>
          <p:cNvSpPr txBox="1"/>
          <p:nvPr/>
        </p:nvSpPr>
        <p:spPr>
          <a:xfrm>
            <a:off x="1143000" y="2468880"/>
            <a:ext cx="9921240" cy="530352"/>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「この結論が成立する条件と、成立しない条件を整理してください。」</a:t>
            </a:r>
            <a:endParaRPr lang="en-US" sz="1200" dirty="0"/>
          </a:p>
        </p:txBody>
      </p:sp>
      <p:sp>
        <p:nvSpPr>
          <p:cNvPr id="12" name="Shape 10"/>
          <p:cNvSpPr/>
          <p:nvPr/>
        </p:nvSpPr>
        <p:spPr>
          <a:xfrm>
            <a:off x="914400" y="3108960"/>
            <a:ext cx="10332720" cy="530352"/>
          </a:xfrm>
          <a:prstGeom prst="roundRect">
            <a:avLst>
              <a:gd name="adj" fmla="val 12069"/>
            </a:avLst>
          </a:prstGeom>
          <a:solidFill>
            <a:srgbClr val="FFFFFF"/>
          </a:solidFill>
          <a:ln w="15875">
            <a:solidFill>
              <a:srgbClr val="E8623C"/>
            </a:solidFill>
            <a:prstDash val="solid"/>
          </a:ln>
        </p:spPr>
      </p:sp>
      <p:sp>
        <p:nvSpPr>
          <p:cNvPr id="13" name="Text 11"/>
          <p:cNvSpPr txBox="1"/>
          <p:nvPr/>
        </p:nvSpPr>
        <p:spPr>
          <a:xfrm>
            <a:off x="1143000" y="3108960"/>
            <a:ext cx="9921240" cy="530352"/>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「条件を変えた場合（［条件］を外した／逆にした場合）、結論はどう変わりますか。」</a:t>
            </a:r>
            <a:endParaRPr lang="en-US" sz="1200" dirty="0"/>
          </a:p>
        </p:txBody>
      </p:sp>
      <p:sp>
        <p:nvSpPr>
          <p:cNvPr id="14" name="Shape 12"/>
          <p:cNvSpPr/>
          <p:nvPr/>
        </p:nvSpPr>
        <p:spPr>
          <a:xfrm>
            <a:off x="914400" y="3794760"/>
            <a:ext cx="10332720" cy="777240"/>
          </a:xfrm>
          <a:prstGeom prst="roundRect">
            <a:avLst>
              <a:gd name="adj" fmla="val 9412"/>
            </a:avLst>
          </a:prstGeom>
          <a:solidFill>
            <a:srgbClr val="1E2761"/>
          </a:solidFill>
          <a:ln/>
        </p:spPr>
      </p:sp>
      <p:sp>
        <p:nvSpPr>
          <p:cNvPr id="15" name="Text 13"/>
          <p:cNvSpPr txBox="1"/>
          <p:nvPr/>
        </p:nvSpPr>
        <p:spPr>
          <a:xfrm>
            <a:off x="1143000" y="3794760"/>
            <a:ext cx="9875520" cy="777240"/>
          </a:xfrm>
          <a:prstGeom prst="rect">
            <a:avLst/>
          </a:prstGeom>
          <a:noFill/>
          <a:ln/>
        </p:spPr>
        <p:txBody>
          <a:bodyPr wrap="square" lIns="25400" tIns="25400" rIns="25400" bIns="25400" rtlCol="0" anchor="ctr"/>
          <a:lstStyle/>
          <a:p>
            <a:pPr algn="l" indent="0" marL="0">
              <a:buNone/>
            </a:pPr>
            <a:r>
              <a:rPr lang="en-US" sz="1250" b="1" i="1" dirty="0">
                <a:solidFill>
                  <a:srgbClr val="FFFFFF"/>
                </a:solidFill>
                <a:latin typeface="Calibri" pitchFamily="34" charset="0"/>
                <a:ea typeface="Calibri" pitchFamily="34" charset="-122"/>
                <a:cs typeface="Calibri" pitchFamily="34" charset="-120"/>
              </a:rPr>
              <a:t>「ここまでの議論を踏まえ、現在の時点で『確実に言えること』『可能性が高いこと』『判断できないこと』を分けてください。」</a:t>
            </a:r>
            <a:endParaRPr lang="en-US" sz="1250" dirty="0"/>
          </a:p>
        </p:txBody>
      </p:sp>
      <p:sp>
        <p:nvSpPr>
          <p:cNvPr id="16" name="Shape 14"/>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17" name="Shape 15"/>
          <p:cNvSpPr/>
          <p:nvPr/>
        </p:nvSpPr>
        <p:spPr>
          <a:xfrm>
            <a:off x="548640" y="5870448"/>
            <a:ext cx="54864" cy="713232"/>
          </a:xfrm>
          <a:prstGeom prst="rect">
            <a:avLst/>
          </a:prstGeom>
          <a:solidFill>
            <a:srgbClr val="E8623C"/>
          </a:solidFill>
          <a:ln/>
        </p:spPr>
      </p:sp>
      <p:sp>
        <p:nvSpPr>
          <p:cNvPr id="18" name="Text 16"/>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壁打ちは『正解に辿り着くこと』がゴールではありません。結論に条件と確からしさの段階をつけられた時点で、壁打ちは十分に機能しています。</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9 結論を成果物にする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精密化した思考は、「使える形」に変換して初めて仕事の成果になる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10 / 13</a:t>
            </a:r>
            <a:endParaRPr lang="en-US" sz="900" dirty="0"/>
          </a:p>
        </p:txBody>
      </p:sp>
      <p:sp>
        <p:nvSpPr>
          <p:cNvPr id="5" name="Shape 3"/>
          <p:cNvSpPr/>
          <p:nvPr/>
        </p:nvSpPr>
        <p:spPr>
          <a:xfrm>
            <a:off x="822960" y="1188720"/>
            <a:ext cx="1828800" cy="822960"/>
          </a:xfrm>
          <a:prstGeom prst="ellipse">
            <a:avLst/>
          </a:prstGeom>
          <a:ln w="19050">
            <a:solidFill>
              <a:srgbClr val="9AA5B8"/>
            </a:solidFill>
            <a:prstDash val="dash"/>
          </a:ln>
        </p:spPr>
      </p:sp>
      <p:sp>
        <p:nvSpPr>
          <p:cNvPr id="6" name="Text 4"/>
          <p:cNvSpPr txBox="1"/>
          <p:nvPr/>
        </p:nvSpPr>
        <p:spPr>
          <a:xfrm>
            <a:off x="868680" y="1463040"/>
            <a:ext cx="1737360" cy="320040"/>
          </a:xfrm>
          <a:prstGeom prst="rect">
            <a:avLst/>
          </a:prstGeom>
          <a:noFill/>
          <a:ln/>
        </p:spPr>
        <p:txBody>
          <a:bodyPr wrap="square" lIns="0" tIns="0" rIns="0" bIns="0" rtlCol="0" anchor="t"/>
          <a:lstStyle/>
          <a:p>
            <a:pPr algn="ctr" indent="0" marL="0">
              <a:buNone/>
            </a:pPr>
            <a:r>
              <a:rPr lang="en-US" sz="950" dirty="0">
                <a:solidFill>
                  <a:srgbClr val="5B6B87"/>
                </a:solidFill>
                <a:latin typeface="Calibri" pitchFamily="34" charset="0"/>
                <a:ea typeface="Calibri" pitchFamily="34" charset="-122"/>
                <a:cs typeface="Calibri" pitchFamily="34" charset="-120"/>
              </a:rPr>
              <a:t>検証（1〜7）</a:t>
            </a:r>
            <a:endParaRPr lang="en-US" sz="950" dirty="0"/>
          </a:p>
        </p:txBody>
      </p:sp>
      <p:sp>
        <p:nvSpPr>
          <p:cNvPr id="7" name="Shape 5"/>
          <p:cNvSpPr/>
          <p:nvPr/>
        </p:nvSpPr>
        <p:spPr>
          <a:xfrm>
            <a:off x="2697480" y="1600200"/>
            <a:ext cx="685800" cy="0"/>
          </a:xfrm>
          <a:prstGeom prst="line">
            <a:avLst/>
          </a:prstGeom>
          <a:noFill/>
          <a:ln w="25400">
            <a:solidFill>
              <a:srgbClr val="1E2761"/>
            </a:solidFill>
            <a:prstDash val="solid"/>
            <a:tailEnd type="triangle"/>
          </a:ln>
        </p:spPr>
      </p:sp>
      <p:sp>
        <p:nvSpPr>
          <p:cNvPr id="8" name="Shape 6"/>
          <p:cNvSpPr/>
          <p:nvPr/>
        </p:nvSpPr>
        <p:spPr>
          <a:xfrm>
            <a:off x="3474720" y="1353312"/>
            <a:ext cx="1737360" cy="493776"/>
          </a:xfrm>
          <a:prstGeom prst="roundRect">
            <a:avLst>
              <a:gd name="adj" fmla="val 12963"/>
            </a:avLst>
          </a:prstGeom>
          <a:solidFill>
            <a:srgbClr val="FBD9CC"/>
          </a:solidFill>
          <a:ln w="15875">
            <a:solidFill>
              <a:srgbClr val="D3DAEA"/>
            </a:solidFill>
            <a:prstDash val="solid"/>
          </a:ln>
        </p:spPr>
      </p:sp>
      <p:sp>
        <p:nvSpPr>
          <p:cNvPr id="9" name="Text 7"/>
          <p:cNvSpPr txBox="1"/>
          <p:nvPr/>
        </p:nvSpPr>
        <p:spPr>
          <a:xfrm>
            <a:off x="3520440" y="1353312"/>
            <a:ext cx="1645920" cy="493776"/>
          </a:xfrm>
          <a:prstGeom prst="rect">
            <a:avLst/>
          </a:prstGeom>
          <a:noFill/>
          <a:ln/>
        </p:spPr>
        <p:txBody>
          <a:bodyPr wrap="square" lIns="12700" tIns="12700" rIns="12700" bIns="1270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成果物</a:t>
            </a:r>
            <a:endParaRPr lang="en-US" sz="1200" dirty="0"/>
          </a:p>
        </p:txBody>
      </p:sp>
      <p:sp>
        <p:nvSpPr>
          <p:cNvPr id="10" name="Text 8"/>
          <p:cNvSpPr txBox="1"/>
          <p:nvPr/>
        </p:nvSpPr>
        <p:spPr>
          <a:xfrm>
            <a:off x="5486400" y="1353312"/>
            <a:ext cx="5760720" cy="493776"/>
          </a:xfrm>
          <a:prstGeom prst="rect">
            <a:avLst/>
          </a:prstGeom>
          <a:noFill/>
          <a:ln/>
        </p:spPr>
        <p:txBody>
          <a:bodyPr wrap="square" lIns="0" tIns="0" rIns="0" bIns="0" rtlCol="0" anchor="ctr"/>
          <a:lstStyle/>
          <a:p>
            <a:pPr algn="l" indent="0" marL="0">
              <a:buNone/>
            </a:pPr>
            <a:r>
              <a:rPr lang="en-US" sz="1050" i="1" dirty="0">
                <a:solidFill>
                  <a:srgbClr val="5B6B87"/>
                </a:solidFill>
                <a:latin typeface="Calibri" pitchFamily="34" charset="0"/>
                <a:ea typeface="Calibri" pitchFamily="34" charset="-122"/>
                <a:cs typeface="Calibri" pitchFamily="34" charset="-120"/>
              </a:rPr>
              <a:t>検証を終えたら、次は「使える形」への変換工程 →</a:t>
            </a:r>
            <a:endParaRPr lang="en-US" sz="1050" dirty="0"/>
          </a:p>
        </p:txBody>
      </p:sp>
      <p:sp>
        <p:nvSpPr>
          <p:cNvPr id="11" name="Shape 9"/>
          <p:cNvSpPr/>
          <p:nvPr/>
        </p:nvSpPr>
        <p:spPr>
          <a:xfrm>
            <a:off x="640080" y="2148840"/>
            <a:ext cx="2514600" cy="457200"/>
          </a:xfrm>
          <a:prstGeom prst="roundRect">
            <a:avLst>
              <a:gd name="adj" fmla="val 14000"/>
            </a:avLst>
          </a:prstGeom>
          <a:solidFill>
            <a:srgbClr val="F2F4F9"/>
          </a:solidFill>
          <a:ln w="15875">
            <a:solidFill>
              <a:srgbClr val="D3DAEA"/>
            </a:solidFill>
            <a:prstDash val="solid"/>
          </a:ln>
        </p:spPr>
      </p:sp>
      <p:sp>
        <p:nvSpPr>
          <p:cNvPr id="12" name="Text 10"/>
          <p:cNvSpPr txBox="1"/>
          <p:nvPr/>
        </p:nvSpPr>
        <p:spPr>
          <a:xfrm>
            <a:off x="685800" y="2148840"/>
            <a:ext cx="2423160" cy="457200"/>
          </a:xfrm>
          <a:prstGeom prst="rect">
            <a:avLst/>
          </a:prstGeom>
          <a:noFill/>
          <a:ln/>
        </p:spPr>
        <p:txBody>
          <a:bodyPr wrap="square" lIns="12700" tIns="12700" rIns="12700" bIns="1270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清書</a:t>
            </a:r>
            <a:endParaRPr lang="en-US" sz="1150" dirty="0"/>
          </a:p>
        </p:txBody>
      </p:sp>
      <p:sp>
        <p:nvSpPr>
          <p:cNvPr id="13" name="Shape 11"/>
          <p:cNvSpPr/>
          <p:nvPr/>
        </p:nvSpPr>
        <p:spPr>
          <a:xfrm>
            <a:off x="3154680" y="2377440"/>
            <a:ext cx="182880" cy="0"/>
          </a:xfrm>
          <a:prstGeom prst="line">
            <a:avLst/>
          </a:prstGeom>
          <a:noFill/>
          <a:ln w="19050">
            <a:solidFill>
              <a:srgbClr val="1E2761"/>
            </a:solidFill>
            <a:prstDash val="solid"/>
            <a:tailEnd type="triangle"/>
          </a:ln>
        </p:spPr>
      </p:sp>
      <p:sp>
        <p:nvSpPr>
          <p:cNvPr id="14" name="Shape 12"/>
          <p:cNvSpPr/>
          <p:nvPr/>
        </p:nvSpPr>
        <p:spPr>
          <a:xfrm>
            <a:off x="3337560" y="2148840"/>
            <a:ext cx="2514600" cy="457200"/>
          </a:xfrm>
          <a:prstGeom prst="roundRect">
            <a:avLst>
              <a:gd name="adj" fmla="val 14000"/>
            </a:avLst>
          </a:prstGeom>
          <a:solidFill>
            <a:srgbClr val="F2F4F9"/>
          </a:solidFill>
          <a:ln w="15875">
            <a:solidFill>
              <a:srgbClr val="D3DAEA"/>
            </a:solidFill>
            <a:prstDash val="solid"/>
          </a:ln>
        </p:spPr>
      </p:sp>
      <p:sp>
        <p:nvSpPr>
          <p:cNvPr id="15" name="Text 13"/>
          <p:cNvSpPr txBox="1"/>
          <p:nvPr/>
        </p:nvSpPr>
        <p:spPr>
          <a:xfrm>
            <a:off x="3383280" y="2148840"/>
            <a:ext cx="2423160" cy="457200"/>
          </a:xfrm>
          <a:prstGeom prst="rect">
            <a:avLst/>
          </a:prstGeom>
          <a:noFill/>
          <a:ln/>
        </p:spPr>
        <p:txBody>
          <a:bodyPr wrap="square" lIns="12700" tIns="12700" rIns="12700" bIns="1270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まとめ</a:t>
            </a:r>
            <a:endParaRPr lang="en-US" sz="1150" dirty="0"/>
          </a:p>
        </p:txBody>
      </p:sp>
      <p:sp>
        <p:nvSpPr>
          <p:cNvPr id="16" name="Shape 14"/>
          <p:cNvSpPr/>
          <p:nvPr/>
        </p:nvSpPr>
        <p:spPr>
          <a:xfrm>
            <a:off x="5852160" y="2377440"/>
            <a:ext cx="182880" cy="0"/>
          </a:xfrm>
          <a:prstGeom prst="line">
            <a:avLst/>
          </a:prstGeom>
          <a:noFill/>
          <a:ln w="19050">
            <a:solidFill>
              <a:srgbClr val="1E2761"/>
            </a:solidFill>
            <a:prstDash val="solid"/>
            <a:tailEnd type="triangle"/>
          </a:ln>
        </p:spPr>
      </p:sp>
      <p:sp>
        <p:nvSpPr>
          <p:cNvPr id="17" name="Shape 15"/>
          <p:cNvSpPr/>
          <p:nvPr/>
        </p:nvSpPr>
        <p:spPr>
          <a:xfrm>
            <a:off x="6035040" y="2148840"/>
            <a:ext cx="2514600" cy="457200"/>
          </a:xfrm>
          <a:prstGeom prst="roundRect">
            <a:avLst>
              <a:gd name="adj" fmla="val 14000"/>
            </a:avLst>
          </a:prstGeom>
          <a:solidFill>
            <a:srgbClr val="F2F4F9"/>
          </a:solidFill>
          <a:ln w="15875">
            <a:solidFill>
              <a:srgbClr val="D3DAEA"/>
            </a:solidFill>
            <a:prstDash val="solid"/>
          </a:ln>
        </p:spPr>
      </p:sp>
      <p:sp>
        <p:nvSpPr>
          <p:cNvPr id="18" name="Text 16"/>
          <p:cNvSpPr txBox="1"/>
          <p:nvPr/>
        </p:nvSpPr>
        <p:spPr>
          <a:xfrm>
            <a:off x="6080760" y="2148840"/>
            <a:ext cx="2423160" cy="457200"/>
          </a:xfrm>
          <a:prstGeom prst="rect">
            <a:avLst/>
          </a:prstGeom>
          <a:noFill/>
          <a:ln/>
        </p:spPr>
        <p:txBody>
          <a:bodyPr wrap="square" lIns="12700" tIns="12700" rIns="12700" bIns="1270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指示プロンプト作成</a:t>
            </a:r>
            <a:endParaRPr lang="en-US" sz="1150" dirty="0"/>
          </a:p>
        </p:txBody>
      </p:sp>
      <p:sp>
        <p:nvSpPr>
          <p:cNvPr id="19" name="Shape 17"/>
          <p:cNvSpPr/>
          <p:nvPr/>
        </p:nvSpPr>
        <p:spPr>
          <a:xfrm>
            <a:off x="8549640" y="2377440"/>
            <a:ext cx="182880" cy="0"/>
          </a:xfrm>
          <a:prstGeom prst="line">
            <a:avLst/>
          </a:prstGeom>
          <a:noFill/>
          <a:ln w="19050">
            <a:solidFill>
              <a:srgbClr val="1E2761"/>
            </a:solidFill>
            <a:prstDash val="solid"/>
            <a:tailEnd type="triangle"/>
          </a:ln>
        </p:spPr>
      </p:sp>
      <p:sp>
        <p:nvSpPr>
          <p:cNvPr id="20" name="Shape 18"/>
          <p:cNvSpPr/>
          <p:nvPr/>
        </p:nvSpPr>
        <p:spPr>
          <a:xfrm>
            <a:off x="8732520" y="2148840"/>
            <a:ext cx="2514600" cy="457200"/>
          </a:xfrm>
          <a:prstGeom prst="roundRect">
            <a:avLst>
              <a:gd name="adj" fmla="val 14000"/>
            </a:avLst>
          </a:prstGeom>
          <a:solidFill>
            <a:srgbClr val="E8623C"/>
          </a:solidFill>
          <a:ln w="15875">
            <a:solidFill>
              <a:srgbClr val="D3DAEA"/>
            </a:solidFill>
            <a:prstDash val="solid"/>
          </a:ln>
        </p:spPr>
      </p:sp>
      <p:sp>
        <p:nvSpPr>
          <p:cNvPr id="21" name="Text 19"/>
          <p:cNvSpPr txBox="1"/>
          <p:nvPr/>
        </p:nvSpPr>
        <p:spPr>
          <a:xfrm>
            <a:off x="8778240" y="2148840"/>
            <a:ext cx="2423160" cy="457200"/>
          </a:xfrm>
          <a:prstGeom prst="rect">
            <a:avLst/>
          </a:prstGeom>
          <a:noFill/>
          <a:ln/>
        </p:spPr>
        <p:txBody>
          <a:bodyPr wrap="square" lIns="12700" tIns="12700" rIns="12700" bIns="127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生成</a:t>
            </a:r>
            <a:endParaRPr lang="en-US" sz="1150" dirty="0"/>
          </a:p>
        </p:txBody>
      </p:sp>
      <p:sp>
        <p:nvSpPr>
          <p:cNvPr id="22" name="Shape 20"/>
          <p:cNvSpPr/>
          <p:nvPr/>
        </p:nvSpPr>
        <p:spPr>
          <a:xfrm>
            <a:off x="914400" y="3081528"/>
            <a:ext cx="10332720" cy="420624"/>
          </a:xfrm>
          <a:prstGeom prst="roundRect">
            <a:avLst>
              <a:gd name="adj" fmla="val 15217"/>
            </a:avLst>
          </a:prstGeom>
          <a:solidFill>
            <a:srgbClr val="FFFFFF"/>
          </a:solidFill>
          <a:ln w="15875">
            <a:solidFill>
              <a:srgbClr val="E8623C"/>
            </a:solidFill>
            <a:prstDash val="solid"/>
          </a:ln>
        </p:spPr>
      </p:sp>
      <p:sp>
        <p:nvSpPr>
          <p:cNvPr id="23" name="Text 21"/>
          <p:cNvSpPr txBox="1"/>
          <p:nvPr/>
        </p:nvSpPr>
        <p:spPr>
          <a:xfrm>
            <a:off x="1143000" y="3081528"/>
            <a:ext cx="9921240" cy="420624"/>
          </a:xfrm>
          <a:prstGeom prst="rect">
            <a:avLst/>
          </a:prstGeom>
          <a:noFill/>
          <a:ln/>
        </p:spPr>
        <p:txBody>
          <a:bodyPr wrap="square" lIns="25400" tIns="25400" rIns="25400" bIns="25400" rtlCol="0" anchor="ctr"/>
          <a:lstStyle/>
          <a:p>
            <a:pPr algn="l" indent="0" marL="0">
              <a:buNone/>
            </a:pPr>
            <a:r>
              <a:rPr lang="en-US" sz="1000" i="1" dirty="0">
                <a:solidFill>
                  <a:srgbClr val="1E2761"/>
                </a:solidFill>
                <a:latin typeface="Calibri" pitchFamily="34" charset="0"/>
                <a:ea typeface="Calibri" pitchFamily="34" charset="-122"/>
                <a:cs typeface="Calibri" pitchFamily="34" charset="-120"/>
              </a:rPr>
              <a:t>「ここまでの議論を、論理的に整理された文章として清書してください。」</a:t>
            </a:r>
            <a:endParaRPr lang="en-US" sz="1000" dirty="0"/>
          </a:p>
        </p:txBody>
      </p:sp>
      <p:sp>
        <p:nvSpPr>
          <p:cNvPr id="24" name="Shape 22"/>
          <p:cNvSpPr/>
          <p:nvPr/>
        </p:nvSpPr>
        <p:spPr>
          <a:xfrm>
            <a:off x="1005840" y="2935224"/>
            <a:ext cx="1371600" cy="292608"/>
          </a:xfrm>
          <a:prstGeom prst="roundRect">
            <a:avLst>
              <a:gd name="adj" fmla="val 50000"/>
            </a:avLst>
          </a:prstGeom>
          <a:solidFill>
            <a:srgbClr val="1E2761"/>
          </a:solidFill>
          <a:ln/>
        </p:spPr>
      </p:sp>
      <p:sp>
        <p:nvSpPr>
          <p:cNvPr id="25" name="Text 23"/>
          <p:cNvSpPr txBox="1"/>
          <p:nvPr/>
        </p:nvSpPr>
        <p:spPr>
          <a:xfrm>
            <a:off x="1005840" y="2935224"/>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清書</a:t>
            </a:r>
            <a:endParaRPr lang="en-US" sz="1050" dirty="0"/>
          </a:p>
        </p:txBody>
      </p:sp>
      <p:sp>
        <p:nvSpPr>
          <p:cNvPr id="26" name="Shape 24"/>
          <p:cNvSpPr/>
          <p:nvPr/>
        </p:nvSpPr>
        <p:spPr>
          <a:xfrm>
            <a:off x="914400" y="3685032"/>
            <a:ext cx="10332720" cy="420624"/>
          </a:xfrm>
          <a:prstGeom prst="roundRect">
            <a:avLst>
              <a:gd name="adj" fmla="val 15217"/>
            </a:avLst>
          </a:prstGeom>
          <a:solidFill>
            <a:srgbClr val="FFFFFF"/>
          </a:solidFill>
          <a:ln w="15875">
            <a:solidFill>
              <a:srgbClr val="E8623C"/>
            </a:solidFill>
            <a:prstDash val="solid"/>
          </a:ln>
        </p:spPr>
      </p:sp>
      <p:sp>
        <p:nvSpPr>
          <p:cNvPr id="27" name="Text 25"/>
          <p:cNvSpPr txBox="1"/>
          <p:nvPr/>
        </p:nvSpPr>
        <p:spPr>
          <a:xfrm>
            <a:off x="1143000" y="3685032"/>
            <a:ext cx="9921240" cy="420624"/>
          </a:xfrm>
          <a:prstGeom prst="rect">
            <a:avLst/>
          </a:prstGeom>
          <a:noFill/>
          <a:ln/>
        </p:spPr>
        <p:txBody>
          <a:bodyPr wrap="square" lIns="25400" tIns="25400" rIns="25400" bIns="25400" rtlCol="0" anchor="ctr"/>
          <a:lstStyle/>
          <a:p>
            <a:pPr algn="l" indent="0" marL="0">
              <a:buNone/>
            </a:pPr>
            <a:r>
              <a:rPr lang="en-US" sz="1000" i="1" dirty="0">
                <a:solidFill>
                  <a:srgbClr val="1E2761"/>
                </a:solidFill>
                <a:latin typeface="Calibri" pitchFamily="34" charset="0"/>
                <a:ea typeface="Calibri" pitchFamily="34" charset="-122"/>
                <a:cs typeface="Calibri" pitchFamily="34" charset="-120"/>
              </a:rPr>
              <a:t>「ここまでの議論の要点を、［箇条書き／◯◯字程度］でまとめてください。」</a:t>
            </a:r>
            <a:endParaRPr lang="en-US" sz="1000" dirty="0"/>
          </a:p>
        </p:txBody>
      </p:sp>
      <p:sp>
        <p:nvSpPr>
          <p:cNvPr id="28" name="Shape 26"/>
          <p:cNvSpPr/>
          <p:nvPr/>
        </p:nvSpPr>
        <p:spPr>
          <a:xfrm>
            <a:off x="1005840" y="3538728"/>
            <a:ext cx="1371600" cy="292608"/>
          </a:xfrm>
          <a:prstGeom prst="roundRect">
            <a:avLst>
              <a:gd name="adj" fmla="val 50000"/>
            </a:avLst>
          </a:prstGeom>
          <a:solidFill>
            <a:srgbClr val="1E2761"/>
          </a:solidFill>
          <a:ln/>
        </p:spPr>
      </p:sp>
      <p:sp>
        <p:nvSpPr>
          <p:cNvPr id="29" name="Text 27"/>
          <p:cNvSpPr txBox="1"/>
          <p:nvPr/>
        </p:nvSpPr>
        <p:spPr>
          <a:xfrm>
            <a:off x="1005840" y="3538728"/>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まとめ</a:t>
            </a:r>
            <a:endParaRPr lang="en-US" sz="1050" dirty="0"/>
          </a:p>
        </p:txBody>
      </p:sp>
      <p:sp>
        <p:nvSpPr>
          <p:cNvPr id="30" name="Shape 28"/>
          <p:cNvSpPr/>
          <p:nvPr/>
        </p:nvSpPr>
        <p:spPr>
          <a:xfrm>
            <a:off x="914400" y="4288536"/>
            <a:ext cx="10332720" cy="420624"/>
          </a:xfrm>
          <a:prstGeom prst="roundRect">
            <a:avLst>
              <a:gd name="adj" fmla="val 15217"/>
            </a:avLst>
          </a:prstGeom>
          <a:solidFill>
            <a:srgbClr val="FFFFFF"/>
          </a:solidFill>
          <a:ln w="15875">
            <a:solidFill>
              <a:srgbClr val="E8623C"/>
            </a:solidFill>
            <a:prstDash val="solid"/>
          </a:ln>
        </p:spPr>
      </p:sp>
      <p:sp>
        <p:nvSpPr>
          <p:cNvPr id="31" name="Text 29"/>
          <p:cNvSpPr txBox="1"/>
          <p:nvPr/>
        </p:nvSpPr>
        <p:spPr>
          <a:xfrm>
            <a:off x="1143000" y="4288536"/>
            <a:ext cx="9921240" cy="420624"/>
          </a:xfrm>
          <a:prstGeom prst="rect">
            <a:avLst/>
          </a:prstGeom>
          <a:noFill/>
          <a:ln/>
        </p:spPr>
        <p:txBody>
          <a:bodyPr wrap="square" lIns="25400" tIns="25400" rIns="25400" bIns="25400" rtlCol="0" anchor="ctr"/>
          <a:lstStyle/>
          <a:p>
            <a:pPr algn="l" indent="0" marL="0">
              <a:buNone/>
            </a:pPr>
            <a:r>
              <a:rPr lang="en-US" sz="1000" i="1" dirty="0">
                <a:solidFill>
                  <a:srgbClr val="1E2761"/>
                </a:solidFill>
                <a:latin typeface="Calibri" pitchFamily="34" charset="0"/>
                <a:ea typeface="Calibri" pitchFamily="34" charset="-122"/>
                <a:cs typeface="Calibri" pitchFamily="34" charset="-120"/>
              </a:rPr>
              <a:t>「ここまでの内容を踏まえて、［成果物の種類：提案書／メール／レポートなど］を作成するための指示文を作成してください。」</a:t>
            </a:r>
            <a:endParaRPr lang="en-US" sz="1000" dirty="0"/>
          </a:p>
        </p:txBody>
      </p:sp>
      <p:sp>
        <p:nvSpPr>
          <p:cNvPr id="32" name="Shape 30"/>
          <p:cNvSpPr/>
          <p:nvPr/>
        </p:nvSpPr>
        <p:spPr>
          <a:xfrm>
            <a:off x="1005840" y="4142232"/>
            <a:ext cx="1371600" cy="292608"/>
          </a:xfrm>
          <a:prstGeom prst="roundRect">
            <a:avLst>
              <a:gd name="adj" fmla="val 50000"/>
            </a:avLst>
          </a:prstGeom>
          <a:solidFill>
            <a:srgbClr val="1E2761"/>
          </a:solidFill>
          <a:ln/>
        </p:spPr>
      </p:sp>
      <p:sp>
        <p:nvSpPr>
          <p:cNvPr id="33" name="Text 31"/>
          <p:cNvSpPr txBox="1"/>
          <p:nvPr/>
        </p:nvSpPr>
        <p:spPr>
          <a:xfrm>
            <a:off x="1005840" y="4142232"/>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指示プロンプト作成</a:t>
            </a:r>
            <a:endParaRPr lang="en-US" sz="1050" dirty="0"/>
          </a:p>
        </p:txBody>
      </p:sp>
      <p:sp>
        <p:nvSpPr>
          <p:cNvPr id="34" name="Shape 32"/>
          <p:cNvSpPr/>
          <p:nvPr/>
        </p:nvSpPr>
        <p:spPr>
          <a:xfrm>
            <a:off x="914400" y="4892040"/>
            <a:ext cx="10332720" cy="420624"/>
          </a:xfrm>
          <a:prstGeom prst="roundRect">
            <a:avLst>
              <a:gd name="adj" fmla="val 15217"/>
            </a:avLst>
          </a:prstGeom>
          <a:solidFill>
            <a:srgbClr val="FFFFFF"/>
          </a:solidFill>
          <a:ln w="15875">
            <a:solidFill>
              <a:srgbClr val="E8623C"/>
            </a:solidFill>
            <a:prstDash val="solid"/>
          </a:ln>
        </p:spPr>
      </p:sp>
      <p:sp>
        <p:nvSpPr>
          <p:cNvPr id="35" name="Text 33"/>
          <p:cNvSpPr txBox="1"/>
          <p:nvPr/>
        </p:nvSpPr>
        <p:spPr>
          <a:xfrm>
            <a:off x="1143000" y="4892040"/>
            <a:ext cx="9921240" cy="420624"/>
          </a:xfrm>
          <a:prstGeom prst="rect">
            <a:avLst/>
          </a:prstGeom>
          <a:noFill/>
          <a:ln/>
        </p:spPr>
        <p:txBody>
          <a:bodyPr wrap="square" lIns="25400" tIns="25400" rIns="25400" bIns="25400" rtlCol="0" anchor="ctr"/>
          <a:lstStyle/>
          <a:p>
            <a:pPr algn="l" indent="0" marL="0">
              <a:buNone/>
            </a:pPr>
            <a:r>
              <a:rPr lang="en-US" sz="1000" i="1" dirty="0">
                <a:solidFill>
                  <a:srgbClr val="1E2761"/>
                </a:solidFill>
                <a:latin typeface="Calibri" pitchFamily="34" charset="0"/>
                <a:ea typeface="Calibri" pitchFamily="34" charset="-122"/>
                <a:cs typeface="Calibri" pitchFamily="34" charset="-120"/>
              </a:rPr>
              <a:t>「上記の指示に従って、［成果物］を作成してください。」</a:t>
            </a:r>
            <a:endParaRPr lang="en-US" sz="1000" dirty="0"/>
          </a:p>
        </p:txBody>
      </p:sp>
      <p:sp>
        <p:nvSpPr>
          <p:cNvPr id="36" name="Shape 34"/>
          <p:cNvSpPr/>
          <p:nvPr/>
        </p:nvSpPr>
        <p:spPr>
          <a:xfrm>
            <a:off x="1005840" y="4745736"/>
            <a:ext cx="1371600" cy="292608"/>
          </a:xfrm>
          <a:prstGeom prst="roundRect">
            <a:avLst>
              <a:gd name="adj" fmla="val 50000"/>
            </a:avLst>
          </a:prstGeom>
          <a:solidFill>
            <a:srgbClr val="1E2761"/>
          </a:solidFill>
          <a:ln/>
        </p:spPr>
      </p:sp>
      <p:sp>
        <p:nvSpPr>
          <p:cNvPr id="37" name="Text 35"/>
          <p:cNvSpPr txBox="1"/>
          <p:nvPr/>
        </p:nvSpPr>
        <p:spPr>
          <a:xfrm>
            <a:off x="1005840" y="4745736"/>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生成</a:t>
            </a:r>
            <a:endParaRPr lang="en-US" sz="1050" dirty="0"/>
          </a:p>
        </p:txBody>
      </p:sp>
      <p:sp>
        <p:nvSpPr>
          <p:cNvPr id="38" name="Shape 36"/>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9" name="Shape 37"/>
          <p:cNvSpPr/>
          <p:nvPr/>
        </p:nvSpPr>
        <p:spPr>
          <a:xfrm>
            <a:off x="548640" y="5870448"/>
            <a:ext cx="54864" cy="713232"/>
          </a:xfrm>
          <a:prstGeom prst="rect">
            <a:avLst/>
          </a:prstGeom>
          <a:solidFill>
            <a:srgbClr val="E8623C"/>
          </a:solidFill>
          <a:ln/>
        </p:spPr>
      </p:sp>
      <p:sp>
        <p:nvSpPr>
          <p:cNvPr id="40" name="Text 38"/>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030" dirty="0">
                <a:solidFill>
                  <a:srgbClr val="1E2761"/>
                </a:solidFill>
                <a:latin typeface="Calibri" pitchFamily="34" charset="0"/>
                <a:ea typeface="Calibri" pitchFamily="34" charset="-122"/>
                <a:cs typeface="Calibri" pitchFamily="34" charset="-120"/>
              </a:rPr>
              <a:t>検証（1〜7）を続けているだけでは、それ自体は仕事の成果になりません。清書・要約・生成用プロンプト作成・生成という工程を経て初めて成果物になります。生成用の指示文自体をAIに作らせることで、精密化した議論の内容を漏らさず反映できます。</a:t>
            </a:r>
            <a:endParaRPr lang="en-US" sz="10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プロンプトは組み合わせて使う</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壁打ちは一発のプロンプトでは完成しない。問い→回答→さらに問い、の連鎖である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11 / 13</a:t>
            </a:r>
            <a:endParaRPr lang="en-US" sz="900" dirty="0"/>
          </a:p>
        </p:txBody>
      </p:sp>
      <p:sp>
        <p:nvSpPr>
          <p:cNvPr id="5" name="Text 3"/>
          <p:cNvSpPr txBox="1"/>
          <p:nvPr/>
        </p:nvSpPr>
        <p:spPr>
          <a:xfrm>
            <a:off x="640080" y="1371600"/>
            <a:ext cx="2743200" cy="292608"/>
          </a:xfrm>
          <a:prstGeom prst="rect">
            <a:avLst/>
          </a:prstGeom>
          <a:noFill/>
          <a:ln/>
        </p:spPr>
        <p:txBody>
          <a:bodyPr wrap="square" lIns="0" tIns="0" rIns="0" bIns="0" rtlCol="0" anchor="t"/>
          <a:lstStyle/>
          <a:p>
            <a:pPr algn="l" indent="0" marL="0">
              <a:buNone/>
            </a:pPr>
            <a:r>
              <a:rPr lang="en-US" sz="1200" b="1" dirty="0">
                <a:solidFill>
                  <a:srgbClr val="1E2761"/>
                </a:solidFill>
                <a:latin typeface="Calibri" pitchFamily="34" charset="0"/>
                <a:ea typeface="Calibri" pitchFamily="34" charset="-122"/>
                <a:cs typeface="Calibri" pitchFamily="34" charset="-120"/>
              </a:rPr>
              <a:t>検証フェーズ</a:t>
            </a:r>
            <a:endParaRPr lang="en-US" sz="1200" dirty="0"/>
          </a:p>
        </p:txBody>
      </p:sp>
      <p:sp>
        <p:nvSpPr>
          <p:cNvPr id="6" name="Shape 4"/>
          <p:cNvSpPr/>
          <p:nvPr/>
        </p:nvSpPr>
        <p:spPr>
          <a:xfrm>
            <a:off x="640080" y="1719072"/>
            <a:ext cx="1691640" cy="685800"/>
          </a:xfrm>
          <a:prstGeom prst="roundRect">
            <a:avLst>
              <a:gd name="adj" fmla="val 9333"/>
            </a:avLst>
          </a:prstGeom>
          <a:solidFill>
            <a:srgbClr val="F2F4F9"/>
          </a:solidFill>
          <a:ln w="15875">
            <a:solidFill>
              <a:srgbClr val="D3DAEA"/>
            </a:solidFill>
            <a:prstDash val="solid"/>
          </a:ln>
        </p:spPr>
      </p:sp>
      <p:sp>
        <p:nvSpPr>
          <p:cNvPr id="7" name="Text 5"/>
          <p:cNvSpPr txBox="1"/>
          <p:nvPr/>
        </p:nvSpPr>
        <p:spPr>
          <a:xfrm>
            <a:off x="685800" y="1719072"/>
            <a:ext cx="1600200" cy="685800"/>
          </a:xfrm>
          <a:prstGeom prst="rect">
            <a:avLst/>
          </a:prstGeom>
          <a:noFill/>
          <a:ln/>
        </p:spPr>
        <p:txBody>
          <a:bodyPr wrap="square" lIns="12700" tIns="12700" rIns="12700" bIns="1270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原因を列挙</a:t>
            </a:r>
            <a:endParaRPr lang="en-US" sz="950" dirty="0"/>
          </a:p>
        </p:txBody>
      </p:sp>
      <p:sp>
        <p:nvSpPr>
          <p:cNvPr id="8" name="Shape 6"/>
          <p:cNvSpPr/>
          <p:nvPr/>
        </p:nvSpPr>
        <p:spPr>
          <a:xfrm>
            <a:off x="2331720" y="2061972"/>
            <a:ext cx="109728" cy="0"/>
          </a:xfrm>
          <a:prstGeom prst="line">
            <a:avLst/>
          </a:prstGeom>
          <a:noFill/>
          <a:ln w="19050">
            <a:solidFill>
              <a:srgbClr val="1E2761"/>
            </a:solidFill>
            <a:prstDash val="solid"/>
            <a:tailEnd type="triangle"/>
          </a:ln>
        </p:spPr>
      </p:sp>
      <p:sp>
        <p:nvSpPr>
          <p:cNvPr id="9" name="Shape 7"/>
          <p:cNvSpPr/>
          <p:nvPr/>
        </p:nvSpPr>
        <p:spPr>
          <a:xfrm>
            <a:off x="2441448" y="1719072"/>
            <a:ext cx="1691640" cy="685800"/>
          </a:xfrm>
          <a:prstGeom prst="roundRect">
            <a:avLst>
              <a:gd name="adj" fmla="val 9333"/>
            </a:avLst>
          </a:prstGeom>
          <a:solidFill>
            <a:srgbClr val="F2F4F9"/>
          </a:solidFill>
          <a:ln w="15875">
            <a:solidFill>
              <a:srgbClr val="D3DAEA"/>
            </a:solidFill>
            <a:prstDash val="solid"/>
          </a:ln>
        </p:spPr>
      </p:sp>
      <p:sp>
        <p:nvSpPr>
          <p:cNvPr id="10" name="Text 8"/>
          <p:cNvSpPr txBox="1"/>
          <p:nvPr/>
        </p:nvSpPr>
        <p:spPr>
          <a:xfrm>
            <a:off x="2487168" y="1719072"/>
            <a:ext cx="1600200" cy="685800"/>
          </a:xfrm>
          <a:prstGeom prst="rect">
            <a:avLst/>
          </a:prstGeom>
          <a:noFill/>
          <a:ln/>
        </p:spPr>
        <p:txBody>
          <a:bodyPr wrap="square" lIns="12700" tIns="12700" rIns="12700" bIns="1270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重要度で分類</a:t>
            </a:r>
            <a:endParaRPr lang="en-US" sz="950" dirty="0"/>
          </a:p>
        </p:txBody>
      </p:sp>
      <p:sp>
        <p:nvSpPr>
          <p:cNvPr id="11" name="Shape 9"/>
          <p:cNvSpPr/>
          <p:nvPr/>
        </p:nvSpPr>
        <p:spPr>
          <a:xfrm>
            <a:off x="4133088" y="2061972"/>
            <a:ext cx="109728" cy="0"/>
          </a:xfrm>
          <a:prstGeom prst="line">
            <a:avLst/>
          </a:prstGeom>
          <a:noFill/>
          <a:ln w="19050">
            <a:solidFill>
              <a:srgbClr val="1E2761"/>
            </a:solidFill>
            <a:prstDash val="solid"/>
            <a:tailEnd type="triangle"/>
          </a:ln>
        </p:spPr>
      </p:sp>
      <p:sp>
        <p:nvSpPr>
          <p:cNvPr id="12" name="Shape 10"/>
          <p:cNvSpPr/>
          <p:nvPr/>
        </p:nvSpPr>
        <p:spPr>
          <a:xfrm>
            <a:off x="4242816" y="1719072"/>
            <a:ext cx="1691640" cy="685800"/>
          </a:xfrm>
          <a:prstGeom prst="roundRect">
            <a:avLst>
              <a:gd name="adj" fmla="val 9333"/>
            </a:avLst>
          </a:prstGeom>
          <a:solidFill>
            <a:srgbClr val="F2F4F9"/>
          </a:solidFill>
          <a:ln w="15875">
            <a:solidFill>
              <a:srgbClr val="D3DAEA"/>
            </a:solidFill>
            <a:prstDash val="solid"/>
          </a:ln>
        </p:spPr>
      </p:sp>
      <p:sp>
        <p:nvSpPr>
          <p:cNvPr id="13" name="Text 11"/>
          <p:cNvSpPr txBox="1"/>
          <p:nvPr/>
        </p:nvSpPr>
        <p:spPr>
          <a:xfrm>
            <a:off x="4288536" y="1719072"/>
            <a:ext cx="1600200" cy="685800"/>
          </a:xfrm>
          <a:prstGeom prst="rect">
            <a:avLst/>
          </a:prstGeom>
          <a:noFill/>
          <a:ln/>
        </p:spPr>
        <p:txBody>
          <a:bodyPr wrap="square" lIns="12700" tIns="12700" rIns="12700" bIns="1270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最強の反論</a:t>
            </a:r>
            <a:endParaRPr lang="en-US" sz="950" dirty="0"/>
          </a:p>
        </p:txBody>
      </p:sp>
      <p:sp>
        <p:nvSpPr>
          <p:cNvPr id="14" name="Shape 12"/>
          <p:cNvSpPr/>
          <p:nvPr/>
        </p:nvSpPr>
        <p:spPr>
          <a:xfrm>
            <a:off x="5934456" y="2061972"/>
            <a:ext cx="109728" cy="0"/>
          </a:xfrm>
          <a:prstGeom prst="line">
            <a:avLst/>
          </a:prstGeom>
          <a:noFill/>
          <a:ln w="19050">
            <a:solidFill>
              <a:srgbClr val="1E2761"/>
            </a:solidFill>
            <a:prstDash val="solid"/>
            <a:tailEnd type="triangle"/>
          </a:ln>
        </p:spPr>
      </p:sp>
      <p:sp>
        <p:nvSpPr>
          <p:cNvPr id="15" name="Shape 13"/>
          <p:cNvSpPr/>
          <p:nvPr/>
        </p:nvSpPr>
        <p:spPr>
          <a:xfrm>
            <a:off x="6044184" y="1719072"/>
            <a:ext cx="1691640" cy="685800"/>
          </a:xfrm>
          <a:prstGeom prst="roundRect">
            <a:avLst>
              <a:gd name="adj" fmla="val 9333"/>
            </a:avLst>
          </a:prstGeom>
          <a:solidFill>
            <a:srgbClr val="F2F4F9"/>
          </a:solidFill>
          <a:ln w="15875">
            <a:solidFill>
              <a:srgbClr val="D3DAEA"/>
            </a:solidFill>
            <a:prstDash val="solid"/>
          </a:ln>
        </p:spPr>
      </p:sp>
      <p:sp>
        <p:nvSpPr>
          <p:cNvPr id="16" name="Text 14"/>
          <p:cNvSpPr txBox="1"/>
          <p:nvPr/>
        </p:nvSpPr>
        <p:spPr>
          <a:xfrm>
            <a:off x="6089904" y="1719072"/>
            <a:ext cx="1600200" cy="685800"/>
          </a:xfrm>
          <a:prstGeom prst="rect">
            <a:avLst/>
          </a:prstGeom>
          <a:noFill/>
          <a:ln/>
        </p:spPr>
        <p:txBody>
          <a:bodyPr wrap="square" lIns="12700" tIns="12700" rIns="12700" bIns="1270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反論の前提を列挙</a:t>
            </a:r>
            <a:endParaRPr lang="en-US" sz="950" dirty="0"/>
          </a:p>
        </p:txBody>
      </p:sp>
      <p:sp>
        <p:nvSpPr>
          <p:cNvPr id="17" name="Shape 15"/>
          <p:cNvSpPr/>
          <p:nvPr/>
        </p:nvSpPr>
        <p:spPr>
          <a:xfrm>
            <a:off x="7735824" y="2061972"/>
            <a:ext cx="109728" cy="0"/>
          </a:xfrm>
          <a:prstGeom prst="line">
            <a:avLst/>
          </a:prstGeom>
          <a:noFill/>
          <a:ln w="19050">
            <a:solidFill>
              <a:srgbClr val="1E2761"/>
            </a:solidFill>
            <a:prstDash val="solid"/>
            <a:tailEnd type="triangle"/>
          </a:ln>
        </p:spPr>
      </p:sp>
      <p:sp>
        <p:nvSpPr>
          <p:cNvPr id="18" name="Shape 16"/>
          <p:cNvSpPr/>
          <p:nvPr/>
        </p:nvSpPr>
        <p:spPr>
          <a:xfrm>
            <a:off x="7845552" y="1719072"/>
            <a:ext cx="1691640" cy="685800"/>
          </a:xfrm>
          <a:prstGeom prst="roundRect">
            <a:avLst>
              <a:gd name="adj" fmla="val 9333"/>
            </a:avLst>
          </a:prstGeom>
          <a:solidFill>
            <a:srgbClr val="F2F4F9"/>
          </a:solidFill>
          <a:ln w="15875">
            <a:solidFill>
              <a:srgbClr val="D3DAEA"/>
            </a:solidFill>
            <a:prstDash val="solid"/>
          </a:ln>
        </p:spPr>
      </p:sp>
      <p:sp>
        <p:nvSpPr>
          <p:cNvPr id="19" name="Text 17"/>
          <p:cNvSpPr txBox="1"/>
          <p:nvPr/>
        </p:nvSpPr>
        <p:spPr>
          <a:xfrm>
            <a:off x="7891272" y="1719072"/>
            <a:ext cx="1600200" cy="685800"/>
          </a:xfrm>
          <a:prstGeom prst="rect">
            <a:avLst/>
          </a:prstGeom>
          <a:noFill/>
          <a:ln/>
        </p:spPr>
        <p:txBody>
          <a:bodyPr wrap="square" lIns="12700" tIns="12700" rIns="12700" bIns="1270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前提の根拠確認</a:t>
            </a:r>
            <a:endParaRPr lang="en-US" sz="950" dirty="0"/>
          </a:p>
        </p:txBody>
      </p:sp>
      <p:sp>
        <p:nvSpPr>
          <p:cNvPr id="20" name="Shape 18"/>
          <p:cNvSpPr/>
          <p:nvPr/>
        </p:nvSpPr>
        <p:spPr>
          <a:xfrm>
            <a:off x="9537192" y="2061972"/>
            <a:ext cx="109728" cy="0"/>
          </a:xfrm>
          <a:prstGeom prst="line">
            <a:avLst/>
          </a:prstGeom>
          <a:noFill/>
          <a:ln w="19050">
            <a:solidFill>
              <a:srgbClr val="1E2761"/>
            </a:solidFill>
            <a:prstDash val="solid"/>
            <a:tailEnd type="triangle"/>
          </a:ln>
        </p:spPr>
      </p:sp>
      <p:sp>
        <p:nvSpPr>
          <p:cNvPr id="21" name="Shape 19"/>
          <p:cNvSpPr/>
          <p:nvPr/>
        </p:nvSpPr>
        <p:spPr>
          <a:xfrm>
            <a:off x="9646920" y="1719072"/>
            <a:ext cx="1691640" cy="685800"/>
          </a:xfrm>
          <a:prstGeom prst="roundRect">
            <a:avLst>
              <a:gd name="adj" fmla="val 9333"/>
            </a:avLst>
          </a:prstGeom>
          <a:solidFill>
            <a:srgbClr val="F2F4F9"/>
          </a:solidFill>
          <a:ln w="15875">
            <a:solidFill>
              <a:srgbClr val="D3DAEA"/>
            </a:solidFill>
            <a:prstDash val="solid"/>
          </a:ln>
        </p:spPr>
      </p:sp>
      <p:sp>
        <p:nvSpPr>
          <p:cNvPr id="22" name="Text 20"/>
          <p:cNvSpPr txBox="1"/>
          <p:nvPr/>
        </p:nvSpPr>
        <p:spPr>
          <a:xfrm>
            <a:off x="9692640" y="1719072"/>
            <a:ext cx="1600200" cy="685800"/>
          </a:xfrm>
          <a:prstGeom prst="rect">
            <a:avLst/>
          </a:prstGeom>
          <a:noFill/>
          <a:ln/>
        </p:spPr>
        <p:txBody>
          <a:bodyPr wrap="square" lIns="12700" tIns="12700" rIns="12700" bIns="1270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確実な点を整理</a:t>
            </a:r>
            <a:endParaRPr lang="en-US" sz="950" dirty="0"/>
          </a:p>
        </p:txBody>
      </p:sp>
      <p:sp>
        <p:nvSpPr>
          <p:cNvPr id="23" name="Shape 21"/>
          <p:cNvSpPr/>
          <p:nvPr/>
        </p:nvSpPr>
        <p:spPr>
          <a:xfrm>
            <a:off x="10492740" y="2404872"/>
            <a:ext cx="0" cy="365760"/>
          </a:xfrm>
          <a:prstGeom prst="line">
            <a:avLst/>
          </a:prstGeom>
          <a:noFill/>
          <a:ln w="25400">
            <a:solidFill>
              <a:srgbClr val="E8623C"/>
            </a:solidFill>
            <a:prstDash val="solid"/>
            <a:tailEnd type="triangle"/>
          </a:ln>
        </p:spPr>
      </p:sp>
      <p:sp>
        <p:nvSpPr>
          <p:cNvPr id="24" name="Text 22"/>
          <p:cNvSpPr txBox="1"/>
          <p:nvPr/>
        </p:nvSpPr>
        <p:spPr>
          <a:xfrm>
            <a:off x="640080" y="2907792"/>
            <a:ext cx="3108960" cy="292608"/>
          </a:xfrm>
          <a:prstGeom prst="rect">
            <a:avLst/>
          </a:prstGeom>
          <a:noFill/>
          <a:ln/>
        </p:spPr>
        <p:txBody>
          <a:bodyPr wrap="square" lIns="0" tIns="0" rIns="0" bIns="0" rtlCol="0" anchor="t"/>
          <a:lstStyle/>
          <a:p>
            <a:pPr algn="l" indent="0" marL="0">
              <a:buNone/>
            </a:pPr>
            <a:r>
              <a:rPr lang="en-US" sz="1200" b="1" dirty="0">
                <a:solidFill>
                  <a:srgbClr val="E8623C"/>
                </a:solidFill>
                <a:latin typeface="Calibri" pitchFamily="34" charset="0"/>
                <a:ea typeface="Calibri" pitchFamily="34" charset="-122"/>
                <a:cs typeface="Calibri" pitchFamily="34" charset="-120"/>
              </a:rPr>
              <a:t>成果物化フェーズ</a:t>
            </a:r>
            <a:endParaRPr lang="en-US" sz="1200" dirty="0"/>
          </a:p>
        </p:txBody>
      </p:sp>
      <p:sp>
        <p:nvSpPr>
          <p:cNvPr id="25" name="Shape 23"/>
          <p:cNvSpPr/>
          <p:nvPr/>
        </p:nvSpPr>
        <p:spPr>
          <a:xfrm>
            <a:off x="640080" y="3227832"/>
            <a:ext cx="2514600" cy="621792"/>
          </a:xfrm>
          <a:prstGeom prst="roundRect">
            <a:avLst>
              <a:gd name="adj" fmla="val 10294"/>
            </a:avLst>
          </a:prstGeom>
          <a:solidFill>
            <a:srgbClr val="FBD9CC"/>
          </a:solidFill>
          <a:ln w="15875">
            <a:solidFill>
              <a:srgbClr val="D3DAEA"/>
            </a:solidFill>
            <a:prstDash val="solid"/>
          </a:ln>
        </p:spPr>
      </p:sp>
      <p:sp>
        <p:nvSpPr>
          <p:cNvPr id="26" name="Text 24"/>
          <p:cNvSpPr txBox="1"/>
          <p:nvPr/>
        </p:nvSpPr>
        <p:spPr>
          <a:xfrm>
            <a:off x="685800" y="3227832"/>
            <a:ext cx="2423160" cy="621792"/>
          </a:xfrm>
          <a:prstGeom prst="rect">
            <a:avLst/>
          </a:prstGeom>
          <a:noFill/>
          <a:ln/>
        </p:spPr>
        <p:txBody>
          <a:bodyPr wrap="square" lIns="12700" tIns="12700" rIns="12700" bIns="1270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清書</a:t>
            </a:r>
            <a:endParaRPr lang="en-US" sz="1200" dirty="0"/>
          </a:p>
        </p:txBody>
      </p:sp>
      <p:sp>
        <p:nvSpPr>
          <p:cNvPr id="27" name="Shape 25"/>
          <p:cNvSpPr/>
          <p:nvPr/>
        </p:nvSpPr>
        <p:spPr>
          <a:xfrm>
            <a:off x="3154680" y="3538728"/>
            <a:ext cx="182880" cy="0"/>
          </a:xfrm>
          <a:prstGeom prst="line">
            <a:avLst/>
          </a:prstGeom>
          <a:noFill/>
          <a:ln w="19050">
            <a:solidFill>
              <a:srgbClr val="E8623C"/>
            </a:solidFill>
            <a:prstDash val="solid"/>
            <a:tailEnd type="triangle"/>
          </a:ln>
        </p:spPr>
      </p:sp>
      <p:sp>
        <p:nvSpPr>
          <p:cNvPr id="28" name="Shape 26"/>
          <p:cNvSpPr/>
          <p:nvPr/>
        </p:nvSpPr>
        <p:spPr>
          <a:xfrm>
            <a:off x="3337560" y="3227832"/>
            <a:ext cx="2514600" cy="621792"/>
          </a:xfrm>
          <a:prstGeom prst="roundRect">
            <a:avLst>
              <a:gd name="adj" fmla="val 10294"/>
            </a:avLst>
          </a:prstGeom>
          <a:solidFill>
            <a:srgbClr val="FBD9CC"/>
          </a:solidFill>
          <a:ln w="15875">
            <a:solidFill>
              <a:srgbClr val="D3DAEA"/>
            </a:solidFill>
            <a:prstDash val="solid"/>
          </a:ln>
        </p:spPr>
      </p:sp>
      <p:sp>
        <p:nvSpPr>
          <p:cNvPr id="29" name="Text 27"/>
          <p:cNvSpPr txBox="1"/>
          <p:nvPr/>
        </p:nvSpPr>
        <p:spPr>
          <a:xfrm>
            <a:off x="3383280" y="3227832"/>
            <a:ext cx="2423160" cy="621792"/>
          </a:xfrm>
          <a:prstGeom prst="rect">
            <a:avLst/>
          </a:prstGeom>
          <a:noFill/>
          <a:ln/>
        </p:spPr>
        <p:txBody>
          <a:bodyPr wrap="square" lIns="12700" tIns="12700" rIns="12700" bIns="1270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要点まとめ</a:t>
            </a:r>
            <a:endParaRPr lang="en-US" sz="1200" dirty="0"/>
          </a:p>
        </p:txBody>
      </p:sp>
      <p:sp>
        <p:nvSpPr>
          <p:cNvPr id="30" name="Shape 28"/>
          <p:cNvSpPr/>
          <p:nvPr/>
        </p:nvSpPr>
        <p:spPr>
          <a:xfrm>
            <a:off x="5852160" y="3538728"/>
            <a:ext cx="182880" cy="0"/>
          </a:xfrm>
          <a:prstGeom prst="line">
            <a:avLst/>
          </a:prstGeom>
          <a:noFill/>
          <a:ln w="19050">
            <a:solidFill>
              <a:srgbClr val="E8623C"/>
            </a:solidFill>
            <a:prstDash val="solid"/>
            <a:tailEnd type="triangle"/>
          </a:ln>
        </p:spPr>
      </p:sp>
      <p:sp>
        <p:nvSpPr>
          <p:cNvPr id="31" name="Shape 29"/>
          <p:cNvSpPr/>
          <p:nvPr/>
        </p:nvSpPr>
        <p:spPr>
          <a:xfrm>
            <a:off x="6035040" y="3227832"/>
            <a:ext cx="2514600" cy="621792"/>
          </a:xfrm>
          <a:prstGeom prst="roundRect">
            <a:avLst>
              <a:gd name="adj" fmla="val 10294"/>
            </a:avLst>
          </a:prstGeom>
          <a:solidFill>
            <a:srgbClr val="FBD9CC"/>
          </a:solidFill>
          <a:ln w="15875">
            <a:solidFill>
              <a:srgbClr val="D3DAEA"/>
            </a:solidFill>
            <a:prstDash val="solid"/>
          </a:ln>
        </p:spPr>
      </p:sp>
      <p:sp>
        <p:nvSpPr>
          <p:cNvPr id="32" name="Text 30"/>
          <p:cNvSpPr txBox="1"/>
          <p:nvPr/>
        </p:nvSpPr>
        <p:spPr>
          <a:xfrm>
            <a:off x="6080760" y="3227832"/>
            <a:ext cx="2423160" cy="621792"/>
          </a:xfrm>
          <a:prstGeom prst="rect">
            <a:avLst/>
          </a:prstGeom>
          <a:noFill/>
          <a:ln/>
        </p:spPr>
        <p:txBody>
          <a:bodyPr wrap="square" lIns="12700" tIns="12700" rIns="12700" bIns="1270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指示文作成</a:t>
            </a:r>
            <a:endParaRPr lang="en-US" sz="1200" dirty="0"/>
          </a:p>
        </p:txBody>
      </p:sp>
      <p:sp>
        <p:nvSpPr>
          <p:cNvPr id="33" name="Shape 31"/>
          <p:cNvSpPr/>
          <p:nvPr/>
        </p:nvSpPr>
        <p:spPr>
          <a:xfrm>
            <a:off x="8549640" y="3538728"/>
            <a:ext cx="182880" cy="0"/>
          </a:xfrm>
          <a:prstGeom prst="line">
            <a:avLst/>
          </a:prstGeom>
          <a:noFill/>
          <a:ln w="19050">
            <a:solidFill>
              <a:srgbClr val="E8623C"/>
            </a:solidFill>
            <a:prstDash val="solid"/>
            <a:tailEnd type="triangle"/>
          </a:ln>
        </p:spPr>
      </p:sp>
      <p:sp>
        <p:nvSpPr>
          <p:cNvPr id="34" name="Shape 32"/>
          <p:cNvSpPr/>
          <p:nvPr/>
        </p:nvSpPr>
        <p:spPr>
          <a:xfrm>
            <a:off x="8732520" y="3227832"/>
            <a:ext cx="2514600" cy="621792"/>
          </a:xfrm>
          <a:prstGeom prst="roundRect">
            <a:avLst>
              <a:gd name="adj" fmla="val 10294"/>
            </a:avLst>
          </a:prstGeom>
          <a:solidFill>
            <a:srgbClr val="FBD9CC"/>
          </a:solidFill>
          <a:ln w="15875">
            <a:solidFill>
              <a:srgbClr val="D3DAEA"/>
            </a:solidFill>
            <a:prstDash val="solid"/>
          </a:ln>
        </p:spPr>
      </p:sp>
      <p:sp>
        <p:nvSpPr>
          <p:cNvPr id="35" name="Text 33"/>
          <p:cNvSpPr txBox="1"/>
          <p:nvPr/>
        </p:nvSpPr>
        <p:spPr>
          <a:xfrm>
            <a:off x="8778240" y="3227832"/>
            <a:ext cx="2423160" cy="621792"/>
          </a:xfrm>
          <a:prstGeom prst="rect">
            <a:avLst/>
          </a:prstGeom>
          <a:noFill/>
          <a:ln/>
        </p:spPr>
        <p:txBody>
          <a:bodyPr wrap="square" lIns="12700" tIns="12700" rIns="12700" bIns="1270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生成</a:t>
            </a:r>
            <a:endParaRPr lang="en-US" sz="1200" dirty="0"/>
          </a:p>
        </p:txBody>
      </p:sp>
      <p:sp>
        <p:nvSpPr>
          <p:cNvPr id="36" name="Text 34"/>
          <p:cNvSpPr txBox="1"/>
          <p:nvPr/>
        </p:nvSpPr>
        <p:spPr>
          <a:xfrm>
            <a:off x="640080" y="4050792"/>
            <a:ext cx="10332720" cy="320040"/>
          </a:xfrm>
          <a:prstGeom prst="rect">
            <a:avLst/>
          </a:prstGeom>
          <a:noFill/>
          <a:ln/>
        </p:spPr>
        <p:txBody>
          <a:bodyPr wrap="square" lIns="0" tIns="0" rIns="0" bIns="0" rtlCol="0" anchor="t"/>
          <a:lstStyle/>
          <a:p>
            <a:pPr algn="ctr" indent="0" marL="0">
              <a:buNone/>
            </a:pPr>
            <a:r>
              <a:rPr lang="en-US" sz="1150" i="1" dirty="0">
                <a:solidFill>
                  <a:srgbClr val="5B6B87"/>
                </a:solidFill>
                <a:latin typeface="Calibri" pitchFamily="34" charset="0"/>
                <a:ea typeface="Calibri" pitchFamily="34" charset="-122"/>
                <a:cs typeface="Calibri" pitchFamily="34" charset="-120"/>
              </a:rPr>
              <a:t>毎回すべてを使う必要はない。必要な部分だけをつなげればよい。</a:t>
            </a:r>
            <a:endParaRPr lang="en-US" sz="1150" dirty="0"/>
          </a:p>
        </p:txBody>
      </p:sp>
      <p:sp>
        <p:nvSpPr>
          <p:cNvPr id="37" name="Shape 35"/>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8" name="Shape 36"/>
          <p:cNvSpPr/>
          <p:nvPr/>
        </p:nvSpPr>
        <p:spPr>
          <a:xfrm>
            <a:off x="548640" y="5870448"/>
            <a:ext cx="54864" cy="713232"/>
          </a:xfrm>
          <a:prstGeom prst="rect">
            <a:avLst/>
          </a:prstGeom>
          <a:solidFill>
            <a:srgbClr val="E8623C"/>
          </a:solidFill>
          <a:ln/>
        </p:spPr>
      </p:sp>
      <p:sp>
        <p:nvSpPr>
          <p:cNvPr id="39" name="Text 37"/>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これは概念編『技法は単独ではなく組み合わせる』の具体的な実演です。前半（検証フェーズ）だけで終わらせず、後半（成果物化フェーズ）まで通すことで、壁打ちが実際の仕事の成果物につながります。</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壁打ちプロンプト早見表</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やりたいことから、使うべき問いかけが一目でわかる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12 / 13</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937760"/>
        </p:xfrm>
        <a:graphic>
          <a:graphicData uri="http://schemas.openxmlformats.org/drawingml/2006/table">
            <a:tbl>
              <a:tblPr/>
              <a:tblGrid>
                <a:gridCol w="3108960"/>
                <a:gridCol w="7982712"/>
              </a:tblGrid>
              <a:tr h="290456">
                <a:tc>
                  <a:txBody>
                    <a:bodyPr/>
                    <a:lstStyle/>
                    <a:p>
                      <a:pPr algn="l" indent="0" marL="0">
                        <a:buNone/>
                      </a:pPr>
                      <a:r>
                        <a:rPr lang="en-US" sz="1150" b="1" dirty="0">
                          <a:solidFill>
                            <a:srgbClr val="FFFFFF"/>
                          </a:solidFill>
                        </a:rPr>
                        <a:t>やりたいこと</a:t>
                      </a:r>
                      <a:endParaRPr lang="en-US" sz="115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rPr>
                        <a:t>AIへの問い（要約）</a:t>
                      </a:r>
                      <a:endParaRPr lang="en-US" sz="115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1E2761"/>
                    </a:solidFill>
                  </a:tcPr>
                </a:tc>
              </a:tr>
              <a:tr h="290456">
                <a:tc>
                  <a:txBody>
                    <a:bodyPr/>
                    <a:lstStyle/>
                    <a:p>
                      <a:pPr algn="l" indent="0" marL="0">
                        <a:buNone/>
                      </a:pPr>
                      <a:r>
                        <a:rPr lang="en-US" sz="1000" b="1" dirty="0">
                          <a:solidFill>
                            <a:srgbClr val="1E2761"/>
                          </a:solidFill>
                        </a:rPr>
                        <a:t>思考を広げる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61"/>
                          </a:solidFill>
                        </a:rPr>
                        <a:t>「考えられる［選択肢／原因／説明］を列挙してください」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r>
              <a:tr h="290456">
                <a:tc>
                  <a:txBody>
                    <a:bodyPr/>
                    <a:lstStyle/>
                    <a:p>
                      <a:pPr algn="l" indent="0" marL="0">
                        <a:buNone/>
                      </a:pPr>
                      <a:r>
                        <a:rPr lang="en-US" sz="1000" b="1" dirty="0">
                          <a:solidFill>
                            <a:srgbClr val="1E2761"/>
                          </a:solidFill>
                        </a:rPr>
                        <a:t>別の可能性を見る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c>
                  <a:txBody>
                    <a:bodyPr/>
                    <a:lstStyle/>
                    <a:p>
                      <a:pPr algn="l" indent="0" marL="0">
                        <a:buNone/>
                      </a:pPr>
                      <a:r>
                        <a:rPr lang="en-US" sz="1000" dirty="0">
                          <a:solidFill>
                            <a:srgbClr val="1E2761"/>
                          </a:solidFill>
                        </a:rPr>
                        <a:t>「私の仮説以外に考えられる説明を列挙してください」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r>
              <a:tr h="290456">
                <a:tc>
                  <a:txBody>
                    <a:bodyPr/>
                    <a:lstStyle/>
                    <a:p>
                      <a:pPr algn="l" indent="0" marL="0">
                        <a:buNone/>
                      </a:pPr>
                      <a:r>
                        <a:rPr lang="en-US" sz="1000" b="1" dirty="0">
                          <a:solidFill>
                            <a:srgbClr val="1E2761"/>
                          </a:solidFill>
                        </a:rPr>
                        <a:t>思考を整理する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61"/>
                          </a:solidFill>
                        </a:rPr>
                        <a:t>「共通する観点で分類・比較してください」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r>
              <a:tr h="290456">
                <a:tc>
                  <a:txBody>
                    <a:bodyPr/>
                    <a:lstStyle/>
                    <a:p>
                      <a:pPr algn="l" indent="0" marL="0">
                        <a:buNone/>
                      </a:pPr>
                      <a:r>
                        <a:rPr lang="en-US" sz="1000" b="1" dirty="0">
                          <a:solidFill>
                            <a:srgbClr val="1E2761"/>
                          </a:solidFill>
                        </a:rPr>
                        <a:t>自説を壊す</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c>
                  <a:txBody>
                    <a:bodyPr/>
                    <a:lstStyle/>
                    <a:p>
                      <a:pPr algn="l" indent="0" marL="0">
                        <a:buNone/>
                      </a:pPr>
                      <a:r>
                        <a:rPr lang="en-US" sz="1000" dirty="0">
                          <a:solidFill>
                            <a:srgbClr val="1E2761"/>
                          </a:solidFill>
                        </a:rPr>
                        <a:t>「最も強い反論をしてください」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r>
              <a:tr h="290456">
                <a:tc>
                  <a:txBody>
                    <a:bodyPr/>
                    <a:lstStyle/>
                    <a:p>
                      <a:pPr algn="l" indent="0" marL="0">
                        <a:buNone/>
                      </a:pPr>
                      <a:r>
                        <a:rPr lang="en-US" sz="1000" b="1" dirty="0">
                          <a:solidFill>
                            <a:srgbClr val="1E2761"/>
                          </a:solidFill>
                        </a:rPr>
                        <a:t>弱点を探す</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61"/>
                          </a:solidFill>
                        </a:rPr>
                        <a:t>「論理的な弱点、暗黙の前提を指摘してください」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r>
              <a:tr h="290456">
                <a:tc>
                  <a:txBody>
                    <a:bodyPr/>
                    <a:lstStyle/>
                    <a:p>
                      <a:pPr algn="l" indent="0" marL="0">
                        <a:buNone/>
                      </a:pPr>
                      <a:r>
                        <a:rPr lang="en-US" sz="1000" b="1" dirty="0">
                          <a:solidFill>
                            <a:srgbClr val="1E2761"/>
                          </a:solidFill>
                        </a:rPr>
                        <a:t>自分にも同じ基準を</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c>
                  <a:txBody>
                    <a:bodyPr/>
                    <a:lstStyle/>
                    <a:p>
                      <a:pPr algn="l" indent="0" marL="0">
                        <a:buNone/>
                      </a:pPr>
                      <a:r>
                        <a:rPr lang="en-US" sz="1000" dirty="0">
                          <a:solidFill>
                            <a:srgbClr val="1E2761"/>
                          </a:solidFill>
                        </a:rPr>
                        <a:t>「私の主張にも同じ基準を適用して、弱点を指摘してください」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r>
              <a:tr h="290456">
                <a:tc>
                  <a:txBody>
                    <a:bodyPr/>
                    <a:lstStyle/>
                    <a:p>
                      <a:pPr algn="l" indent="0" marL="0">
                        <a:buNone/>
                      </a:pPr>
                      <a:r>
                        <a:rPr lang="en-US" sz="1000" b="1" dirty="0">
                          <a:solidFill>
                            <a:srgbClr val="1E2761"/>
                          </a:solidFill>
                        </a:rPr>
                        <a:t>前提を疑う</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61"/>
                          </a:solidFill>
                        </a:rPr>
                        <a:t>「反論に必要な前提をすべて列挙してください」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r>
              <a:tr h="290456">
                <a:tc>
                  <a:txBody>
                    <a:bodyPr/>
                    <a:lstStyle/>
                    <a:p>
                      <a:pPr algn="l" indent="0" marL="0">
                        <a:buNone/>
                      </a:pPr>
                      <a:r>
                        <a:rPr lang="en-US" sz="1000" b="1" dirty="0">
                          <a:solidFill>
                            <a:srgbClr val="1E2761"/>
                          </a:solidFill>
                        </a:rPr>
                        <a:t>論理を調べる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c>
                  <a:txBody>
                    <a:bodyPr/>
                    <a:lstStyle/>
                    <a:p>
                      <a:pPr algn="l" indent="0" marL="0">
                        <a:buNone/>
                      </a:pPr>
                      <a:r>
                        <a:rPr lang="en-US" sz="1000" dirty="0">
                          <a:solidFill>
                            <a:srgbClr val="1E2761"/>
                          </a:solidFill>
                        </a:rPr>
                        <a:t>「推論を一段ずつ分解し、妥当性を検証してください」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r>
              <a:tr h="290456">
                <a:tc>
                  <a:txBody>
                    <a:bodyPr/>
                    <a:lstStyle/>
                    <a:p>
                      <a:pPr algn="l" indent="0" marL="0">
                        <a:buNone/>
                      </a:pPr>
                      <a:r>
                        <a:rPr lang="en-US" sz="1000" b="1" dirty="0">
                          <a:solidFill>
                            <a:srgbClr val="1E2761"/>
                          </a:solidFill>
                        </a:rPr>
                        <a:t>議論を監査する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61"/>
                          </a:solidFill>
                        </a:rPr>
                        <a:t>「反論は元の主張のどの部分に対応していますか」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r>
              <a:tr h="290456">
                <a:tc>
                  <a:txBody>
                    <a:bodyPr/>
                    <a:lstStyle/>
                    <a:p>
                      <a:pPr algn="l" indent="0" marL="0">
                        <a:buNone/>
                      </a:pPr>
                      <a:r>
                        <a:rPr lang="en-US" sz="1000" b="1" dirty="0">
                          <a:solidFill>
                            <a:srgbClr val="1E2761"/>
                          </a:solidFill>
                        </a:rPr>
                        <a:t>追加前提を疑う</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c>
                  <a:txBody>
                    <a:bodyPr/>
                    <a:lstStyle/>
                    <a:p>
                      <a:pPr algn="l" indent="0" marL="0">
                        <a:buNone/>
                      </a:pPr>
                      <a:r>
                        <a:rPr lang="en-US" sz="1000" dirty="0">
                          <a:solidFill>
                            <a:srgbClr val="1E2761"/>
                          </a:solidFill>
                        </a:rPr>
                        <a:t>「あなたが勝手に追加した条件はありますか」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r>
              <a:tr h="290456">
                <a:tc>
                  <a:txBody>
                    <a:bodyPr/>
                    <a:lstStyle/>
                    <a:p>
                      <a:pPr algn="l" indent="0" marL="0">
                        <a:buNone/>
                      </a:pPr>
                      <a:r>
                        <a:rPr lang="en-US" sz="1000" b="1" dirty="0">
                          <a:solidFill>
                            <a:srgbClr val="1E2761"/>
                          </a:solidFill>
                        </a:rPr>
                        <a:t>AIを疑う</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61"/>
                          </a:solidFill>
                        </a:rPr>
                        <a:t>「あなた自身の回答に論理的な飛躍はありませんか」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r>
              <a:tr h="290456">
                <a:tc>
                  <a:txBody>
                    <a:bodyPr/>
                    <a:lstStyle/>
                    <a:p>
                      <a:pPr algn="l" indent="0" marL="0">
                        <a:buNone/>
                      </a:pPr>
                      <a:r>
                        <a:rPr lang="en-US" sz="1000" b="1" dirty="0">
                          <a:solidFill>
                            <a:srgbClr val="1E2761"/>
                          </a:solidFill>
                        </a:rPr>
                        <a:t>事実と推論を分ける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c>
                  <a:txBody>
                    <a:bodyPr/>
                    <a:lstStyle/>
                    <a:p>
                      <a:pPr algn="l" indent="0" marL="0">
                        <a:buNone/>
                      </a:pPr>
                      <a:r>
                        <a:rPr lang="en-US" sz="1000" dirty="0">
                          <a:solidFill>
                            <a:srgbClr val="1E2761"/>
                          </a:solidFill>
                        </a:rPr>
                        <a:t>「事実・推論・仮説・推測に分類してください」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r>
              <a:tr h="290456">
                <a:tc>
                  <a:txBody>
                    <a:bodyPr/>
                    <a:lstStyle/>
                    <a:p>
                      <a:pPr algn="l" indent="0" marL="0">
                        <a:buNone/>
                      </a:pPr>
                      <a:r>
                        <a:rPr lang="en-US" sz="1000" b="1" dirty="0">
                          <a:solidFill>
                            <a:srgbClr val="1E2761"/>
                          </a:solidFill>
                        </a:rPr>
                        <a:t>結論を精密化する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61"/>
                          </a:solidFill>
                        </a:rPr>
                        <a:t>「確実に言えること／可能性が高いこと／判断できないことに分けてください」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r>
              <a:tr h="290456">
                <a:tc>
                  <a:txBody>
                    <a:bodyPr/>
                    <a:lstStyle/>
                    <a:p>
                      <a:pPr algn="l" indent="0" marL="0">
                        <a:buNone/>
                      </a:pPr>
                      <a:r>
                        <a:rPr lang="en-US" sz="1000" b="1" dirty="0">
                          <a:solidFill>
                            <a:srgbClr val="1E2761"/>
                          </a:solidFill>
                        </a:rPr>
                        <a:t>議論を清書する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c>
                  <a:txBody>
                    <a:bodyPr/>
                    <a:lstStyle/>
                    <a:p>
                      <a:pPr algn="l" indent="0" marL="0">
                        <a:buNone/>
                      </a:pPr>
                      <a:r>
                        <a:rPr lang="en-US" sz="1000" dirty="0">
                          <a:solidFill>
                            <a:srgbClr val="1E2761"/>
                          </a:solidFill>
                        </a:rPr>
                        <a:t>「ここまでの議論を論理的に整理された文章として清書してください」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r>
              <a:tr h="290456">
                <a:tc>
                  <a:txBody>
                    <a:bodyPr/>
                    <a:lstStyle/>
                    <a:p>
                      <a:pPr algn="l" indent="0" marL="0">
                        <a:buNone/>
                      </a:pPr>
                      <a:r>
                        <a:rPr lang="en-US" sz="1000" b="1" dirty="0">
                          <a:solidFill>
                            <a:srgbClr val="1E2761"/>
                          </a:solidFill>
                        </a:rPr>
                        <a:t>生成用の指示を作る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61"/>
                          </a:solidFill>
                        </a:rPr>
                        <a:t>「この内容を踏まえて［成果物］作成の指示文を作成してください」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FFFFF"/>
                    </a:solidFill>
                  </a:tcPr>
                </a:tc>
              </a:tr>
              <a:tr h="290456">
                <a:tc>
                  <a:txBody>
                    <a:bodyPr/>
                    <a:lstStyle/>
                    <a:p>
                      <a:pPr algn="l" indent="0" marL="0">
                        <a:buNone/>
                      </a:pPr>
                      <a:r>
                        <a:rPr lang="en-US" sz="1000" b="1" dirty="0">
                          <a:solidFill>
                            <a:srgbClr val="1E2761"/>
                          </a:solidFill>
                        </a:rPr>
                        <a:t>成果物を生成する</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c>
                  <a:txBody>
                    <a:bodyPr/>
                    <a:lstStyle/>
                    <a:p>
                      <a:pPr algn="l" indent="0" marL="0">
                        <a:buNone/>
                      </a:pPr>
                      <a:r>
                        <a:rPr lang="en-US" sz="1000" dirty="0">
                          <a:solidFill>
                            <a:srgbClr val="1E2761"/>
                          </a:solidFill>
                        </a:rPr>
                        <a:t>「その指示文に従って［成果物］を作成してください」</a:t>
                      </a:r>
                      <a:endParaRPr lang="en-US" sz="1000" dirty="0"/>
                    </a:p>
                  </a:txBody>
                  <a:tcPr marL="76200" marR="76200" marT="38100" marB="38100" anchor="ctr">
                    <a:lnL w="9525" cap="flat" cmpd="sng" algn="ctr">
                      <a:solidFill>
                        <a:srgbClr val="D3DAEA"/>
                      </a:solidFill>
                      <a:prstDash val="solid"/>
                      <a:round/>
                      <a:headEnd type="none" w="med" len="med"/>
                      <a:tailEnd type="none" w="med" len="med"/>
                    </a:lnL>
                    <a:lnR w="9525" cap="flat" cmpd="sng" algn="ctr">
                      <a:solidFill>
                        <a:srgbClr val="D3DAEA"/>
                      </a:solidFill>
                      <a:prstDash val="solid"/>
                      <a:round/>
                      <a:headEnd type="none" w="med" len="med"/>
                      <a:tailEnd type="none" w="med" len="med"/>
                    </a:lnR>
                    <a:lnT w="9525" cap="flat" cmpd="sng" algn="ctr">
                      <a:solidFill>
                        <a:srgbClr val="D3DAEA"/>
                      </a:solidFill>
                      <a:prstDash val="solid"/>
                      <a:round/>
                      <a:headEnd type="none" w="med" len="med"/>
                      <a:tailEnd type="none" w="med" len="med"/>
                    </a:lnT>
                    <a:lnB w="9525" cap="flat" cmpd="sng" algn="ctr">
                      <a:solidFill>
                        <a:srgbClr val="D3DAEA"/>
                      </a:solidFill>
                      <a:prstDash val="solid"/>
                      <a:round/>
                      <a:headEnd type="none" w="med" len="med"/>
                      <a:tailEnd type="none" w="med" len="med"/>
                    </a:lnB>
                    <a:solidFill>
                      <a:srgbClr val="F2F4F9"/>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144000" y="-2377440"/>
            <a:ext cx="5486400" cy="5486400"/>
          </a:xfrm>
          <a:prstGeom prst="ellipse">
            <a:avLst/>
          </a:prstGeom>
          <a:solidFill>
            <a:srgbClr val="141A46"/>
          </a:solidFill>
          <a:ln/>
        </p:spPr>
      </p:sp>
      <p:sp>
        <p:nvSpPr>
          <p:cNvPr id="3" name="Shape 1"/>
          <p:cNvSpPr/>
          <p:nvPr/>
        </p:nvSpPr>
        <p:spPr>
          <a:xfrm>
            <a:off x="-2560320" y="5303520"/>
            <a:ext cx="4572000" cy="4572000"/>
          </a:xfrm>
          <a:prstGeom prst="ellipse">
            <a:avLst/>
          </a:prstGeom>
          <a:solidFill>
            <a:srgbClr val="141A46"/>
          </a:solidFill>
          <a:ln/>
        </p:spPr>
      </p:sp>
      <p:sp>
        <p:nvSpPr>
          <p:cNvPr id="4" name="Shape 2"/>
          <p:cNvSpPr/>
          <p:nvPr/>
        </p:nvSpPr>
        <p:spPr>
          <a:xfrm>
            <a:off x="2011680" y="2103120"/>
            <a:ext cx="8165592" cy="0"/>
          </a:xfrm>
          <a:prstGeom prst="line">
            <a:avLst/>
          </a:prstGeom>
          <a:noFill/>
          <a:ln w="12700">
            <a:solidFill>
              <a:srgbClr val="3A4590"/>
            </a:solidFill>
            <a:prstDash val="solid"/>
          </a:ln>
        </p:spPr>
      </p:sp>
      <p:sp>
        <p:nvSpPr>
          <p:cNvPr id="5" name="Text 3"/>
          <p:cNvSpPr txBox="1"/>
          <p:nvPr/>
        </p:nvSpPr>
        <p:spPr>
          <a:xfrm>
            <a:off x="914400" y="2286000"/>
            <a:ext cx="10360152" cy="1188720"/>
          </a:xfrm>
          <a:prstGeom prst="rect">
            <a:avLst/>
          </a:prstGeom>
          <a:noFill/>
          <a:ln/>
        </p:spPr>
        <p:txBody>
          <a:bodyPr wrap="square" lIns="0" tIns="0" rIns="0" bIns="0" rtlCol="0" anchor="ctr"/>
          <a:lstStyle/>
          <a:p>
            <a:pPr algn="ctr" indent="0" marL="0">
              <a:lnSpc>
                <a:spcPct val="125000"/>
              </a:lnSpc>
              <a:buNone/>
            </a:pPr>
            <a:r>
              <a:rPr lang="en-US" sz="2500" b="1" dirty="0">
                <a:solidFill>
                  <a:srgbClr val="FFFFFF"/>
                </a:solidFill>
                <a:latin typeface="Cambria" pitchFamily="34" charset="0"/>
                <a:ea typeface="Cambria" pitchFamily="34" charset="-122"/>
                <a:cs typeface="Cambria" pitchFamily="34" charset="-120"/>
              </a:rPr>
              <a:t>良い壁打ちは、</a:t>
            </a:r>
            <a:endParaRPr lang="en-US" sz="2500" dirty="0"/>
          </a:p>
          <a:p>
            <a:pPr algn="ctr" indent="0" marL="0">
              <a:lnSpc>
                <a:spcPct val="125000"/>
              </a:lnSpc>
              <a:buNone/>
            </a:pPr>
            <a:r>
              <a:rPr lang="en-US" sz="2500" b="1" dirty="0">
                <a:solidFill>
                  <a:srgbClr val="FFFFFF"/>
                </a:solidFill>
                <a:latin typeface="Cambria" pitchFamily="34" charset="0"/>
                <a:ea typeface="Cambria" pitchFamily="34" charset="-122"/>
                <a:cs typeface="Cambria" pitchFamily="34" charset="-120"/>
              </a:rPr>
              <a:t>良い答えを引き出すことではない。</a:t>
            </a:r>
            <a:endParaRPr lang="en-US" sz="2500" dirty="0"/>
          </a:p>
        </p:txBody>
      </p:sp>
      <p:sp>
        <p:nvSpPr>
          <p:cNvPr id="6" name="Text 4"/>
          <p:cNvSpPr txBox="1"/>
          <p:nvPr/>
        </p:nvSpPr>
        <p:spPr>
          <a:xfrm>
            <a:off x="914400" y="3657600"/>
            <a:ext cx="10360152" cy="914400"/>
          </a:xfrm>
          <a:prstGeom prst="rect">
            <a:avLst/>
          </a:prstGeom>
          <a:noFill/>
          <a:ln/>
        </p:spPr>
        <p:txBody>
          <a:bodyPr wrap="square" lIns="0" tIns="0" rIns="0" bIns="0" rtlCol="0" anchor="ctr"/>
          <a:lstStyle/>
          <a:p>
            <a:pPr algn="ctr" indent="0" marL="0">
              <a:lnSpc>
                <a:spcPct val="125000"/>
              </a:lnSpc>
              <a:buNone/>
            </a:pPr>
            <a:r>
              <a:rPr lang="en-US" sz="2100" b="1" dirty="0">
                <a:solidFill>
                  <a:srgbClr val="E8623C"/>
                </a:solidFill>
                <a:latin typeface="Cambria" pitchFamily="34" charset="0"/>
                <a:ea typeface="Cambria" pitchFamily="34" charset="-122"/>
                <a:cs typeface="Cambria" pitchFamily="34" charset="-120"/>
              </a:rPr>
              <a:t>自分の考えを、別の角度から何度も検証できる状態を作ることである。</a:t>
            </a:r>
            <a:endParaRPr lang="en-US" sz="2100" dirty="0"/>
          </a:p>
        </p:txBody>
      </p:sp>
      <p:sp>
        <p:nvSpPr>
          <p:cNvPr id="7" name="Text 5"/>
          <p:cNvSpPr txBox="1"/>
          <p:nvPr/>
        </p:nvSpPr>
        <p:spPr>
          <a:xfrm>
            <a:off x="914400" y="4709160"/>
            <a:ext cx="10360152" cy="457200"/>
          </a:xfrm>
          <a:prstGeom prst="rect">
            <a:avLst/>
          </a:prstGeom>
          <a:noFill/>
          <a:ln/>
        </p:spPr>
        <p:txBody>
          <a:bodyPr wrap="square" lIns="0" tIns="0" rIns="0" bIns="0"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「AIに何を答えさせるか」ではなく、「自分の思考をどう動かすか」</a:t>
            </a:r>
            <a:endParaRPr lang="en-US" sz="1400" dirty="0"/>
          </a:p>
        </p:txBody>
      </p:sp>
      <p:sp>
        <p:nvSpPr>
          <p:cNvPr id="8" name="Shape 6"/>
          <p:cNvSpPr/>
          <p:nvPr/>
        </p:nvSpPr>
        <p:spPr>
          <a:xfrm>
            <a:off x="2011680" y="5349240"/>
            <a:ext cx="8165592" cy="0"/>
          </a:xfrm>
          <a:prstGeom prst="line">
            <a:avLst/>
          </a:prstGeom>
          <a:noFill/>
          <a:ln w="12700">
            <a:solidFill>
              <a:srgbClr val="3A4590"/>
            </a:solidFill>
            <a:prstDash val="solid"/>
          </a:ln>
        </p:spPr>
      </p:sp>
      <p:sp>
        <p:nvSpPr>
          <p:cNvPr id="9" name="Text 7"/>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2026-09-08T23:05:59Z</dcterms:created>
  <dcterms:modified xsi:type="dcterms:W3CDTF">2026-09-08T23:05:59Z</dcterms:modified>
</cp:coreProperties>
</file>