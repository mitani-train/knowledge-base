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200400"/>
            <a:ext cx="3200400" cy="3200400"/>
          </a:xfrm>
          <a:prstGeom prst="ellipse">
            <a:avLst/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0"/>
            <a:ext cx="2286000" cy="2286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Transformerは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なぜ推論できるのか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640080" cy="640080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005072"/>
            <a:ext cx="493776" cy="4937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38862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今日の問い：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「次の単語を当てる」ことしか学習していないのに、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なぜ考えているように見える振る舞いが生まれるのか？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全体像：入力から出力まで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入力文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51760" y="256032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201168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011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内部処理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変換の繰り返し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89320" y="256032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0116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次の単語の確率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384048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この「内部処理」の箱の中身を、これから1つずつ開けていきます。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Tokenizer：文章を単位に分ける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コンピュータは文字をそのまま理解できません。まず文章を「トークン」という単位に分割します。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21040" y="594360"/>
            <a:ext cx="475488" cy="475488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658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057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246888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468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rained, so she took the umbrella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97680" y="3154680"/>
            <a:ext cx="548640" cy="365760"/>
          </a:xfrm>
          <a:prstGeom prst="down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トークン列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004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27000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7000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21996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1996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16992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6992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11988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988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06984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6984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01980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980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96976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6976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7919720" y="4023360"/>
            <a:ext cx="904240" cy="685800"/>
          </a:xfrm>
          <a:prstGeom prst="roundRect">
            <a:avLst>
              <a:gd name="adj" fmla="val 10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19720" y="4023360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Embedding：意味空間は学習で生まれる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各トークンIDはEmbeddingベクトルに変換されます。学習を繰り返すと意味が近い単語ほど自然に近づきます。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356616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学習前：ランダムな配置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queen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2971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apple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61188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41605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prince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7947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banana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77640" y="3291840"/>
            <a:ext cx="640080" cy="457200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8404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（次単語予測を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何度も繰り返す）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57800" y="1965960"/>
            <a:ext cx="3566160" cy="3474720"/>
          </a:xfrm>
          <a:prstGeom prst="rect">
            <a:avLst/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学習後：意味が近い単語が集まる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queen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king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prince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apple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926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banana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4251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it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" y="562356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「意味 = 位置」は最初から与えられているのではなく、学習の結果として作られます。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Q・K・V：Embeddingを3つの見方に変換する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同じEmbeddingベクトルを3種類の重み行列（WQ・WK・WV）で変換すると、3つの特徴が得られます。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01168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0116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Embeddingベクトル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280160" y="2743200"/>
            <a:ext cx="457200" cy="4114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WQ で変換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「何を知りたいか」＝質問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06240" y="2743200"/>
            <a:ext cx="457200" cy="4114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で変換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7764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83280" y="4251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「自分は何を提供できるか」＝見出し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32320" y="2743200"/>
            <a:ext cx="457200" cy="4114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WV で変換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03720" y="32461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246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42519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「実際の中身」＝情報そのもの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553212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同じ「bank」という単語でも、Q・K・Vとしては異なるベクトルになります。この後のAttentionでは、あるQが全単語のKと比較されます。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Attention：内積→Softmax→V合算で出力ベクトルを得る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全単語のQが全単語のKと内積で比較 → Softmaxで関連度%に → その重みでVを合算 → 出力ベクトル。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Q・K の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内積を計算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76856" y="228600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Softmax で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関連度% に変換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53128" y="228600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関連度 × 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を重み付き合算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29400" y="228600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192024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Attention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出力ベクトル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例：「走る」の行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55%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200400" y="35661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公園 35%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080760" y="356616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5661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走る 10%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297680" y="4206240"/>
            <a:ext cx="548640" cy="320040"/>
          </a:xfrm>
          <a:prstGeom prst="down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V を合算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71600" y="4645152"/>
            <a:ext cx="64008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64515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「走る」の文脈を反映した出力ベクトル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20040" y="53949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これを全単語分行う。各単語が文章全体の文脈を取り込んだベクトルになる。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0040" y="59618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これが1つのHeadのAttention計算。次のスライドでこれを複数並列に実行する。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Attention：複数の視点でAttentionを並列実行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各HeadがそれぞれQKV生成→Attention計算を独立して行い、最後に結合する。Head数はハイパーパラメータ（設計者が設定）。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Embedding（共通）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395728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715768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7157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QKV生成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(WQ¹WK¹WV¹)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43000" y="3438144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758184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7581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内積→Softmax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→V合算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4480560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8006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00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Attention出力1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160520" y="2395728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2715768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157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QKV生成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(WQ²WK²WV²)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160520" y="3438144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3758184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7581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内積→Softmax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→V合算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160520" y="4480560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48006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800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Attention出力2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2395728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2715768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71576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QKV生成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(WQ³WK³WV³)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178040" y="3438144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758184"/>
            <a:ext cx="256032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7581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内積→Softmax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→V合算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78040" y="4480560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80060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800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Attention出力3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188720" y="5367528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5367528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5367528"/>
            <a:ext cx="457200" cy="256032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5687568"/>
            <a:ext cx="850392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568756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Concat（結合）→ Linear（線形変換）→ 最終出力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Block：MultiHead と FFN を1つにまとめる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→ Residual → LayerNorm → FFN → Residual → LayerNorm で Block が完成。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8288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の出力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07408" y="2322576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523744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52374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＋Residual（元の情報を残しつつ足す）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07408" y="3017520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321868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21868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LayerNorm（数値のばらつきを整えて安定）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07408" y="3712464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3913632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913632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07408" y="4407408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608576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608576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＋Residual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407408" y="5102352"/>
            <a:ext cx="329184" cy="182880"/>
          </a:xfrm>
          <a:prstGeom prst="down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530352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3035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62362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「層」とは、このTransformer BlockをN回積み重ねたものです。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FFN：次元を広げて重要な特徴を強調する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Attentionが文脈情報を「集める」処理なら、FFNは情報を広げ絞り込むことで抽象的な意味表現を作ります。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0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768次元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元のベクトル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35124" y="26974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6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6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3072次元に拡張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特徴を細かく分離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421124" y="26974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2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2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重要な特徴を強調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活性化関数＋線形変換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707124" y="26974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8020" y="20116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802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768次元に圧縮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抽象化された意味表現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320040" cy="256032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77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重要な特徴（強調）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3977640"/>
            <a:ext cx="320040" cy="256032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977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重要でない特徴（弱める）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" y="44348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例：「bank」の特徴も、周囲に "river" があれば「川岸」、"money" があれば「銀行」の特徴が強調され、具体的な意味に仕上がります。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層を重ねると何が起きるか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「層」とは、Transformer BlockをN回積み重ねたものです。Blockを繰り返すたびに情報はより抽象的になります。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抽象度が上がる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457200" cy="3200400"/>
          </a:xfrm>
          <a:prstGeom prst="up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246888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4688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高層　文章全体の意図・文脈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554480" y="365760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6576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中層　文法・構造の把握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54480" y="4846320"/>
            <a:ext cx="6949440" cy="960120"/>
          </a:xfrm>
          <a:prstGeom prst="roundRect">
            <a:avLst>
              <a:gd name="adj" fmla="val 7619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8463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低層　単語そのものの意味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次単語予測：出力の正体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最終層の情報をもとに、語彙の中の各単語が「次に来る確率」を計算します。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umbrella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97480" y="2103120"/>
            <a:ext cx="5029200" cy="5029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97480" y="2971800"/>
            <a:ext cx="1460090" cy="502920"/>
          </a:xfrm>
          <a:prstGeom prst="rect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9010" y="28803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749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97480" y="3840480"/>
            <a:ext cx="730045" cy="502920"/>
          </a:xfrm>
          <a:prstGeom prst="rect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8965" y="37490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617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697480" y="4709160"/>
            <a:ext cx="274320" cy="502920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46177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697480" y="5577840"/>
            <a:ext cx="274320" cy="502920"/>
          </a:xfrm>
          <a:prstGeom prst="rect">
            <a:avLst/>
          </a:prstGeom>
          <a:solidFill>
            <a:srgbClr val="C7D3E8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54864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自己教師あり学習：ラベル不要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人手でラベルを付ける必要がありません。文章そのものの「次の単語」が正解になるからです。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21040" y="594360"/>
            <a:ext cx="475488" cy="475488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658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48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入力文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" y="257860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5786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rained, so she took the ______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297680" y="3310128"/>
            <a:ext cx="548640" cy="365760"/>
          </a:xfrm>
          <a:prstGeom prst="down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7947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0040" y="4224528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2245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 ＝ "umbrella"（文章内にすでにある）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0040" y="50749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膨大な文章データをそのまま学習に使える。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学習の仕組み：ズレを減らし続ける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予測と正解のズレを測り、そのズレを減らす方向にモデル内部の数値を少しずつ調整します。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21040" y="594360"/>
            <a:ext cx="475488" cy="475488"/>
          </a:xfrm>
          <a:prstGeom prst="ellipse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658368"/>
            <a:ext cx="347472" cy="347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予測する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971800" y="24688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正解とのズレを測る（Loss）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126480" y="246888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210312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1031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ズレを減らす方向に調整する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686800" y="2103120"/>
            <a:ext cx="182880" cy="182880"/>
          </a:xfrm>
          <a:prstGeom prst="bentArrow">
            <a:avLst/>
          </a:prstGeom>
          <a:solidFill>
            <a:srgbClr val="60728A"/>
          </a:solidFill>
          <a:ln w="12700">
            <a:solidFill>
              <a:srgbClr val="6072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7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これを何億回も繰り返す＝学習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3657600" y="4206240"/>
            <a:ext cx="1828800" cy="1828800"/>
          </a:xfrm>
          <a:prstGeom prst="ellipse">
            <a:avLst/>
          </a:prstGeom>
          <a:solidFill>
            <a:srgbClr val="EEF3FB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0" y="46634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核心テーマ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なぜ推論できるのか 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「次の単語を当てる」ことは、実はとても難しい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正しく当てるには、単なる文法だけでなく…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文脈の流れ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登場人物の関係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常識・世界知識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論理的な整合性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を理解する必要があります。単なる丸暗記では、多様な文脈すべてに対応できません。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核心テーマ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なぜ推論できるのか 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推論的な振る舞いは「副産物」として生まれる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Transformerは「推論する方法」を学習したわけではありません。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次単語予測の精度を上げ続ける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3410712"/>
            <a:ext cx="548640" cy="365760"/>
          </a:xfrm>
          <a:prstGeom prst="down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文法理解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4612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常識・世界知識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論理的整合性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297680" y="4645152"/>
            <a:ext cx="548640" cy="365760"/>
          </a:xfrm>
          <a:prstGeom prst="down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516636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1336" y="5239512"/>
            <a:ext cx="475488" cy="4754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5212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推論的な振る舞い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学習と推論の違い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EEF3FB"/>
          </a:solidFill>
          <a:ln w="12700">
            <a:solidFill>
              <a:srgbClr val="C7D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691640"/>
            <a:ext cx="1280160" cy="1280160"/>
          </a:xfrm>
          <a:prstGeom prst="ellipse">
            <a:avLst/>
          </a:prstGeom>
          <a:solidFill>
            <a:srgbClr val="3A468C"/>
          </a:solidFill>
          <a:ln w="12700">
            <a:solidFill>
              <a:srgbClr val="3A46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1837944"/>
            <a:ext cx="987552" cy="9875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4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学習（Training）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パラメータを作る作業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一度きり（学習フェーズ）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7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予測とズレを繰り返し比較し、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7200" y="5029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6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内部の数値を調整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937760" y="1417320"/>
            <a:ext cx="3840480" cy="4754880"/>
          </a:xfrm>
          <a:prstGeom prst="roundRect">
            <a:avLst>
              <a:gd name="adj" fmla="val 2381"/>
            </a:avLst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691640"/>
            <a:ext cx="1280160" cy="12801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1837944"/>
            <a:ext cx="987552" cy="9875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推論（Inference）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02920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完成したパラメータを使う作業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5029200" y="4114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何度でも繰り返し利用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5029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次単語予測を1つずつ実行し、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5029200" y="5029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応答を生成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7B9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-169164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169164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76172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4228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4228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69564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7620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7620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（文脈収集）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62956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1012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11012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層を重ね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抽象化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56348" y="2194560"/>
            <a:ext cx="411480" cy="274320"/>
          </a:xfrm>
          <a:prstGeom prst="rightArrow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04404" y="1691640"/>
            <a:ext cx="1508760" cy="1280160"/>
          </a:xfrm>
          <a:prstGeom prst="roundRect">
            <a:avLst>
              <a:gd name="adj" fmla="val 5714"/>
            </a:avLst>
          </a:prstGeom>
          <a:solidFill>
            <a:srgbClr val="273572"/>
          </a:solidFill>
          <a:ln w="12700">
            <a:solidFill>
              <a:srgbClr val="2735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04404" y="169164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次単語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予測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273572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正確な予測のために言語や常識の構造を内部に取り込んだ結果、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推論のような振る舞いが生まれる。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023360" y="5166360"/>
            <a:ext cx="1097280" cy="10972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5321808"/>
            <a:ext cx="786384" cy="7863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2026-08-29T12:18:38Z</dcterms:created>
  <dcterms:modified xsi:type="dcterms:W3CDTF">2026-08-29T12:18:39Z</dcterms:modified>
</cp:coreProperties>
</file>