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2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3520440"/>
            <a:ext cx="9144000" cy="1627632"/>
          </a:xfrm>
          <a:prstGeom prst="rect">
            <a:avLst/>
          </a:prstGeom>
          <a:solidFill>
            <a:srgbClr val="16213E"/>
          </a:solidFill>
          <a:ln w="12700">
            <a:solidFill>
              <a:srgbClr val="16213E"/>
            </a:solidFill>
            <a:prstDash val="solid"/>
          </a:ln>
        </p:spPr>
      </p:sp>
      <p:sp>
        <p:nvSpPr>
          <p:cNvPr id="3" name="Shape 1"/>
          <p:cNvSpPr/>
          <p:nvPr/>
        </p:nvSpPr>
        <p:spPr>
          <a:xfrm>
            <a:off x="777240" y="1234440"/>
            <a:ext cx="64008" cy="1874520"/>
          </a:xfrm>
          <a:prstGeom prst="rect">
            <a:avLst/>
          </a:prstGeom>
          <a:solidFill>
            <a:srgbClr val="534AB7"/>
          </a:solidFill>
          <a:ln w="12700">
            <a:solidFill>
              <a:srgbClr val="534AB7"/>
            </a:solidFill>
            <a:prstDash val="solid"/>
          </a:ln>
        </p:spPr>
      </p:sp>
      <p:sp>
        <p:nvSpPr>
          <p:cNvPr id="4" name="Text 2"/>
          <p:cNvSpPr/>
          <p:nvPr/>
        </p:nvSpPr>
        <p:spPr>
          <a:xfrm>
            <a:off x="1005840" y="1170432"/>
            <a:ext cx="7772400" cy="658368"/>
          </a:xfrm>
          <a:prstGeom prst="rect">
            <a:avLst/>
          </a:prstGeom>
          <a:noFill/>
          <a:ln/>
        </p:spPr>
        <p:txBody>
          <a:bodyPr wrap="square" rtlCol="0" anchor="ctr"/>
          <a:lstStyle/>
          <a:p>
            <a:pPr indent="0" marL="0">
              <a:buNone/>
            </a:pPr>
            <a:r>
              <a:rPr lang="en-US" sz="3600" b="1" dirty="0">
                <a:solidFill>
                  <a:srgbClr val="FFFFFF"/>
                </a:solidFill>
              </a:rPr>
              <a:t>Transformerは</a:t>
            </a:r>
            <a:endParaRPr lang="en-US" sz="3600" dirty="0"/>
          </a:p>
        </p:txBody>
      </p:sp>
      <p:sp>
        <p:nvSpPr>
          <p:cNvPr id="5" name="Text 3"/>
          <p:cNvSpPr/>
          <p:nvPr/>
        </p:nvSpPr>
        <p:spPr>
          <a:xfrm>
            <a:off x="1005840" y="1792224"/>
            <a:ext cx="7772400" cy="658368"/>
          </a:xfrm>
          <a:prstGeom prst="rect">
            <a:avLst/>
          </a:prstGeom>
          <a:noFill/>
          <a:ln/>
        </p:spPr>
        <p:txBody>
          <a:bodyPr wrap="square" rtlCol="0" anchor="ctr"/>
          <a:lstStyle/>
          <a:p>
            <a:pPr indent="0" marL="0">
              <a:buNone/>
            </a:pPr>
            <a:r>
              <a:rPr lang="en-US" sz="3600" b="1" dirty="0">
                <a:solidFill>
                  <a:srgbClr val="534AB7"/>
                </a:solidFill>
              </a:rPr>
              <a:t>なぜ推論できるのか？</a:t>
            </a:r>
            <a:endParaRPr lang="en-US" sz="3600" dirty="0"/>
          </a:p>
        </p:txBody>
      </p:sp>
      <p:sp>
        <p:nvSpPr>
          <p:cNvPr id="6" name="Text 4"/>
          <p:cNvSpPr/>
          <p:nvPr/>
        </p:nvSpPr>
        <p:spPr>
          <a:xfrm>
            <a:off x="1005840" y="2514600"/>
            <a:ext cx="7772400" cy="411480"/>
          </a:xfrm>
          <a:prstGeom prst="rect">
            <a:avLst/>
          </a:prstGeom>
          <a:noFill/>
          <a:ln/>
        </p:spPr>
        <p:txBody>
          <a:bodyPr wrap="square" rtlCol="0" anchor="ctr"/>
          <a:lstStyle/>
          <a:p>
            <a:pPr indent="0" marL="0">
              <a:buNone/>
            </a:pPr>
            <a:r>
              <a:rPr lang="en-US" sz="1400" i="1" dirty="0">
                <a:solidFill>
                  <a:srgbClr val="A0A8C0"/>
                </a:solidFill>
              </a:rPr>
              <a:t>〜 Attention と多層表現による意味の抽象化 〜</a:t>
            </a:r>
            <a:endParaRPr lang="en-US" sz="1400" dirty="0"/>
          </a:p>
        </p:txBody>
      </p:sp>
      <p:sp>
        <p:nvSpPr>
          <p:cNvPr id="7" name="Shape 5"/>
          <p:cNvSpPr/>
          <p:nvPr/>
        </p:nvSpPr>
        <p:spPr>
          <a:xfrm>
            <a:off x="347472" y="3730752"/>
            <a:ext cx="1298448" cy="438912"/>
          </a:xfrm>
          <a:prstGeom prst="roundRect">
            <a:avLst>
              <a:gd name="adj" fmla="val 10417"/>
            </a:avLst>
          </a:prstGeom>
          <a:solidFill>
            <a:srgbClr val="6B7280"/>
          </a:solidFill>
          <a:ln w="12700">
            <a:solidFill>
              <a:srgbClr val="6B7280"/>
            </a:solidFill>
            <a:prstDash val="solid"/>
          </a:ln>
        </p:spPr>
      </p:sp>
      <p:sp>
        <p:nvSpPr>
          <p:cNvPr id="8" name="Text 6"/>
          <p:cNvSpPr/>
          <p:nvPr/>
        </p:nvSpPr>
        <p:spPr>
          <a:xfrm>
            <a:off x="347472" y="3730752"/>
            <a:ext cx="1298448" cy="438912"/>
          </a:xfrm>
          <a:prstGeom prst="rect">
            <a:avLst/>
          </a:prstGeom>
          <a:noFill/>
          <a:ln/>
        </p:spPr>
        <p:txBody>
          <a:bodyPr wrap="square" lIns="25400" tIns="25400" rIns="25400" bIns="25400" rtlCol="0" anchor="ctr"/>
          <a:lstStyle/>
          <a:p>
            <a:pPr algn="ctr" indent="0" marL="0">
              <a:buNone/>
            </a:pPr>
            <a:r>
              <a:rPr lang="en-US" sz="1100" b="1" dirty="0">
                <a:solidFill>
                  <a:srgbClr val="FFFFFF"/>
                </a:solidFill>
              </a:rPr>
              <a:t>Token</a:t>
            </a:r>
            <a:endParaRPr lang="en-US" sz="1100" dirty="0"/>
          </a:p>
        </p:txBody>
      </p:sp>
      <p:sp>
        <p:nvSpPr>
          <p:cNvPr id="9" name="Shape 7"/>
          <p:cNvSpPr/>
          <p:nvPr/>
        </p:nvSpPr>
        <p:spPr>
          <a:xfrm>
            <a:off x="1645920" y="3950208"/>
            <a:ext cx="137160" cy="0"/>
          </a:xfrm>
          <a:prstGeom prst="line">
            <a:avLst/>
          </a:prstGeom>
          <a:noFill/>
          <a:ln w="12700">
            <a:solidFill>
              <a:srgbClr val="6080A0"/>
            </a:solidFill>
            <a:prstDash val="solid"/>
          </a:ln>
        </p:spPr>
      </p:sp>
      <p:sp>
        <p:nvSpPr>
          <p:cNvPr id="10" name="Shape 8"/>
          <p:cNvSpPr/>
          <p:nvPr/>
        </p:nvSpPr>
        <p:spPr>
          <a:xfrm>
            <a:off x="1783080" y="3730752"/>
            <a:ext cx="1298448" cy="438912"/>
          </a:xfrm>
          <a:prstGeom prst="roundRect">
            <a:avLst>
              <a:gd name="adj" fmla="val 10417"/>
            </a:avLst>
          </a:prstGeom>
          <a:solidFill>
            <a:srgbClr val="534AB7"/>
          </a:solidFill>
          <a:ln w="12700">
            <a:solidFill>
              <a:srgbClr val="534AB7"/>
            </a:solidFill>
            <a:prstDash val="solid"/>
          </a:ln>
        </p:spPr>
      </p:sp>
      <p:sp>
        <p:nvSpPr>
          <p:cNvPr id="11" name="Text 9"/>
          <p:cNvSpPr/>
          <p:nvPr/>
        </p:nvSpPr>
        <p:spPr>
          <a:xfrm>
            <a:off x="1783080" y="3730752"/>
            <a:ext cx="1298448" cy="438912"/>
          </a:xfrm>
          <a:prstGeom prst="rect">
            <a:avLst/>
          </a:prstGeom>
          <a:noFill/>
          <a:ln/>
        </p:spPr>
        <p:txBody>
          <a:bodyPr wrap="square" lIns="25400" tIns="25400" rIns="25400" bIns="25400" rtlCol="0" anchor="ctr"/>
          <a:lstStyle/>
          <a:p>
            <a:pPr algn="ctr" indent="0" marL="0">
              <a:buNone/>
            </a:pPr>
            <a:r>
              <a:rPr lang="en-US" sz="1100" b="1" dirty="0">
                <a:solidFill>
                  <a:srgbClr val="FFFFFF"/>
                </a:solidFill>
              </a:rPr>
              <a:t>Embedding</a:t>
            </a:r>
            <a:endParaRPr lang="en-US" sz="1100" dirty="0"/>
          </a:p>
        </p:txBody>
      </p:sp>
      <p:sp>
        <p:nvSpPr>
          <p:cNvPr id="12" name="Shape 10"/>
          <p:cNvSpPr/>
          <p:nvPr/>
        </p:nvSpPr>
        <p:spPr>
          <a:xfrm>
            <a:off x="3081528" y="3950208"/>
            <a:ext cx="137160" cy="0"/>
          </a:xfrm>
          <a:prstGeom prst="line">
            <a:avLst/>
          </a:prstGeom>
          <a:noFill/>
          <a:ln w="12700">
            <a:solidFill>
              <a:srgbClr val="6080A0"/>
            </a:solidFill>
            <a:prstDash val="solid"/>
          </a:ln>
        </p:spPr>
      </p:sp>
      <p:sp>
        <p:nvSpPr>
          <p:cNvPr id="13" name="Shape 11"/>
          <p:cNvSpPr/>
          <p:nvPr/>
        </p:nvSpPr>
        <p:spPr>
          <a:xfrm>
            <a:off x="3218688" y="3730752"/>
            <a:ext cx="1298448" cy="438912"/>
          </a:xfrm>
          <a:prstGeom prst="roundRect">
            <a:avLst>
              <a:gd name="adj" fmla="val 10417"/>
            </a:avLst>
          </a:prstGeom>
          <a:solidFill>
            <a:srgbClr val="534AB7"/>
          </a:solidFill>
          <a:ln w="12700">
            <a:solidFill>
              <a:srgbClr val="534AB7"/>
            </a:solidFill>
            <a:prstDash val="solid"/>
          </a:ln>
        </p:spPr>
      </p:sp>
      <p:sp>
        <p:nvSpPr>
          <p:cNvPr id="14" name="Text 12"/>
          <p:cNvSpPr/>
          <p:nvPr/>
        </p:nvSpPr>
        <p:spPr>
          <a:xfrm>
            <a:off x="3218688" y="3730752"/>
            <a:ext cx="1298448" cy="438912"/>
          </a:xfrm>
          <a:prstGeom prst="rect">
            <a:avLst/>
          </a:prstGeom>
          <a:noFill/>
          <a:ln/>
        </p:spPr>
        <p:txBody>
          <a:bodyPr wrap="square" lIns="25400" tIns="25400" rIns="25400" bIns="25400" rtlCol="0" anchor="ctr"/>
          <a:lstStyle/>
          <a:p>
            <a:pPr algn="ctr" indent="0" marL="0">
              <a:buNone/>
            </a:pPr>
            <a:r>
              <a:rPr lang="en-US" sz="1100" b="1" dirty="0">
                <a:solidFill>
                  <a:srgbClr val="FFFFFF"/>
                </a:solidFill>
              </a:rPr>
              <a:t>Q·K·V</a:t>
            </a:r>
            <a:endParaRPr lang="en-US" sz="1100" dirty="0"/>
          </a:p>
        </p:txBody>
      </p:sp>
      <p:sp>
        <p:nvSpPr>
          <p:cNvPr id="15" name="Shape 13"/>
          <p:cNvSpPr/>
          <p:nvPr/>
        </p:nvSpPr>
        <p:spPr>
          <a:xfrm>
            <a:off x="4517136" y="3950208"/>
            <a:ext cx="137160" cy="0"/>
          </a:xfrm>
          <a:prstGeom prst="line">
            <a:avLst/>
          </a:prstGeom>
          <a:noFill/>
          <a:ln w="12700">
            <a:solidFill>
              <a:srgbClr val="6080A0"/>
            </a:solidFill>
            <a:prstDash val="solid"/>
          </a:ln>
        </p:spPr>
      </p:sp>
      <p:sp>
        <p:nvSpPr>
          <p:cNvPr id="16" name="Shape 14"/>
          <p:cNvSpPr/>
          <p:nvPr/>
        </p:nvSpPr>
        <p:spPr>
          <a:xfrm>
            <a:off x="4654296" y="3730752"/>
            <a:ext cx="1298448" cy="438912"/>
          </a:xfrm>
          <a:prstGeom prst="roundRect">
            <a:avLst>
              <a:gd name="adj" fmla="val 10417"/>
            </a:avLst>
          </a:prstGeom>
          <a:solidFill>
            <a:srgbClr val="BA7517"/>
          </a:solidFill>
          <a:ln w="12700">
            <a:solidFill>
              <a:srgbClr val="BA7517"/>
            </a:solidFill>
            <a:prstDash val="solid"/>
          </a:ln>
        </p:spPr>
      </p:sp>
      <p:sp>
        <p:nvSpPr>
          <p:cNvPr id="17" name="Text 15"/>
          <p:cNvSpPr/>
          <p:nvPr/>
        </p:nvSpPr>
        <p:spPr>
          <a:xfrm>
            <a:off x="4654296" y="3730752"/>
            <a:ext cx="1298448" cy="438912"/>
          </a:xfrm>
          <a:prstGeom prst="rect">
            <a:avLst/>
          </a:prstGeom>
          <a:noFill/>
          <a:ln/>
        </p:spPr>
        <p:txBody>
          <a:bodyPr wrap="square" lIns="25400" tIns="25400" rIns="25400" bIns="25400" rtlCol="0" anchor="ctr"/>
          <a:lstStyle/>
          <a:p>
            <a:pPr algn="ctr" indent="0" marL="0">
              <a:buNone/>
            </a:pPr>
            <a:r>
              <a:rPr lang="en-US" sz="1100" b="1" dirty="0">
                <a:solidFill>
                  <a:srgbClr val="FFFFFF"/>
                </a:solidFill>
              </a:rPr>
              <a:t>Softmax</a:t>
            </a:r>
            <a:endParaRPr lang="en-US" sz="1100" dirty="0"/>
          </a:p>
        </p:txBody>
      </p:sp>
      <p:sp>
        <p:nvSpPr>
          <p:cNvPr id="18" name="Shape 16"/>
          <p:cNvSpPr/>
          <p:nvPr/>
        </p:nvSpPr>
        <p:spPr>
          <a:xfrm>
            <a:off x="5952744" y="3950208"/>
            <a:ext cx="137160" cy="0"/>
          </a:xfrm>
          <a:prstGeom prst="line">
            <a:avLst/>
          </a:prstGeom>
          <a:noFill/>
          <a:ln w="12700">
            <a:solidFill>
              <a:srgbClr val="6080A0"/>
            </a:solidFill>
            <a:prstDash val="solid"/>
          </a:ln>
        </p:spPr>
      </p:sp>
      <p:sp>
        <p:nvSpPr>
          <p:cNvPr id="19" name="Shape 17"/>
          <p:cNvSpPr/>
          <p:nvPr/>
        </p:nvSpPr>
        <p:spPr>
          <a:xfrm>
            <a:off x="6089904" y="3730752"/>
            <a:ext cx="1298448" cy="438912"/>
          </a:xfrm>
          <a:prstGeom prst="roundRect">
            <a:avLst>
              <a:gd name="adj" fmla="val 10417"/>
            </a:avLst>
          </a:prstGeom>
          <a:solidFill>
            <a:srgbClr val="D85A30"/>
          </a:solidFill>
          <a:ln w="12700">
            <a:solidFill>
              <a:srgbClr val="D85A30"/>
            </a:solidFill>
            <a:prstDash val="solid"/>
          </a:ln>
        </p:spPr>
      </p:sp>
      <p:sp>
        <p:nvSpPr>
          <p:cNvPr id="20" name="Text 18"/>
          <p:cNvSpPr/>
          <p:nvPr/>
        </p:nvSpPr>
        <p:spPr>
          <a:xfrm>
            <a:off x="6089904" y="3730752"/>
            <a:ext cx="1298448" cy="438912"/>
          </a:xfrm>
          <a:prstGeom prst="rect">
            <a:avLst/>
          </a:prstGeom>
          <a:noFill/>
          <a:ln/>
        </p:spPr>
        <p:txBody>
          <a:bodyPr wrap="square" lIns="25400" tIns="25400" rIns="25400" bIns="25400" rtlCol="0" anchor="ctr"/>
          <a:lstStyle/>
          <a:p>
            <a:pPr algn="ctr" indent="0" marL="0">
              <a:buNone/>
            </a:pPr>
            <a:r>
              <a:rPr lang="en-US" sz="1100" b="1" dirty="0">
                <a:solidFill>
                  <a:srgbClr val="FFFFFF"/>
                </a:solidFill>
              </a:rPr>
              <a:t>多層抽象化</a:t>
            </a:r>
            <a:endParaRPr lang="en-US" sz="1100" dirty="0"/>
          </a:p>
        </p:txBody>
      </p:sp>
      <p:sp>
        <p:nvSpPr>
          <p:cNvPr id="21" name="Shape 19"/>
          <p:cNvSpPr/>
          <p:nvPr/>
        </p:nvSpPr>
        <p:spPr>
          <a:xfrm>
            <a:off x="7388352" y="3950208"/>
            <a:ext cx="137160" cy="0"/>
          </a:xfrm>
          <a:prstGeom prst="line">
            <a:avLst/>
          </a:prstGeom>
          <a:noFill/>
          <a:ln w="12700">
            <a:solidFill>
              <a:srgbClr val="6080A0"/>
            </a:solidFill>
            <a:prstDash val="solid"/>
          </a:ln>
        </p:spPr>
      </p:sp>
      <p:sp>
        <p:nvSpPr>
          <p:cNvPr id="22" name="Shape 20"/>
          <p:cNvSpPr/>
          <p:nvPr/>
        </p:nvSpPr>
        <p:spPr>
          <a:xfrm>
            <a:off x="7525512" y="3730752"/>
            <a:ext cx="1298448" cy="438912"/>
          </a:xfrm>
          <a:prstGeom prst="roundRect">
            <a:avLst>
              <a:gd name="adj" fmla="val 10417"/>
            </a:avLst>
          </a:prstGeom>
          <a:solidFill>
            <a:srgbClr val="0F6E56"/>
          </a:solidFill>
          <a:ln w="12700">
            <a:solidFill>
              <a:srgbClr val="0F6E56"/>
            </a:solidFill>
            <a:prstDash val="solid"/>
          </a:ln>
        </p:spPr>
      </p:sp>
      <p:sp>
        <p:nvSpPr>
          <p:cNvPr id="23" name="Text 21"/>
          <p:cNvSpPr/>
          <p:nvPr/>
        </p:nvSpPr>
        <p:spPr>
          <a:xfrm>
            <a:off x="7525512" y="3730752"/>
            <a:ext cx="1298448" cy="438912"/>
          </a:xfrm>
          <a:prstGeom prst="rect">
            <a:avLst/>
          </a:prstGeom>
          <a:noFill/>
          <a:ln/>
        </p:spPr>
        <p:txBody>
          <a:bodyPr wrap="square" lIns="25400" tIns="25400" rIns="25400" bIns="25400" rtlCol="0" anchor="ctr"/>
          <a:lstStyle/>
          <a:p>
            <a:pPr algn="ctr" indent="0" marL="0">
              <a:buNone/>
            </a:pPr>
            <a:r>
              <a:rPr lang="en-US" sz="1100" b="1" dirty="0">
                <a:solidFill>
                  <a:srgbClr val="FFFFFF"/>
                </a:solidFill>
              </a:rPr>
              <a:t>次単語予測</a:t>
            </a:r>
            <a:endParaRPr lang="en-US" sz="1100" dirty="0"/>
          </a:p>
        </p:txBody>
      </p:sp>
      <p:sp>
        <p:nvSpPr>
          <p:cNvPr id="24" name="Text 22"/>
          <p:cNvSpPr/>
          <p:nvPr/>
        </p:nvSpPr>
        <p:spPr>
          <a:xfrm>
            <a:off x="347472" y="4663440"/>
            <a:ext cx="4572000" cy="256032"/>
          </a:xfrm>
          <a:prstGeom prst="rect">
            <a:avLst/>
          </a:prstGeom>
          <a:noFill/>
          <a:ln/>
        </p:spPr>
        <p:txBody>
          <a:bodyPr wrap="square" rtlCol="0" anchor="ctr"/>
          <a:lstStyle/>
          <a:p>
            <a:pPr indent="0" marL="0">
              <a:buNone/>
            </a:pPr>
            <a:r>
              <a:rPr lang="en-US" sz="900" dirty="0">
                <a:solidFill>
                  <a:srgbClr val="5060A0"/>
                </a:solidFill>
              </a:rPr>
              <a:t>© Transformer Lecture Series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1 / 28</a:t>
            </a:r>
            <a:endParaRPr lang="en-US" sz="900" dirty="0"/>
          </a:p>
        </p:txBody>
      </p:sp>
      <p:sp>
        <p:nvSpPr>
          <p:cNvPr id="3" name="Shape 1"/>
          <p:cNvSpPr/>
          <p:nvPr/>
        </p:nvSpPr>
        <p:spPr>
          <a:xfrm>
            <a:off x="347472" y="274320"/>
            <a:ext cx="54864" cy="475488"/>
          </a:xfrm>
          <a:prstGeom prst="rect">
            <a:avLst/>
          </a:prstGeom>
          <a:solidFill>
            <a:srgbClr val="534AB7"/>
          </a:solidFill>
          <a:ln w="12700">
            <a:solidFill>
              <a:srgbClr val="534AB7"/>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Transformer の全体アーキテクチャ</a:t>
            </a:r>
            <a:endParaRPr lang="en-US" sz="2000" dirty="0"/>
          </a:p>
        </p:txBody>
      </p:sp>
      <p:sp>
        <p:nvSpPr>
          <p:cNvPr id="5" name="Shape 3"/>
          <p:cNvSpPr/>
          <p:nvPr/>
        </p:nvSpPr>
        <p:spPr>
          <a:xfrm>
            <a:off x="347472" y="932688"/>
            <a:ext cx="3931920" cy="457200"/>
          </a:xfrm>
          <a:prstGeom prst="roundRect">
            <a:avLst>
              <a:gd name="adj" fmla="val 10000"/>
            </a:avLst>
          </a:prstGeom>
          <a:solidFill>
            <a:srgbClr val="6B7280"/>
          </a:solidFill>
          <a:ln w="12700">
            <a:solidFill>
              <a:srgbClr val="6B7280"/>
            </a:solidFill>
            <a:prstDash val="solid"/>
          </a:ln>
        </p:spPr>
      </p:sp>
      <p:sp>
        <p:nvSpPr>
          <p:cNvPr id="6" name="Text 4"/>
          <p:cNvSpPr/>
          <p:nvPr/>
        </p:nvSpPr>
        <p:spPr>
          <a:xfrm>
            <a:off x="347472" y="932688"/>
            <a:ext cx="3931920" cy="457200"/>
          </a:xfrm>
          <a:prstGeom prst="rect">
            <a:avLst/>
          </a:prstGeom>
          <a:noFill/>
          <a:ln/>
        </p:spPr>
        <p:txBody>
          <a:bodyPr wrap="square" lIns="25400" tIns="25400" rIns="25400" bIns="25400" rtlCol="0" anchor="ctr"/>
          <a:lstStyle/>
          <a:p>
            <a:pPr algn="ctr" indent="0" marL="0">
              <a:buNone/>
            </a:pPr>
            <a:r>
              <a:rPr lang="en-US" sz="1050" b="1" dirty="0">
                <a:solidFill>
                  <a:srgbClr val="FFFFFF"/>
                </a:solidFill>
              </a:rPr>
              <a:t>入力テキスト  「猫が走る」</a:t>
            </a:r>
            <a:endParaRPr lang="en-US" sz="1050" dirty="0"/>
          </a:p>
        </p:txBody>
      </p:sp>
      <p:sp>
        <p:nvSpPr>
          <p:cNvPr id="7" name="Shape 5"/>
          <p:cNvSpPr/>
          <p:nvPr/>
        </p:nvSpPr>
        <p:spPr>
          <a:xfrm>
            <a:off x="2313432" y="1389888"/>
            <a:ext cx="0" cy="45720"/>
          </a:xfrm>
          <a:prstGeom prst="line">
            <a:avLst/>
          </a:prstGeom>
          <a:noFill/>
          <a:ln w="12700">
            <a:solidFill>
              <a:srgbClr val="6B7280"/>
            </a:solidFill>
            <a:prstDash val="solid"/>
          </a:ln>
        </p:spPr>
      </p:sp>
      <p:sp>
        <p:nvSpPr>
          <p:cNvPr id="8" name="Shape 6"/>
          <p:cNvSpPr/>
          <p:nvPr/>
        </p:nvSpPr>
        <p:spPr>
          <a:xfrm>
            <a:off x="347472" y="1435608"/>
            <a:ext cx="3931920" cy="457200"/>
          </a:xfrm>
          <a:prstGeom prst="roundRect">
            <a:avLst>
              <a:gd name="adj" fmla="val 10000"/>
            </a:avLst>
          </a:prstGeom>
          <a:solidFill>
            <a:srgbClr val="534AB7"/>
          </a:solidFill>
          <a:ln w="12700">
            <a:solidFill>
              <a:srgbClr val="534AB7"/>
            </a:solidFill>
            <a:prstDash val="solid"/>
          </a:ln>
        </p:spPr>
      </p:sp>
      <p:sp>
        <p:nvSpPr>
          <p:cNvPr id="9" name="Text 7"/>
          <p:cNvSpPr/>
          <p:nvPr/>
        </p:nvSpPr>
        <p:spPr>
          <a:xfrm>
            <a:off x="347472" y="1435608"/>
            <a:ext cx="3931920" cy="457200"/>
          </a:xfrm>
          <a:prstGeom prst="rect">
            <a:avLst/>
          </a:prstGeom>
          <a:noFill/>
          <a:ln/>
        </p:spPr>
        <p:txBody>
          <a:bodyPr wrap="square" lIns="25400" tIns="25400" rIns="25400" bIns="25400" rtlCol="0" anchor="ctr"/>
          <a:lstStyle/>
          <a:p>
            <a:pPr algn="ctr" indent="0" marL="0">
              <a:buNone/>
            </a:pPr>
            <a:r>
              <a:rPr lang="en-US" sz="1050" b="1" dirty="0">
                <a:solidFill>
                  <a:srgbClr val="FFFFFF"/>
                </a:solidFill>
              </a:rPr>
              <a:t>Tokenizer + Embedding</a:t>
            </a:r>
            <a:endParaRPr lang="en-US" sz="1050" dirty="0"/>
          </a:p>
        </p:txBody>
      </p:sp>
      <p:sp>
        <p:nvSpPr>
          <p:cNvPr id="10" name="Shape 8"/>
          <p:cNvSpPr/>
          <p:nvPr/>
        </p:nvSpPr>
        <p:spPr>
          <a:xfrm>
            <a:off x="2313432" y="1892808"/>
            <a:ext cx="0" cy="45720"/>
          </a:xfrm>
          <a:prstGeom prst="line">
            <a:avLst/>
          </a:prstGeom>
          <a:noFill/>
          <a:ln w="12700">
            <a:solidFill>
              <a:srgbClr val="6B7280"/>
            </a:solidFill>
            <a:prstDash val="solid"/>
          </a:ln>
        </p:spPr>
      </p:sp>
      <p:sp>
        <p:nvSpPr>
          <p:cNvPr id="11" name="Shape 9"/>
          <p:cNvSpPr/>
          <p:nvPr/>
        </p:nvSpPr>
        <p:spPr>
          <a:xfrm>
            <a:off x="347472" y="1938528"/>
            <a:ext cx="3931920" cy="457200"/>
          </a:xfrm>
          <a:prstGeom prst="roundRect">
            <a:avLst>
              <a:gd name="adj" fmla="val 10000"/>
            </a:avLst>
          </a:prstGeom>
          <a:solidFill>
            <a:srgbClr val="534AB7"/>
          </a:solidFill>
          <a:ln w="12700">
            <a:solidFill>
              <a:srgbClr val="534AB7"/>
            </a:solidFill>
            <a:prstDash val="solid"/>
          </a:ln>
        </p:spPr>
      </p:sp>
      <p:sp>
        <p:nvSpPr>
          <p:cNvPr id="12" name="Text 10"/>
          <p:cNvSpPr/>
          <p:nvPr/>
        </p:nvSpPr>
        <p:spPr>
          <a:xfrm>
            <a:off x="347472" y="1938528"/>
            <a:ext cx="3931920" cy="457200"/>
          </a:xfrm>
          <a:prstGeom prst="rect">
            <a:avLst/>
          </a:prstGeom>
          <a:noFill/>
          <a:ln/>
        </p:spPr>
        <p:txBody>
          <a:bodyPr wrap="square" lIns="25400" tIns="25400" rIns="25400" bIns="25400" rtlCol="0" anchor="ctr"/>
          <a:lstStyle/>
          <a:p>
            <a:pPr algn="ctr" indent="0" marL="0">
              <a:buNone/>
            </a:pPr>
            <a:r>
              <a:rPr lang="en-US" sz="1050" b="1" dirty="0">
                <a:solidFill>
                  <a:srgbClr val="FFFFFF"/>
                </a:solidFill>
              </a:rPr>
              <a:t>Transformer Block × N 層</a:t>
            </a:r>
            <a:endParaRPr lang="en-US" sz="1050" dirty="0"/>
          </a:p>
        </p:txBody>
      </p:sp>
      <p:sp>
        <p:nvSpPr>
          <p:cNvPr id="13" name="Shape 11"/>
          <p:cNvSpPr/>
          <p:nvPr/>
        </p:nvSpPr>
        <p:spPr>
          <a:xfrm>
            <a:off x="2313432" y="2395728"/>
            <a:ext cx="0" cy="45720"/>
          </a:xfrm>
          <a:prstGeom prst="line">
            <a:avLst/>
          </a:prstGeom>
          <a:noFill/>
          <a:ln w="12700">
            <a:solidFill>
              <a:srgbClr val="6B7280"/>
            </a:solidFill>
            <a:prstDash val="solid"/>
          </a:ln>
        </p:spPr>
      </p:sp>
      <p:sp>
        <p:nvSpPr>
          <p:cNvPr id="14" name="Shape 12"/>
          <p:cNvSpPr/>
          <p:nvPr/>
        </p:nvSpPr>
        <p:spPr>
          <a:xfrm>
            <a:off x="438912" y="2505456"/>
            <a:ext cx="822960" cy="420624"/>
          </a:xfrm>
          <a:prstGeom prst="roundRect">
            <a:avLst>
              <a:gd name="adj" fmla="val 10870"/>
            </a:avLst>
          </a:prstGeom>
          <a:solidFill>
            <a:srgbClr val="534AB7"/>
          </a:solidFill>
          <a:ln w="12700">
            <a:solidFill>
              <a:srgbClr val="534AB7"/>
            </a:solidFill>
            <a:prstDash val="solid"/>
          </a:ln>
        </p:spPr>
      </p:sp>
      <p:sp>
        <p:nvSpPr>
          <p:cNvPr id="15" name="Text 13"/>
          <p:cNvSpPr/>
          <p:nvPr/>
        </p:nvSpPr>
        <p:spPr>
          <a:xfrm>
            <a:off x="438912" y="2505456"/>
            <a:ext cx="822960" cy="420624"/>
          </a:xfrm>
          <a:prstGeom prst="rect">
            <a:avLst/>
          </a:prstGeom>
          <a:noFill/>
          <a:ln/>
        </p:spPr>
        <p:txBody>
          <a:bodyPr wrap="square" lIns="25400" tIns="25400" rIns="25400" bIns="25400" rtlCol="0" anchor="ctr"/>
          <a:lstStyle/>
          <a:p>
            <a:pPr algn="ctr" indent="0" marL="0">
              <a:buNone/>
            </a:pPr>
            <a:r>
              <a:rPr lang="en-US" sz="800" b="1" dirty="0">
                <a:solidFill>
                  <a:srgbClr val="FFFFFF"/>
                </a:solidFill>
              </a:rPr>
              <a:t>Multi-Head</a:t>
            </a:r>
            <a:endParaRPr lang="en-US" sz="800" dirty="0"/>
          </a:p>
          <a:p>
            <a:pPr algn="ctr" indent="0" marL="0">
              <a:buNone/>
            </a:pPr>
            <a:r>
              <a:rPr lang="en-US" sz="800" b="1" dirty="0">
                <a:solidFill>
                  <a:srgbClr val="FFFFFF"/>
                </a:solidFill>
              </a:rPr>
              <a:t>Attention</a:t>
            </a:r>
            <a:endParaRPr lang="en-US" sz="800" dirty="0"/>
          </a:p>
        </p:txBody>
      </p:sp>
      <p:sp>
        <p:nvSpPr>
          <p:cNvPr id="16" name="Shape 14"/>
          <p:cNvSpPr/>
          <p:nvPr/>
        </p:nvSpPr>
        <p:spPr>
          <a:xfrm>
            <a:off x="1261872" y="2715768"/>
            <a:ext cx="73152" cy="0"/>
          </a:xfrm>
          <a:prstGeom prst="line">
            <a:avLst/>
          </a:prstGeom>
          <a:noFill/>
          <a:ln w="12700">
            <a:solidFill>
              <a:srgbClr val="6B7280"/>
            </a:solidFill>
            <a:prstDash val="solid"/>
          </a:ln>
        </p:spPr>
      </p:sp>
      <p:sp>
        <p:nvSpPr>
          <p:cNvPr id="17" name="Shape 15"/>
          <p:cNvSpPr/>
          <p:nvPr/>
        </p:nvSpPr>
        <p:spPr>
          <a:xfrm>
            <a:off x="1335024" y="2505456"/>
            <a:ext cx="822960" cy="420624"/>
          </a:xfrm>
          <a:prstGeom prst="roundRect">
            <a:avLst>
              <a:gd name="adj" fmla="val 10870"/>
            </a:avLst>
          </a:prstGeom>
          <a:solidFill>
            <a:srgbClr val="BA7517"/>
          </a:solidFill>
          <a:ln w="12700">
            <a:solidFill>
              <a:srgbClr val="BA7517"/>
            </a:solidFill>
            <a:prstDash val="solid"/>
          </a:ln>
        </p:spPr>
      </p:sp>
      <p:sp>
        <p:nvSpPr>
          <p:cNvPr id="18" name="Text 16"/>
          <p:cNvSpPr/>
          <p:nvPr/>
        </p:nvSpPr>
        <p:spPr>
          <a:xfrm>
            <a:off x="1335024" y="2505456"/>
            <a:ext cx="822960" cy="420624"/>
          </a:xfrm>
          <a:prstGeom prst="rect">
            <a:avLst/>
          </a:prstGeom>
          <a:noFill/>
          <a:ln/>
        </p:spPr>
        <p:txBody>
          <a:bodyPr wrap="square" lIns="25400" tIns="25400" rIns="25400" bIns="25400" rtlCol="0" anchor="ctr"/>
          <a:lstStyle/>
          <a:p>
            <a:pPr algn="ctr" indent="0" marL="0">
              <a:buNone/>
            </a:pPr>
            <a:r>
              <a:rPr lang="en-US" sz="800" b="1" dirty="0">
                <a:solidFill>
                  <a:srgbClr val="FFFFFF"/>
                </a:solidFill>
              </a:rPr>
              <a:t>Residual+</a:t>
            </a:r>
            <a:endParaRPr lang="en-US" sz="800" dirty="0"/>
          </a:p>
          <a:p>
            <a:pPr algn="ctr" indent="0" marL="0">
              <a:buNone/>
            </a:pPr>
            <a:r>
              <a:rPr lang="en-US" sz="800" b="1" dirty="0">
                <a:solidFill>
                  <a:srgbClr val="FFFFFF"/>
                </a:solidFill>
              </a:rPr>
              <a:t>LayerNorm</a:t>
            </a:r>
            <a:endParaRPr lang="en-US" sz="800" dirty="0"/>
          </a:p>
        </p:txBody>
      </p:sp>
      <p:sp>
        <p:nvSpPr>
          <p:cNvPr id="19" name="Shape 17"/>
          <p:cNvSpPr/>
          <p:nvPr/>
        </p:nvSpPr>
        <p:spPr>
          <a:xfrm>
            <a:off x="2157984" y="2715768"/>
            <a:ext cx="73152" cy="0"/>
          </a:xfrm>
          <a:prstGeom prst="line">
            <a:avLst/>
          </a:prstGeom>
          <a:noFill/>
          <a:ln w="12700">
            <a:solidFill>
              <a:srgbClr val="6B7280"/>
            </a:solidFill>
            <a:prstDash val="solid"/>
          </a:ln>
        </p:spPr>
      </p:sp>
      <p:sp>
        <p:nvSpPr>
          <p:cNvPr id="20" name="Shape 18"/>
          <p:cNvSpPr/>
          <p:nvPr/>
        </p:nvSpPr>
        <p:spPr>
          <a:xfrm>
            <a:off x="2231136" y="2505456"/>
            <a:ext cx="822960" cy="420624"/>
          </a:xfrm>
          <a:prstGeom prst="roundRect">
            <a:avLst>
              <a:gd name="adj" fmla="val 10870"/>
            </a:avLst>
          </a:prstGeom>
          <a:solidFill>
            <a:srgbClr val="0F6E56"/>
          </a:solidFill>
          <a:ln w="12700">
            <a:solidFill>
              <a:srgbClr val="0F6E56"/>
            </a:solidFill>
            <a:prstDash val="solid"/>
          </a:ln>
        </p:spPr>
      </p:sp>
      <p:sp>
        <p:nvSpPr>
          <p:cNvPr id="21" name="Text 19"/>
          <p:cNvSpPr/>
          <p:nvPr/>
        </p:nvSpPr>
        <p:spPr>
          <a:xfrm>
            <a:off x="2231136" y="2505456"/>
            <a:ext cx="822960" cy="420624"/>
          </a:xfrm>
          <a:prstGeom prst="rect">
            <a:avLst/>
          </a:prstGeom>
          <a:noFill/>
          <a:ln/>
        </p:spPr>
        <p:txBody>
          <a:bodyPr wrap="square" lIns="25400" tIns="25400" rIns="25400" bIns="25400" rtlCol="0" anchor="ctr"/>
          <a:lstStyle/>
          <a:p>
            <a:pPr algn="ctr" indent="0" marL="0">
              <a:buNone/>
            </a:pPr>
            <a:r>
              <a:rPr lang="en-US" sz="800" b="1" dirty="0">
                <a:solidFill>
                  <a:srgbClr val="FFFFFF"/>
                </a:solidFill>
              </a:rPr>
              <a:t>FFN</a:t>
            </a:r>
            <a:endParaRPr lang="en-US" sz="800" dirty="0"/>
          </a:p>
        </p:txBody>
      </p:sp>
      <p:sp>
        <p:nvSpPr>
          <p:cNvPr id="22" name="Shape 20"/>
          <p:cNvSpPr/>
          <p:nvPr/>
        </p:nvSpPr>
        <p:spPr>
          <a:xfrm>
            <a:off x="3054096" y="2715768"/>
            <a:ext cx="73152" cy="0"/>
          </a:xfrm>
          <a:prstGeom prst="line">
            <a:avLst/>
          </a:prstGeom>
          <a:noFill/>
          <a:ln w="12700">
            <a:solidFill>
              <a:srgbClr val="6B7280"/>
            </a:solidFill>
            <a:prstDash val="solid"/>
          </a:ln>
        </p:spPr>
      </p:sp>
      <p:sp>
        <p:nvSpPr>
          <p:cNvPr id="23" name="Shape 21"/>
          <p:cNvSpPr/>
          <p:nvPr/>
        </p:nvSpPr>
        <p:spPr>
          <a:xfrm>
            <a:off x="3127248" y="2505456"/>
            <a:ext cx="822960" cy="420624"/>
          </a:xfrm>
          <a:prstGeom prst="roundRect">
            <a:avLst>
              <a:gd name="adj" fmla="val 10870"/>
            </a:avLst>
          </a:prstGeom>
          <a:solidFill>
            <a:srgbClr val="BA7517"/>
          </a:solidFill>
          <a:ln w="12700">
            <a:solidFill>
              <a:srgbClr val="BA7517"/>
            </a:solidFill>
            <a:prstDash val="solid"/>
          </a:ln>
        </p:spPr>
      </p:sp>
      <p:sp>
        <p:nvSpPr>
          <p:cNvPr id="24" name="Text 22"/>
          <p:cNvSpPr/>
          <p:nvPr/>
        </p:nvSpPr>
        <p:spPr>
          <a:xfrm>
            <a:off x="3127248" y="2505456"/>
            <a:ext cx="822960" cy="420624"/>
          </a:xfrm>
          <a:prstGeom prst="rect">
            <a:avLst/>
          </a:prstGeom>
          <a:noFill/>
          <a:ln/>
        </p:spPr>
        <p:txBody>
          <a:bodyPr wrap="square" lIns="25400" tIns="25400" rIns="25400" bIns="25400" rtlCol="0" anchor="ctr"/>
          <a:lstStyle/>
          <a:p>
            <a:pPr algn="ctr" indent="0" marL="0">
              <a:buNone/>
            </a:pPr>
            <a:r>
              <a:rPr lang="en-US" sz="800" b="1" dirty="0">
                <a:solidFill>
                  <a:srgbClr val="FFFFFF"/>
                </a:solidFill>
              </a:rPr>
              <a:t>Residual+</a:t>
            </a:r>
            <a:endParaRPr lang="en-US" sz="800" dirty="0"/>
          </a:p>
          <a:p>
            <a:pPr algn="ctr" indent="0" marL="0">
              <a:buNone/>
            </a:pPr>
            <a:r>
              <a:rPr lang="en-US" sz="800" b="1" dirty="0">
                <a:solidFill>
                  <a:srgbClr val="FFFFFF"/>
                </a:solidFill>
              </a:rPr>
              <a:t>LayerNorm</a:t>
            </a:r>
            <a:endParaRPr lang="en-US" sz="800" dirty="0"/>
          </a:p>
        </p:txBody>
      </p:sp>
      <p:sp>
        <p:nvSpPr>
          <p:cNvPr id="25" name="Shape 23"/>
          <p:cNvSpPr/>
          <p:nvPr/>
        </p:nvSpPr>
        <p:spPr>
          <a:xfrm>
            <a:off x="2313432" y="2926080"/>
            <a:ext cx="0" cy="45720"/>
          </a:xfrm>
          <a:prstGeom prst="line">
            <a:avLst/>
          </a:prstGeom>
          <a:noFill/>
          <a:ln w="12700">
            <a:solidFill>
              <a:srgbClr val="6B7280"/>
            </a:solidFill>
            <a:prstDash val="solid"/>
          </a:ln>
        </p:spPr>
      </p:sp>
      <p:sp>
        <p:nvSpPr>
          <p:cNvPr id="26" name="Shape 24"/>
          <p:cNvSpPr/>
          <p:nvPr/>
        </p:nvSpPr>
        <p:spPr>
          <a:xfrm>
            <a:off x="347472" y="2971800"/>
            <a:ext cx="3931920" cy="457200"/>
          </a:xfrm>
          <a:prstGeom prst="roundRect">
            <a:avLst>
              <a:gd name="adj" fmla="val 10000"/>
            </a:avLst>
          </a:prstGeom>
          <a:solidFill>
            <a:srgbClr val="D85A30"/>
          </a:solidFill>
          <a:ln w="12700">
            <a:solidFill>
              <a:srgbClr val="D85A30"/>
            </a:solidFill>
            <a:prstDash val="solid"/>
          </a:ln>
        </p:spPr>
      </p:sp>
      <p:sp>
        <p:nvSpPr>
          <p:cNvPr id="27" name="Text 25"/>
          <p:cNvSpPr/>
          <p:nvPr/>
        </p:nvSpPr>
        <p:spPr>
          <a:xfrm>
            <a:off x="347472" y="2971800"/>
            <a:ext cx="3931920" cy="457200"/>
          </a:xfrm>
          <a:prstGeom prst="rect">
            <a:avLst/>
          </a:prstGeom>
          <a:noFill/>
          <a:ln/>
        </p:spPr>
        <p:txBody>
          <a:bodyPr wrap="square" lIns="25400" tIns="25400" rIns="25400" bIns="25400" rtlCol="0" anchor="ctr"/>
          <a:lstStyle/>
          <a:p>
            <a:pPr algn="ctr" indent="0" marL="0">
              <a:buNone/>
            </a:pPr>
            <a:r>
              <a:rPr lang="en-US" sz="1050" b="1" dirty="0">
                <a:solidFill>
                  <a:srgbClr val="FFFFFF"/>
                </a:solidFill>
              </a:rPr>
              <a:t>出力ヘッド（Linear + Softmax）</a:t>
            </a:r>
            <a:endParaRPr lang="en-US" sz="1050" dirty="0"/>
          </a:p>
        </p:txBody>
      </p:sp>
      <p:sp>
        <p:nvSpPr>
          <p:cNvPr id="28" name="Shape 26"/>
          <p:cNvSpPr/>
          <p:nvPr/>
        </p:nvSpPr>
        <p:spPr>
          <a:xfrm>
            <a:off x="4526280" y="932688"/>
            <a:ext cx="4251960" cy="126187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29" name="Shape 27"/>
          <p:cNvSpPr/>
          <p:nvPr/>
        </p:nvSpPr>
        <p:spPr>
          <a:xfrm>
            <a:off x="4526280" y="932688"/>
            <a:ext cx="45720" cy="1261872"/>
          </a:xfrm>
          <a:prstGeom prst="rect">
            <a:avLst/>
          </a:prstGeom>
          <a:solidFill>
            <a:srgbClr val="534AB7"/>
          </a:solidFill>
          <a:ln w="12700">
            <a:solidFill>
              <a:srgbClr val="534AB7"/>
            </a:solidFill>
            <a:prstDash val="solid"/>
          </a:ln>
        </p:spPr>
      </p:sp>
      <p:sp>
        <p:nvSpPr>
          <p:cNvPr id="30" name="Text 28"/>
          <p:cNvSpPr/>
          <p:nvPr/>
        </p:nvSpPr>
        <p:spPr>
          <a:xfrm>
            <a:off x="4663440" y="1005840"/>
            <a:ext cx="402336" cy="347472"/>
          </a:xfrm>
          <a:prstGeom prst="rect">
            <a:avLst/>
          </a:prstGeom>
          <a:noFill/>
          <a:ln/>
        </p:spPr>
        <p:txBody>
          <a:bodyPr wrap="square" rtlCol="0" anchor="ctr"/>
          <a:lstStyle/>
          <a:p>
            <a:pPr indent="0" marL="0">
              <a:buNone/>
            </a:pPr>
            <a:r>
              <a:rPr lang="en-US" sz="1700" b="1" dirty="0">
                <a:solidFill>
                  <a:srgbClr val="534AB7"/>
                </a:solidFill>
              </a:rPr>
              <a:t>①</a:t>
            </a:r>
            <a:endParaRPr lang="en-US" sz="1700" dirty="0"/>
          </a:p>
        </p:txBody>
      </p:sp>
      <p:sp>
        <p:nvSpPr>
          <p:cNvPr id="31" name="Text 29"/>
          <p:cNvSpPr/>
          <p:nvPr/>
        </p:nvSpPr>
        <p:spPr>
          <a:xfrm>
            <a:off x="5074920" y="1005840"/>
            <a:ext cx="3566160" cy="347472"/>
          </a:xfrm>
          <a:prstGeom prst="rect">
            <a:avLst/>
          </a:prstGeom>
          <a:noFill/>
          <a:ln/>
        </p:spPr>
        <p:txBody>
          <a:bodyPr wrap="square" rtlCol="0" anchor="ctr"/>
          <a:lstStyle/>
          <a:p>
            <a:pPr indent="0" marL="0">
              <a:buNone/>
            </a:pPr>
            <a:r>
              <a:rPr lang="en-US" sz="1300" b="1" dirty="0">
                <a:solidFill>
                  <a:srgbClr val="534AB7"/>
                </a:solidFill>
              </a:rPr>
              <a:t>Embedding</a:t>
            </a:r>
            <a:endParaRPr lang="en-US" sz="1300" dirty="0"/>
          </a:p>
        </p:txBody>
      </p:sp>
      <p:sp>
        <p:nvSpPr>
          <p:cNvPr id="32" name="Text 30"/>
          <p:cNvSpPr/>
          <p:nvPr/>
        </p:nvSpPr>
        <p:spPr>
          <a:xfrm>
            <a:off x="4663440" y="1389888"/>
            <a:ext cx="3977640" cy="731520"/>
          </a:xfrm>
          <a:prstGeom prst="rect">
            <a:avLst/>
          </a:prstGeom>
          <a:noFill/>
          <a:ln/>
        </p:spPr>
        <p:txBody>
          <a:bodyPr wrap="square" rtlCol="0" anchor="ctr"/>
          <a:lstStyle/>
          <a:p>
            <a:pPr indent="0" marL="0">
              <a:spcAft>
                <a:spcPts val="400"/>
              </a:spcAft>
              <a:buNone/>
            </a:pPr>
            <a:r>
              <a:rPr lang="en-US" sz="1100" dirty="0">
                <a:solidFill>
                  <a:srgbClr val="1F2937"/>
                </a:solidFill>
              </a:rPr>
              <a:t>トークンIDを意味空間の</a:t>
            </a:r>
            <a:endParaRPr lang="en-US" sz="1100" dirty="0"/>
          </a:p>
          <a:p>
            <a:pPr indent="0" marL="0">
              <a:spcAft>
                <a:spcPts val="400"/>
              </a:spcAft>
              <a:buNone/>
            </a:pPr>
            <a:r>
              <a:rPr lang="en-US" sz="1100" dirty="0">
                <a:solidFill>
                  <a:srgbClr val="1F2937"/>
                </a:solidFill>
              </a:rPr>
              <a:t>ベクトルへ変換</a:t>
            </a:r>
            <a:endParaRPr lang="en-US" sz="1100" dirty="0"/>
          </a:p>
        </p:txBody>
      </p:sp>
      <p:sp>
        <p:nvSpPr>
          <p:cNvPr id="33" name="Shape 31"/>
          <p:cNvSpPr/>
          <p:nvPr/>
        </p:nvSpPr>
        <p:spPr>
          <a:xfrm>
            <a:off x="4526280" y="2267712"/>
            <a:ext cx="4251960" cy="126187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34" name="Shape 32"/>
          <p:cNvSpPr/>
          <p:nvPr/>
        </p:nvSpPr>
        <p:spPr>
          <a:xfrm>
            <a:off x="4526280" y="2267712"/>
            <a:ext cx="45720" cy="1261872"/>
          </a:xfrm>
          <a:prstGeom prst="rect">
            <a:avLst/>
          </a:prstGeom>
          <a:solidFill>
            <a:srgbClr val="0F6E56"/>
          </a:solidFill>
          <a:ln w="12700">
            <a:solidFill>
              <a:srgbClr val="0F6E56"/>
            </a:solidFill>
            <a:prstDash val="solid"/>
          </a:ln>
        </p:spPr>
      </p:sp>
      <p:sp>
        <p:nvSpPr>
          <p:cNvPr id="35" name="Text 33"/>
          <p:cNvSpPr/>
          <p:nvPr/>
        </p:nvSpPr>
        <p:spPr>
          <a:xfrm>
            <a:off x="4663440" y="2340864"/>
            <a:ext cx="402336" cy="347472"/>
          </a:xfrm>
          <a:prstGeom prst="rect">
            <a:avLst/>
          </a:prstGeom>
          <a:noFill/>
          <a:ln/>
        </p:spPr>
        <p:txBody>
          <a:bodyPr wrap="square" rtlCol="0" anchor="ctr"/>
          <a:lstStyle/>
          <a:p>
            <a:pPr indent="0" marL="0">
              <a:buNone/>
            </a:pPr>
            <a:r>
              <a:rPr lang="en-US" sz="1700" b="1" dirty="0">
                <a:solidFill>
                  <a:srgbClr val="0F6E56"/>
                </a:solidFill>
              </a:rPr>
              <a:t>②</a:t>
            </a:r>
            <a:endParaRPr lang="en-US" sz="1700" dirty="0"/>
          </a:p>
        </p:txBody>
      </p:sp>
      <p:sp>
        <p:nvSpPr>
          <p:cNvPr id="36" name="Text 34"/>
          <p:cNvSpPr/>
          <p:nvPr/>
        </p:nvSpPr>
        <p:spPr>
          <a:xfrm>
            <a:off x="5074920" y="2340864"/>
            <a:ext cx="3566160" cy="347472"/>
          </a:xfrm>
          <a:prstGeom prst="rect">
            <a:avLst/>
          </a:prstGeom>
          <a:noFill/>
          <a:ln/>
        </p:spPr>
        <p:txBody>
          <a:bodyPr wrap="square" rtlCol="0" anchor="ctr"/>
          <a:lstStyle/>
          <a:p>
            <a:pPr indent="0" marL="0">
              <a:buNone/>
            </a:pPr>
            <a:r>
              <a:rPr lang="en-US" sz="1300" b="1" dirty="0">
                <a:solidFill>
                  <a:srgbClr val="0F6E56"/>
                </a:solidFill>
              </a:rPr>
              <a:t>Block × N</a:t>
            </a:r>
            <a:endParaRPr lang="en-US" sz="1300" dirty="0"/>
          </a:p>
        </p:txBody>
      </p:sp>
      <p:sp>
        <p:nvSpPr>
          <p:cNvPr id="37" name="Text 35"/>
          <p:cNvSpPr/>
          <p:nvPr/>
        </p:nvSpPr>
        <p:spPr>
          <a:xfrm>
            <a:off x="4663440" y="2724912"/>
            <a:ext cx="3977640" cy="731520"/>
          </a:xfrm>
          <a:prstGeom prst="rect">
            <a:avLst/>
          </a:prstGeom>
          <a:noFill/>
          <a:ln/>
        </p:spPr>
        <p:txBody>
          <a:bodyPr wrap="square" rtlCol="0" anchor="ctr"/>
          <a:lstStyle/>
          <a:p>
            <a:pPr indent="0" marL="0">
              <a:spcAft>
                <a:spcPts val="400"/>
              </a:spcAft>
              <a:buNone/>
            </a:pPr>
            <a:r>
              <a:rPr lang="en-US" sz="1100" dirty="0">
                <a:solidFill>
                  <a:srgbClr val="1F2937"/>
                </a:solidFill>
              </a:rPr>
              <a:t>Attentionで関係を収集</a:t>
            </a:r>
            <a:endParaRPr lang="en-US" sz="1100" dirty="0"/>
          </a:p>
          <a:p>
            <a:pPr indent="0" marL="0">
              <a:spcAft>
                <a:spcPts val="400"/>
              </a:spcAft>
              <a:buNone/>
            </a:pPr>
            <a:r>
              <a:rPr lang="en-US" sz="1100" dirty="0">
                <a:solidFill>
                  <a:srgbClr val="1F2937"/>
                </a:solidFill>
              </a:rPr>
              <a:t>FFNで意味を変換</a:t>
            </a:r>
            <a:endParaRPr lang="en-US" sz="1100" dirty="0"/>
          </a:p>
          <a:p>
            <a:pPr indent="0" marL="0">
              <a:spcAft>
                <a:spcPts val="400"/>
              </a:spcAft>
              <a:buNone/>
            </a:pPr>
            <a:r>
              <a:rPr lang="en-US" sz="1100" dirty="0">
                <a:solidFill>
                  <a:srgbClr val="1F2937"/>
                </a:solidFill>
              </a:rPr>
              <a:t>N回繰り返すほど抽象度上昇</a:t>
            </a:r>
            <a:endParaRPr lang="en-US" sz="1100" dirty="0"/>
          </a:p>
        </p:txBody>
      </p:sp>
      <p:sp>
        <p:nvSpPr>
          <p:cNvPr id="38" name="Shape 36"/>
          <p:cNvSpPr/>
          <p:nvPr/>
        </p:nvSpPr>
        <p:spPr>
          <a:xfrm>
            <a:off x="4526280" y="3602736"/>
            <a:ext cx="4251960" cy="126187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39" name="Shape 37"/>
          <p:cNvSpPr/>
          <p:nvPr/>
        </p:nvSpPr>
        <p:spPr>
          <a:xfrm>
            <a:off x="4526280" y="3602736"/>
            <a:ext cx="45720" cy="1261872"/>
          </a:xfrm>
          <a:prstGeom prst="rect">
            <a:avLst/>
          </a:prstGeom>
          <a:solidFill>
            <a:srgbClr val="D85A30"/>
          </a:solidFill>
          <a:ln w="12700">
            <a:solidFill>
              <a:srgbClr val="D85A30"/>
            </a:solidFill>
            <a:prstDash val="solid"/>
          </a:ln>
        </p:spPr>
      </p:sp>
      <p:sp>
        <p:nvSpPr>
          <p:cNvPr id="40" name="Text 38"/>
          <p:cNvSpPr/>
          <p:nvPr/>
        </p:nvSpPr>
        <p:spPr>
          <a:xfrm>
            <a:off x="4663440" y="3675888"/>
            <a:ext cx="402336" cy="347472"/>
          </a:xfrm>
          <a:prstGeom prst="rect">
            <a:avLst/>
          </a:prstGeom>
          <a:noFill/>
          <a:ln/>
        </p:spPr>
        <p:txBody>
          <a:bodyPr wrap="square" rtlCol="0" anchor="ctr"/>
          <a:lstStyle/>
          <a:p>
            <a:pPr indent="0" marL="0">
              <a:buNone/>
            </a:pPr>
            <a:r>
              <a:rPr lang="en-US" sz="1700" b="1" dirty="0">
                <a:solidFill>
                  <a:srgbClr val="D85A30"/>
                </a:solidFill>
              </a:rPr>
              <a:t>③</a:t>
            </a:r>
            <a:endParaRPr lang="en-US" sz="1700" dirty="0"/>
          </a:p>
        </p:txBody>
      </p:sp>
      <p:sp>
        <p:nvSpPr>
          <p:cNvPr id="41" name="Text 39"/>
          <p:cNvSpPr/>
          <p:nvPr/>
        </p:nvSpPr>
        <p:spPr>
          <a:xfrm>
            <a:off x="5074920" y="3675888"/>
            <a:ext cx="3566160" cy="347472"/>
          </a:xfrm>
          <a:prstGeom prst="rect">
            <a:avLst/>
          </a:prstGeom>
          <a:noFill/>
          <a:ln/>
        </p:spPr>
        <p:txBody>
          <a:bodyPr wrap="square" rtlCol="0" anchor="ctr"/>
          <a:lstStyle/>
          <a:p>
            <a:pPr indent="0" marL="0">
              <a:buNone/>
            </a:pPr>
            <a:r>
              <a:rPr lang="en-US" sz="1300" b="1" dirty="0">
                <a:solidFill>
                  <a:srgbClr val="D85A30"/>
                </a:solidFill>
              </a:rPr>
              <a:t>出力</a:t>
            </a:r>
            <a:endParaRPr lang="en-US" sz="1300" dirty="0"/>
          </a:p>
        </p:txBody>
      </p:sp>
      <p:sp>
        <p:nvSpPr>
          <p:cNvPr id="42" name="Text 40"/>
          <p:cNvSpPr/>
          <p:nvPr/>
        </p:nvSpPr>
        <p:spPr>
          <a:xfrm>
            <a:off x="4663440" y="4059936"/>
            <a:ext cx="3977640" cy="731520"/>
          </a:xfrm>
          <a:prstGeom prst="rect">
            <a:avLst/>
          </a:prstGeom>
          <a:noFill/>
          <a:ln/>
        </p:spPr>
        <p:txBody>
          <a:bodyPr wrap="square" rtlCol="0" anchor="ctr"/>
          <a:lstStyle/>
          <a:p>
            <a:pPr indent="0" marL="0">
              <a:spcAft>
                <a:spcPts val="400"/>
              </a:spcAft>
              <a:buNone/>
            </a:pPr>
            <a:r>
              <a:rPr lang="en-US" sz="1100" dirty="0">
                <a:solidFill>
                  <a:srgbClr val="1F2937"/>
                </a:solidFill>
              </a:rPr>
              <a:t>語彙の確率分布を計算</a:t>
            </a:r>
            <a:endParaRPr lang="en-US" sz="1100" dirty="0"/>
          </a:p>
          <a:p>
            <a:pPr indent="0" marL="0">
              <a:spcAft>
                <a:spcPts val="400"/>
              </a:spcAft>
              <a:buNone/>
            </a:pPr>
            <a:r>
              <a:rPr lang="en-US" sz="1100" dirty="0">
                <a:solidFill>
                  <a:srgbClr val="1F2937"/>
                </a:solidFill>
              </a:rPr>
              <a:t>最高確率の単語を選択</a:t>
            </a:r>
            <a:endParaRPr lang="en-US" sz="1100" dirty="0"/>
          </a:p>
        </p:txBody>
      </p:sp>
      <p:sp>
        <p:nvSpPr>
          <p:cNvPr id="43" name="Shape 41"/>
          <p:cNvSpPr/>
          <p:nvPr/>
        </p:nvSpPr>
        <p:spPr>
          <a:xfrm>
            <a:off x="347472" y="4645152"/>
            <a:ext cx="8430768" cy="402336"/>
          </a:xfrm>
          <a:prstGeom prst="roundRect">
            <a:avLst>
              <a:gd name="adj" fmla="val 11364"/>
            </a:avLst>
          </a:prstGeom>
          <a:solidFill>
            <a:srgbClr val="1A1A2E"/>
          </a:solidFill>
          <a:ln w="12700">
            <a:solidFill>
              <a:srgbClr val="1A1A2E"/>
            </a:solidFill>
            <a:prstDash val="solid"/>
          </a:ln>
        </p:spPr>
      </p:sp>
      <p:sp>
        <p:nvSpPr>
          <p:cNvPr id="44" name="Text 42"/>
          <p:cNvSpPr/>
          <p:nvPr/>
        </p:nvSpPr>
        <p:spPr>
          <a:xfrm>
            <a:off x="347472" y="4645152"/>
            <a:ext cx="8430768" cy="402336"/>
          </a:xfrm>
          <a:prstGeom prst="rect">
            <a:avLst/>
          </a:prstGeom>
          <a:noFill/>
          <a:ln/>
        </p:spPr>
        <p:txBody>
          <a:bodyPr wrap="square" lIns="25400" tIns="25400" rIns="25400" bIns="25400" rtlCol="0" anchor="ctr"/>
          <a:lstStyle/>
          <a:p>
            <a:pPr algn="ctr" indent="0" marL="0">
              <a:buNone/>
            </a:pPr>
            <a:r>
              <a:rPr lang="en-US" sz="1100" b="1" dirty="0">
                <a:solidFill>
                  <a:srgbClr val="FFFFFF"/>
                </a:solidFill>
              </a:rPr>
              <a:t>このデッキで学ぶこと：各ブロックが「なぜそう動くのか」を順番に深掘りする</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2 / 28</a:t>
            </a:r>
            <a:endParaRPr lang="en-US" sz="900" dirty="0"/>
          </a:p>
        </p:txBody>
      </p:sp>
      <p:sp>
        <p:nvSpPr>
          <p:cNvPr id="3" name="Shape 1"/>
          <p:cNvSpPr/>
          <p:nvPr/>
        </p:nvSpPr>
        <p:spPr>
          <a:xfrm>
            <a:off x="347472" y="274320"/>
            <a:ext cx="54864" cy="475488"/>
          </a:xfrm>
          <a:prstGeom prst="rect">
            <a:avLst/>
          </a:prstGeom>
          <a:solidFill>
            <a:srgbClr val="534AB7"/>
          </a:solidFill>
          <a:ln w="12700">
            <a:solidFill>
              <a:srgbClr val="534AB7"/>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講習の全体像</a:t>
            </a:r>
            <a:endParaRPr lang="en-US" sz="2000" dirty="0"/>
          </a:p>
        </p:txBody>
      </p:sp>
      <p:sp>
        <p:nvSpPr>
          <p:cNvPr id="5" name="Shape 3"/>
          <p:cNvSpPr/>
          <p:nvPr/>
        </p:nvSpPr>
        <p:spPr>
          <a:xfrm>
            <a:off x="347472" y="932688"/>
            <a:ext cx="4133088" cy="65836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6" name="Shape 4"/>
          <p:cNvSpPr/>
          <p:nvPr/>
        </p:nvSpPr>
        <p:spPr>
          <a:xfrm>
            <a:off x="347472" y="932688"/>
            <a:ext cx="45720" cy="658368"/>
          </a:xfrm>
          <a:prstGeom prst="rect">
            <a:avLst/>
          </a:prstGeom>
          <a:solidFill>
            <a:srgbClr val="534AB7"/>
          </a:solidFill>
          <a:ln w="12700">
            <a:solidFill>
              <a:srgbClr val="534AB7"/>
            </a:solidFill>
            <a:prstDash val="solid"/>
          </a:ln>
        </p:spPr>
      </p:sp>
      <p:sp>
        <p:nvSpPr>
          <p:cNvPr id="7" name="Text 5"/>
          <p:cNvSpPr/>
          <p:nvPr/>
        </p:nvSpPr>
        <p:spPr>
          <a:xfrm>
            <a:off x="457200" y="987552"/>
            <a:ext cx="402336" cy="329184"/>
          </a:xfrm>
          <a:prstGeom prst="rect">
            <a:avLst/>
          </a:prstGeom>
          <a:noFill/>
          <a:ln/>
        </p:spPr>
        <p:txBody>
          <a:bodyPr wrap="square" lIns="0" tIns="0" rIns="0" bIns="0" rtlCol="0" anchor="ctr"/>
          <a:lstStyle/>
          <a:p>
            <a:pPr indent="0" marL="0">
              <a:buNone/>
            </a:pPr>
            <a:r>
              <a:rPr lang="en-US" sz="1300" b="1" dirty="0">
                <a:solidFill>
                  <a:srgbClr val="534AB7"/>
                </a:solidFill>
              </a:rPr>
              <a:t>01</a:t>
            </a:r>
            <a:endParaRPr lang="en-US" sz="1300" dirty="0"/>
          </a:p>
        </p:txBody>
      </p:sp>
      <p:sp>
        <p:nvSpPr>
          <p:cNvPr id="8" name="Text 6"/>
          <p:cNvSpPr/>
          <p:nvPr/>
        </p:nvSpPr>
        <p:spPr>
          <a:xfrm>
            <a:off x="896112" y="969264"/>
            <a:ext cx="3456432" cy="274320"/>
          </a:xfrm>
          <a:prstGeom prst="rect">
            <a:avLst/>
          </a:prstGeom>
          <a:noFill/>
          <a:ln/>
        </p:spPr>
        <p:txBody>
          <a:bodyPr wrap="square" lIns="0" tIns="0" rIns="0" bIns="0" rtlCol="0" anchor="ctr"/>
          <a:lstStyle/>
          <a:p>
            <a:pPr indent="0" marL="0">
              <a:buNone/>
            </a:pPr>
            <a:r>
              <a:rPr lang="en-US" sz="1100" b="1" dirty="0">
                <a:solidFill>
                  <a:srgbClr val="1F2937"/>
                </a:solidFill>
              </a:rPr>
              <a:t>単語 → Token → Embedding</a:t>
            </a:r>
            <a:endParaRPr lang="en-US" sz="1100" dirty="0"/>
          </a:p>
        </p:txBody>
      </p:sp>
      <p:sp>
        <p:nvSpPr>
          <p:cNvPr id="9" name="Text 7"/>
          <p:cNvSpPr/>
          <p:nvPr/>
        </p:nvSpPr>
        <p:spPr>
          <a:xfrm>
            <a:off x="896112" y="1280160"/>
            <a:ext cx="3456432" cy="246888"/>
          </a:xfrm>
          <a:prstGeom prst="rect">
            <a:avLst/>
          </a:prstGeom>
          <a:noFill/>
          <a:ln/>
        </p:spPr>
        <p:txBody>
          <a:bodyPr wrap="square" lIns="0" tIns="0" rIns="0" bIns="0" rtlCol="0" anchor="ctr"/>
          <a:lstStyle/>
          <a:p>
            <a:pPr indent="0" marL="0">
              <a:buNone/>
            </a:pPr>
            <a:r>
              <a:rPr lang="en-US" sz="950" dirty="0">
                <a:solidFill>
                  <a:srgbClr val="4B5563"/>
                </a:solidFill>
              </a:rPr>
              <a:t>トークナイザーと意味空間の形成</a:t>
            </a:r>
            <a:endParaRPr lang="en-US" sz="950" dirty="0"/>
          </a:p>
        </p:txBody>
      </p:sp>
      <p:sp>
        <p:nvSpPr>
          <p:cNvPr id="10" name="Shape 8"/>
          <p:cNvSpPr/>
          <p:nvPr/>
        </p:nvSpPr>
        <p:spPr>
          <a:xfrm>
            <a:off x="347472" y="1627632"/>
            <a:ext cx="4133088" cy="65836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11" name="Shape 9"/>
          <p:cNvSpPr/>
          <p:nvPr/>
        </p:nvSpPr>
        <p:spPr>
          <a:xfrm>
            <a:off x="347472" y="1627632"/>
            <a:ext cx="45720" cy="658368"/>
          </a:xfrm>
          <a:prstGeom prst="rect">
            <a:avLst/>
          </a:prstGeom>
          <a:solidFill>
            <a:srgbClr val="534AB7"/>
          </a:solidFill>
          <a:ln w="12700">
            <a:solidFill>
              <a:srgbClr val="534AB7"/>
            </a:solidFill>
            <a:prstDash val="solid"/>
          </a:ln>
        </p:spPr>
      </p:sp>
      <p:sp>
        <p:nvSpPr>
          <p:cNvPr id="12" name="Text 10"/>
          <p:cNvSpPr/>
          <p:nvPr/>
        </p:nvSpPr>
        <p:spPr>
          <a:xfrm>
            <a:off x="457200" y="1682496"/>
            <a:ext cx="402336" cy="329184"/>
          </a:xfrm>
          <a:prstGeom prst="rect">
            <a:avLst/>
          </a:prstGeom>
          <a:noFill/>
          <a:ln/>
        </p:spPr>
        <p:txBody>
          <a:bodyPr wrap="square" lIns="0" tIns="0" rIns="0" bIns="0" rtlCol="0" anchor="ctr"/>
          <a:lstStyle/>
          <a:p>
            <a:pPr indent="0" marL="0">
              <a:buNone/>
            </a:pPr>
            <a:r>
              <a:rPr lang="en-US" sz="1300" b="1" dirty="0">
                <a:solidFill>
                  <a:srgbClr val="534AB7"/>
                </a:solidFill>
              </a:rPr>
              <a:t>02</a:t>
            </a:r>
            <a:endParaRPr lang="en-US" sz="1300" dirty="0"/>
          </a:p>
        </p:txBody>
      </p:sp>
      <p:sp>
        <p:nvSpPr>
          <p:cNvPr id="13" name="Text 11"/>
          <p:cNvSpPr/>
          <p:nvPr/>
        </p:nvSpPr>
        <p:spPr>
          <a:xfrm>
            <a:off x="896112" y="1664208"/>
            <a:ext cx="3456432" cy="274320"/>
          </a:xfrm>
          <a:prstGeom prst="rect">
            <a:avLst/>
          </a:prstGeom>
          <a:noFill/>
          <a:ln/>
        </p:spPr>
        <p:txBody>
          <a:bodyPr wrap="square" lIns="0" tIns="0" rIns="0" bIns="0" rtlCol="0" anchor="ctr"/>
          <a:lstStyle/>
          <a:p>
            <a:pPr indent="0" marL="0">
              <a:buNone/>
            </a:pPr>
            <a:r>
              <a:rPr lang="en-US" sz="1100" b="1" dirty="0">
                <a:solidFill>
                  <a:srgbClr val="1F2937"/>
                </a:solidFill>
              </a:rPr>
              <a:t>内積と「連想検索」</a:t>
            </a:r>
            <a:endParaRPr lang="en-US" sz="1100" dirty="0"/>
          </a:p>
        </p:txBody>
      </p:sp>
      <p:sp>
        <p:nvSpPr>
          <p:cNvPr id="14" name="Text 12"/>
          <p:cNvSpPr/>
          <p:nvPr/>
        </p:nvSpPr>
        <p:spPr>
          <a:xfrm>
            <a:off x="896112" y="1975104"/>
            <a:ext cx="3456432" cy="246888"/>
          </a:xfrm>
          <a:prstGeom prst="rect">
            <a:avLst/>
          </a:prstGeom>
          <a:noFill/>
          <a:ln/>
        </p:spPr>
        <p:txBody>
          <a:bodyPr wrap="square" lIns="0" tIns="0" rIns="0" bIns="0" rtlCol="0" anchor="ctr"/>
          <a:lstStyle/>
          <a:p>
            <a:pPr indent="0" marL="0">
              <a:buNone/>
            </a:pPr>
            <a:r>
              <a:rPr lang="en-US" sz="950" dirty="0">
                <a:solidFill>
                  <a:srgbClr val="4B5563"/>
                </a:solidFill>
              </a:rPr>
              <a:t>Q·K の内積 = ベクトルDB検索と同じ構造</a:t>
            </a:r>
            <a:endParaRPr lang="en-US" sz="950" dirty="0"/>
          </a:p>
        </p:txBody>
      </p:sp>
      <p:sp>
        <p:nvSpPr>
          <p:cNvPr id="15" name="Shape 13"/>
          <p:cNvSpPr/>
          <p:nvPr/>
        </p:nvSpPr>
        <p:spPr>
          <a:xfrm>
            <a:off x="347472" y="2322576"/>
            <a:ext cx="4133088" cy="65836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16" name="Shape 14"/>
          <p:cNvSpPr/>
          <p:nvPr/>
        </p:nvSpPr>
        <p:spPr>
          <a:xfrm>
            <a:off x="347472" y="2322576"/>
            <a:ext cx="45720" cy="658368"/>
          </a:xfrm>
          <a:prstGeom prst="rect">
            <a:avLst/>
          </a:prstGeom>
          <a:solidFill>
            <a:srgbClr val="BA7517"/>
          </a:solidFill>
          <a:ln w="12700">
            <a:solidFill>
              <a:srgbClr val="BA7517"/>
            </a:solidFill>
            <a:prstDash val="solid"/>
          </a:ln>
        </p:spPr>
      </p:sp>
      <p:sp>
        <p:nvSpPr>
          <p:cNvPr id="17" name="Text 15"/>
          <p:cNvSpPr/>
          <p:nvPr/>
        </p:nvSpPr>
        <p:spPr>
          <a:xfrm>
            <a:off x="457200" y="2377440"/>
            <a:ext cx="402336" cy="329184"/>
          </a:xfrm>
          <a:prstGeom prst="rect">
            <a:avLst/>
          </a:prstGeom>
          <a:noFill/>
          <a:ln/>
        </p:spPr>
        <p:txBody>
          <a:bodyPr wrap="square" lIns="0" tIns="0" rIns="0" bIns="0" rtlCol="0" anchor="ctr"/>
          <a:lstStyle/>
          <a:p>
            <a:pPr indent="0" marL="0">
              <a:buNone/>
            </a:pPr>
            <a:r>
              <a:rPr lang="en-US" sz="1300" b="1" dirty="0">
                <a:solidFill>
                  <a:srgbClr val="BA7517"/>
                </a:solidFill>
              </a:rPr>
              <a:t>03</a:t>
            </a:r>
            <a:endParaRPr lang="en-US" sz="1300" dirty="0"/>
          </a:p>
        </p:txBody>
      </p:sp>
      <p:sp>
        <p:nvSpPr>
          <p:cNvPr id="18" name="Text 16"/>
          <p:cNvSpPr/>
          <p:nvPr/>
        </p:nvSpPr>
        <p:spPr>
          <a:xfrm>
            <a:off x="896112" y="2359152"/>
            <a:ext cx="3456432" cy="274320"/>
          </a:xfrm>
          <a:prstGeom prst="rect">
            <a:avLst/>
          </a:prstGeom>
          <a:noFill/>
          <a:ln/>
        </p:spPr>
        <p:txBody>
          <a:bodyPr wrap="square" lIns="0" tIns="0" rIns="0" bIns="0" rtlCol="0" anchor="ctr"/>
          <a:lstStyle/>
          <a:p>
            <a:pPr indent="0" marL="0">
              <a:buNone/>
            </a:pPr>
            <a:r>
              <a:rPr lang="en-US" sz="1100" b="1" dirty="0">
                <a:solidFill>
                  <a:srgbClr val="1F2937"/>
                </a:solidFill>
              </a:rPr>
              <a:t>Softmax — 注意を確率に</a:t>
            </a:r>
            <a:endParaRPr lang="en-US" sz="1100" dirty="0"/>
          </a:p>
        </p:txBody>
      </p:sp>
      <p:sp>
        <p:nvSpPr>
          <p:cNvPr id="19" name="Text 17"/>
          <p:cNvSpPr/>
          <p:nvPr/>
        </p:nvSpPr>
        <p:spPr>
          <a:xfrm>
            <a:off x="896112" y="2670048"/>
            <a:ext cx="3456432" cy="246888"/>
          </a:xfrm>
          <a:prstGeom prst="rect">
            <a:avLst/>
          </a:prstGeom>
          <a:noFill/>
          <a:ln/>
        </p:spPr>
        <p:txBody>
          <a:bodyPr wrap="square" lIns="0" tIns="0" rIns="0" bIns="0" rtlCol="0" anchor="ctr"/>
          <a:lstStyle/>
          <a:p>
            <a:pPr indent="0" marL="0">
              <a:buNone/>
            </a:pPr>
            <a:r>
              <a:rPr lang="en-US" sz="950" dirty="0">
                <a:solidFill>
                  <a:srgbClr val="4B5563"/>
                </a:solidFill>
              </a:rPr>
              <a:t>指数関数の強調効果と √dk 正規化</a:t>
            </a:r>
            <a:endParaRPr lang="en-US" sz="950" dirty="0"/>
          </a:p>
        </p:txBody>
      </p:sp>
      <p:sp>
        <p:nvSpPr>
          <p:cNvPr id="20" name="Shape 18"/>
          <p:cNvSpPr/>
          <p:nvPr/>
        </p:nvSpPr>
        <p:spPr>
          <a:xfrm>
            <a:off x="347472" y="3017520"/>
            <a:ext cx="4133088" cy="65836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21" name="Shape 19"/>
          <p:cNvSpPr/>
          <p:nvPr/>
        </p:nvSpPr>
        <p:spPr>
          <a:xfrm>
            <a:off x="347472" y="3017520"/>
            <a:ext cx="45720" cy="658368"/>
          </a:xfrm>
          <a:prstGeom prst="rect">
            <a:avLst/>
          </a:prstGeom>
          <a:solidFill>
            <a:srgbClr val="BA7517"/>
          </a:solidFill>
          <a:ln w="12700">
            <a:solidFill>
              <a:srgbClr val="BA7517"/>
            </a:solidFill>
            <a:prstDash val="solid"/>
          </a:ln>
        </p:spPr>
      </p:sp>
      <p:sp>
        <p:nvSpPr>
          <p:cNvPr id="22" name="Text 20"/>
          <p:cNvSpPr/>
          <p:nvPr/>
        </p:nvSpPr>
        <p:spPr>
          <a:xfrm>
            <a:off x="457200" y="3072384"/>
            <a:ext cx="402336" cy="329184"/>
          </a:xfrm>
          <a:prstGeom prst="rect">
            <a:avLst/>
          </a:prstGeom>
          <a:noFill/>
          <a:ln/>
        </p:spPr>
        <p:txBody>
          <a:bodyPr wrap="square" lIns="0" tIns="0" rIns="0" bIns="0" rtlCol="0" anchor="ctr"/>
          <a:lstStyle/>
          <a:p>
            <a:pPr indent="0" marL="0">
              <a:buNone/>
            </a:pPr>
            <a:r>
              <a:rPr lang="en-US" sz="1300" b="1" dirty="0">
                <a:solidFill>
                  <a:srgbClr val="BA7517"/>
                </a:solidFill>
              </a:rPr>
              <a:t>04</a:t>
            </a:r>
            <a:endParaRPr lang="en-US" sz="1300" dirty="0"/>
          </a:p>
        </p:txBody>
      </p:sp>
      <p:sp>
        <p:nvSpPr>
          <p:cNvPr id="23" name="Text 21"/>
          <p:cNvSpPr/>
          <p:nvPr/>
        </p:nvSpPr>
        <p:spPr>
          <a:xfrm>
            <a:off x="896112" y="3054096"/>
            <a:ext cx="3456432" cy="274320"/>
          </a:xfrm>
          <a:prstGeom prst="rect">
            <a:avLst/>
          </a:prstGeom>
          <a:noFill/>
          <a:ln/>
        </p:spPr>
        <p:txBody>
          <a:bodyPr wrap="square" lIns="0" tIns="0" rIns="0" bIns="0" rtlCol="0" anchor="ctr"/>
          <a:lstStyle/>
          <a:p>
            <a:pPr indent="0" marL="0">
              <a:buNone/>
            </a:pPr>
            <a:r>
              <a:rPr lang="en-US" sz="1100" b="1" dirty="0">
                <a:solidFill>
                  <a:srgbClr val="1F2937"/>
                </a:solidFill>
              </a:rPr>
              <a:t>Attention 全体像 Q·K·V</a:t>
            </a:r>
            <a:endParaRPr lang="en-US" sz="1100" dirty="0"/>
          </a:p>
        </p:txBody>
      </p:sp>
      <p:sp>
        <p:nvSpPr>
          <p:cNvPr id="24" name="Text 22"/>
          <p:cNvSpPr/>
          <p:nvPr/>
        </p:nvSpPr>
        <p:spPr>
          <a:xfrm>
            <a:off x="896112" y="3364992"/>
            <a:ext cx="3456432" cy="246888"/>
          </a:xfrm>
          <a:prstGeom prst="rect">
            <a:avLst/>
          </a:prstGeom>
          <a:noFill/>
          <a:ln/>
        </p:spPr>
        <p:txBody>
          <a:bodyPr wrap="square" lIns="0" tIns="0" rIns="0" bIns="0" rtlCol="0" anchor="ctr"/>
          <a:lstStyle/>
          <a:p>
            <a:pPr indent="0" marL="0">
              <a:buNone/>
            </a:pPr>
            <a:r>
              <a:rPr lang="en-US" sz="950" dirty="0">
                <a:solidFill>
                  <a:srgbClr val="4B5563"/>
                </a:solidFill>
              </a:rPr>
              <a:t>索引/本文の比喩で理解する文脈化</a:t>
            </a:r>
            <a:endParaRPr lang="en-US" sz="950" dirty="0"/>
          </a:p>
        </p:txBody>
      </p:sp>
      <p:sp>
        <p:nvSpPr>
          <p:cNvPr id="25" name="Shape 23"/>
          <p:cNvSpPr/>
          <p:nvPr/>
        </p:nvSpPr>
        <p:spPr>
          <a:xfrm>
            <a:off x="347472" y="3712464"/>
            <a:ext cx="4133088" cy="65836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26" name="Shape 24"/>
          <p:cNvSpPr/>
          <p:nvPr/>
        </p:nvSpPr>
        <p:spPr>
          <a:xfrm>
            <a:off x="347472" y="3712464"/>
            <a:ext cx="45720" cy="658368"/>
          </a:xfrm>
          <a:prstGeom prst="rect">
            <a:avLst/>
          </a:prstGeom>
          <a:solidFill>
            <a:srgbClr val="D85A30"/>
          </a:solidFill>
          <a:ln w="12700">
            <a:solidFill>
              <a:srgbClr val="D85A30"/>
            </a:solidFill>
            <a:prstDash val="solid"/>
          </a:ln>
        </p:spPr>
      </p:sp>
      <p:sp>
        <p:nvSpPr>
          <p:cNvPr id="27" name="Text 25"/>
          <p:cNvSpPr/>
          <p:nvPr/>
        </p:nvSpPr>
        <p:spPr>
          <a:xfrm>
            <a:off x="457200" y="3767328"/>
            <a:ext cx="402336" cy="329184"/>
          </a:xfrm>
          <a:prstGeom prst="rect">
            <a:avLst/>
          </a:prstGeom>
          <a:noFill/>
          <a:ln/>
        </p:spPr>
        <p:txBody>
          <a:bodyPr wrap="square" lIns="0" tIns="0" rIns="0" bIns="0" rtlCol="0" anchor="ctr"/>
          <a:lstStyle/>
          <a:p>
            <a:pPr indent="0" marL="0">
              <a:buNone/>
            </a:pPr>
            <a:r>
              <a:rPr lang="en-US" sz="1300" b="1" dirty="0">
                <a:solidFill>
                  <a:srgbClr val="D85A30"/>
                </a:solidFill>
              </a:rPr>
              <a:t>05</a:t>
            </a:r>
            <a:endParaRPr lang="en-US" sz="1300" dirty="0"/>
          </a:p>
        </p:txBody>
      </p:sp>
      <p:sp>
        <p:nvSpPr>
          <p:cNvPr id="28" name="Text 26"/>
          <p:cNvSpPr/>
          <p:nvPr/>
        </p:nvSpPr>
        <p:spPr>
          <a:xfrm>
            <a:off x="896112" y="3749040"/>
            <a:ext cx="3456432" cy="274320"/>
          </a:xfrm>
          <a:prstGeom prst="rect">
            <a:avLst/>
          </a:prstGeom>
          <a:noFill/>
          <a:ln/>
        </p:spPr>
        <p:txBody>
          <a:bodyPr wrap="square" lIns="0" tIns="0" rIns="0" bIns="0" rtlCol="0" anchor="ctr"/>
          <a:lstStyle/>
          <a:p>
            <a:pPr indent="0" marL="0">
              <a:buNone/>
            </a:pPr>
            <a:r>
              <a:rPr lang="en-US" sz="1100" b="1" dirty="0">
                <a:solidFill>
                  <a:srgbClr val="1F2937"/>
                </a:solidFill>
              </a:rPr>
              <a:t>Multi-Head Attention</a:t>
            </a:r>
            <a:endParaRPr lang="en-US" sz="1100" dirty="0"/>
          </a:p>
        </p:txBody>
      </p:sp>
      <p:sp>
        <p:nvSpPr>
          <p:cNvPr id="29" name="Text 27"/>
          <p:cNvSpPr/>
          <p:nvPr/>
        </p:nvSpPr>
        <p:spPr>
          <a:xfrm>
            <a:off x="896112" y="4059936"/>
            <a:ext cx="3456432" cy="246888"/>
          </a:xfrm>
          <a:prstGeom prst="rect">
            <a:avLst/>
          </a:prstGeom>
          <a:noFill/>
          <a:ln/>
        </p:spPr>
        <p:txBody>
          <a:bodyPr wrap="square" lIns="0" tIns="0" rIns="0" bIns="0" rtlCol="0" anchor="ctr"/>
          <a:lstStyle/>
          <a:p>
            <a:pPr indent="0" marL="0">
              <a:buNone/>
            </a:pPr>
            <a:r>
              <a:rPr lang="en-US" sz="950" dirty="0">
                <a:solidFill>
                  <a:srgbClr val="4B5563"/>
                </a:solidFill>
              </a:rPr>
              <a:t>文法・時系列・感情を並列で見る</a:t>
            </a:r>
            <a:endParaRPr lang="en-US" sz="950" dirty="0"/>
          </a:p>
        </p:txBody>
      </p:sp>
      <p:sp>
        <p:nvSpPr>
          <p:cNvPr id="30" name="Shape 28"/>
          <p:cNvSpPr/>
          <p:nvPr/>
        </p:nvSpPr>
        <p:spPr>
          <a:xfrm>
            <a:off x="347472" y="4407408"/>
            <a:ext cx="4133088" cy="65836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31" name="Shape 29"/>
          <p:cNvSpPr/>
          <p:nvPr/>
        </p:nvSpPr>
        <p:spPr>
          <a:xfrm>
            <a:off x="347472" y="4407408"/>
            <a:ext cx="45720" cy="658368"/>
          </a:xfrm>
          <a:prstGeom prst="rect">
            <a:avLst/>
          </a:prstGeom>
          <a:solidFill>
            <a:srgbClr val="D85A30"/>
          </a:solidFill>
          <a:ln w="12700">
            <a:solidFill>
              <a:srgbClr val="D85A30"/>
            </a:solidFill>
            <a:prstDash val="solid"/>
          </a:ln>
        </p:spPr>
      </p:sp>
      <p:sp>
        <p:nvSpPr>
          <p:cNvPr id="32" name="Text 30"/>
          <p:cNvSpPr/>
          <p:nvPr/>
        </p:nvSpPr>
        <p:spPr>
          <a:xfrm>
            <a:off x="457200" y="4462272"/>
            <a:ext cx="402336" cy="329184"/>
          </a:xfrm>
          <a:prstGeom prst="rect">
            <a:avLst/>
          </a:prstGeom>
          <a:noFill/>
          <a:ln/>
        </p:spPr>
        <p:txBody>
          <a:bodyPr wrap="square" lIns="0" tIns="0" rIns="0" bIns="0" rtlCol="0" anchor="ctr"/>
          <a:lstStyle/>
          <a:p>
            <a:pPr indent="0" marL="0">
              <a:buNone/>
            </a:pPr>
            <a:r>
              <a:rPr lang="en-US" sz="1300" b="1" dirty="0">
                <a:solidFill>
                  <a:srgbClr val="D85A30"/>
                </a:solidFill>
              </a:rPr>
              <a:t>06</a:t>
            </a:r>
            <a:endParaRPr lang="en-US" sz="1300" dirty="0"/>
          </a:p>
        </p:txBody>
      </p:sp>
      <p:sp>
        <p:nvSpPr>
          <p:cNvPr id="33" name="Text 31"/>
          <p:cNvSpPr/>
          <p:nvPr/>
        </p:nvSpPr>
        <p:spPr>
          <a:xfrm>
            <a:off x="896112" y="4443984"/>
            <a:ext cx="3456432" cy="274320"/>
          </a:xfrm>
          <a:prstGeom prst="rect">
            <a:avLst/>
          </a:prstGeom>
          <a:noFill/>
          <a:ln/>
        </p:spPr>
        <p:txBody>
          <a:bodyPr wrap="square" lIns="0" tIns="0" rIns="0" bIns="0" rtlCol="0" anchor="ctr"/>
          <a:lstStyle/>
          <a:p>
            <a:pPr indent="0" marL="0">
              <a:buNone/>
            </a:pPr>
            <a:r>
              <a:rPr lang="en-US" sz="1100" b="1" dirty="0">
                <a:solidFill>
                  <a:srgbClr val="1F2937"/>
                </a:solidFill>
              </a:rPr>
              <a:t>Residual + FFN</a:t>
            </a:r>
            <a:endParaRPr lang="en-US" sz="1100" dirty="0"/>
          </a:p>
        </p:txBody>
      </p:sp>
      <p:sp>
        <p:nvSpPr>
          <p:cNvPr id="34" name="Text 32"/>
          <p:cNvSpPr/>
          <p:nvPr/>
        </p:nvSpPr>
        <p:spPr>
          <a:xfrm>
            <a:off x="896112" y="4754880"/>
            <a:ext cx="3456432" cy="246888"/>
          </a:xfrm>
          <a:prstGeom prst="rect">
            <a:avLst/>
          </a:prstGeom>
          <a:noFill/>
          <a:ln/>
        </p:spPr>
        <p:txBody>
          <a:bodyPr wrap="square" lIns="0" tIns="0" rIns="0" bIns="0" rtlCol="0" anchor="ctr"/>
          <a:lstStyle/>
          <a:p>
            <a:pPr indent="0" marL="0">
              <a:buNone/>
            </a:pPr>
            <a:r>
              <a:rPr lang="en-US" sz="950" dirty="0">
                <a:solidFill>
                  <a:srgbClr val="4B5563"/>
                </a:solidFill>
              </a:rPr>
              <a:t>壊れない深さと意味変換の役割分担</a:t>
            </a:r>
            <a:endParaRPr lang="en-US" sz="950" dirty="0"/>
          </a:p>
        </p:txBody>
      </p:sp>
      <p:sp>
        <p:nvSpPr>
          <p:cNvPr id="35" name="Shape 33"/>
          <p:cNvSpPr/>
          <p:nvPr/>
        </p:nvSpPr>
        <p:spPr>
          <a:xfrm>
            <a:off x="4754880" y="932688"/>
            <a:ext cx="4133088" cy="65836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36" name="Shape 34"/>
          <p:cNvSpPr/>
          <p:nvPr/>
        </p:nvSpPr>
        <p:spPr>
          <a:xfrm>
            <a:off x="4754880" y="932688"/>
            <a:ext cx="45720" cy="658368"/>
          </a:xfrm>
          <a:prstGeom prst="rect">
            <a:avLst/>
          </a:prstGeom>
          <a:solidFill>
            <a:srgbClr val="0F6E56"/>
          </a:solidFill>
          <a:ln w="12700">
            <a:solidFill>
              <a:srgbClr val="0F6E56"/>
            </a:solidFill>
            <a:prstDash val="solid"/>
          </a:ln>
        </p:spPr>
      </p:sp>
      <p:sp>
        <p:nvSpPr>
          <p:cNvPr id="37" name="Text 35"/>
          <p:cNvSpPr/>
          <p:nvPr/>
        </p:nvSpPr>
        <p:spPr>
          <a:xfrm>
            <a:off x="4864608" y="987552"/>
            <a:ext cx="402336" cy="329184"/>
          </a:xfrm>
          <a:prstGeom prst="rect">
            <a:avLst/>
          </a:prstGeom>
          <a:noFill/>
          <a:ln/>
        </p:spPr>
        <p:txBody>
          <a:bodyPr wrap="square" lIns="0" tIns="0" rIns="0" bIns="0" rtlCol="0" anchor="ctr"/>
          <a:lstStyle/>
          <a:p>
            <a:pPr indent="0" marL="0">
              <a:buNone/>
            </a:pPr>
            <a:r>
              <a:rPr lang="en-US" sz="1300" b="1" dirty="0">
                <a:solidFill>
                  <a:srgbClr val="0F6E56"/>
                </a:solidFill>
              </a:rPr>
              <a:t>07</a:t>
            </a:r>
            <a:endParaRPr lang="en-US" sz="1300" dirty="0"/>
          </a:p>
        </p:txBody>
      </p:sp>
      <p:sp>
        <p:nvSpPr>
          <p:cNvPr id="38" name="Text 36"/>
          <p:cNvSpPr/>
          <p:nvPr/>
        </p:nvSpPr>
        <p:spPr>
          <a:xfrm>
            <a:off x="5303520" y="969264"/>
            <a:ext cx="3456432" cy="274320"/>
          </a:xfrm>
          <a:prstGeom prst="rect">
            <a:avLst/>
          </a:prstGeom>
          <a:noFill/>
          <a:ln/>
        </p:spPr>
        <p:txBody>
          <a:bodyPr wrap="square" lIns="0" tIns="0" rIns="0" bIns="0" rtlCol="0" anchor="ctr"/>
          <a:lstStyle/>
          <a:p>
            <a:pPr indent="0" marL="0">
              <a:buNone/>
            </a:pPr>
            <a:r>
              <a:rPr lang="en-US" sz="1100" b="1" dirty="0">
                <a:solidFill>
                  <a:srgbClr val="1F2937"/>
                </a:solidFill>
              </a:rPr>
              <a:t>Transformer Block の流れ</a:t>
            </a:r>
            <a:endParaRPr lang="en-US" sz="1100" dirty="0"/>
          </a:p>
        </p:txBody>
      </p:sp>
      <p:sp>
        <p:nvSpPr>
          <p:cNvPr id="39" name="Text 37"/>
          <p:cNvSpPr/>
          <p:nvPr/>
        </p:nvSpPr>
        <p:spPr>
          <a:xfrm>
            <a:off x="5303520" y="1280160"/>
            <a:ext cx="3456432" cy="246888"/>
          </a:xfrm>
          <a:prstGeom prst="rect">
            <a:avLst/>
          </a:prstGeom>
          <a:noFill/>
          <a:ln/>
        </p:spPr>
        <p:txBody>
          <a:bodyPr wrap="square" lIns="0" tIns="0" rIns="0" bIns="0" rtlCol="0" anchor="ctr"/>
          <a:lstStyle/>
          <a:p>
            <a:pPr indent="0" marL="0">
              <a:buNone/>
            </a:pPr>
            <a:r>
              <a:rPr lang="en-US" sz="950" dirty="0">
                <a:solidFill>
                  <a:srgbClr val="4B5563"/>
                </a:solidFill>
              </a:rPr>
              <a:t>1トークンが辿るステップ完全版</a:t>
            </a:r>
            <a:endParaRPr lang="en-US" sz="950" dirty="0"/>
          </a:p>
        </p:txBody>
      </p:sp>
      <p:sp>
        <p:nvSpPr>
          <p:cNvPr id="40" name="Shape 38"/>
          <p:cNvSpPr/>
          <p:nvPr/>
        </p:nvSpPr>
        <p:spPr>
          <a:xfrm>
            <a:off x="4754880" y="1627632"/>
            <a:ext cx="4133088" cy="65836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41" name="Shape 39"/>
          <p:cNvSpPr/>
          <p:nvPr/>
        </p:nvSpPr>
        <p:spPr>
          <a:xfrm>
            <a:off x="4754880" y="1627632"/>
            <a:ext cx="45720" cy="658368"/>
          </a:xfrm>
          <a:prstGeom prst="rect">
            <a:avLst/>
          </a:prstGeom>
          <a:solidFill>
            <a:srgbClr val="0F6E56"/>
          </a:solidFill>
          <a:ln w="12700">
            <a:solidFill>
              <a:srgbClr val="0F6E56"/>
            </a:solidFill>
            <a:prstDash val="solid"/>
          </a:ln>
        </p:spPr>
      </p:sp>
      <p:sp>
        <p:nvSpPr>
          <p:cNvPr id="42" name="Text 40"/>
          <p:cNvSpPr/>
          <p:nvPr/>
        </p:nvSpPr>
        <p:spPr>
          <a:xfrm>
            <a:off x="4864608" y="1682496"/>
            <a:ext cx="402336" cy="329184"/>
          </a:xfrm>
          <a:prstGeom prst="rect">
            <a:avLst/>
          </a:prstGeom>
          <a:noFill/>
          <a:ln/>
        </p:spPr>
        <p:txBody>
          <a:bodyPr wrap="square" lIns="0" tIns="0" rIns="0" bIns="0" rtlCol="0" anchor="ctr"/>
          <a:lstStyle/>
          <a:p>
            <a:pPr indent="0" marL="0">
              <a:buNone/>
            </a:pPr>
            <a:r>
              <a:rPr lang="en-US" sz="1300" b="1" dirty="0">
                <a:solidFill>
                  <a:srgbClr val="0F6E56"/>
                </a:solidFill>
              </a:rPr>
              <a:t>08</a:t>
            </a:r>
            <a:endParaRPr lang="en-US" sz="1300" dirty="0"/>
          </a:p>
        </p:txBody>
      </p:sp>
      <p:sp>
        <p:nvSpPr>
          <p:cNvPr id="43" name="Text 41"/>
          <p:cNvSpPr/>
          <p:nvPr/>
        </p:nvSpPr>
        <p:spPr>
          <a:xfrm>
            <a:off x="5303520" y="1664208"/>
            <a:ext cx="3456432" cy="274320"/>
          </a:xfrm>
          <a:prstGeom prst="rect">
            <a:avLst/>
          </a:prstGeom>
          <a:noFill/>
          <a:ln/>
        </p:spPr>
        <p:txBody>
          <a:bodyPr wrap="square" lIns="0" tIns="0" rIns="0" bIns="0" rtlCol="0" anchor="ctr"/>
          <a:lstStyle/>
          <a:p>
            <a:pPr indent="0" marL="0">
              <a:buNone/>
            </a:pPr>
            <a:r>
              <a:rPr lang="en-US" sz="1100" b="1" dirty="0">
                <a:solidFill>
                  <a:srgbClr val="1F2937"/>
                </a:solidFill>
              </a:rPr>
              <a:t>bank の Attention 可視化 ★NEW</a:t>
            </a:r>
            <a:endParaRPr lang="en-US" sz="1100" dirty="0"/>
          </a:p>
        </p:txBody>
      </p:sp>
      <p:sp>
        <p:nvSpPr>
          <p:cNvPr id="44" name="Text 42"/>
          <p:cNvSpPr/>
          <p:nvPr/>
        </p:nvSpPr>
        <p:spPr>
          <a:xfrm>
            <a:off x="5303520" y="1975104"/>
            <a:ext cx="3456432" cy="246888"/>
          </a:xfrm>
          <a:prstGeom prst="rect">
            <a:avLst/>
          </a:prstGeom>
          <a:noFill/>
          <a:ln/>
        </p:spPr>
        <p:txBody>
          <a:bodyPr wrap="square" lIns="0" tIns="0" rIns="0" bIns="0" rtlCol="0" anchor="ctr"/>
          <a:lstStyle/>
          <a:p>
            <a:pPr indent="0" marL="0">
              <a:buNone/>
            </a:pPr>
            <a:r>
              <a:rPr lang="en-US" sz="950" dirty="0">
                <a:solidFill>
                  <a:srgbClr val="4B5563"/>
                </a:solidFill>
              </a:rPr>
              <a:t>同じ単語でも文脈で意味が変わる仕組み</a:t>
            </a:r>
            <a:endParaRPr lang="en-US" sz="950" dirty="0"/>
          </a:p>
        </p:txBody>
      </p:sp>
      <p:sp>
        <p:nvSpPr>
          <p:cNvPr id="45" name="Shape 43"/>
          <p:cNvSpPr/>
          <p:nvPr/>
        </p:nvSpPr>
        <p:spPr>
          <a:xfrm>
            <a:off x="4754880" y="2322576"/>
            <a:ext cx="4133088" cy="65836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46" name="Shape 44"/>
          <p:cNvSpPr/>
          <p:nvPr/>
        </p:nvSpPr>
        <p:spPr>
          <a:xfrm>
            <a:off x="4754880" y="2322576"/>
            <a:ext cx="45720" cy="658368"/>
          </a:xfrm>
          <a:prstGeom prst="rect">
            <a:avLst/>
          </a:prstGeom>
          <a:solidFill>
            <a:srgbClr val="534AB7"/>
          </a:solidFill>
          <a:ln w="12700">
            <a:solidFill>
              <a:srgbClr val="534AB7"/>
            </a:solidFill>
            <a:prstDash val="solid"/>
          </a:ln>
        </p:spPr>
      </p:sp>
      <p:sp>
        <p:nvSpPr>
          <p:cNvPr id="47" name="Text 45"/>
          <p:cNvSpPr/>
          <p:nvPr/>
        </p:nvSpPr>
        <p:spPr>
          <a:xfrm>
            <a:off x="4864608" y="2377440"/>
            <a:ext cx="402336" cy="329184"/>
          </a:xfrm>
          <a:prstGeom prst="rect">
            <a:avLst/>
          </a:prstGeom>
          <a:noFill/>
          <a:ln/>
        </p:spPr>
        <p:txBody>
          <a:bodyPr wrap="square" lIns="0" tIns="0" rIns="0" bIns="0" rtlCol="0" anchor="ctr"/>
          <a:lstStyle/>
          <a:p>
            <a:pPr indent="0" marL="0">
              <a:buNone/>
            </a:pPr>
            <a:r>
              <a:rPr lang="en-US" sz="1300" b="1" dirty="0">
                <a:solidFill>
                  <a:srgbClr val="534AB7"/>
                </a:solidFill>
              </a:rPr>
              <a:t>09</a:t>
            </a:r>
            <a:endParaRPr lang="en-US" sz="1300" dirty="0"/>
          </a:p>
        </p:txBody>
      </p:sp>
      <p:sp>
        <p:nvSpPr>
          <p:cNvPr id="48" name="Text 46"/>
          <p:cNvSpPr/>
          <p:nvPr/>
        </p:nvSpPr>
        <p:spPr>
          <a:xfrm>
            <a:off x="5303520" y="2359152"/>
            <a:ext cx="3456432" cy="274320"/>
          </a:xfrm>
          <a:prstGeom prst="rect">
            <a:avLst/>
          </a:prstGeom>
          <a:noFill/>
          <a:ln/>
        </p:spPr>
        <p:txBody>
          <a:bodyPr wrap="square" lIns="0" tIns="0" rIns="0" bIns="0" rtlCol="0" anchor="ctr"/>
          <a:lstStyle/>
          <a:p>
            <a:pPr indent="0" marL="0">
              <a:buNone/>
            </a:pPr>
            <a:r>
              <a:rPr lang="en-US" sz="1100" b="1" dirty="0">
                <a:solidFill>
                  <a:srgbClr val="1F2937"/>
                </a:solidFill>
              </a:rPr>
              <a:t>層を重ねると何が起きるか</a:t>
            </a:r>
            <a:endParaRPr lang="en-US" sz="1100" dirty="0"/>
          </a:p>
        </p:txBody>
      </p:sp>
      <p:sp>
        <p:nvSpPr>
          <p:cNvPr id="49" name="Text 47"/>
          <p:cNvSpPr/>
          <p:nvPr/>
        </p:nvSpPr>
        <p:spPr>
          <a:xfrm>
            <a:off x="5303520" y="2670048"/>
            <a:ext cx="3456432" cy="246888"/>
          </a:xfrm>
          <a:prstGeom prst="rect">
            <a:avLst/>
          </a:prstGeom>
          <a:noFill/>
          <a:ln/>
        </p:spPr>
        <p:txBody>
          <a:bodyPr wrap="square" lIns="0" tIns="0" rIns="0" bIns="0" rtlCol="0" anchor="ctr"/>
          <a:lstStyle/>
          <a:p>
            <a:pPr indent="0" marL="0">
              <a:buNone/>
            </a:pPr>
            <a:r>
              <a:rPr lang="en-US" sz="950" dirty="0">
                <a:solidFill>
                  <a:srgbClr val="4B5563"/>
                </a:solidFill>
              </a:rPr>
              <a:t>局所関係 → 文構造 → 推論・世界知識</a:t>
            </a:r>
            <a:endParaRPr lang="en-US" sz="950" dirty="0"/>
          </a:p>
        </p:txBody>
      </p:sp>
      <p:sp>
        <p:nvSpPr>
          <p:cNvPr id="50" name="Shape 48"/>
          <p:cNvSpPr/>
          <p:nvPr/>
        </p:nvSpPr>
        <p:spPr>
          <a:xfrm>
            <a:off x="4754880" y="3017520"/>
            <a:ext cx="4133088" cy="65836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51" name="Shape 49"/>
          <p:cNvSpPr/>
          <p:nvPr/>
        </p:nvSpPr>
        <p:spPr>
          <a:xfrm>
            <a:off x="4754880" y="3017520"/>
            <a:ext cx="45720" cy="658368"/>
          </a:xfrm>
          <a:prstGeom prst="rect">
            <a:avLst/>
          </a:prstGeom>
          <a:solidFill>
            <a:srgbClr val="BA7517"/>
          </a:solidFill>
          <a:ln w="12700">
            <a:solidFill>
              <a:srgbClr val="BA7517"/>
            </a:solidFill>
            <a:prstDash val="solid"/>
          </a:ln>
        </p:spPr>
      </p:sp>
      <p:sp>
        <p:nvSpPr>
          <p:cNvPr id="52" name="Text 50"/>
          <p:cNvSpPr/>
          <p:nvPr/>
        </p:nvSpPr>
        <p:spPr>
          <a:xfrm>
            <a:off x="4864608" y="3072384"/>
            <a:ext cx="402336" cy="329184"/>
          </a:xfrm>
          <a:prstGeom prst="rect">
            <a:avLst/>
          </a:prstGeom>
          <a:noFill/>
          <a:ln/>
        </p:spPr>
        <p:txBody>
          <a:bodyPr wrap="square" lIns="0" tIns="0" rIns="0" bIns="0" rtlCol="0" anchor="ctr"/>
          <a:lstStyle/>
          <a:p>
            <a:pPr indent="0" marL="0">
              <a:buNone/>
            </a:pPr>
            <a:r>
              <a:rPr lang="en-US" sz="1300" b="1" dirty="0">
                <a:solidFill>
                  <a:srgbClr val="BA7517"/>
                </a:solidFill>
              </a:rPr>
              <a:t>10</a:t>
            </a:r>
            <a:endParaRPr lang="en-US" sz="1300" dirty="0"/>
          </a:p>
        </p:txBody>
      </p:sp>
      <p:sp>
        <p:nvSpPr>
          <p:cNvPr id="53" name="Text 51"/>
          <p:cNvSpPr/>
          <p:nvPr/>
        </p:nvSpPr>
        <p:spPr>
          <a:xfrm>
            <a:off x="5303520" y="3054096"/>
            <a:ext cx="3456432" cy="274320"/>
          </a:xfrm>
          <a:prstGeom prst="rect">
            <a:avLst/>
          </a:prstGeom>
          <a:noFill/>
          <a:ln/>
        </p:spPr>
        <p:txBody>
          <a:bodyPr wrap="square" lIns="0" tIns="0" rIns="0" bIns="0" rtlCol="0" anchor="ctr"/>
          <a:lstStyle/>
          <a:p>
            <a:pPr indent="0" marL="0">
              <a:buNone/>
            </a:pPr>
            <a:r>
              <a:rPr lang="en-US" sz="1100" b="1" dirty="0">
                <a:solidFill>
                  <a:srgbClr val="1F2937"/>
                </a:solidFill>
              </a:rPr>
              <a:t>抽象化のメカニズム（修正版）</a:t>
            </a:r>
            <a:endParaRPr lang="en-US" sz="1100" dirty="0"/>
          </a:p>
        </p:txBody>
      </p:sp>
      <p:sp>
        <p:nvSpPr>
          <p:cNvPr id="54" name="Text 52"/>
          <p:cNvSpPr/>
          <p:nvPr/>
        </p:nvSpPr>
        <p:spPr>
          <a:xfrm>
            <a:off x="5303520" y="3364992"/>
            <a:ext cx="3456432" cy="246888"/>
          </a:xfrm>
          <a:prstGeom prst="rect">
            <a:avLst/>
          </a:prstGeom>
          <a:noFill/>
          <a:ln/>
        </p:spPr>
        <p:txBody>
          <a:bodyPr wrap="square" lIns="0" tIns="0" rIns="0" bIns="0" rtlCol="0" anchor="ctr"/>
          <a:lstStyle/>
          <a:p>
            <a:pPr indent="0" marL="0">
              <a:buNone/>
            </a:pPr>
            <a:r>
              <a:rPr lang="en-US" sz="950" dirty="0">
                <a:solidFill>
                  <a:srgbClr val="4B5563"/>
                </a:solidFill>
              </a:rPr>
              <a:t>Attention・FFN・Residual・深さの連携</a:t>
            </a:r>
            <a:endParaRPr lang="en-US" sz="950" dirty="0"/>
          </a:p>
        </p:txBody>
      </p:sp>
      <p:sp>
        <p:nvSpPr>
          <p:cNvPr id="55" name="Shape 53"/>
          <p:cNvSpPr/>
          <p:nvPr/>
        </p:nvSpPr>
        <p:spPr>
          <a:xfrm>
            <a:off x="4754880" y="3712464"/>
            <a:ext cx="4133088" cy="65836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56" name="Shape 54"/>
          <p:cNvSpPr/>
          <p:nvPr/>
        </p:nvSpPr>
        <p:spPr>
          <a:xfrm>
            <a:off x="4754880" y="3712464"/>
            <a:ext cx="45720" cy="658368"/>
          </a:xfrm>
          <a:prstGeom prst="rect">
            <a:avLst/>
          </a:prstGeom>
          <a:solidFill>
            <a:srgbClr val="D85A30"/>
          </a:solidFill>
          <a:ln w="12700">
            <a:solidFill>
              <a:srgbClr val="D85A30"/>
            </a:solidFill>
            <a:prstDash val="solid"/>
          </a:ln>
        </p:spPr>
      </p:sp>
      <p:sp>
        <p:nvSpPr>
          <p:cNvPr id="57" name="Text 55"/>
          <p:cNvSpPr/>
          <p:nvPr/>
        </p:nvSpPr>
        <p:spPr>
          <a:xfrm>
            <a:off x="4864608" y="3767328"/>
            <a:ext cx="402336" cy="329184"/>
          </a:xfrm>
          <a:prstGeom prst="rect">
            <a:avLst/>
          </a:prstGeom>
          <a:noFill/>
          <a:ln/>
        </p:spPr>
        <p:txBody>
          <a:bodyPr wrap="square" lIns="0" tIns="0" rIns="0" bIns="0" rtlCol="0" anchor="ctr"/>
          <a:lstStyle/>
          <a:p>
            <a:pPr indent="0" marL="0">
              <a:buNone/>
            </a:pPr>
            <a:r>
              <a:rPr lang="en-US" sz="1300" b="1" dirty="0">
                <a:solidFill>
                  <a:srgbClr val="D85A30"/>
                </a:solidFill>
              </a:rPr>
              <a:t>11</a:t>
            </a:r>
            <a:endParaRPr lang="en-US" sz="1300" dirty="0"/>
          </a:p>
        </p:txBody>
      </p:sp>
      <p:sp>
        <p:nvSpPr>
          <p:cNvPr id="58" name="Text 56"/>
          <p:cNvSpPr/>
          <p:nvPr/>
        </p:nvSpPr>
        <p:spPr>
          <a:xfrm>
            <a:off x="5303520" y="3749040"/>
            <a:ext cx="3456432" cy="274320"/>
          </a:xfrm>
          <a:prstGeom prst="rect">
            <a:avLst/>
          </a:prstGeom>
          <a:noFill/>
          <a:ln/>
        </p:spPr>
        <p:txBody>
          <a:bodyPr wrap="square" lIns="0" tIns="0" rIns="0" bIns="0" rtlCol="0" anchor="ctr"/>
          <a:lstStyle/>
          <a:p>
            <a:pPr indent="0" marL="0">
              <a:buNone/>
            </a:pPr>
            <a:r>
              <a:rPr lang="en-US" sz="1100" b="1" dirty="0">
                <a:solidFill>
                  <a:srgbClr val="1F2937"/>
                </a:solidFill>
              </a:rPr>
              <a:t>次元数と表現力</a:t>
            </a:r>
            <a:endParaRPr lang="en-US" sz="1100" dirty="0"/>
          </a:p>
        </p:txBody>
      </p:sp>
      <p:sp>
        <p:nvSpPr>
          <p:cNvPr id="59" name="Text 57"/>
          <p:cNvSpPr/>
          <p:nvPr/>
        </p:nvSpPr>
        <p:spPr>
          <a:xfrm>
            <a:off x="5303520" y="4059936"/>
            <a:ext cx="3456432" cy="246888"/>
          </a:xfrm>
          <a:prstGeom prst="rect">
            <a:avLst/>
          </a:prstGeom>
          <a:noFill/>
          <a:ln/>
        </p:spPr>
        <p:txBody>
          <a:bodyPr wrap="square" lIns="0" tIns="0" rIns="0" bIns="0" rtlCol="0" anchor="ctr"/>
          <a:lstStyle/>
          <a:p>
            <a:pPr indent="0" marL="0">
              <a:buNone/>
            </a:pPr>
            <a:r>
              <a:rPr lang="en-US" sz="950" dirty="0">
                <a:solidFill>
                  <a:srgbClr val="4B5563"/>
                </a:solidFill>
              </a:rPr>
              <a:t>高次元で概念を別方向へ逃がせる</a:t>
            </a:r>
            <a:endParaRPr lang="en-US" sz="950" dirty="0"/>
          </a:p>
        </p:txBody>
      </p:sp>
      <p:sp>
        <p:nvSpPr>
          <p:cNvPr id="60" name="Shape 58"/>
          <p:cNvSpPr/>
          <p:nvPr/>
        </p:nvSpPr>
        <p:spPr>
          <a:xfrm>
            <a:off x="4754880" y="4407408"/>
            <a:ext cx="4133088" cy="65836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61" name="Shape 59"/>
          <p:cNvSpPr/>
          <p:nvPr/>
        </p:nvSpPr>
        <p:spPr>
          <a:xfrm>
            <a:off x="4754880" y="4407408"/>
            <a:ext cx="45720" cy="658368"/>
          </a:xfrm>
          <a:prstGeom prst="rect">
            <a:avLst/>
          </a:prstGeom>
          <a:solidFill>
            <a:srgbClr val="0F6E56"/>
          </a:solidFill>
          <a:ln w="12700">
            <a:solidFill>
              <a:srgbClr val="0F6E56"/>
            </a:solidFill>
            <a:prstDash val="solid"/>
          </a:ln>
        </p:spPr>
      </p:sp>
      <p:sp>
        <p:nvSpPr>
          <p:cNvPr id="62" name="Text 60"/>
          <p:cNvSpPr/>
          <p:nvPr/>
        </p:nvSpPr>
        <p:spPr>
          <a:xfrm>
            <a:off x="4864608" y="4462272"/>
            <a:ext cx="402336" cy="329184"/>
          </a:xfrm>
          <a:prstGeom prst="rect">
            <a:avLst/>
          </a:prstGeom>
          <a:noFill/>
          <a:ln/>
        </p:spPr>
        <p:txBody>
          <a:bodyPr wrap="square" lIns="0" tIns="0" rIns="0" bIns="0" rtlCol="0" anchor="ctr"/>
          <a:lstStyle/>
          <a:p>
            <a:pPr indent="0" marL="0">
              <a:buNone/>
            </a:pPr>
            <a:r>
              <a:rPr lang="en-US" sz="1300" b="1" dirty="0">
                <a:solidFill>
                  <a:srgbClr val="0F6E56"/>
                </a:solidFill>
              </a:rPr>
              <a:t>12</a:t>
            </a:r>
            <a:endParaRPr lang="en-US" sz="1300" dirty="0"/>
          </a:p>
        </p:txBody>
      </p:sp>
      <p:sp>
        <p:nvSpPr>
          <p:cNvPr id="63" name="Text 61"/>
          <p:cNvSpPr/>
          <p:nvPr/>
        </p:nvSpPr>
        <p:spPr>
          <a:xfrm>
            <a:off x="5303520" y="4443984"/>
            <a:ext cx="3456432" cy="274320"/>
          </a:xfrm>
          <a:prstGeom prst="rect">
            <a:avLst/>
          </a:prstGeom>
          <a:noFill/>
          <a:ln/>
        </p:spPr>
        <p:txBody>
          <a:bodyPr wrap="square" lIns="0" tIns="0" rIns="0" bIns="0" rtlCol="0" anchor="ctr"/>
          <a:lstStyle/>
          <a:p>
            <a:pPr indent="0" marL="0">
              <a:buNone/>
            </a:pPr>
            <a:r>
              <a:rPr lang="en-US" sz="1100" b="1" dirty="0">
                <a:solidFill>
                  <a:srgbClr val="1F2937"/>
                </a:solidFill>
              </a:rPr>
              <a:t>逆伝播と重みの更新</a:t>
            </a:r>
            <a:endParaRPr lang="en-US" sz="1100" dirty="0"/>
          </a:p>
        </p:txBody>
      </p:sp>
      <p:sp>
        <p:nvSpPr>
          <p:cNvPr id="64" name="Text 62"/>
          <p:cNvSpPr/>
          <p:nvPr/>
        </p:nvSpPr>
        <p:spPr>
          <a:xfrm>
            <a:off x="5303520" y="4754880"/>
            <a:ext cx="3456432" cy="246888"/>
          </a:xfrm>
          <a:prstGeom prst="rect">
            <a:avLst/>
          </a:prstGeom>
          <a:noFill/>
          <a:ln/>
        </p:spPr>
        <p:txBody>
          <a:bodyPr wrap="square" lIns="0" tIns="0" rIns="0" bIns="0" rtlCol="0" anchor="ctr"/>
          <a:lstStyle/>
          <a:p>
            <a:pPr indent="0" marL="0">
              <a:buNone/>
            </a:pPr>
            <a:r>
              <a:rPr lang="en-US" sz="950" dirty="0">
                <a:solidFill>
                  <a:srgbClr val="4B5563"/>
                </a:solidFill>
              </a:rPr>
              <a:t>Embedding・Attention・FFN 全パラメータが同時更新</a:t>
            </a:r>
            <a:endParaRPr lang="en-US" sz="950" dirty="0"/>
          </a:p>
        </p:txBody>
      </p:sp>
      <p:sp>
        <p:nvSpPr>
          <p:cNvPr id="70" name="Text 68"/>
          <p:cNvSpPr/>
          <p:nvPr/>
        </p:nvSpPr>
        <p:spPr>
          <a:xfrm>
            <a:off x="457200" y="4920000"/>
            <a:ext cx="8229600" cy="200000"/>
          </a:xfrm>
          <a:prstGeom prst="rect">
            <a:avLst/>
          </a:prstGeom>
          <a:noFill/>
          <a:ln/>
        </p:spPr>
        <p:txBody>
          <a:bodyPr wrap="square" lIns="0" tIns="0" rIns="0" bIns="0" rtlCol="0" anchor="ctr"/>
          <a:lstStyle/>
          <a:p>
            <a:pPr indent="0" marL="0">
              <a:buNone/>
            </a:pPr>
            <a:r>
              <a:rPr lang="ja-JP" sz="750" dirty="0">
                <a:solidFill>
                  <a:srgbClr val="6B7280"/>
                </a:solidFill>
              </a:rPr>
              <a:t>＋ 追加トピック（スライド21〜）：次単語予測と推論能力 / 推論の模倣メカニズム / FFN出力→Logits→Loss / 自己教師あり学習 / まとめ / Optimizer / 学習 vs 推論フェーズ</a:t>
            </a:r>
            <a:endParaRPr lang="ja-JP"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3 / 28</a:t>
            </a:r>
            <a:endParaRPr lang="en-US" sz="900" dirty="0"/>
          </a:p>
        </p:txBody>
      </p:sp>
      <p:sp>
        <p:nvSpPr>
          <p:cNvPr id="3" name="Shape 1"/>
          <p:cNvSpPr/>
          <p:nvPr/>
        </p:nvSpPr>
        <p:spPr>
          <a:xfrm>
            <a:off x="347472" y="274320"/>
            <a:ext cx="54864" cy="475488"/>
          </a:xfrm>
          <a:prstGeom prst="rect">
            <a:avLst/>
          </a:prstGeom>
          <a:solidFill>
            <a:srgbClr val="534AB7"/>
          </a:solidFill>
          <a:ln w="12700">
            <a:solidFill>
              <a:srgbClr val="534AB7"/>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単語 → Token → Embedding</a:t>
            </a:r>
            <a:endParaRPr lang="en-US" sz="2000" dirty="0"/>
          </a:p>
        </p:txBody>
      </p:sp>
      <p:sp>
        <p:nvSpPr>
          <p:cNvPr id="5" name="Shape 3"/>
          <p:cNvSpPr/>
          <p:nvPr/>
        </p:nvSpPr>
        <p:spPr>
          <a:xfrm>
            <a:off x="347472" y="932688"/>
            <a:ext cx="4041648" cy="2331720"/>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6" name="Shape 4"/>
          <p:cNvSpPr/>
          <p:nvPr/>
        </p:nvSpPr>
        <p:spPr>
          <a:xfrm>
            <a:off x="347472" y="932688"/>
            <a:ext cx="45720" cy="2331720"/>
          </a:xfrm>
          <a:prstGeom prst="rect">
            <a:avLst/>
          </a:prstGeom>
          <a:solidFill>
            <a:srgbClr val="534AB7"/>
          </a:solidFill>
          <a:ln w="12700">
            <a:solidFill>
              <a:srgbClr val="534AB7"/>
            </a:solidFill>
            <a:prstDash val="solid"/>
          </a:ln>
        </p:spPr>
      </p:sp>
      <p:sp>
        <p:nvSpPr>
          <p:cNvPr id="7" name="Text 5"/>
          <p:cNvSpPr/>
          <p:nvPr/>
        </p:nvSpPr>
        <p:spPr>
          <a:xfrm>
            <a:off x="484632" y="987552"/>
            <a:ext cx="3767328" cy="347472"/>
          </a:xfrm>
          <a:prstGeom prst="rect">
            <a:avLst/>
          </a:prstGeom>
          <a:noFill/>
          <a:ln/>
        </p:spPr>
        <p:txBody>
          <a:bodyPr wrap="square" rtlCol="0" anchor="ctr"/>
          <a:lstStyle/>
          <a:p>
            <a:pPr indent="0" marL="0">
              <a:buNone/>
            </a:pPr>
            <a:r>
              <a:rPr lang="en-US" sz="1300" b="1" dirty="0">
                <a:solidFill>
                  <a:srgbClr val="534AB7"/>
                </a:solidFill>
              </a:rPr>
              <a:t>トークナイザー</a:t>
            </a:r>
            <a:endParaRPr lang="en-US" sz="1300" dirty="0"/>
          </a:p>
        </p:txBody>
      </p:sp>
      <p:sp>
        <p:nvSpPr>
          <p:cNvPr id="8" name="Text 6"/>
          <p:cNvSpPr/>
          <p:nvPr/>
        </p:nvSpPr>
        <p:spPr>
          <a:xfrm>
            <a:off x="484632" y="1389888"/>
            <a:ext cx="3767328" cy="1737360"/>
          </a:xfrm>
          <a:prstGeom prst="rect">
            <a:avLst/>
          </a:prstGeom>
          <a:noFill/>
          <a:ln/>
        </p:spPr>
        <p:txBody>
          <a:bodyPr wrap="square" rtlCol="0" anchor="t"/>
          <a:lstStyle/>
          <a:p>
            <a:pPr indent="0" marL="0">
              <a:spcAft>
                <a:spcPts val="1000"/>
              </a:spcAft>
              <a:buNone/>
            </a:pPr>
            <a:r>
              <a:rPr lang="en-US" sz="1200" b="1" dirty="0">
                <a:solidFill>
                  <a:srgbClr val="534AB7"/>
                </a:solidFill>
              </a:rPr>
              <a:t xml:space="preserve">①  </a:t>
            </a:r>
            <a:pPr indent="0" marL="0">
              <a:spcAft>
                <a:spcPts val="1000"/>
              </a:spcAft>
              <a:buNone/>
            </a:pPr>
            <a:r>
              <a:rPr lang="en-US" sz="1200" dirty="0">
                <a:solidFill>
                  <a:srgbClr val="1F2937"/>
                </a:solidFill>
              </a:rPr>
              <a:t>訓練データを走査し語彙辞書を構築
</a:t>
            </a:r>
            <a:pPr indent="0" marL="0">
              <a:spcAft>
                <a:spcPts val="1000"/>
              </a:spcAft>
              <a:buNone/>
            </a:pPr>
            <a:r>
              <a:rPr lang="en-US" sz="1200" b="1" dirty="0">
                <a:solidFill>
                  <a:srgbClr val="534AB7"/>
                </a:solidFill>
              </a:rPr>
              <a:t xml:space="preserve">②  </a:t>
            </a:r>
            <a:pPr indent="0" marL="0">
              <a:spcAft>
                <a:spcPts val="1000"/>
              </a:spcAft>
              <a:buNone/>
            </a:pPr>
            <a:r>
              <a:rPr lang="en-US" sz="1200" dirty="0">
                <a:solidFill>
                  <a:srgbClr val="1F2937"/>
                </a:solidFill>
              </a:rPr>
              <a:t>各トークンに連番 ID を自動付与
</a:t>
            </a:r>
            <a:pPr indent="0" marL="0">
              <a:spcAft>
                <a:spcPts val="1000"/>
              </a:spcAft>
              <a:buNone/>
            </a:pPr>
            <a:r>
              <a:rPr lang="en-US" sz="1200" b="1" dirty="0">
                <a:solidFill>
                  <a:srgbClr val="534AB7"/>
                </a:solidFill>
              </a:rPr>
              <a:t xml:space="preserve">③  </a:t>
            </a:r>
            <a:pPr indent="0" marL="0">
              <a:spcAft>
                <a:spcPts val="1000"/>
              </a:spcAft>
              <a:buNone/>
            </a:pPr>
            <a:r>
              <a:rPr lang="en-US" sz="1200" dirty="0">
                <a:solidFill>
                  <a:srgbClr val="1F2937"/>
                </a:solidFill>
              </a:rPr>
              <a:t>サブワード分割（BPE）で未知語に対応</a:t>
            </a:r>
            <a:endParaRPr lang="en-US" sz="1200" dirty="0"/>
          </a:p>
        </p:txBody>
      </p:sp>
      <p:sp>
        <p:nvSpPr>
          <p:cNvPr id="9" name="Shape 7"/>
          <p:cNvSpPr/>
          <p:nvPr/>
        </p:nvSpPr>
        <p:spPr>
          <a:xfrm>
            <a:off x="4526280" y="932688"/>
            <a:ext cx="4251960" cy="2331720"/>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10" name="Shape 8"/>
          <p:cNvSpPr/>
          <p:nvPr/>
        </p:nvSpPr>
        <p:spPr>
          <a:xfrm>
            <a:off x="4526280" y="932688"/>
            <a:ext cx="45720" cy="2331720"/>
          </a:xfrm>
          <a:prstGeom prst="rect">
            <a:avLst/>
          </a:prstGeom>
          <a:solidFill>
            <a:srgbClr val="0F6E56"/>
          </a:solidFill>
          <a:ln w="12700">
            <a:solidFill>
              <a:srgbClr val="0F6E56"/>
            </a:solidFill>
            <a:prstDash val="solid"/>
          </a:ln>
        </p:spPr>
      </p:sp>
      <p:sp>
        <p:nvSpPr>
          <p:cNvPr id="11" name="Text 9"/>
          <p:cNvSpPr/>
          <p:nvPr/>
        </p:nvSpPr>
        <p:spPr>
          <a:xfrm>
            <a:off x="4663440" y="987552"/>
            <a:ext cx="3977640" cy="347472"/>
          </a:xfrm>
          <a:prstGeom prst="rect">
            <a:avLst/>
          </a:prstGeom>
          <a:noFill/>
          <a:ln/>
        </p:spPr>
        <p:txBody>
          <a:bodyPr wrap="square" rtlCol="0" anchor="ctr"/>
          <a:lstStyle/>
          <a:p>
            <a:pPr indent="0" marL="0">
              <a:buNone/>
            </a:pPr>
            <a:r>
              <a:rPr lang="en-US" sz="1300" b="1" dirty="0">
                <a:solidFill>
                  <a:srgbClr val="0F6E56"/>
                </a:solidFill>
              </a:rPr>
              <a:t>Embedding（埋め込み）</a:t>
            </a:r>
            <a:endParaRPr lang="en-US" sz="1300" dirty="0"/>
          </a:p>
        </p:txBody>
      </p:sp>
      <p:sp>
        <p:nvSpPr>
          <p:cNvPr id="12" name="Text 10"/>
          <p:cNvSpPr/>
          <p:nvPr/>
        </p:nvSpPr>
        <p:spPr>
          <a:xfrm>
            <a:off x="4663440" y="1389888"/>
            <a:ext cx="3977640" cy="1737360"/>
          </a:xfrm>
          <a:prstGeom prst="rect">
            <a:avLst/>
          </a:prstGeom>
          <a:noFill/>
          <a:ln/>
        </p:spPr>
        <p:txBody>
          <a:bodyPr wrap="square" rtlCol="0" anchor="t"/>
          <a:lstStyle/>
          <a:p>
            <a:pPr indent="0" marL="0">
              <a:spcAft>
                <a:spcPts val="800"/>
              </a:spcAft>
              <a:buNone/>
            </a:pPr>
            <a:r>
              <a:rPr lang="en-US" sz="1200" b="1" dirty="0">
                <a:solidFill>
                  <a:srgbClr val="1F2937"/>
                </a:solidFill>
              </a:rPr>
              <a:t>初期値：</a:t>
            </a:r>
            <a:pPr indent="0" marL="0">
              <a:spcAft>
                <a:spcPts val="800"/>
              </a:spcAft>
              <a:buNone/>
            </a:pPr>
            <a:r>
              <a:rPr lang="en-US" sz="1200" dirty="0">
                <a:solidFill>
                  <a:srgbClr val="1F2937"/>
                </a:solidFill>
              </a:rPr>
              <a:t>ランダムな小さい値
</a:t>
            </a:r>
            <a:pPr indent="0" marL="0">
              <a:spcAft>
                <a:spcPts val="800"/>
              </a:spcAft>
              <a:buNone/>
            </a:pPr>
            <a:r>
              <a:rPr lang="en-US" sz="1200" b="1" dirty="0">
                <a:solidFill>
                  <a:srgbClr val="1F2937"/>
                </a:solidFill>
              </a:rPr>
              <a:t>学習後：</a:t>
            </a:r>
            <a:pPr indent="0" marL="0">
              <a:spcAft>
                <a:spcPts val="800"/>
              </a:spcAft>
              <a:buNone/>
            </a:pPr>
            <a:r>
              <a:rPr lang="en-US" sz="1200" dirty="0">
                <a:solidFill>
                  <a:srgbClr val="1F2937"/>
                </a:solidFill>
              </a:rPr>
              <a:t>意味の空間に収束
</a:t>
            </a:r>
            <a:pPr indent="0" marL="0">
              <a:spcAft>
                <a:spcPts val="800"/>
              </a:spcAft>
              <a:buNone/>
            </a:pPr>
            <a:r>
              <a:rPr lang="en-US" sz="1200" dirty="0">
                <a:solidFill>
                  <a:srgbClr val="0F6E56"/>
                </a:solidFill>
                <a:latin typeface="Consolas" pitchFamily="34" charset="0"/>
                <a:ea typeface="Consolas" pitchFamily="34" charset="-122"/>
                <a:cs typeface="Consolas" pitchFamily="34" charset="-120"/>
              </a:rPr>
              <a:t>1285 → [0.12, −0.44, 1.92, …]</a:t>
            </a:r>
            <a:endParaRPr lang="en-US" sz="1200" dirty="0"/>
          </a:p>
        </p:txBody>
      </p:sp>
      <p:sp>
        <p:nvSpPr>
          <p:cNvPr id="13" name="Text 11"/>
          <p:cNvSpPr/>
          <p:nvPr/>
        </p:nvSpPr>
        <p:spPr>
          <a:xfrm>
            <a:off x="484632" y="3401568"/>
            <a:ext cx="1691640" cy="329184"/>
          </a:xfrm>
          <a:prstGeom prst="rect">
            <a:avLst/>
          </a:prstGeom>
          <a:noFill/>
          <a:ln/>
        </p:spPr>
        <p:txBody>
          <a:bodyPr wrap="square" rtlCol="0" anchor="ctr"/>
          <a:lstStyle/>
          <a:p>
            <a:pPr algn="ctr" indent="0" marL="0">
              <a:buNone/>
            </a:pPr>
            <a:r>
              <a:rPr lang="en-US" sz="1200" b="1" dirty="0">
                <a:solidFill>
                  <a:srgbClr val="1F2937"/>
                </a:solidFill>
              </a:rPr>
              <a:t>「猫が走る」</a:t>
            </a:r>
            <a:endParaRPr lang="en-US" sz="1200" dirty="0"/>
          </a:p>
        </p:txBody>
      </p:sp>
      <p:sp>
        <p:nvSpPr>
          <p:cNvPr id="14" name="Shape 12"/>
          <p:cNvSpPr/>
          <p:nvPr/>
        </p:nvSpPr>
        <p:spPr>
          <a:xfrm>
            <a:off x="2212848" y="3566160"/>
            <a:ext cx="411480" cy="0"/>
          </a:xfrm>
          <a:prstGeom prst="line">
            <a:avLst/>
          </a:prstGeom>
          <a:noFill/>
          <a:ln w="12700">
            <a:solidFill>
              <a:srgbClr val="534AB7"/>
            </a:solidFill>
            <a:prstDash val="solid"/>
          </a:ln>
        </p:spPr>
      </p:sp>
      <p:sp>
        <p:nvSpPr>
          <p:cNvPr id="15" name="Text 13"/>
          <p:cNvSpPr/>
          <p:nvPr/>
        </p:nvSpPr>
        <p:spPr>
          <a:xfrm>
            <a:off x="2212848" y="3401568"/>
            <a:ext cx="411480" cy="329184"/>
          </a:xfrm>
          <a:prstGeom prst="rect">
            <a:avLst/>
          </a:prstGeom>
          <a:noFill/>
          <a:ln/>
        </p:spPr>
        <p:txBody>
          <a:bodyPr wrap="square" rtlCol="0" anchor="ctr"/>
          <a:lstStyle/>
          <a:p>
            <a:pPr algn="ctr" indent="0" marL="0">
              <a:buNone/>
            </a:pPr>
            <a:r>
              <a:rPr lang="en-US" sz="1400" dirty="0">
                <a:solidFill>
                  <a:srgbClr val="534AB7"/>
                </a:solidFill>
              </a:rPr>
              <a:t>→</a:t>
            </a:r>
            <a:endParaRPr lang="en-US" sz="1400" dirty="0"/>
          </a:p>
        </p:txBody>
      </p:sp>
      <p:sp>
        <p:nvSpPr>
          <p:cNvPr id="16" name="Text 14"/>
          <p:cNvSpPr/>
          <p:nvPr/>
        </p:nvSpPr>
        <p:spPr>
          <a:xfrm>
            <a:off x="2697480" y="3401568"/>
            <a:ext cx="1572768" cy="329184"/>
          </a:xfrm>
          <a:prstGeom prst="rect">
            <a:avLst/>
          </a:prstGeom>
          <a:noFill/>
          <a:ln/>
        </p:spPr>
        <p:txBody>
          <a:bodyPr wrap="square" rtlCol="0" anchor="ctr"/>
          <a:lstStyle/>
          <a:p>
            <a:pPr algn="ctr" indent="0" marL="0">
              <a:buNone/>
            </a:pPr>
            <a:r>
              <a:rPr lang="en-US" sz="1100" b="1" dirty="0">
                <a:solidFill>
                  <a:srgbClr val="534AB7"/>
                </a:solidFill>
              </a:rPr>
              <a:t>[猫][が][走る]</a:t>
            </a:r>
            <a:endParaRPr lang="en-US" sz="1100" dirty="0"/>
          </a:p>
        </p:txBody>
      </p:sp>
      <p:sp>
        <p:nvSpPr>
          <p:cNvPr id="17" name="Shape 15"/>
          <p:cNvSpPr/>
          <p:nvPr/>
        </p:nvSpPr>
        <p:spPr>
          <a:xfrm>
            <a:off x="4315968" y="3566160"/>
            <a:ext cx="411480" cy="0"/>
          </a:xfrm>
          <a:prstGeom prst="line">
            <a:avLst/>
          </a:prstGeom>
          <a:noFill/>
          <a:ln w="12700">
            <a:solidFill>
              <a:srgbClr val="534AB7"/>
            </a:solidFill>
            <a:prstDash val="solid"/>
          </a:ln>
        </p:spPr>
      </p:sp>
      <p:sp>
        <p:nvSpPr>
          <p:cNvPr id="18" name="Text 16"/>
          <p:cNvSpPr/>
          <p:nvPr/>
        </p:nvSpPr>
        <p:spPr>
          <a:xfrm>
            <a:off x="4315968" y="3401568"/>
            <a:ext cx="411480" cy="329184"/>
          </a:xfrm>
          <a:prstGeom prst="rect">
            <a:avLst/>
          </a:prstGeom>
          <a:noFill/>
          <a:ln/>
        </p:spPr>
        <p:txBody>
          <a:bodyPr wrap="square" rtlCol="0" anchor="ctr"/>
          <a:lstStyle/>
          <a:p>
            <a:pPr algn="ctr" indent="0" marL="0">
              <a:buNone/>
            </a:pPr>
            <a:r>
              <a:rPr lang="en-US" sz="1400" dirty="0">
                <a:solidFill>
                  <a:srgbClr val="534AB7"/>
                </a:solidFill>
              </a:rPr>
              <a:t>→</a:t>
            </a:r>
            <a:endParaRPr lang="en-US" sz="1400" dirty="0"/>
          </a:p>
        </p:txBody>
      </p:sp>
      <p:sp>
        <p:nvSpPr>
          <p:cNvPr id="19" name="Text 17"/>
          <p:cNvSpPr/>
          <p:nvPr/>
        </p:nvSpPr>
        <p:spPr>
          <a:xfrm>
            <a:off x="4773168" y="3401568"/>
            <a:ext cx="1783080" cy="329184"/>
          </a:xfrm>
          <a:prstGeom prst="rect">
            <a:avLst/>
          </a:prstGeom>
          <a:noFill/>
          <a:ln/>
        </p:spPr>
        <p:txBody>
          <a:bodyPr wrap="square" rtlCol="0" anchor="ctr"/>
          <a:lstStyle/>
          <a:p>
            <a:pPr algn="ctr" indent="0" marL="0">
              <a:buNone/>
            </a:pPr>
            <a:r>
              <a:rPr lang="en-US" sz="1100" b="1" dirty="0">
                <a:solidFill>
                  <a:srgbClr val="BA7517"/>
                </a:solidFill>
                <a:latin typeface="Consolas" pitchFamily="34" charset="0"/>
                <a:ea typeface="Consolas" pitchFamily="34" charset="-122"/>
                <a:cs typeface="Consolas" pitchFamily="34" charset="-120"/>
              </a:rPr>
              <a:t>1285, 54, 9912</a:t>
            </a:r>
            <a:endParaRPr lang="en-US" sz="1100" dirty="0"/>
          </a:p>
        </p:txBody>
      </p:sp>
      <p:sp>
        <p:nvSpPr>
          <p:cNvPr id="20" name="Shape 18"/>
          <p:cNvSpPr/>
          <p:nvPr/>
        </p:nvSpPr>
        <p:spPr>
          <a:xfrm>
            <a:off x="347472" y="3858768"/>
            <a:ext cx="8430768" cy="658368"/>
          </a:xfrm>
          <a:prstGeom prst="roundRect">
            <a:avLst>
              <a:gd name="adj" fmla="val 8333"/>
            </a:avLst>
          </a:prstGeom>
          <a:solidFill>
            <a:srgbClr val="EEF0FE"/>
          </a:solidFill>
          <a:ln w="6350">
            <a:solidFill>
              <a:srgbClr val="534AB7"/>
            </a:solidFill>
            <a:prstDash val="solid"/>
          </a:ln>
        </p:spPr>
      </p:sp>
      <p:sp>
        <p:nvSpPr>
          <p:cNvPr id="21" name="Text 19"/>
          <p:cNvSpPr/>
          <p:nvPr/>
        </p:nvSpPr>
        <p:spPr>
          <a:xfrm>
            <a:off x="502920" y="3913632"/>
            <a:ext cx="8229600" cy="548640"/>
          </a:xfrm>
          <a:prstGeom prst="rect">
            <a:avLst/>
          </a:prstGeom>
          <a:noFill/>
          <a:ln/>
        </p:spPr>
        <p:txBody>
          <a:bodyPr wrap="square" rtlCol="0" anchor="ctr"/>
          <a:lstStyle/>
          <a:p>
            <a:pPr indent="0" marL="0">
              <a:buNone/>
            </a:pPr>
            <a:r>
              <a:rPr lang="en-US" sz="1150" b="1" dirty="0">
                <a:solidFill>
                  <a:srgbClr val="534AB7"/>
                </a:solidFill>
              </a:rPr>
              <a:t>重要：</a:t>
            </a:r>
            <a:pPr indent="0" marL="0">
              <a:buNone/>
            </a:pPr>
            <a:r>
              <a:rPr lang="en-US" sz="1150" dirty="0">
                <a:solidFill>
                  <a:srgbClr val="1F2937"/>
                </a:solidFill>
              </a:rPr>
              <a:t>「意味」はEmbeddingに最初から存在せず、次単語予測の逆伝播を通じて</a:t>
            </a:r>
            <a:pPr indent="0" marL="0">
              <a:buNone/>
            </a:pPr>
            <a:r>
              <a:rPr lang="en-US" sz="1150" b="1" dirty="0">
                <a:solidFill>
                  <a:srgbClr val="534AB7"/>
                </a:solidFill>
              </a:rPr>
              <a:t>似た文脈の単語が近いベクトルに収束した結果</a:t>
            </a:r>
            <a:pPr indent="0" marL="0">
              <a:buNone/>
            </a:pPr>
            <a:r>
              <a:rPr lang="en-US" sz="1150" dirty="0">
                <a:solidFill>
                  <a:srgbClr val="1F2937"/>
                </a:solidFill>
              </a:rPr>
              <a:t>として生まれる</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4 / 28</a:t>
            </a:r>
            <a:endParaRPr lang="en-US" sz="900" dirty="0"/>
          </a:p>
        </p:txBody>
      </p:sp>
      <p:sp>
        <p:nvSpPr>
          <p:cNvPr id="3" name="Shape 1"/>
          <p:cNvSpPr/>
          <p:nvPr/>
        </p:nvSpPr>
        <p:spPr>
          <a:xfrm>
            <a:off x="347472" y="274320"/>
            <a:ext cx="54864" cy="475488"/>
          </a:xfrm>
          <a:prstGeom prst="rect">
            <a:avLst/>
          </a:prstGeom>
          <a:solidFill>
            <a:srgbClr val="534AB7"/>
          </a:solidFill>
          <a:ln w="12700">
            <a:solidFill>
              <a:srgbClr val="534AB7"/>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内積とは何か — 「連想検索」と同じ仕組み</a:t>
            </a:r>
            <a:endParaRPr lang="en-US" sz="2000" dirty="0"/>
          </a:p>
        </p:txBody>
      </p:sp>
      <p:sp>
        <p:nvSpPr>
          <p:cNvPr id="5" name="Shape 3"/>
          <p:cNvSpPr/>
          <p:nvPr/>
        </p:nvSpPr>
        <p:spPr>
          <a:xfrm>
            <a:off x="347472" y="932688"/>
            <a:ext cx="8430768" cy="71323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6" name="Shape 4"/>
          <p:cNvSpPr/>
          <p:nvPr/>
        </p:nvSpPr>
        <p:spPr>
          <a:xfrm>
            <a:off x="347472" y="932688"/>
            <a:ext cx="45720" cy="713232"/>
          </a:xfrm>
          <a:prstGeom prst="rect">
            <a:avLst/>
          </a:prstGeom>
          <a:solidFill>
            <a:srgbClr val="534AB7"/>
          </a:solidFill>
          <a:ln w="12700">
            <a:solidFill>
              <a:srgbClr val="534AB7"/>
            </a:solidFill>
            <a:prstDash val="solid"/>
          </a:ln>
        </p:spPr>
      </p:sp>
      <p:sp>
        <p:nvSpPr>
          <p:cNvPr id="7" name="Text 5"/>
          <p:cNvSpPr/>
          <p:nvPr/>
        </p:nvSpPr>
        <p:spPr>
          <a:xfrm>
            <a:off x="502920" y="987552"/>
            <a:ext cx="8229600" cy="585216"/>
          </a:xfrm>
          <a:prstGeom prst="rect">
            <a:avLst/>
          </a:prstGeom>
          <a:noFill/>
          <a:ln/>
        </p:spPr>
        <p:txBody>
          <a:bodyPr wrap="square" rtlCol="0" anchor="ctr"/>
          <a:lstStyle/>
          <a:p>
            <a:pPr algn="ctr" indent="0" marL="0">
              <a:buNone/>
            </a:pPr>
            <a:r>
              <a:rPr lang="en-US" sz="1600" b="1" dirty="0">
                <a:solidFill>
                  <a:srgbClr val="534AB7"/>
                </a:solidFill>
                <a:latin typeface="Consolas" pitchFamily="34" charset="0"/>
                <a:ea typeface="Consolas" pitchFamily="34" charset="-122"/>
                <a:cs typeface="Consolas" pitchFamily="34" charset="-120"/>
              </a:rPr>
              <a:t>a · b  =  a₁b₁ + a₂b₂ + … + aₙbₙ  =  |a| × |b| × cos(θ)</a:t>
            </a:r>
            <a:endParaRPr lang="en-US" sz="1600" dirty="0"/>
          </a:p>
        </p:txBody>
      </p:sp>
      <p:sp>
        <p:nvSpPr>
          <p:cNvPr id="8" name="Shape 6"/>
          <p:cNvSpPr/>
          <p:nvPr/>
        </p:nvSpPr>
        <p:spPr>
          <a:xfrm>
            <a:off x="347472" y="1828800"/>
            <a:ext cx="2724912" cy="1417320"/>
          </a:xfrm>
          <a:prstGeom prst="rect">
            <a:avLst/>
          </a:prstGeom>
          <a:solidFill>
            <a:srgbClr val="E8F5EF"/>
          </a:solidFill>
          <a:ln w="6350">
            <a:solidFill>
              <a:srgbClr val="0F6E56"/>
            </a:solidFill>
            <a:prstDash val="solid"/>
          </a:ln>
        </p:spPr>
      </p:sp>
      <p:sp>
        <p:nvSpPr>
          <p:cNvPr id="9" name="Shape 7"/>
          <p:cNvSpPr/>
          <p:nvPr/>
        </p:nvSpPr>
        <p:spPr>
          <a:xfrm>
            <a:off x="347472" y="1828800"/>
            <a:ext cx="2724912" cy="36576"/>
          </a:xfrm>
          <a:prstGeom prst="rect">
            <a:avLst/>
          </a:prstGeom>
          <a:solidFill>
            <a:srgbClr val="0F6E56"/>
          </a:solidFill>
          <a:ln w="12700">
            <a:solidFill>
              <a:srgbClr val="0F6E56"/>
            </a:solidFill>
            <a:prstDash val="solid"/>
          </a:ln>
        </p:spPr>
      </p:sp>
      <p:sp>
        <p:nvSpPr>
          <p:cNvPr id="10" name="Text 8"/>
          <p:cNvSpPr/>
          <p:nvPr/>
        </p:nvSpPr>
        <p:spPr>
          <a:xfrm>
            <a:off x="347472" y="1901952"/>
            <a:ext cx="2724912" cy="457200"/>
          </a:xfrm>
          <a:prstGeom prst="rect">
            <a:avLst/>
          </a:prstGeom>
          <a:noFill/>
          <a:ln/>
        </p:spPr>
        <p:txBody>
          <a:bodyPr wrap="square" rtlCol="0" anchor="ctr"/>
          <a:lstStyle/>
          <a:p>
            <a:pPr algn="ctr" indent="0" marL="0">
              <a:buNone/>
            </a:pPr>
            <a:r>
              <a:rPr lang="en-US" sz="2400" b="1" dirty="0">
                <a:solidFill>
                  <a:srgbClr val="0F6E56"/>
                </a:solidFill>
              </a:rPr>
              <a:t>0°</a:t>
            </a:r>
            <a:endParaRPr lang="en-US" sz="2400" dirty="0"/>
          </a:p>
        </p:txBody>
      </p:sp>
      <p:sp>
        <p:nvSpPr>
          <p:cNvPr id="11" name="Text 9"/>
          <p:cNvSpPr/>
          <p:nvPr/>
        </p:nvSpPr>
        <p:spPr>
          <a:xfrm>
            <a:off x="347472" y="2377440"/>
            <a:ext cx="2724912" cy="256032"/>
          </a:xfrm>
          <a:prstGeom prst="rect">
            <a:avLst/>
          </a:prstGeom>
          <a:noFill/>
          <a:ln/>
        </p:spPr>
        <p:txBody>
          <a:bodyPr wrap="square" rtlCol="0" anchor="ctr"/>
          <a:lstStyle/>
          <a:p>
            <a:pPr algn="ctr" indent="0" marL="0">
              <a:buNone/>
            </a:pPr>
            <a:r>
              <a:rPr lang="en-US" sz="1200" dirty="0">
                <a:solidFill>
                  <a:srgbClr val="0F6E56"/>
                </a:solidFill>
                <a:latin typeface="Consolas" pitchFamily="34" charset="0"/>
                <a:ea typeface="Consolas" pitchFamily="34" charset="-122"/>
                <a:cs typeface="Consolas" pitchFamily="34" charset="-120"/>
              </a:rPr>
              <a:t>cos = 1.00</a:t>
            </a:r>
            <a:endParaRPr lang="en-US" sz="1200" dirty="0"/>
          </a:p>
        </p:txBody>
      </p:sp>
      <p:sp>
        <p:nvSpPr>
          <p:cNvPr id="12" name="Text 10"/>
          <p:cNvSpPr/>
          <p:nvPr/>
        </p:nvSpPr>
        <p:spPr>
          <a:xfrm>
            <a:off x="347472" y="2651760"/>
            <a:ext cx="2724912" cy="475488"/>
          </a:xfrm>
          <a:prstGeom prst="rect">
            <a:avLst/>
          </a:prstGeom>
          <a:noFill/>
          <a:ln/>
        </p:spPr>
        <p:txBody>
          <a:bodyPr wrap="square" rtlCol="0" anchor="ctr"/>
          <a:lstStyle/>
          <a:p>
            <a:pPr algn="ctr" indent="0" marL="0">
              <a:buNone/>
            </a:pPr>
            <a:r>
              <a:rPr lang="en-US" sz="1100" dirty="0">
                <a:solidFill>
                  <a:srgbClr val="4B5563"/>
                </a:solidFill>
              </a:rPr>
              <a:t>完全一致</a:t>
            </a:r>
            <a:endParaRPr lang="en-US" sz="1100" dirty="0"/>
          </a:p>
          <a:p>
            <a:pPr algn="ctr" indent="0" marL="0">
              <a:buNone/>
            </a:pPr>
            <a:r>
              <a:rPr lang="en-US" sz="1100" dirty="0">
                <a:solidFill>
                  <a:srgbClr val="4B5563"/>
                </a:solidFill>
              </a:rPr>
              <a:t>最大の関連</a:t>
            </a:r>
            <a:endParaRPr lang="en-US" sz="1100" dirty="0"/>
          </a:p>
        </p:txBody>
      </p:sp>
      <p:sp>
        <p:nvSpPr>
          <p:cNvPr id="13" name="Shape 11"/>
          <p:cNvSpPr/>
          <p:nvPr/>
        </p:nvSpPr>
        <p:spPr>
          <a:xfrm>
            <a:off x="3218688" y="1828800"/>
            <a:ext cx="2724912" cy="1417320"/>
          </a:xfrm>
          <a:prstGeom prst="rect">
            <a:avLst/>
          </a:prstGeom>
          <a:solidFill>
            <a:srgbClr val="F3F4F6"/>
          </a:solidFill>
          <a:ln w="6350">
            <a:solidFill>
              <a:srgbClr val="6B7280"/>
            </a:solidFill>
            <a:prstDash val="solid"/>
          </a:ln>
        </p:spPr>
      </p:sp>
      <p:sp>
        <p:nvSpPr>
          <p:cNvPr id="14" name="Shape 12"/>
          <p:cNvSpPr/>
          <p:nvPr/>
        </p:nvSpPr>
        <p:spPr>
          <a:xfrm>
            <a:off x="3218688" y="1828800"/>
            <a:ext cx="2724912" cy="36576"/>
          </a:xfrm>
          <a:prstGeom prst="rect">
            <a:avLst/>
          </a:prstGeom>
          <a:solidFill>
            <a:srgbClr val="6B7280"/>
          </a:solidFill>
          <a:ln w="12700">
            <a:solidFill>
              <a:srgbClr val="6B7280"/>
            </a:solidFill>
            <a:prstDash val="solid"/>
          </a:ln>
        </p:spPr>
      </p:sp>
      <p:sp>
        <p:nvSpPr>
          <p:cNvPr id="15" name="Text 13"/>
          <p:cNvSpPr/>
          <p:nvPr/>
        </p:nvSpPr>
        <p:spPr>
          <a:xfrm>
            <a:off x="3218688" y="1901952"/>
            <a:ext cx="2724912" cy="457200"/>
          </a:xfrm>
          <a:prstGeom prst="rect">
            <a:avLst/>
          </a:prstGeom>
          <a:noFill/>
          <a:ln/>
        </p:spPr>
        <p:txBody>
          <a:bodyPr wrap="square" rtlCol="0" anchor="ctr"/>
          <a:lstStyle/>
          <a:p>
            <a:pPr algn="ctr" indent="0" marL="0">
              <a:buNone/>
            </a:pPr>
            <a:r>
              <a:rPr lang="en-US" sz="2400" b="1" dirty="0">
                <a:solidFill>
                  <a:srgbClr val="6B7280"/>
                </a:solidFill>
              </a:rPr>
              <a:t>90°</a:t>
            </a:r>
            <a:endParaRPr lang="en-US" sz="2400" dirty="0"/>
          </a:p>
        </p:txBody>
      </p:sp>
      <p:sp>
        <p:nvSpPr>
          <p:cNvPr id="16" name="Text 14"/>
          <p:cNvSpPr/>
          <p:nvPr/>
        </p:nvSpPr>
        <p:spPr>
          <a:xfrm>
            <a:off x="3218688" y="2377440"/>
            <a:ext cx="2724912" cy="256032"/>
          </a:xfrm>
          <a:prstGeom prst="rect">
            <a:avLst/>
          </a:prstGeom>
          <a:noFill/>
          <a:ln/>
        </p:spPr>
        <p:txBody>
          <a:bodyPr wrap="square" rtlCol="0" anchor="ctr"/>
          <a:lstStyle/>
          <a:p>
            <a:pPr algn="ctr" indent="0" marL="0">
              <a:buNone/>
            </a:pPr>
            <a:r>
              <a:rPr lang="en-US" sz="1200" dirty="0">
                <a:solidFill>
                  <a:srgbClr val="6B7280"/>
                </a:solidFill>
                <a:latin typeface="Consolas" pitchFamily="34" charset="0"/>
                <a:ea typeface="Consolas" pitchFamily="34" charset="-122"/>
                <a:cs typeface="Consolas" pitchFamily="34" charset="-120"/>
              </a:rPr>
              <a:t>cos = 0.00</a:t>
            </a:r>
            <a:endParaRPr lang="en-US" sz="1200" dirty="0"/>
          </a:p>
        </p:txBody>
      </p:sp>
      <p:sp>
        <p:nvSpPr>
          <p:cNvPr id="17" name="Text 15"/>
          <p:cNvSpPr/>
          <p:nvPr/>
        </p:nvSpPr>
        <p:spPr>
          <a:xfrm>
            <a:off x="3218688" y="2651760"/>
            <a:ext cx="2724912" cy="475488"/>
          </a:xfrm>
          <a:prstGeom prst="rect">
            <a:avLst/>
          </a:prstGeom>
          <a:noFill/>
          <a:ln/>
        </p:spPr>
        <p:txBody>
          <a:bodyPr wrap="square" rtlCol="0" anchor="ctr"/>
          <a:lstStyle/>
          <a:p>
            <a:pPr algn="ctr" indent="0" marL="0">
              <a:buNone/>
            </a:pPr>
            <a:r>
              <a:rPr lang="en-US" sz="1100" dirty="0">
                <a:solidFill>
                  <a:srgbClr val="4B5563"/>
                </a:solidFill>
              </a:rPr>
              <a:t>直交</a:t>
            </a:r>
            <a:endParaRPr lang="en-US" sz="1100" dirty="0"/>
          </a:p>
          <a:p>
            <a:pPr algn="ctr" indent="0" marL="0">
              <a:buNone/>
            </a:pPr>
            <a:r>
              <a:rPr lang="en-US" sz="1100" dirty="0">
                <a:solidFill>
                  <a:srgbClr val="4B5563"/>
                </a:solidFill>
              </a:rPr>
              <a:t>無関係</a:t>
            </a:r>
            <a:endParaRPr lang="en-US" sz="1100" dirty="0"/>
          </a:p>
        </p:txBody>
      </p:sp>
      <p:sp>
        <p:nvSpPr>
          <p:cNvPr id="18" name="Shape 16"/>
          <p:cNvSpPr/>
          <p:nvPr/>
        </p:nvSpPr>
        <p:spPr>
          <a:xfrm>
            <a:off x="6089904" y="1828800"/>
            <a:ext cx="2724912" cy="1417320"/>
          </a:xfrm>
          <a:prstGeom prst="rect">
            <a:avLst/>
          </a:prstGeom>
          <a:solidFill>
            <a:srgbClr val="FDF0EA"/>
          </a:solidFill>
          <a:ln w="6350">
            <a:solidFill>
              <a:srgbClr val="D85A30"/>
            </a:solidFill>
            <a:prstDash val="solid"/>
          </a:ln>
        </p:spPr>
      </p:sp>
      <p:sp>
        <p:nvSpPr>
          <p:cNvPr id="19" name="Shape 17"/>
          <p:cNvSpPr/>
          <p:nvPr/>
        </p:nvSpPr>
        <p:spPr>
          <a:xfrm>
            <a:off x="6089904" y="1828800"/>
            <a:ext cx="2724912" cy="36576"/>
          </a:xfrm>
          <a:prstGeom prst="rect">
            <a:avLst/>
          </a:prstGeom>
          <a:solidFill>
            <a:srgbClr val="D85A30"/>
          </a:solidFill>
          <a:ln w="12700">
            <a:solidFill>
              <a:srgbClr val="D85A30"/>
            </a:solidFill>
            <a:prstDash val="solid"/>
          </a:ln>
        </p:spPr>
      </p:sp>
      <p:sp>
        <p:nvSpPr>
          <p:cNvPr id="20" name="Text 18"/>
          <p:cNvSpPr/>
          <p:nvPr/>
        </p:nvSpPr>
        <p:spPr>
          <a:xfrm>
            <a:off x="6089904" y="1901952"/>
            <a:ext cx="2724912" cy="457200"/>
          </a:xfrm>
          <a:prstGeom prst="rect">
            <a:avLst/>
          </a:prstGeom>
          <a:noFill/>
          <a:ln/>
        </p:spPr>
        <p:txBody>
          <a:bodyPr wrap="square" rtlCol="0" anchor="ctr"/>
          <a:lstStyle/>
          <a:p>
            <a:pPr algn="ctr" indent="0" marL="0">
              <a:buNone/>
            </a:pPr>
            <a:r>
              <a:rPr lang="en-US" sz="2400" b="1" dirty="0">
                <a:solidFill>
                  <a:srgbClr val="D85A30"/>
                </a:solidFill>
              </a:rPr>
              <a:t>180°</a:t>
            </a:r>
            <a:endParaRPr lang="en-US" sz="2400" dirty="0"/>
          </a:p>
        </p:txBody>
      </p:sp>
      <p:sp>
        <p:nvSpPr>
          <p:cNvPr id="21" name="Text 19"/>
          <p:cNvSpPr/>
          <p:nvPr/>
        </p:nvSpPr>
        <p:spPr>
          <a:xfrm>
            <a:off x="6089904" y="2377440"/>
            <a:ext cx="2724912" cy="256032"/>
          </a:xfrm>
          <a:prstGeom prst="rect">
            <a:avLst/>
          </a:prstGeom>
          <a:noFill/>
          <a:ln/>
        </p:spPr>
        <p:txBody>
          <a:bodyPr wrap="square" rtlCol="0" anchor="ctr"/>
          <a:lstStyle/>
          <a:p>
            <a:pPr algn="ctr" indent="0" marL="0">
              <a:buNone/>
            </a:pPr>
            <a:r>
              <a:rPr lang="en-US" sz="1200" dirty="0">
                <a:solidFill>
                  <a:srgbClr val="D85A30"/>
                </a:solidFill>
                <a:latin typeface="Consolas" pitchFamily="34" charset="0"/>
                <a:ea typeface="Consolas" pitchFamily="34" charset="-122"/>
                <a:cs typeface="Consolas" pitchFamily="34" charset="-120"/>
              </a:rPr>
              <a:t>cos = −1.00</a:t>
            </a:r>
            <a:endParaRPr lang="en-US" sz="1200" dirty="0"/>
          </a:p>
        </p:txBody>
      </p:sp>
      <p:sp>
        <p:nvSpPr>
          <p:cNvPr id="22" name="Text 20"/>
          <p:cNvSpPr/>
          <p:nvPr/>
        </p:nvSpPr>
        <p:spPr>
          <a:xfrm>
            <a:off x="6089904" y="2651760"/>
            <a:ext cx="2724912" cy="475488"/>
          </a:xfrm>
          <a:prstGeom prst="rect">
            <a:avLst/>
          </a:prstGeom>
          <a:noFill/>
          <a:ln/>
        </p:spPr>
        <p:txBody>
          <a:bodyPr wrap="square" rtlCol="0" anchor="ctr"/>
          <a:lstStyle/>
          <a:p>
            <a:pPr algn="ctr" indent="0" marL="0">
              <a:buNone/>
            </a:pPr>
            <a:r>
              <a:rPr lang="en-US" sz="1100" dirty="0">
                <a:solidFill>
                  <a:srgbClr val="4B5563"/>
                </a:solidFill>
              </a:rPr>
              <a:t>逆方向</a:t>
            </a:r>
            <a:endParaRPr lang="en-US" sz="1100" dirty="0"/>
          </a:p>
          <a:p>
            <a:pPr algn="ctr" indent="0" marL="0">
              <a:buNone/>
            </a:pPr>
            <a:r>
              <a:rPr lang="en-US" sz="1100" dirty="0">
                <a:solidFill>
                  <a:srgbClr val="4B5563"/>
                </a:solidFill>
              </a:rPr>
              <a:t>対立概念</a:t>
            </a:r>
            <a:endParaRPr lang="en-US" sz="1100" dirty="0"/>
          </a:p>
        </p:txBody>
      </p:sp>
      <p:sp>
        <p:nvSpPr>
          <p:cNvPr id="23" name="Shape 21"/>
          <p:cNvSpPr/>
          <p:nvPr/>
        </p:nvSpPr>
        <p:spPr>
          <a:xfrm>
            <a:off x="347472" y="3364992"/>
            <a:ext cx="4041648" cy="148132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24" name="Shape 22"/>
          <p:cNvSpPr/>
          <p:nvPr/>
        </p:nvSpPr>
        <p:spPr>
          <a:xfrm>
            <a:off x="347472" y="3364992"/>
            <a:ext cx="45720" cy="1481328"/>
          </a:xfrm>
          <a:prstGeom prst="rect">
            <a:avLst/>
          </a:prstGeom>
          <a:solidFill>
            <a:srgbClr val="534AB7"/>
          </a:solidFill>
          <a:ln w="12700">
            <a:solidFill>
              <a:srgbClr val="534AB7"/>
            </a:solidFill>
            <a:prstDash val="solid"/>
          </a:ln>
        </p:spPr>
      </p:sp>
      <p:sp>
        <p:nvSpPr>
          <p:cNvPr id="25" name="Text 23"/>
          <p:cNvSpPr/>
          <p:nvPr/>
        </p:nvSpPr>
        <p:spPr>
          <a:xfrm>
            <a:off x="484632" y="3419856"/>
            <a:ext cx="3767328" cy="310896"/>
          </a:xfrm>
          <a:prstGeom prst="rect">
            <a:avLst/>
          </a:prstGeom>
          <a:noFill/>
          <a:ln/>
        </p:spPr>
        <p:txBody>
          <a:bodyPr wrap="square" rtlCol="0" anchor="ctr"/>
          <a:lstStyle/>
          <a:p>
            <a:pPr indent="0" marL="0">
              <a:buNone/>
            </a:pPr>
            <a:r>
              <a:rPr lang="en-US" sz="1100" b="1" dirty="0">
                <a:solidFill>
                  <a:srgbClr val="534AB7"/>
                </a:solidFill>
              </a:rPr>
              <a:t>Q（Query）= 「今必要な情報の特徴」</a:t>
            </a:r>
            <a:endParaRPr lang="en-US" sz="1100" dirty="0"/>
          </a:p>
        </p:txBody>
      </p:sp>
      <p:sp>
        <p:nvSpPr>
          <p:cNvPr id="26" name="Text 24"/>
          <p:cNvSpPr/>
          <p:nvPr/>
        </p:nvSpPr>
        <p:spPr>
          <a:xfrm>
            <a:off x="484632" y="3749040"/>
            <a:ext cx="3767328" cy="310896"/>
          </a:xfrm>
          <a:prstGeom prst="rect">
            <a:avLst/>
          </a:prstGeom>
          <a:noFill/>
          <a:ln/>
        </p:spPr>
        <p:txBody>
          <a:bodyPr wrap="square" rtlCol="0" anchor="ctr"/>
          <a:lstStyle/>
          <a:p>
            <a:pPr indent="0" marL="0">
              <a:buNone/>
            </a:pPr>
            <a:r>
              <a:rPr lang="en-US" sz="1100" b="1" dirty="0">
                <a:solidFill>
                  <a:srgbClr val="0F6E56"/>
                </a:solidFill>
              </a:rPr>
              <a:t>K（Key）  = 「私はこういう情報を持つ」</a:t>
            </a:r>
            <a:endParaRPr lang="en-US" sz="1100" dirty="0"/>
          </a:p>
        </p:txBody>
      </p:sp>
      <p:sp>
        <p:nvSpPr>
          <p:cNvPr id="27" name="Text 25"/>
          <p:cNvSpPr/>
          <p:nvPr/>
        </p:nvSpPr>
        <p:spPr>
          <a:xfrm>
            <a:off x="484632" y="4078224"/>
            <a:ext cx="3767328" cy="274320"/>
          </a:xfrm>
          <a:prstGeom prst="rect">
            <a:avLst/>
          </a:prstGeom>
          <a:noFill/>
          <a:ln/>
        </p:spPr>
        <p:txBody>
          <a:bodyPr wrap="square" rtlCol="0" anchor="ctr"/>
          <a:lstStyle/>
          <a:p>
            <a:pPr algn="ctr" indent="0" marL="0">
              <a:buNone/>
            </a:pPr>
            <a:r>
              <a:rPr lang="en-US" sz="1200" dirty="0">
                <a:solidFill>
                  <a:srgbClr val="BA7517"/>
                </a:solidFill>
                <a:latin typeface="Consolas" pitchFamily="34" charset="0"/>
                <a:ea typeface="Consolas" pitchFamily="34" charset="-122"/>
                <a:cs typeface="Consolas" pitchFamily="34" charset="-120"/>
              </a:rPr>
              <a:t>score(i, j) = Qᵢ · Kⱼ</a:t>
            </a:r>
            <a:endParaRPr lang="en-US" sz="1200" dirty="0"/>
          </a:p>
        </p:txBody>
      </p:sp>
      <p:sp>
        <p:nvSpPr>
          <p:cNvPr id="28" name="Text 26"/>
          <p:cNvSpPr/>
          <p:nvPr/>
        </p:nvSpPr>
        <p:spPr>
          <a:xfrm>
            <a:off x="484632" y="4370832"/>
            <a:ext cx="3767328" cy="237744"/>
          </a:xfrm>
          <a:prstGeom prst="rect">
            <a:avLst/>
          </a:prstGeom>
          <a:noFill/>
          <a:ln/>
        </p:spPr>
        <p:txBody>
          <a:bodyPr wrap="square" rtlCol="0" anchor="ctr"/>
          <a:lstStyle/>
          <a:p>
            <a:pPr algn="ctr" indent="0" marL="0">
              <a:buNone/>
            </a:pPr>
            <a:r>
              <a:rPr lang="en-US" sz="1000" dirty="0">
                <a:solidFill>
                  <a:srgbClr val="4B5563"/>
                </a:solidFill>
              </a:rPr>
              <a:t>方向が揃うほど関連が強い</a:t>
            </a:r>
            <a:endParaRPr lang="en-US" sz="1000" dirty="0"/>
          </a:p>
        </p:txBody>
      </p:sp>
      <p:sp>
        <p:nvSpPr>
          <p:cNvPr id="29" name="Shape 27"/>
          <p:cNvSpPr/>
          <p:nvPr/>
        </p:nvSpPr>
        <p:spPr>
          <a:xfrm>
            <a:off x="4526280" y="3364992"/>
            <a:ext cx="4251960" cy="148132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30" name="Shape 28"/>
          <p:cNvSpPr/>
          <p:nvPr/>
        </p:nvSpPr>
        <p:spPr>
          <a:xfrm>
            <a:off x="4526280" y="3364992"/>
            <a:ext cx="45720" cy="1481328"/>
          </a:xfrm>
          <a:prstGeom prst="rect">
            <a:avLst/>
          </a:prstGeom>
          <a:solidFill>
            <a:srgbClr val="BA7517"/>
          </a:solidFill>
          <a:ln w="12700">
            <a:solidFill>
              <a:srgbClr val="BA7517"/>
            </a:solidFill>
            <a:prstDash val="solid"/>
          </a:ln>
        </p:spPr>
      </p:sp>
      <p:sp>
        <p:nvSpPr>
          <p:cNvPr id="31" name="Text 29"/>
          <p:cNvSpPr/>
          <p:nvPr/>
        </p:nvSpPr>
        <p:spPr>
          <a:xfrm>
            <a:off x="4663440" y="3419856"/>
            <a:ext cx="3977640" cy="310896"/>
          </a:xfrm>
          <a:prstGeom prst="rect">
            <a:avLst/>
          </a:prstGeom>
          <a:noFill/>
          <a:ln/>
        </p:spPr>
        <p:txBody>
          <a:bodyPr wrap="square" rtlCol="0" anchor="ctr"/>
          <a:lstStyle/>
          <a:p>
            <a:pPr indent="0" marL="0">
              <a:buNone/>
            </a:pPr>
            <a:r>
              <a:rPr lang="en-US" sz="1100" b="1" dirty="0">
                <a:solidFill>
                  <a:srgbClr val="BA7517"/>
                </a:solidFill>
              </a:rPr>
              <a:t>RAG との関係（補足）</a:t>
            </a:r>
            <a:endParaRPr lang="en-US" sz="1100" dirty="0"/>
          </a:p>
        </p:txBody>
      </p:sp>
      <p:sp>
        <p:nvSpPr>
          <p:cNvPr id="32" name="Text 30"/>
          <p:cNvSpPr/>
          <p:nvPr/>
        </p:nvSpPr>
        <p:spPr>
          <a:xfrm>
            <a:off x="4663440" y="3749040"/>
            <a:ext cx="3977640" cy="1005840"/>
          </a:xfrm>
          <a:prstGeom prst="rect">
            <a:avLst/>
          </a:prstGeom>
          <a:noFill/>
          <a:ln/>
        </p:spPr>
        <p:txBody>
          <a:bodyPr wrap="square" rtlCol="0" anchor="ctr"/>
          <a:lstStyle/>
          <a:p>
            <a:pPr indent="0" marL="0">
              <a:spcAft>
                <a:spcPts val="400"/>
              </a:spcAft>
              <a:buNone/>
            </a:pPr>
            <a:r>
              <a:rPr lang="en-US" sz="1100" dirty="0">
                <a:solidFill>
                  <a:srgbClr val="1F2937"/>
                </a:solidFill>
              </a:rPr>
              <a:t>現代の RAG はこれと同じ原理でDBから文書を検索している。</a:t>
            </a:r>
            <a:endParaRPr lang="en-US" sz="1100" dirty="0"/>
          </a:p>
          <a:p>
            <a:pPr indent="0" marL="0">
              <a:spcAft>
                <a:spcPts val="400"/>
              </a:spcAft>
              <a:buNone/>
            </a:pPr>
            <a:r>
              <a:rPr lang="en-US" sz="1100" dirty="0">
                <a:solidFill>
                  <a:srgbClr val="1F2937"/>
                </a:solidFill>
              </a:rPr>
              <a:t>Q=検索文、K=DB内の文書ベクトル、内積でランク付け。</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5 / 28</a:t>
            </a:r>
            <a:endParaRPr lang="en-US" sz="900" dirty="0"/>
          </a:p>
        </p:txBody>
      </p:sp>
      <p:sp>
        <p:nvSpPr>
          <p:cNvPr id="3" name="Shape 1"/>
          <p:cNvSpPr/>
          <p:nvPr/>
        </p:nvSpPr>
        <p:spPr>
          <a:xfrm>
            <a:off x="347472" y="274320"/>
            <a:ext cx="54864" cy="475488"/>
          </a:xfrm>
          <a:prstGeom prst="rect">
            <a:avLst/>
          </a:prstGeom>
          <a:solidFill>
            <a:srgbClr val="BA7517"/>
          </a:solidFill>
          <a:ln w="12700">
            <a:solidFill>
              <a:srgbClr val="BA7517"/>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指数関数とは何か — スコアの差を爆発的に拡大する</a:t>
            </a:r>
            <a:endParaRPr lang="en-US" sz="2000" dirty="0"/>
          </a:p>
        </p:txBody>
      </p:sp>
      <p:sp>
        <p:nvSpPr>
          <p:cNvPr id="5" name="Text 3"/>
          <p:cNvSpPr/>
          <p:nvPr/>
        </p:nvSpPr>
        <p:spPr>
          <a:xfrm>
            <a:off x="347472" y="932688"/>
            <a:ext cx="8430768" cy="347472"/>
          </a:xfrm>
          <a:prstGeom prst="rect">
            <a:avLst/>
          </a:prstGeom>
          <a:noFill/>
          <a:ln/>
        </p:spPr>
        <p:txBody>
          <a:bodyPr wrap="square" rtlCol="0" anchor="ctr"/>
          <a:lstStyle/>
          <a:p>
            <a:pPr indent="0" marL="0">
              <a:buNone/>
            </a:pPr>
            <a:r>
              <a:rPr lang="en-US" sz="1100" i="1" dirty="0">
                <a:solidFill>
                  <a:srgbClr val="4B5563"/>
                </a:solidFill>
              </a:rPr>
              <a:t>Softmax は exp(x)（指数関数）を使う。なぜそんなに差が広がるのか？ 数学の詳細より「直感的なイメージ」を掴もう。</a:t>
            </a:r>
            <a:endParaRPr lang="en-US" sz="1100" dirty="0"/>
          </a:p>
        </p:txBody>
      </p:sp>
      <p:sp>
        <p:nvSpPr>
          <p:cNvPr id="6" name="Shape 4"/>
          <p:cNvSpPr/>
          <p:nvPr/>
        </p:nvSpPr>
        <p:spPr>
          <a:xfrm>
            <a:off x="347472" y="1371600"/>
            <a:ext cx="2834640" cy="331012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7" name="Shape 5"/>
          <p:cNvSpPr/>
          <p:nvPr/>
        </p:nvSpPr>
        <p:spPr>
          <a:xfrm>
            <a:off x="347472" y="1371600"/>
            <a:ext cx="45720" cy="3310128"/>
          </a:xfrm>
          <a:prstGeom prst="rect">
            <a:avLst/>
          </a:prstGeom>
          <a:solidFill>
            <a:srgbClr val="BA7517"/>
          </a:solidFill>
          <a:ln w="12700">
            <a:solidFill>
              <a:srgbClr val="BA7517"/>
            </a:solidFill>
            <a:prstDash val="solid"/>
          </a:ln>
        </p:spPr>
      </p:sp>
      <p:sp>
        <p:nvSpPr>
          <p:cNvPr id="8" name="Text 6"/>
          <p:cNvSpPr/>
          <p:nvPr/>
        </p:nvSpPr>
        <p:spPr>
          <a:xfrm>
            <a:off x="484632" y="1426464"/>
            <a:ext cx="2615184" cy="329184"/>
          </a:xfrm>
          <a:prstGeom prst="rect">
            <a:avLst/>
          </a:prstGeom>
          <a:noFill/>
          <a:ln/>
        </p:spPr>
        <p:txBody>
          <a:bodyPr wrap="square" rtlCol="0" anchor="ctr"/>
          <a:lstStyle/>
          <a:p>
            <a:pPr indent="0" marL="0">
              <a:buNone/>
            </a:pPr>
            <a:r>
              <a:rPr lang="en-US" sz="1300" b="1" dirty="0">
                <a:solidFill>
                  <a:srgbClr val="BA7517"/>
                </a:solidFill>
              </a:rPr>
              <a:t>exp(x) = eˣ とは？</a:t>
            </a:r>
            <a:endParaRPr lang="en-US" sz="1300" dirty="0"/>
          </a:p>
        </p:txBody>
      </p:sp>
      <p:sp>
        <p:nvSpPr>
          <p:cNvPr id="9" name="Text 7"/>
          <p:cNvSpPr/>
          <p:nvPr/>
        </p:nvSpPr>
        <p:spPr>
          <a:xfrm>
            <a:off x="484632" y="1792224"/>
            <a:ext cx="2615184" cy="2743200"/>
          </a:xfrm>
          <a:prstGeom prst="rect">
            <a:avLst/>
          </a:prstGeom>
          <a:noFill/>
          <a:ln/>
        </p:spPr>
        <p:txBody>
          <a:bodyPr wrap="square" rtlCol="0" anchor="ctr"/>
          <a:lstStyle/>
          <a:p>
            <a:pPr indent="0" marL="0">
              <a:spcAft>
                <a:spcPts val="500"/>
              </a:spcAft>
              <a:buNone/>
            </a:pPr>
            <a:r>
              <a:rPr lang="en-US" sz="1100" dirty="0">
                <a:solidFill>
                  <a:srgbClr val="1F2937"/>
                </a:solidFill>
                <a:latin typeface="Consolas" pitchFamily="34" charset="0"/>
                <a:ea typeface="Consolas" pitchFamily="34" charset="-122"/>
                <a:cs typeface="Consolas" pitchFamily="34" charset="-120"/>
              </a:rPr>
              <a:t>e ≈ 2.71828</a:t>
            </a:r>
            <a:endParaRPr lang="en-US" sz="1100" dirty="0"/>
          </a:p>
          <a:p>
            <a:pPr indent="0" marL="0">
              <a:spcAft>
                <a:spcPts val="500"/>
              </a:spcAft>
              <a:buNone/>
            </a:pPr>
            <a:r>
              <a:rPr lang="en-US" sz="1100" dirty="0">
                <a:solidFill>
                  <a:srgbClr val="1F2937"/>
                </a:solidFill>
                <a:latin typeface="Consolas" pitchFamily="34" charset="0"/>
                <a:ea typeface="Consolas" pitchFamily="34" charset="-122"/>
                <a:cs typeface="Consolas" pitchFamily="34" charset="-120"/>
              </a:rPr>
              <a:t>（自然対数の底）</a:t>
            </a:r>
            <a:endParaRPr lang="en-US" sz="1100" dirty="0"/>
          </a:p>
          <a:p>
            <a:pPr indent="0" marL="0">
              <a:spcAft>
                <a:spcPts val="500"/>
              </a:spcAft>
              <a:buNone/>
            </a:pPr>
            <a:endParaRPr lang="en-US" sz="1100" dirty="0"/>
          </a:p>
          <a:p>
            <a:pPr indent="0" marL="0">
              <a:spcAft>
                <a:spcPts val="500"/>
              </a:spcAft>
              <a:buNone/>
            </a:pPr>
            <a:r>
              <a:rPr lang="en-US" sz="1100" dirty="0">
                <a:solidFill>
                  <a:srgbClr val="1F2937"/>
                </a:solidFill>
                <a:latin typeface="Consolas" pitchFamily="34" charset="0"/>
                <a:ea typeface="Consolas" pitchFamily="34" charset="-122"/>
                <a:cs typeface="Consolas" pitchFamily="34" charset="-120"/>
              </a:rPr>
              <a:t>「1増えるごとに</a:t>
            </a:r>
            <a:endParaRPr lang="en-US" sz="1100" dirty="0"/>
          </a:p>
          <a:p>
            <a:pPr indent="0" marL="0">
              <a:spcAft>
                <a:spcPts val="500"/>
              </a:spcAft>
              <a:buNone/>
            </a:pPr>
            <a:r>
              <a:rPr lang="en-US" sz="1100" dirty="0">
                <a:solidFill>
                  <a:srgbClr val="1F2937"/>
                </a:solidFill>
                <a:latin typeface="Consolas" pitchFamily="34" charset="0"/>
                <a:ea typeface="Consolas" pitchFamily="34" charset="-122"/>
                <a:cs typeface="Consolas" pitchFamily="34" charset="-120"/>
              </a:rPr>
              <a:t>　約2.7倍になる数」</a:t>
            </a:r>
            <a:endParaRPr lang="en-US" sz="1100" dirty="0"/>
          </a:p>
          <a:p>
            <a:pPr indent="0" marL="0">
              <a:spcAft>
                <a:spcPts val="500"/>
              </a:spcAft>
              <a:buNone/>
            </a:pPr>
            <a:endParaRPr lang="en-US" sz="1100" dirty="0"/>
          </a:p>
          <a:p>
            <a:pPr indent="0" marL="0">
              <a:spcAft>
                <a:spcPts val="500"/>
              </a:spcAft>
              <a:buNone/>
            </a:pPr>
            <a:r>
              <a:rPr lang="en-US" sz="1100" dirty="0">
                <a:solidFill>
                  <a:srgbClr val="1F2937"/>
                </a:solidFill>
                <a:latin typeface="Consolas" pitchFamily="34" charset="0"/>
                <a:ea typeface="Consolas" pitchFamily="34" charset="-122"/>
                <a:cs typeface="Consolas" pitchFamily="34" charset="-120"/>
              </a:rPr>
              <a:t>足し算 → 掛け算：</a:t>
            </a:r>
            <a:endParaRPr lang="en-US" sz="1100" dirty="0"/>
          </a:p>
          <a:p>
            <a:pPr indent="0" marL="0">
              <a:spcAft>
                <a:spcPts val="500"/>
              </a:spcAft>
              <a:buNone/>
            </a:pPr>
            <a:r>
              <a:rPr lang="en-US" sz="1100" dirty="0">
                <a:solidFill>
                  <a:srgbClr val="1F2937"/>
                </a:solidFill>
                <a:latin typeface="Consolas" pitchFamily="34" charset="0"/>
                <a:ea typeface="Consolas" pitchFamily="34" charset="-122"/>
                <a:cs typeface="Consolas" pitchFamily="34" charset="-120"/>
              </a:rPr>
              <a:t>e^(a+b) = eᵃ × eᵇ</a:t>
            </a:r>
            <a:endParaRPr lang="en-US" sz="1100" dirty="0"/>
          </a:p>
          <a:p>
            <a:pPr indent="0" marL="0">
              <a:spcAft>
                <a:spcPts val="500"/>
              </a:spcAft>
              <a:buNone/>
            </a:pPr>
            <a:endParaRPr lang="en-US" sz="1100" dirty="0"/>
          </a:p>
          <a:p>
            <a:pPr indent="0" marL="0">
              <a:spcAft>
                <a:spcPts val="500"/>
              </a:spcAft>
              <a:buNone/>
            </a:pPr>
            <a:r>
              <a:rPr lang="en-US" sz="1100" dirty="0">
                <a:solidFill>
                  <a:srgbClr val="1F2937"/>
                </a:solidFill>
                <a:latin typeface="Consolas" pitchFamily="34" charset="0"/>
                <a:ea typeface="Consolas" pitchFamily="34" charset="-122"/>
                <a:cs typeface="Consolas" pitchFamily="34" charset="-120"/>
              </a:rPr>
              <a:t>どんな x でも</a:t>
            </a:r>
            <a:endParaRPr lang="en-US" sz="1100" dirty="0"/>
          </a:p>
          <a:p>
            <a:pPr indent="0" marL="0">
              <a:spcAft>
                <a:spcPts val="500"/>
              </a:spcAft>
              <a:buNone/>
            </a:pPr>
            <a:r>
              <a:rPr lang="en-US" sz="1100" dirty="0">
                <a:solidFill>
                  <a:srgbClr val="1F2937"/>
                </a:solidFill>
                <a:latin typeface="Consolas" pitchFamily="34" charset="0"/>
                <a:ea typeface="Consolas" pitchFamily="34" charset="-122"/>
                <a:cs typeface="Consolas" pitchFamily="34" charset="-120"/>
              </a:rPr>
              <a:t>e^x は必ず正の値</a:t>
            </a:r>
            <a:endParaRPr lang="en-US" sz="1100" dirty="0"/>
          </a:p>
        </p:txBody>
      </p:sp>
      <p:sp>
        <p:nvSpPr>
          <p:cNvPr id="10" name="Shape 8"/>
          <p:cNvSpPr/>
          <p:nvPr/>
        </p:nvSpPr>
        <p:spPr>
          <a:xfrm>
            <a:off x="3310128" y="1371600"/>
            <a:ext cx="2359152" cy="331012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11" name="Shape 9"/>
          <p:cNvSpPr/>
          <p:nvPr/>
        </p:nvSpPr>
        <p:spPr>
          <a:xfrm>
            <a:off x="3310128" y="1371600"/>
            <a:ext cx="45720" cy="3310128"/>
          </a:xfrm>
          <a:prstGeom prst="rect">
            <a:avLst/>
          </a:prstGeom>
          <a:solidFill>
            <a:srgbClr val="534AB7"/>
          </a:solidFill>
          <a:ln w="12700">
            <a:solidFill>
              <a:srgbClr val="534AB7"/>
            </a:solidFill>
            <a:prstDash val="solid"/>
          </a:ln>
        </p:spPr>
      </p:sp>
      <p:sp>
        <p:nvSpPr>
          <p:cNvPr id="12" name="Text 10"/>
          <p:cNvSpPr/>
          <p:nvPr/>
        </p:nvSpPr>
        <p:spPr>
          <a:xfrm>
            <a:off x="3438144" y="1426464"/>
            <a:ext cx="2103120" cy="329184"/>
          </a:xfrm>
          <a:prstGeom prst="rect">
            <a:avLst/>
          </a:prstGeom>
          <a:noFill/>
          <a:ln/>
        </p:spPr>
        <p:txBody>
          <a:bodyPr wrap="square" rtlCol="0" anchor="ctr"/>
          <a:lstStyle/>
          <a:p>
            <a:pPr indent="0" marL="0">
              <a:buNone/>
            </a:pPr>
            <a:r>
              <a:rPr lang="en-US" sz="1300" b="1" dirty="0">
                <a:solidFill>
                  <a:srgbClr val="534AB7"/>
                </a:solidFill>
              </a:rPr>
              <a:t>exp(x) の値一覧</a:t>
            </a:r>
            <a:endParaRPr lang="en-US" sz="1300" dirty="0"/>
          </a:p>
        </p:txBody>
      </p:sp>
      <p:sp>
        <p:nvSpPr>
          <p:cNvPr id="13" name="Shape 11"/>
          <p:cNvSpPr/>
          <p:nvPr/>
        </p:nvSpPr>
        <p:spPr>
          <a:xfrm>
            <a:off x="3310128" y="1828800"/>
            <a:ext cx="1024128" cy="329184"/>
          </a:xfrm>
          <a:prstGeom prst="rect">
            <a:avLst/>
          </a:prstGeom>
          <a:solidFill>
            <a:srgbClr val="F8F8FC"/>
          </a:solidFill>
          <a:ln w="2540">
            <a:solidFill>
              <a:srgbClr val="E0E0E0"/>
            </a:solidFill>
            <a:prstDash val="solid"/>
          </a:ln>
        </p:spPr>
      </p:sp>
      <p:sp>
        <p:nvSpPr>
          <p:cNvPr id="14" name="Shape 12"/>
          <p:cNvSpPr/>
          <p:nvPr/>
        </p:nvSpPr>
        <p:spPr>
          <a:xfrm>
            <a:off x="4334256" y="1828800"/>
            <a:ext cx="1335024" cy="329184"/>
          </a:xfrm>
          <a:prstGeom prst="rect">
            <a:avLst/>
          </a:prstGeom>
          <a:solidFill>
            <a:srgbClr val="F8F8FC"/>
          </a:solidFill>
          <a:ln w="2540">
            <a:solidFill>
              <a:srgbClr val="E0E0E0"/>
            </a:solidFill>
            <a:prstDash val="solid"/>
          </a:ln>
        </p:spPr>
      </p:sp>
      <p:sp>
        <p:nvSpPr>
          <p:cNvPr id="15" name="Text 13"/>
          <p:cNvSpPr/>
          <p:nvPr/>
        </p:nvSpPr>
        <p:spPr>
          <a:xfrm>
            <a:off x="3328416" y="1865376"/>
            <a:ext cx="987552" cy="256032"/>
          </a:xfrm>
          <a:prstGeom prst="rect">
            <a:avLst/>
          </a:prstGeom>
          <a:noFill/>
          <a:ln/>
        </p:spPr>
        <p:txBody>
          <a:bodyPr wrap="square" rtlCol="0" anchor="ctr"/>
          <a:lstStyle/>
          <a:p>
            <a:pPr algn="ctr" indent="0" marL="0">
              <a:buNone/>
            </a:pPr>
            <a:r>
              <a:rPr lang="en-US" sz="1000" dirty="0">
                <a:solidFill>
                  <a:srgbClr val="4B5563"/>
                </a:solidFill>
                <a:latin typeface="Consolas" pitchFamily="34" charset="0"/>
                <a:ea typeface="Consolas" pitchFamily="34" charset="-122"/>
                <a:cs typeface="Consolas" pitchFamily="34" charset="-120"/>
              </a:rPr>
              <a:t>x = -5</a:t>
            </a:r>
            <a:endParaRPr lang="en-US" sz="1000" dirty="0"/>
          </a:p>
        </p:txBody>
      </p:sp>
      <p:sp>
        <p:nvSpPr>
          <p:cNvPr id="16" name="Text 14"/>
          <p:cNvSpPr/>
          <p:nvPr/>
        </p:nvSpPr>
        <p:spPr>
          <a:xfrm>
            <a:off x="4352544" y="1865376"/>
            <a:ext cx="1298448" cy="256032"/>
          </a:xfrm>
          <a:prstGeom prst="rect">
            <a:avLst/>
          </a:prstGeom>
          <a:noFill/>
          <a:ln/>
        </p:spPr>
        <p:txBody>
          <a:bodyPr wrap="square" rtlCol="0" anchor="ctr"/>
          <a:lstStyle/>
          <a:p>
            <a:pPr algn="ctr" indent="0" marL="0">
              <a:buNone/>
            </a:pPr>
            <a:r>
              <a:rPr lang="en-US" sz="1000" dirty="0">
                <a:solidFill>
                  <a:srgbClr val="4B5563"/>
                </a:solidFill>
                <a:latin typeface="Consolas" pitchFamily="34" charset="0"/>
                <a:ea typeface="Consolas" pitchFamily="34" charset="-122"/>
                <a:cs typeface="Consolas" pitchFamily="34" charset="-120"/>
              </a:rPr>
              <a:t>→ 0.007</a:t>
            </a:r>
            <a:endParaRPr lang="en-US" sz="1000" dirty="0"/>
          </a:p>
        </p:txBody>
      </p:sp>
      <p:sp>
        <p:nvSpPr>
          <p:cNvPr id="17" name="Shape 15"/>
          <p:cNvSpPr/>
          <p:nvPr/>
        </p:nvSpPr>
        <p:spPr>
          <a:xfrm>
            <a:off x="3310128" y="2157984"/>
            <a:ext cx="1024128" cy="329184"/>
          </a:xfrm>
          <a:prstGeom prst="rect">
            <a:avLst/>
          </a:prstGeom>
          <a:solidFill>
            <a:srgbClr val="F8F8FC"/>
          </a:solidFill>
          <a:ln w="2540">
            <a:solidFill>
              <a:srgbClr val="E0E0E0"/>
            </a:solidFill>
            <a:prstDash val="solid"/>
          </a:ln>
        </p:spPr>
      </p:sp>
      <p:sp>
        <p:nvSpPr>
          <p:cNvPr id="18" name="Shape 16"/>
          <p:cNvSpPr/>
          <p:nvPr/>
        </p:nvSpPr>
        <p:spPr>
          <a:xfrm>
            <a:off x="4334256" y="2157984"/>
            <a:ext cx="1335024" cy="329184"/>
          </a:xfrm>
          <a:prstGeom prst="rect">
            <a:avLst/>
          </a:prstGeom>
          <a:solidFill>
            <a:srgbClr val="F8F8FC"/>
          </a:solidFill>
          <a:ln w="2540">
            <a:solidFill>
              <a:srgbClr val="E0E0E0"/>
            </a:solidFill>
            <a:prstDash val="solid"/>
          </a:ln>
        </p:spPr>
      </p:sp>
      <p:sp>
        <p:nvSpPr>
          <p:cNvPr id="19" name="Text 17"/>
          <p:cNvSpPr/>
          <p:nvPr/>
        </p:nvSpPr>
        <p:spPr>
          <a:xfrm>
            <a:off x="3328416" y="2194560"/>
            <a:ext cx="987552" cy="256032"/>
          </a:xfrm>
          <a:prstGeom prst="rect">
            <a:avLst/>
          </a:prstGeom>
          <a:noFill/>
          <a:ln/>
        </p:spPr>
        <p:txBody>
          <a:bodyPr wrap="square" rtlCol="0" anchor="ctr"/>
          <a:lstStyle/>
          <a:p>
            <a:pPr algn="ctr" indent="0" marL="0">
              <a:buNone/>
            </a:pPr>
            <a:r>
              <a:rPr lang="en-US" sz="1000" dirty="0">
                <a:solidFill>
                  <a:srgbClr val="4B5563"/>
                </a:solidFill>
                <a:latin typeface="Consolas" pitchFamily="34" charset="0"/>
                <a:ea typeface="Consolas" pitchFamily="34" charset="-122"/>
                <a:cs typeface="Consolas" pitchFamily="34" charset="-120"/>
              </a:rPr>
              <a:t>x = -2</a:t>
            </a:r>
            <a:endParaRPr lang="en-US" sz="1000" dirty="0"/>
          </a:p>
        </p:txBody>
      </p:sp>
      <p:sp>
        <p:nvSpPr>
          <p:cNvPr id="20" name="Text 18"/>
          <p:cNvSpPr/>
          <p:nvPr/>
        </p:nvSpPr>
        <p:spPr>
          <a:xfrm>
            <a:off x="4352544" y="2194560"/>
            <a:ext cx="1298448" cy="256032"/>
          </a:xfrm>
          <a:prstGeom prst="rect">
            <a:avLst/>
          </a:prstGeom>
          <a:noFill/>
          <a:ln/>
        </p:spPr>
        <p:txBody>
          <a:bodyPr wrap="square" rtlCol="0" anchor="ctr"/>
          <a:lstStyle/>
          <a:p>
            <a:pPr algn="ctr" indent="0" marL="0">
              <a:buNone/>
            </a:pPr>
            <a:r>
              <a:rPr lang="en-US" sz="1000" dirty="0">
                <a:solidFill>
                  <a:srgbClr val="4B5563"/>
                </a:solidFill>
                <a:latin typeface="Consolas" pitchFamily="34" charset="0"/>
                <a:ea typeface="Consolas" pitchFamily="34" charset="-122"/>
                <a:cs typeface="Consolas" pitchFamily="34" charset="-120"/>
              </a:rPr>
              <a:t>→ 0.135</a:t>
            </a:r>
            <a:endParaRPr lang="en-US" sz="1000" dirty="0"/>
          </a:p>
        </p:txBody>
      </p:sp>
      <p:sp>
        <p:nvSpPr>
          <p:cNvPr id="21" name="Shape 19"/>
          <p:cNvSpPr/>
          <p:nvPr/>
        </p:nvSpPr>
        <p:spPr>
          <a:xfrm>
            <a:off x="3310128" y="2487168"/>
            <a:ext cx="1024128" cy="329184"/>
          </a:xfrm>
          <a:prstGeom prst="rect">
            <a:avLst/>
          </a:prstGeom>
          <a:solidFill>
            <a:srgbClr val="F8F8FC"/>
          </a:solidFill>
          <a:ln w="2540">
            <a:solidFill>
              <a:srgbClr val="E0E0E0"/>
            </a:solidFill>
            <a:prstDash val="solid"/>
          </a:ln>
        </p:spPr>
      </p:sp>
      <p:sp>
        <p:nvSpPr>
          <p:cNvPr id="22" name="Shape 20"/>
          <p:cNvSpPr/>
          <p:nvPr/>
        </p:nvSpPr>
        <p:spPr>
          <a:xfrm>
            <a:off x="4334256" y="2487168"/>
            <a:ext cx="1335024" cy="329184"/>
          </a:xfrm>
          <a:prstGeom prst="rect">
            <a:avLst/>
          </a:prstGeom>
          <a:solidFill>
            <a:srgbClr val="F8F8FC"/>
          </a:solidFill>
          <a:ln w="2540">
            <a:solidFill>
              <a:srgbClr val="E0E0E0"/>
            </a:solidFill>
            <a:prstDash val="solid"/>
          </a:ln>
        </p:spPr>
      </p:sp>
      <p:sp>
        <p:nvSpPr>
          <p:cNvPr id="23" name="Text 21"/>
          <p:cNvSpPr/>
          <p:nvPr/>
        </p:nvSpPr>
        <p:spPr>
          <a:xfrm>
            <a:off x="3328416" y="2523744"/>
            <a:ext cx="987552" cy="256032"/>
          </a:xfrm>
          <a:prstGeom prst="rect">
            <a:avLst/>
          </a:prstGeom>
          <a:noFill/>
          <a:ln/>
        </p:spPr>
        <p:txBody>
          <a:bodyPr wrap="square" rtlCol="0" anchor="ctr"/>
          <a:lstStyle/>
          <a:p>
            <a:pPr algn="ctr" indent="0" marL="0">
              <a:buNone/>
            </a:pPr>
            <a:r>
              <a:rPr lang="en-US" sz="1000" dirty="0">
                <a:solidFill>
                  <a:srgbClr val="4B5563"/>
                </a:solidFill>
                <a:latin typeface="Consolas" pitchFamily="34" charset="0"/>
                <a:ea typeface="Consolas" pitchFamily="34" charset="-122"/>
                <a:cs typeface="Consolas" pitchFamily="34" charset="-120"/>
              </a:rPr>
              <a:t>x = 0</a:t>
            </a:r>
            <a:endParaRPr lang="en-US" sz="1000" dirty="0"/>
          </a:p>
        </p:txBody>
      </p:sp>
      <p:sp>
        <p:nvSpPr>
          <p:cNvPr id="24" name="Text 22"/>
          <p:cNvSpPr/>
          <p:nvPr/>
        </p:nvSpPr>
        <p:spPr>
          <a:xfrm>
            <a:off x="4352544" y="2523744"/>
            <a:ext cx="1298448" cy="256032"/>
          </a:xfrm>
          <a:prstGeom prst="rect">
            <a:avLst/>
          </a:prstGeom>
          <a:noFill/>
          <a:ln/>
        </p:spPr>
        <p:txBody>
          <a:bodyPr wrap="square" rtlCol="0" anchor="ctr"/>
          <a:lstStyle/>
          <a:p>
            <a:pPr algn="ctr" indent="0" marL="0">
              <a:buNone/>
            </a:pPr>
            <a:r>
              <a:rPr lang="en-US" sz="1000" dirty="0">
                <a:solidFill>
                  <a:srgbClr val="4B5563"/>
                </a:solidFill>
                <a:latin typeface="Consolas" pitchFamily="34" charset="0"/>
                <a:ea typeface="Consolas" pitchFamily="34" charset="-122"/>
                <a:cs typeface="Consolas" pitchFamily="34" charset="-120"/>
              </a:rPr>
              <a:t>→ 1.000</a:t>
            </a:r>
            <a:endParaRPr lang="en-US" sz="1000" dirty="0"/>
          </a:p>
        </p:txBody>
      </p:sp>
      <p:sp>
        <p:nvSpPr>
          <p:cNvPr id="25" name="Shape 23"/>
          <p:cNvSpPr/>
          <p:nvPr/>
        </p:nvSpPr>
        <p:spPr>
          <a:xfrm>
            <a:off x="3310128" y="2816352"/>
            <a:ext cx="1024128" cy="329184"/>
          </a:xfrm>
          <a:prstGeom prst="rect">
            <a:avLst/>
          </a:prstGeom>
          <a:solidFill>
            <a:srgbClr val="F8F8FC"/>
          </a:solidFill>
          <a:ln w="2540">
            <a:solidFill>
              <a:srgbClr val="E0E0E0"/>
            </a:solidFill>
            <a:prstDash val="solid"/>
          </a:ln>
        </p:spPr>
      </p:sp>
      <p:sp>
        <p:nvSpPr>
          <p:cNvPr id="26" name="Shape 24"/>
          <p:cNvSpPr/>
          <p:nvPr/>
        </p:nvSpPr>
        <p:spPr>
          <a:xfrm>
            <a:off x="4334256" y="2816352"/>
            <a:ext cx="1335024" cy="329184"/>
          </a:xfrm>
          <a:prstGeom prst="rect">
            <a:avLst/>
          </a:prstGeom>
          <a:solidFill>
            <a:srgbClr val="F8F8FC"/>
          </a:solidFill>
          <a:ln w="2540">
            <a:solidFill>
              <a:srgbClr val="E0E0E0"/>
            </a:solidFill>
            <a:prstDash val="solid"/>
          </a:ln>
        </p:spPr>
      </p:sp>
      <p:sp>
        <p:nvSpPr>
          <p:cNvPr id="27" name="Text 25"/>
          <p:cNvSpPr/>
          <p:nvPr/>
        </p:nvSpPr>
        <p:spPr>
          <a:xfrm>
            <a:off x="3328416" y="2852928"/>
            <a:ext cx="987552" cy="256032"/>
          </a:xfrm>
          <a:prstGeom prst="rect">
            <a:avLst/>
          </a:prstGeom>
          <a:noFill/>
          <a:ln/>
        </p:spPr>
        <p:txBody>
          <a:bodyPr wrap="square" rtlCol="0" anchor="ctr"/>
          <a:lstStyle/>
          <a:p>
            <a:pPr algn="ctr" indent="0" marL="0">
              <a:buNone/>
            </a:pPr>
            <a:r>
              <a:rPr lang="en-US" sz="1000" dirty="0">
                <a:solidFill>
                  <a:srgbClr val="4B5563"/>
                </a:solidFill>
                <a:latin typeface="Consolas" pitchFamily="34" charset="0"/>
                <a:ea typeface="Consolas" pitchFamily="34" charset="-122"/>
                <a:cs typeface="Consolas" pitchFamily="34" charset="-120"/>
              </a:rPr>
              <a:t>x = 1</a:t>
            </a:r>
            <a:endParaRPr lang="en-US" sz="1000" dirty="0"/>
          </a:p>
        </p:txBody>
      </p:sp>
      <p:sp>
        <p:nvSpPr>
          <p:cNvPr id="28" name="Text 26"/>
          <p:cNvSpPr/>
          <p:nvPr/>
        </p:nvSpPr>
        <p:spPr>
          <a:xfrm>
            <a:off x="4352544" y="2852928"/>
            <a:ext cx="1298448" cy="256032"/>
          </a:xfrm>
          <a:prstGeom prst="rect">
            <a:avLst/>
          </a:prstGeom>
          <a:noFill/>
          <a:ln/>
        </p:spPr>
        <p:txBody>
          <a:bodyPr wrap="square" rtlCol="0" anchor="ctr"/>
          <a:lstStyle/>
          <a:p>
            <a:pPr algn="ctr" indent="0" marL="0">
              <a:buNone/>
            </a:pPr>
            <a:r>
              <a:rPr lang="en-US" sz="1000" dirty="0">
                <a:solidFill>
                  <a:srgbClr val="4B5563"/>
                </a:solidFill>
                <a:latin typeface="Consolas" pitchFamily="34" charset="0"/>
                <a:ea typeface="Consolas" pitchFamily="34" charset="-122"/>
                <a:cs typeface="Consolas" pitchFamily="34" charset="-120"/>
              </a:rPr>
              <a:t>→ 2.718</a:t>
            </a:r>
            <a:endParaRPr lang="en-US" sz="1000" dirty="0"/>
          </a:p>
        </p:txBody>
      </p:sp>
      <p:sp>
        <p:nvSpPr>
          <p:cNvPr id="29" name="Shape 27"/>
          <p:cNvSpPr/>
          <p:nvPr/>
        </p:nvSpPr>
        <p:spPr>
          <a:xfrm>
            <a:off x="3310128" y="3145536"/>
            <a:ext cx="1024128" cy="329184"/>
          </a:xfrm>
          <a:prstGeom prst="rect">
            <a:avLst/>
          </a:prstGeom>
          <a:solidFill>
            <a:srgbClr val="F8F8FC"/>
          </a:solidFill>
          <a:ln w="2540">
            <a:solidFill>
              <a:srgbClr val="E0E0E0"/>
            </a:solidFill>
            <a:prstDash val="solid"/>
          </a:ln>
        </p:spPr>
      </p:sp>
      <p:sp>
        <p:nvSpPr>
          <p:cNvPr id="30" name="Shape 28"/>
          <p:cNvSpPr/>
          <p:nvPr/>
        </p:nvSpPr>
        <p:spPr>
          <a:xfrm>
            <a:off x="4334256" y="3145536"/>
            <a:ext cx="1335024" cy="329184"/>
          </a:xfrm>
          <a:prstGeom prst="rect">
            <a:avLst/>
          </a:prstGeom>
          <a:solidFill>
            <a:srgbClr val="F8F8FC"/>
          </a:solidFill>
          <a:ln w="2540">
            <a:solidFill>
              <a:srgbClr val="E0E0E0"/>
            </a:solidFill>
            <a:prstDash val="solid"/>
          </a:ln>
        </p:spPr>
      </p:sp>
      <p:sp>
        <p:nvSpPr>
          <p:cNvPr id="31" name="Text 29"/>
          <p:cNvSpPr/>
          <p:nvPr/>
        </p:nvSpPr>
        <p:spPr>
          <a:xfrm>
            <a:off x="3328416" y="3182112"/>
            <a:ext cx="987552" cy="256032"/>
          </a:xfrm>
          <a:prstGeom prst="rect">
            <a:avLst/>
          </a:prstGeom>
          <a:noFill/>
          <a:ln/>
        </p:spPr>
        <p:txBody>
          <a:bodyPr wrap="square" rtlCol="0" anchor="ctr"/>
          <a:lstStyle/>
          <a:p>
            <a:pPr algn="ctr" indent="0" marL="0">
              <a:buNone/>
            </a:pPr>
            <a:r>
              <a:rPr lang="en-US" sz="1000" dirty="0">
                <a:solidFill>
                  <a:srgbClr val="4B5563"/>
                </a:solidFill>
                <a:latin typeface="Consolas" pitchFamily="34" charset="0"/>
                <a:ea typeface="Consolas" pitchFamily="34" charset="-122"/>
                <a:cs typeface="Consolas" pitchFamily="34" charset="-120"/>
              </a:rPr>
              <a:t>x = 2</a:t>
            </a:r>
            <a:endParaRPr lang="en-US" sz="1000" dirty="0"/>
          </a:p>
        </p:txBody>
      </p:sp>
      <p:sp>
        <p:nvSpPr>
          <p:cNvPr id="32" name="Text 30"/>
          <p:cNvSpPr/>
          <p:nvPr/>
        </p:nvSpPr>
        <p:spPr>
          <a:xfrm>
            <a:off x="4352544" y="3182112"/>
            <a:ext cx="1298448" cy="256032"/>
          </a:xfrm>
          <a:prstGeom prst="rect">
            <a:avLst/>
          </a:prstGeom>
          <a:noFill/>
          <a:ln/>
        </p:spPr>
        <p:txBody>
          <a:bodyPr wrap="square" rtlCol="0" anchor="ctr"/>
          <a:lstStyle/>
          <a:p>
            <a:pPr algn="ctr" indent="0" marL="0">
              <a:buNone/>
            </a:pPr>
            <a:r>
              <a:rPr lang="en-US" sz="1000" dirty="0">
                <a:solidFill>
                  <a:srgbClr val="4B5563"/>
                </a:solidFill>
                <a:latin typeface="Consolas" pitchFamily="34" charset="0"/>
                <a:ea typeface="Consolas" pitchFamily="34" charset="-122"/>
                <a:cs typeface="Consolas" pitchFamily="34" charset="-120"/>
              </a:rPr>
              <a:t>→ 7.389</a:t>
            </a:r>
            <a:endParaRPr lang="en-US" sz="1000" dirty="0"/>
          </a:p>
        </p:txBody>
      </p:sp>
      <p:sp>
        <p:nvSpPr>
          <p:cNvPr id="33" name="Shape 31"/>
          <p:cNvSpPr/>
          <p:nvPr/>
        </p:nvSpPr>
        <p:spPr>
          <a:xfrm>
            <a:off x="3310128" y="3474720"/>
            <a:ext cx="1024128" cy="329184"/>
          </a:xfrm>
          <a:prstGeom prst="rect">
            <a:avLst/>
          </a:prstGeom>
          <a:solidFill>
            <a:srgbClr val="EEEDFE"/>
          </a:solidFill>
          <a:ln w="2540">
            <a:solidFill>
              <a:srgbClr val="E0E0E0"/>
            </a:solidFill>
            <a:prstDash val="solid"/>
          </a:ln>
        </p:spPr>
      </p:sp>
      <p:sp>
        <p:nvSpPr>
          <p:cNvPr id="34" name="Shape 32"/>
          <p:cNvSpPr/>
          <p:nvPr/>
        </p:nvSpPr>
        <p:spPr>
          <a:xfrm>
            <a:off x="4334256" y="3474720"/>
            <a:ext cx="1335024" cy="329184"/>
          </a:xfrm>
          <a:prstGeom prst="rect">
            <a:avLst/>
          </a:prstGeom>
          <a:solidFill>
            <a:srgbClr val="EEEDFE"/>
          </a:solidFill>
          <a:ln w="2540">
            <a:solidFill>
              <a:srgbClr val="E0E0E0"/>
            </a:solidFill>
            <a:prstDash val="solid"/>
          </a:ln>
        </p:spPr>
      </p:sp>
      <p:sp>
        <p:nvSpPr>
          <p:cNvPr id="35" name="Text 33"/>
          <p:cNvSpPr/>
          <p:nvPr/>
        </p:nvSpPr>
        <p:spPr>
          <a:xfrm>
            <a:off x="3328416" y="3511296"/>
            <a:ext cx="987552" cy="256032"/>
          </a:xfrm>
          <a:prstGeom prst="rect">
            <a:avLst/>
          </a:prstGeom>
          <a:noFill/>
          <a:ln/>
        </p:spPr>
        <p:txBody>
          <a:bodyPr wrap="square" rtlCol="0" anchor="ctr"/>
          <a:lstStyle/>
          <a:p>
            <a:pPr algn="ctr" indent="0" marL="0">
              <a:buNone/>
            </a:pPr>
            <a:r>
              <a:rPr lang="en-US" sz="1000" b="1" dirty="0">
                <a:solidFill>
                  <a:srgbClr val="534AB7"/>
                </a:solidFill>
                <a:latin typeface="Consolas" pitchFamily="34" charset="0"/>
                <a:ea typeface="Consolas" pitchFamily="34" charset="-122"/>
                <a:cs typeface="Consolas" pitchFamily="34" charset="-120"/>
              </a:rPr>
              <a:t>x = 3</a:t>
            </a:r>
            <a:endParaRPr lang="en-US" sz="1000" dirty="0"/>
          </a:p>
        </p:txBody>
      </p:sp>
      <p:sp>
        <p:nvSpPr>
          <p:cNvPr id="36" name="Text 34"/>
          <p:cNvSpPr/>
          <p:nvPr/>
        </p:nvSpPr>
        <p:spPr>
          <a:xfrm>
            <a:off x="4352544" y="3511296"/>
            <a:ext cx="1298448" cy="256032"/>
          </a:xfrm>
          <a:prstGeom prst="rect">
            <a:avLst/>
          </a:prstGeom>
          <a:noFill/>
          <a:ln/>
        </p:spPr>
        <p:txBody>
          <a:bodyPr wrap="square" rtlCol="0" anchor="ctr"/>
          <a:lstStyle/>
          <a:p>
            <a:pPr algn="ctr" indent="0" marL="0">
              <a:buNone/>
            </a:pPr>
            <a:r>
              <a:rPr lang="en-US" sz="1000" b="1" dirty="0">
                <a:solidFill>
                  <a:srgbClr val="534AB7"/>
                </a:solidFill>
                <a:latin typeface="Consolas" pitchFamily="34" charset="0"/>
                <a:ea typeface="Consolas" pitchFamily="34" charset="-122"/>
                <a:cs typeface="Consolas" pitchFamily="34" charset="-120"/>
              </a:rPr>
              <a:t>→ 20.09</a:t>
            </a:r>
            <a:endParaRPr lang="en-US" sz="1000" dirty="0"/>
          </a:p>
        </p:txBody>
      </p:sp>
      <p:sp>
        <p:nvSpPr>
          <p:cNvPr id="37" name="Shape 35"/>
          <p:cNvSpPr/>
          <p:nvPr/>
        </p:nvSpPr>
        <p:spPr>
          <a:xfrm>
            <a:off x="3310128" y="3803904"/>
            <a:ext cx="1024128" cy="329184"/>
          </a:xfrm>
          <a:prstGeom prst="rect">
            <a:avLst/>
          </a:prstGeom>
          <a:solidFill>
            <a:srgbClr val="EEEDFE"/>
          </a:solidFill>
          <a:ln w="2540">
            <a:solidFill>
              <a:srgbClr val="E0E0E0"/>
            </a:solidFill>
            <a:prstDash val="solid"/>
          </a:ln>
        </p:spPr>
      </p:sp>
      <p:sp>
        <p:nvSpPr>
          <p:cNvPr id="38" name="Shape 36"/>
          <p:cNvSpPr/>
          <p:nvPr/>
        </p:nvSpPr>
        <p:spPr>
          <a:xfrm>
            <a:off x="4334256" y="3803904"/>
            <a:ext cx="1335024" cy="329184"/>
          </a:xfrm>
          <a:prstGeom prst="rect">
            <a:avLst/>
          </a:prstGeom>
          <a:solidFill>
            <a:srgbClr val="EEEDFE"/>
          </a:solidFill>
          <a:ln w="2540">
            <a:solidFill>
              <a:srgbClr val="E0E0E0"/>
            </a:solidFill>
            <a:prstDash val="solid"/>
          </a:ln>
        </p:spPr>
      </p:sp>
      <p:sp>
        <p:nvSpPr>
          <p:cNvPr id="39" name="Text 37"/>
          <p:cNvSpPr/>
          <p:nvPr/>
        </p:nvSpPr>
        <p:spPr>
          <a:xfrm>
            <a:off x="3328416" y="3840480"/>
            <a:ext cx="987552" cy="256032"/>
          </a:xfrm>
          <a:prstGeom prst="rect">
            <a:avLst/>
          </a:prstGeom>
          <a:noFill/>
          <a:ln/>
        </p:spPr>
        <p:txBody>
          <a:bodyPr wrap="square" rtlCol="0" anchor="ctr"/>
          <a:lstStyle/>
          <a:p>
            <a:pPr algn="ctr" indent="0" marL="0">
              <a:buNone/>
            </a:pPr>
            <a:r>
              <a:rPr lang="en-US" sz="1000" b="1" dirty="0">
                <a:solidFill>
                  <a:srgbClr val="534AB7"/>
                </a:solidFill>
                <a:latin typeface="Consolas" pitchFamily="34" charset="0"/>
                <a:ea typeface="Consolas" pitchFamily="34" charset="-122"/>
                <a:cs typeface="Consolas" pitchFamily="34" charset="-120"/>
              </a:rPr>
              <a:t>x = 5</a:t>
            </a:r>
            <a:endParaRPr lang="en-US" sz="1000" dirty="0"/>
          </a:p>
        </p:txBody>
      </p:sp>
      <p:sp>
        <p:nvSpPr>
          <p:cNvPr id="40" name="Text 38"/>
          <p:cNvSpPr/>
          <p:nvPr/>
        </p:nvSpPr>
        <p:spPr>
          <a:xfrm>
            <a:off x="4352544" y="3840480"/>
            <a:ext cx="1298448" cy="256032"/>
          </a:xfrm>
          <a:prstGeom prst="rect">
            <a:avLst/>
          </a:prstGeom>
          <a:noFill/>
          <a:ln/>
        </p:spPr>
        <p:txBody>
          <a:bodyPr wrap="square" rtlCol="0" anchor="ctr"/>
          <a:lstStyle/>
          <a:p>
            <a:pPr algn="ctr" indent="0" marL="0">
              <a:buNone/>
            </a:pPr>
            <a:r>
              <a:rPr lang="en-US" sz="1000" b="1" dirty="0">
                <a:solidFill>
                  <a:srgbClr val="534AB7"/>
                </a:solidFill>
                <a:latin typeface="Consolas" pitchFamily="34" charset="0"/>
                <a:ea typeface="Consolas" pitchFamily="34" charset="-122"/>
                <a:cs typeface="Consolas" pitchFamily="34" charset="-120"/>
              </a:rPr>
              <a:t>→ 148.4</a:t>
            </a:r>
            <a:endParaRPr lang="en-US" sz="1000" dirty="0"/>
          </a:p>
        </p:txBody>
      </p:sp>
      <p:sp>
        <p:nvSpPr>
          <p:cNvPr id="41" name="Shape 39"/>
          <p:cNvSpPr/>
          <p:nvPr/>
        </p:nvSpPr>
        <p:spPr>
          <a:xfrm>
            <a:off x="3310128" y="4133088"/>
            <a:ext cx="1024128" cy="329184"/>
          </a:xfrm>
          <a:prstGeom prst="rect">
            <a:avLst/>
          </a:prstGeom>
          <a:solidFill>
            <a:srgbClr val="EEEDFE"/>
          </a:solidFill>
          <a:ln w="2540">
            <a:solidFill>
              <a:srgbClr val="E0E0E0"/>
            </a:solidFill>
            <a:prstDash val="solid"/>
          </a:ln>
        </p:spPr>
      </p:sp>
      <p:sp>
        <p:nvSpPr>
          <p:cNvPr id="42" name="Shape 40"/>
          <p:cNvSpPr/>
          <p:nvPr/>
        </p:nvSpPr>
        <p:spPr>
          <a:xfrm>
            <a:off x="4334256" y="4133088"/>
            <a:ext cx="1335024" cy="329184"/>
          </a:xfrm>
          <a:prstGeom prst="rect">
            <a:avLst/>
          </a:prstGeom>
          <a:solidFill>
            <a:srgbClr val="EEEDFE"/>
          </a:solidFill>
          <a:ln w="2540">
            <a:solidFill>
              <a:srgbClr val="E0E0E0"/>
            </a:solidFill>
            <a:prstDash val="solid"/>
          </a:ln>
        </p:spPr>
      </p:sp>
      <p:sp>
        <p:nvSpPr>
          <p:cNvPr id="43" name="Text 41"/>
          <p:cNvSpPr/>
          <p:nvPr/>
        </p:nvSpPr>
        <p:spPr>
          <a:xfrm>
            <a:off x="3328416" y="4169664"/>
            <a:ext cx="987552" cy="256032"/>
          </a:xfrm>
          <a:prstGeom prst="rect">
            <a:avLst/>
          </a:prstGeom>
          <a:noFill/>
          <a:ln/>
        </p:spPr>
        <p:txBody>
          <a:bodyPr wrap="square" rtlCol="0" anchor="ctr"/>
          <a:lstStyle/>
          <a:p>
            <a:pPr algn="ctr" indent="0" marL="0">
              <a:buNone/>
            </a:pPr>
            <a:r>
              <a:rPr lang="en-US" sz="1000" b="1" dirty="0">
                <a:solidFill>
                  <a:srgbClr val="534AB7"/>
                </a:solidFill>
                <a:latin typeface="Consolas" pitchFamily="34" charset="0"/>
                <a:ea typeface="Consolas" pitchFamily="34" charset="-122"/>
                <a:cs typeface="Consolas" pitchFamily="34" charset="-120"/>
              </a:rPr>
              <a:t>x = 10</a:t>
            </a:r>
            <a:endParaRPr lang="en-US" sz="1000" dirty="0"/>
          </a:p>
        </p:txBody>
      </p:sp>
      <p:sp>
        <p:nvSpPr>
          <p:cNvPr id="44" name="Text 42"/>
          <p:cNvSpPr/>
          <p:nvPr/>
        </p:nvSpPr>
        <p:spPr>
          <a:xfrm>
            <a:off x="4352544" y="4169664"/>
            <a:ext cx="1298448" cy="256032"/>
          </a:xfrm>
          <a:prstGeom prst="rect">
            <a:avLst/>
          </a:prstGeom>
          <a:noFill/>
          <a:ln/>
        </p:spPr>
        <p:txBody>
          <a:bodyPr wrap="square" rtlCol="0" anchor="ctr"/>
          <a:lstStyle/>
          <a:p>
            <a:pPr algn="ctr" indent="0" marL="0">
              <a:buNone/>
            </a:pPr>
            <a:r>
              <a:rPr lang="en-US" sz="1000" b="1" dirty="0">
                <a:solidFill>
                  <a:srgbClr val="534AB7"/>
                </a:solidFill>
                <a:latin typeface="Consolas" pitchFamily="34" charset="0"/>
                <a:ea typeface="Consolas" pitchFamily="34" charset="-122"/>
                <a:cs typeface="Consolas" pitchFamily="34" charset="-120"/>
              </a:rPr>
              <a:t>→ 22,026</a:t>
            </a:r>
            <a:endParaRPr lang="en-US" sz="1000" dirty="0"/>
          </a:p>
        </p:txBody>
      </p:sp>
      <p:sp>
        <p:nvSpPr>
          <p:cNvPr id="45" name="Shape 43"/>
          <p:cNvSpPr/>
          <p:nvPr/>
        </p:nvSpPr>
        <p:spPr>
          <a:xfrm>
            <a:off x="5779008" y="1371600"/>
            <a:ext cx="2999232" cy="331012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46" name="Shape 44"/>
          <p:cNvSpPr/>
          <p:nvPr/>
        </p:nvSpPr>
        <p:spPr>
          <a:xfrm>
            <a:off x="5779008" y="1371600"/>
            <a:ext cx="45720" cy="3310128"/>
          </a:xfrm>
          <a:prstGeom prst="rect">
            <a:avLst/>
          </a:prstGeom>
          <a:solidFill>
            <a:srgbClr val="0F6E56"/>
          </a:solidFill>
          <a:ln w="12700">
            <a:solidFill>
              <a:srgbClr val="0F6E56"/>
            </a:solidFill>
            <a:prstDash val="solid"/>
          </a:ln>
        </p:spPr>
      </p:sp>
      <p:sp>
        <p:nvSpPr>
          <p:cNvPr id="47" name="Text 45"/>
          <p:cNvSpPr/>
          <p:nvPr/>
        </p:nvSpPr>
        <p:spPr>
          <a:xfrm>
            <a:off x="5925312" y="1426464"/>
            <a:ext cx="2706624" cy="329184"/>
          </a:xfrm>
          <a:prstGeom prst="rect">
            <a:avLst/>
          </a:prstGeom>
          <a:noFill/>
          <a:ln/>
        </p:spPr>
        <p:txBody>
          <a:bodyPr wrap="square" rtlCol="0" anchor="ctr"/>
          <a:lstStyle/>
          <a:p>
            <a:pPr indent="0" marL="0">
              <a:buNone/>
            </a:pPr>
            <a:r>
              <a:rPr lang="en-US" sz="1300" b="1" dirty="0">
                <a:solidFill>
                  <a:srgbClr val="0F6E56"/>
                </a:solidFill>
              </a:rPr>
              <a:t>スコア差 → 確率差</a:t>
            </a:r>
            <a:endParaRPr lang="en-US" sz="1300" dirty="0"/>
          </a:p>
        </p:txBody>
      </p:sp>
      <p:sp>
        <p:nvSpPr>
          <p:cNvPr id="48" name="Text 46"/>
          <p:cNvSpPr/>
          <p:nvPr/>
        </p:nvSpPr>
        <p:spPr>
          <a:xfrm>
            <a:off x="5925312" y="1810512"/>
            <a:ext cx="2706624" cy="237744"/>
          </a:xfrm>
          <a:prstGeom prst="rect">
            <a:avLst/>
          </a:prstGeom>
          <a:noFill/>
          <a:ln/>
        </p:spPr>
        <p:txBody>
          <a:bodyPr wrap="square" rtlCol="0" anchor="ctr"/>
          <a:lstStyle/>
          <a:p>
            <a:pPr indent="0" marL="0">
              <a:buNone/>
            </a:pPr>
            <a:r>
              <a:rPr lang="en-US" sz="1000" b="1" dirty="0">
                <a:solidFill>
                  <a:srgbClr val="0F6E56"/>
                </a:solidFill>
              </a:rPr>
              <a:t>スコア差 = 1</a:t>
            </a:r>
            <a:endParaRPr lang="en-US" sz="1000" dirty="0"/>
          </a:p>
        </p:txBody>
      </p:sp>
      <p:sp>
        <p:nvSpPr>
          <p:cNvPr id="49" name="Text 47"/>
          <p:cNvSpPr/>
          <p:nvPr/>
        </p:nvSpPr>
        <p:spPr>
          <a:xfrm>
            <a:off x="5925312" y="2048256"/>
            <a:ext cx="2706624" cy="256032"/>
          </a:xfrm>
          <a:prstGeom prst="rect">
            <a:avLst/>
          </a:prstGeom>
          <a:noFill/>
          <a:ln/>
        </p:spPr>
        <p:txBody>
          <a:bodyPr wrap="square" rtlCol="0" anchor="ctr"/>
          <a:lstStyle/>
          <a:p>
            <a:pPr algn="ctr" indent="0" marL="0">
              <a:buNone/>
            </a:pPr>
            <a:r>
              <a:rPr lang="en-US" sz="1000" dirty="0">
                <a:solidFill>
                  <a:srgbClr val="1F2937"/>
                </a:solidFill>
                <a:latin typeface="Consolas" pitchFamily="34" charset="0"/>
                <a:ea typeface="Consolas" pitchFamily="34" charset="-122"/>
                <a:cs typeface="Consolas" pitchFamily="34" charset="-120"/>
              </a:rPr>
              <a:t>e² = 7.4 vs e³ = 20</a:t>
            </a:r>
            <a:endParaRPr lang="en-US" sz="1000" dirty="0"/>
          </a:p>
        </p:txBody>
      </p:sp>
      <p:sp>
        <p:nvSpPr>
          <p:cNvPr id="50" name="Shape 48"/>
          <p:cNvSpPr/>
          <p:nvPr/>
        </p:nvSpPr>
        <p:spPr>
          <a:xfrm>
            <a:off x="6126480" y="2322576"/>
            <a:ext cx="2304288" cy="292608"/>
          </a:xfrm>
          <a:prstGeom prst="roundRect">
            <a:avLst>
              <a:gd name="adj" fmla="val 12500"/>
            </a:avLst>
          </a:prstGeom>
          <a:solidFill>
            <a:srgbClr val="E1F5EE"/>
          </a:solidFill>
          <a:ln w="5080">
            <a:solidFill>
              <a:srgbClr val="0F6E56"/>
            </a:solidFill>
            <a:prstDash val="solid"/>
          </a:ln>
        </p:spPr>
      </p:sp>
      <p:sp>
        <p:nvSpPr>
          <p:cNvPr id="51" name="Text 49"/>
          <p:cNvSpPr/>
          <p:nvPr/>
        </p:nvSpPr>
        <p:spPr>
          <a:xfrm>
            <a:off x="6126480" y="2322576"/>
            <a:ext cx="2304288" cy="292608"/>
          </a:xfrm>
          <a:prstGeom prst="rect">
            <a:avLst/>
          </a:prstGeom>
          <a:noFill/>
          <a:ln/>
        </p:spPr>
        <p:txBody>
          <a:bodyPr wrap="square" rtlCol="0" anchor="ctr"/>
          <a:lstStyle/>
          <a:p>
            <a:pPr algn="ctr" indent="0" marL="0">
              <a:buNone/>
            </a:pPr>
            <a:r>
              <a:rPr lang="en-US" sz="1100" b="1" dirty="0">
                <a:solidFill>
                  <a:srgbClr val="0F6E56"/>
                </a:solidFill>
              </a:rPr>
              <a:t>→ 2.7倍に開く！</a:t>
            </a:r>
            <a:endParaRPr lang="en-US" sz="1100" dirty="0"/>
          </a:p>
        </p:txBody>
      </p:sp>
      <p:sp>
        <p:nvSpPr>
          <p:cNvPr id="52" name="Text 50"/>
          <p:cNvSpPr/>
          <p:nvPr/>
        </p:nvSpPr>
        <p:spPr>
          <a:xfrm>
            <a:off x="5925312" y="2761488"/>
            <a:ext cx="2706624" cy="237744"/>
          </a:xfrm>
          <a:prstGeom prst="rect">
            <a:avLst/>
          </a:prstGeom>
          <a:noFill/>
          <a:ln/>
        </p:spPr>
        <p:txBody>
          <a:bodyPr wrap="square" rtlCol="0" anchor="ctr"/>
          <a:lstStyle/>
          <a:p>
            <a:pPr indent="0" marL="0">
              <a:buNone/>
            </a:pPr>
            <a:r>
              <a:rPr lang="en-US" sz="1000" b="1" dirty="0">
                <a:solidFill>
                  <a:srgbClr val="0F6E56"/>
                </a:solidFill>
              </a:rPr>
              <a:t>スコア差 = 3</a:t>
            </a:r>
            <a:endParaRPr lang="en-US" sz="1000" dirty="0"/>
          </a:p>
        </p:txBody>
      </p:sp>
      <p:sp>
        <p:nvSpPr>
          <p:cNvPr id="53" name="Text 51"/>
          <p:cNvSpPr/>
          <p:nvPr/>
        </p:nvSpPr>
        <p:spPr>
          <a:xfrm>
            <a:off x="5925312" y="2999232"/>
            <a:ext cx="2706624" cy="256032"/>
          </a:xfrm>
          <a:prstGeom prst="rect">
            <a:avLst/>
          </a:prstGeom>
          <a:noFill/>
          <a:ln/>
        </p:spPr>
        <p:txBody>
          <a:bodyPr wrap="square" rtlCol="0" anchor="ctr"/>
          <a:lstStyle/>
          <a:p>
            <a:pPr algn="ctr" indent="0" marL="0">
              <a:buNone/>
            </a:pPr>
            <a:r>
              <a:rPr lang="en-US" sz="1000" dirty="0">
                <a:solidFill>
                  <a:srgbClr val="1F2937"/>
                </a:solidFill>
                <a:latin typeface="Consolas" pitchFamily="34" charset="0"/>
                <a:ea typeface="Consolas" pitchFamily="34" charset="-122"/>
                <a:cs typeface="Consolas" pitchFamily="34" charset="-120"/>
              </a:rPr>
              <a:t>e² = 7.4 vs e⁵ = 148</a:t>
            </a:r>
            <a:endParaRPr lang="en-US" sz="1000" dirty="0"/>
          </a:p>
        </p:txBody>
      </p:sp>
      <p:sp>
        <p:nvSpPr>
          <p:cNvPr id="54" name="Shape 52"/>
          <p:cNvSpPr/>
          <p:nvPr/>
        </p:nvSpPr>
        <p:spPr>
          <a:xfrm>
            <a:off x="6126480" y="3273552"/>
            <a:ext cx="2304288" cy="292608"/>
          </a:xfrm>
          <a:prstGeom prst="roundRect">
            <a:avLst>
              <a:gd name="adj" fmla="val 12500"/>
            </a:avLst>
          </a:prstGeom>
          <a:solidFill>
            <a:srgbClr val="EEEDFE"/>
          </a:solidFill>
          <a:ln w="5080">
            <a:solidFill>
              <a:srgbClr val="534AB7"/>
            </a:solidFill>
            <a:prstDash val="solid"/>
          </a:ln>
        </p:spPr>
      </p:sp>
      <p:sp>
        <p:nvSpPr>
          <p:cNvPr id="55" name="Text 53"/>
          <p:cNvSpPr/>
          <p:nvPr/>
        </p:nvSpPr>
        <p:spPr>
          <a:xfrm>
            <a:off x="6126480" y="3273552"/>
            <a:ext cx="2304288" cy="292608"/>
          </a:xfrm>
          <a:prstGeom prst="rect">
            <a:avLst/>
          </a:prstGeom>
          <a:noFill/>
          <a:ln/>
        </p:spPr>
        <p:txBody>
          <a:bodyPr wrap="square" rtlCol="0" anchor="ctr"/>
          <a:lstStyle/>
          <a:p>
            <a:pPr algn="ctr" indent="0" marL="0">
              <a:buNone/>
            </a:pPr>
            <a:r>
              <a:rPr lang="en-US" sz="1100" b="1" dirty="0">
                <a:solidFill>
                  <a:srgbClr val="534AB7"/>
                </a:solidFill>
              </a:rPr>
              <a:t>→ 約20倍に開く！</a:t>
            </a:r>
            <a:endParaRPr lang="en-US" sz="1100" dirty="0"/>
          </a:p>
        </p:txBody>
      </p:sp>
      <p:sp>
        <p:nvSpPr>
          <p:cNvPr id="56" name="Text 54"/>
          <p:cNvSpPr/>
          <p:nvPr/>
        </p:nvSpPr>
        <p:spPr>
          <a:xfrm>
            <a:off x="5925312" y="3712464"/>
            <a:ext cx="2706624" cy="237744"/>
          </a:xfrm>
          <a:prstGeom prst="rect">
            <a:avLst/>
          </a:prstGeom>
          <a:noFill/>
          <a:ln/>
        </p:spPr>
        <p:txBody>
          <a:bodyPr wrap="square" rtlCol="0" anchor="ctr"/>
          <a:lstStyle/>
          <a:p>
            <a:pPr indent="0" marL="0">
              <a:buNone/>
            </a:pPr>
            <a:r>
              <a:rPr lang="en-US" sz="1000" b="1" dirty="0">
                <a:solidFill>
                  <a:srgbClr val="0F6E56"/>
                </a:solidFill>
              </a:rPr>
              <a:t>スコア差 = 5</a:t>
            </a:r>
            <a:endParaRPr lang="en-US" sz="1000" dirty="0"/>
          </a:p>
        </p:txBody>
      </p:sp>
      <p:sp>
        <p:nvSpPr>
          <p:cNvPr id="57" name="Text 55"/>
          <p:cNvSpPr/>
          <p:nvPr/>
        </p:nvSpPr>
        <p:spPr>
          <a:xfrm>
            <a:off x="5925312" y="3950208"/>
            <a:ext cx="2706624" cy="256032"/>
          </a:xfrm>
          <a:prstGeom prst="rect">
            <a:avLst/>
          </a:prstGeom>
          <a:noFill/>
          <a:ln/>
        </p:spPr>
        <p:txBody>
          <a:bodyPr wrap="square" rtlCol="0" anchor="ctr"/>
          <a:lstStyle/>
          <a:p>
            <a:pPr algn="ctr" indent="0" marL="0">
              <a:buNone/>
            </a:pPr>
            <a:r>
              <a:rPr lang="en-US" sz="1000" dirty="0">
                <a:solidFill>
                  <a:srgbClr val="1F2937"/>
                </a:solidFill>
                <a:latin typeface="Consolas" pitchFamily="34" charset="0"/>
                <a:ea typeface="Consolas" pitchFamily="34" charset="-122"/>
                <a:cs typeface="Consolas" pitchFamily="34" charset="-120"/>
              </a:rPr>
              <a:t>e³ = 20 vs e⁸ = 2981</a:t>
            </a:r>
            <a:endParaRPr lang="en-US" sz="1000" dirty="0"/>
          </a:p>
        </p:txBody>
      </p:sp>
      <p:sp>
        <p:nvSpPr>
          <p:cNvPr id="58" name="Shape 56"/>
          <p:cNvSpPr/>
          <p:nvPr/>
        </p:nvSpPr>
        <p:spPr>
          <a:xfrm>
            <a:off x="6126480" y="4224528"/>
            <a:ext cx="2304288" cy="292608"/>
          </a:xfrm>
          <a:prstGeom prst="roundRect">
            <a:avLst>
              <a:gd name="adj" fmla="val 12500"/>
            </a:avLst>
          </a:prstGeom>
          <a:solidFill>
            <a:srgbClr val="FAEEDA"/>
          </a:solidFill>
          <a:ln w="5080">
            <a:solidFill>
              <a:srgbClr val="BA7517"/>
            </a:solidFill>
            <a:prstDash val="solid"/>
          </a:ln>
        </p:spPr>
      </p:sp>
      <p:sp>
        <p:nvSpPr>
          <p:cNvPr id="59" name="Text 57"/>
          <p:cNvSpPr/>
          <p:nvPr/>
        </p:nvSpPr>
        <p:spPr>
          <a:xfrm>
            <a:off x="6126480" y="4224528"/>
            <a:ext cx="2304288" cy="292608"/>
          </a:xfrm>
          <a:prstGeom prst="rect">
            <a:avLst/>
          </a:prstGeom>
          <a:noFill/>
          <a:ln/>
        </p:spPr>
        <p:txBody>
          <a:bodyPr wrap="square" rtlCol="0" anchor="ctr"/>
          <a:lstStyle/>
          <a:p>
            <a:pPr algn="ctr" indent="0" marL="0">
              <a:buNone/>
            </a:pPr>
            <a:r>
              <a:rPr lang="en-US" sz="1100" b="1" dirty="0">
                <a:solidFill>
                  <a:srgbClr val="BA7517"/>
                </a:solidFill>
              </a:rPr>
              <a:t>→ 約150倍に開く！</a:t>
            </a:r>
            <a:endParaRPr lang="en-US" sz="1100" dirty="0"/>
          </a:p>
        </p:txBody>
      </p:sp>
      <p:sp>
        <p:nvSpPr>
          <p:cNvPr id="60" name="Shape 58"/>
          <p:cNvSpPr/>
          <p:nvPr/>
        </p:nvSpPr>
        <p:spPr>
          <a:xfrm>
            <a:off x="347472" y="4645152"/>
            <a:ext cx="8430768" cy="438912"/>
          </a:xfrm>
          <a:prstGeom prst="roundRect">
            <a:avLst>
              <a:gd name="adj" fmla="val 8333"/>
            </a:avLst>
          </a:prstGeom>
          <a:solidFill>
            <a:srgbClr val="1A1A2E"/>
          </a:solidFill>
          <a:ln w="6350">
            <a:solidFill>
              <a:srgbClr val="BA7517"/>
            </a:solidFill>
            <a:prstDash val="solid"/>
          </a:ln>
        </p:spPr>
      </p:sp>
      <p:sp>
        <p:nvSpPr>
          <p:cNvPr id="61" name="Text 59"/>
          <p:cNvSpPr/>
          <p:nvPr/>
        </p:nvSpPr>
        <p:spPr>
          <a:xfrm>
            <a:off x="502920" y="4663440"/>
            <a:ext cx="8229600" cy="384048"/>
          </a:xfrm>
          <a:prstGeom prst="rect">
            <a:avLst/>
          </a:prstGeom>
          <a:noFill/>
          <a:ln/>
        </p:spPr>
        <p:txBody>
          <a:bodyPr wrap="square" rtlCol="0" anchor="ctr"/>
          <a:lstStyle/>
          <a:p>
            <a:pPr indent="0" marL="0">
              <a:buNone/>
            </a:pPr>
            <a:r>
              <a:rPr lang="en-US" sz="1050" dirty="0">
                <a:solidFill>
                  <a:srgbClr val="A0A8C0"/>
                </a:solidFill>
              </a:rPr>
              <a:t xml:space="preserve">これが Softmax の力の源：  </a:t>
            </a:r>
            <a:pPr indent="0" marL="0">
              <a:buNone/>
            </a:pPr>
            <a:r>
              <a:rPr lang="en-US" sz="1050" b="1" dirty="0">
                <a:solidFill>
                  <a:srgbClr val="FFFFFF"/>
                </a:solidFill>
              </a:rPr>
              <a:t>スコアが少し違うだけで、exp を通すと確率差が劇的に開く → 重要な単語が注意を独占できる</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6 / 28</a:t>
            </a:r>
            <a:endParaRPr lang="en-US" sz="900" dirty="0"/>
          </a:p>
        </p:txBody>
      </p:sp>
      <p:sp>
        <p:nvSpPr>
          <p:cNvPr id="3" name="Shape 1"/>
          <p:cNvSpPr/>
          <p:nvPr/>
        </p:nvSpPr>
        <p:spPr>
          <a:xfrm>
            <a:off x="347472" y="274320"/>
            <a:ext cx="54864" cy="475488"/>
          </a:xfrm>
          <a:prstGeom prst="rect">
            <a:avLst/>
          </a:prstGeom>
          <a:solidFill>
            <a:srgbClr val="BA7517"/>
          </a:solidFill>
          <a:ln w="12700">
            <a:solidFill>
              <a:srgbClr val="BA7517"/>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exp(x) を使う「3つの数学的必然性」</a:t>
            </a:r>
            <a:endParaRPr lang="en-US" sz="2000" dirty="0"/>
          </a:p>
        </p:txBody>
      </p:sp>
      <p:sp>
        <p:nvSpPr>
          <p:cNvPr id="5" name="Text 3"/>
          <p:cNvSpPr/>
          <p:nvPr/>
        </p:nvSpPr>
        <p:spPr>
          <a:xfrm>
            <a:off x="347472" y="932688"/>
            <a:ext cx="8430768" cy="420624"/>
          </a:xfrm>
          <a:prstGeom prst="rect">
            <a:avLst/>
          </a:prstGeom>
          <a:noFill/>
          <a:ln/>
        </p:spPr>
        <p:txBody>
          <a:bodyPr wrap="square" rtlCol="0" anchor="ctr"/>
          <a:lstStyle/>
          <a:p>
            <a:pPr indent="0" marL="0">
              <a:buNone/>
            </a:pPr>
            <a:r>
              <a:rPr lang="en-US" sz="1100" i="1" dirty="0">
                <a:solidFill>
                  <a:srgbClr val="4B5563"/>
                </a:solidFill>
              </a:rPr>
              <a:t>単純に正の数にするだけなら |x| や x² でも良さそうに見える。しかし Transformer が exp(x) を採用しているのには、学習（逆伝播）において絶対に譲れない理由がある。</a:t>
            </a:r>
            <a:endParaRPr lang="en-US" sz="1100" dirty="0"/>
          </a:p>
        </p:txBody>
      </p:sp>
      <p:sp>
        <p:nvSpPr>
          <p:cNvPr id="6" name="Shape 4"/>
          <p:cNvSpPr/>
          <p:nvPr/>
        </p:nvSpPr>
        <p:spPr>
          <a:xfrm>
            <a:off x="347472" y="1371600"/>
            <a:ext cx="2706624" cy="331012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7" name="Shape 5"/>
          <p:cNvSpPr/>
          <p:nvPr/>
        </p:nvSpPr>
        <p:spPr>
          <a:xfrm>
            <a:off x="347472" y="1371600"/>
            <a:ext cx="45720" cy="3310128"/>
          </a:xfrm>
          <a:prstGeom prst="rect">
            <a:avLst/>
          </a:prstGeom>
          <a:solidFill>
            <a:srgbClr val="D85A30"/>
          </a:solidFill>
          <a:ln w="12700">
            <a:solidFill>
              <a:srgbClr val="D85A30"/>
            </a:solidFill>
            <a:prstDash val="solid"/>
          </a:ln>
        </p:spPr>
      </p:sp>
      <p:sp>
        <p:nvSpPr>
          <p:cNvPr id="8" name="Text 6"/>
          <p:cNvSpPr/>
          <p:nvPr/>
        </p:nvSpPr>
        <p:spPr>
          <a:xfrm>
            <a:off x="484632" y="1426464"/>
            <a:ext cx="2450592" cy="329184"/>
          </a:xfrm>
          <a:prstGeom prst="rect">
            <a:avLst/>
          </a:prstGeom>
          <a:noFill/>
          <a:ln/>
        </p:spPr>
        <p:txBody>
          <a:bodyPr wrap="square" rtlCol="0" anchor="ctr"/>
          <a:lstStyle/>
          <a:p>
            <a:pPr indent="0" marL="0">
              <a:buNone/>
            </a:pPr>
            <a:r>
              <a:rPr lang="en-US" sz="1150" b="1" dirty="0">
                <a:solidFill>
                  <a:srgbClr val="D85A30"/>
                </a:solidFill>
              </a:rPr>
              <a:t>① 負スコアを確率(0〜1)に変換</a:t>
            </a:r>
            <a:endParaRPr lang="en-US" sz="1150" dirty="0"/>
          </a:p>
        </p:txBody>
      </p:sp>
      <p:sp>
        <p:nvSpPr>
          <p:cNvPr id="9" name="Text 7"/>
          <p:cNvSpPr/>
          <p:nvPr/>
        </p:nvSpPr>
        <p:spPr>
          <a:xfrm>
            <a:off x="484632" y="1792224"/>
            <a:ext cx="2487168" cy="2779776"/>
          </a:xfrm>
          <a:prstGeom prst="rect">
            <a:avLst/>
          </a:prstGeom>
          <a:noFill/>
          <a:ln/>
        </p:spPr>
        <p:txBody>
          <a:bodyPr wrap="square" rtlCol="0" anchor="ctr"/>
          <a:lstStyle/>
          <a:p>
            <a:pPr indent="0" marL="0">
              <a:spcAft>
                <a:spcPts val="400"/>
              </a:spcAft>
              <a:buNone/>
            </a:pPr>
            <a:r>
              <a:rPr lang="en-US" sz="1050" dirty="0">
                <a:solidFill>
                  <a:srgbClr val="1F2937"/>
                </a:solidFill>
              </a:rPr>
              <a:t>Q·K の内積はマイナスになることがある（例: −5.0）。</a:t>
            </a:r>
            <a:endParaRPr lang="en-US" sz="1050" dirty="0"/>
          </a:p>
          <a:p>
            <a:pPr indent="0" marL="0">
              <a:spcAft>
                <a:spcPts val="400"/>
              </a:spcAft>
              <a:buNone/>
            </a:pPr>
            <a:endParaRPr lang="en-US" sz="1050" dirty="0"/>
          </a:p>
          <a:p>
            <a:pPr indent="0" marL="0">
              <a:spcAft>
                <a:spcPts val="400"/>
              </a:spcAft>
              <a:buNone/>
            </a:pPr>
            <a:r>
              <a:rPr lang="en-US" sz="1050" dirty="0">
                <a:solidFill>
                  <a:srgbClr val="1F2937"/>
                </a:solidFill>
              </a:rPr>
              <a:t>単純割合 xi/Σxj だと</a:t>
            </a:r>
            <a:endParaRPr lang="en-US" sz="1050" dirty="0"/>
          </a:p>
          <a:p>
            <a:pPr indent="0" marL="0">
              <a:spcAft>
                <a:spcPts val="400"/>
              </a:spcAft>
              <a:buNone/>
            </a:pPr>
            <a:r>
              <a:rPr lang="en-US" sz="1050" dirty="0">
                <a:solidFill>
                  <a:srgbClr val="1F2937"/>
                </a:solidFill>
              </a:rPr>
              <a:t>→ 確率がマイナスになり破綻</a:t>
            </a:r>
            <a:endParaRPr lang="en-US" sz="1050" dirty="0"/>
          </a:p>
          <a:p>
            <a:pPr indent="0" marL="0">
              <a:spcAft>
                <a:spcPts val="400"/>
              </a:spcAft>
              <a:buNone/>
            </a:pPr>
            <a:endParaRPr lang="en-US" sz="1050" dirty="0"/>
          </a:p>
          <a:p>
            <a:pPr indent="0" marL="0">
              <a:spcAft>
                <a:spcPts val="400"/>
              </a:spcAft>
              <a:buNone/>
            </a:pPr>
            <a:r>
              <a:rPr lang="en-US" sz="1050" dirty="0">
                <a:solidFill>
                  <a:srgbClr val="1F2937"/>
                </a:solidFill>
              </a:rPr>
              <a:t>exp(x) を使うと</a:t>
            </a:r>
            <a:endParaRPr lang="en-US" sz="1050" dirty="0"/>
          </a:p>
          <a:p>
            <a:pPr indent="0" marL="0">
              <a:spcAft>
                <a:spcPts val="400"/>
              </a:spcAft>
              <a:buNone/>
            </a:pPr>
            <a:r>
              <a:rPr lang="en-US" sz="1050" dirty="0">
                <a:solidFill>
                  <a:srgbClr val="1F2937"/>
                </a:solidFill>
              </a:rPr>
              <a:t>→ x がどんなに大きなマイナスでも必ず正</a:t>
            </a:r>
            <a:endParaRPr lang="en-US" sz="1050" dirty="0"/>
          </a:p>
          <a:p>
            <a:pPr indent="0" marL="0">
              <a:spcAft>
                <a:spcPts val="400"/>
              </a:spcAft>
              <a:buNone/>
            </a:pPr>
            <a:endParaRPr lang="en-US" sz="1050" dirty="0"/>
          </a:p>
          <a:p>
            <a:pPr indent="0" marL="0">
              <a:spcAft>
                <a:spcPts val="400"/>
              </a:spcAft>
              <a:buNone/>
            </a:pPr>
            <a:r>
              <a:rPr lang="en-US" sz="1050" dirty="0">
                <a:solidFill>
                  <a:srgbClr val="1F2937"/>
                </a:solidFill>
              </a:rPr>
              <a:t>例: e⁻⁵ ≈ 0.0067</a:t>
            </a:r>
            <a:endParaRPr lang="en-US" sz="1050" dirty="0"/>
          </a:p>
          <a:p>
            <a:pPr indent="0" marL="0">
              <a:spcAft>
                <a:spcPts val="400"/>
              </a:spcAft>
              <a:buNone/>
            </a:pPr>
            <a:endParaRPr lang="en-US" sz="1050" dirty="0"/>
          </a:p>
          <a:p>
            <a:pPr indent="0" marL="0">
              <a:spcAft>
                <a:spcPts val="400"/>
              </a:spcAft>
              <a:buNone/>
            </a:pPr>
            <a:r>
              <a:rPr lang="en-US" sz="1050" dirty="0">
                <a:solidFill>
                  <a:srgbClr val="1F2937"/>
                </a:solidFill>
              </a:rPr>
              <a:t>どんなスコアも 0〜1 の確率分布に収められる。</a:t>
            </a:r>
            <a:endParaRPr lang="en-US" sz="1050" dirty="0"/>
          </a:p>
        </p:txBody>
      </p:sp>
      <p:sp>
        <p:nvSpPr>
          <p:cNvPr id="10" name="Shape 8"/>
          <p:cNvSpPr/>
          <p:nvPr/>
        </p:nvSpPr>
        <p:spPr>
          <a:xfrm>
            <a:off x="3200400" y="1371600"/>
            <a:ext cx="2706624" cy="331012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11" name="Shape 9"/>
          <p:cNvSpPr/>
          <p:nvPr/>
        </p:nvSpPr>
        <p:spPr>
          <a:xfrm>
            <a:off x="3200400" y="1371600"/>
            <a:ext cx="45720" cy="3310128"/>
          </a:xfrm>
          <a:prstGeom prst="rect">
            <a:avLst/>
          </a:prstGeom>
          <a:solidFill>
            <a:srgbClr val="534AB7"/>
          </a:solidFill>
          <a:ln w="12700">
            <a:solidFill>
              <a:srgbClr val="534AB7"/>
            </a:solidFill>
            <a:prstDash val="solid"/>
          </a:ln>
        </p:spPr>
      </p:sp>
      <p:sp>
        <p:nvSpPr>
          <p:cNvPr id="12" name="Text 10"/>
          <p:cNvSpPr/>
          <p:nvPr/>
        </p:nvSpPr>
        <p:spPr>
          <a:xfrm>
            <a:off x="3337560" y="1426464"/>
            <a:ext cx="2450592" cy="329184"/>
          </a:xfrm>
          <a:prstGeom prst="rect">
            <a:avLst/>
          </a:prstGeom>
          <a:noFill/>
          <a:ln/>
        </p:spPr>
        <p:txBody>
          <a:bodyPr wrap="square" rtlCol="0" anchor="ctr"/>
          <a:lstStyle/>
          <a:p>
            <a:pPr indent="0" marL="0">
              <a:buNone/>
            </a:pPr>
            <a:r>
              <a:rPr lang="en-US" sz="1150" b="1" dirty="0">
                <a:solidFill>
                  <a:srgbClr val="534AB7"/>
                </a:solidFill>
              </a:rPr>
              <a:t>② |x| や x² ではダメな理由</a:t>
            </a:r>
            <a:endParaRPr lang="en-US" sz="1150" dirty="0"/>
          </a:p>
        </p:txBody>
      </p:sp>
      <p:sp>
        <p:nvSpPr>
          <p:cNvPr id="13" name="Text 11"/>
          <p:cNvSpPr/>
          <p:nvPr/>
        </p:nvSpPr>
        <p:spPr>
          <a:xfrm>
            <a:off x="3337560" y="1792224"/>
            <a:ext cx="2487168" cy="2779776"/>
          </a:xfrm>
          <a:prstGeom prst="rect">
            <a:avLst/>
          </a:prstGeom>
          <a:noFill/>
          <a:ln/>
        </p:spPr>
        <p:txBody>
          <a:bodyPr wrap="square" rtlCol="0" anchor="ctr"/>
          <a:lstStyle/>
          <a:p>
            <a:pPr indent="0" marL="0">
              <a:spcAft>
                <a:spcPts val="400"/>
              </a:spcAft>
              <a:buNone/>
            </a:pPr>
            <a:r>
              <a:rPr lang="en-US" sz="1050" dirty="0">
                <a:solidFill>
                  <a:srgbClr val="1F2937"/>
                </a:solidFill>
              </a:rPr>
              <a:t>絶対値 |x| の欠点</a:t>
            </a:r>
            <a:endParaRPr lang="en-US" sz="1050" dirty="0"/>
          </a:p>
          <a:p>
            <a:pPr indent="0" marL="0">
              <a:spcAft>
                <a:spcPts val="400"/>
              </a:spcAft>
              <a:buNone/>
            </a:pPr>
            <a:r>
              <a:rPr lang="en-US" sz="1050" dirty="0">
                <a:solidFill>
                  <a:srgbClr val="1F2937"/>
                </a:solidFill>
              </a:rPr>
              <a:t>→ x=0 で折れ曲がり微分不可。逆伝播に必要な「滑らかな勾配」が計算できない。</a:t>
            </a:r>
            <a:endParaRPr lang="en-US" sz="1050" dirty="0"/>
          </a:p>
          <a:p>
            <a:pPr indent="0" marL="0">
              <a:spcAft>
                <a:spcPts val="400"/>
              </a:spcAft>
              <a:buNone/>
            </a:pPr>
            <a:endParaRPr lang="en-US" sz="1050" dirty="0"/>
          </a:p>
          <a:p>
            <a:pPr indent="0" marL="0">
              <a:spcAft>
                <a:spcPts val="400"/>
              </a:spcAft>
              <a:buNone/>
            </a:pPr>
            <a:r>
              <a:rPr lang="en-US" sz="1050" dirty="0">
                <a:solidFill>
                  <a:srgbClr val="1F2937"/>
                </a:solidFill>
              </a:rPr>
              <a:t>2乗 x² の欠点</a:t>
            </a:r>
            <a:endParaRPr lang="en-US" sz="1050" dirty="0"/>
          </a:p>
          <a:p>
            <a:pPr indent="0" marL="0">
              <a:spcAft>
                <a:spcPts val="400"/>
              </a:spcAft>
              <a:buNone/>
            </a:pPr>
            <a:r>
              <a:rPr lang="en-US" sz="1050" dirty="0">
                <a:solidFill>
                  <a:srgbClr val="1F2937"/>
                </a:solidFill>
              </a:rPr>
              <a:t>→ x=−2 も x=2 も同じ「4」になり区別不可。</a:t>
            </a:r>
            <a:endParaRPr lang="en-US" sz="1050" dirty="0"/>
          </a:p>
          <a:p>
            <a:pPr indent="0" marL="0">
              <a:spcAft>
                <a:spcPts val="400"/>
              </a:spcAft>
              <a:buNone/>
            </a:pPr>
            <a:endParaRPr lang="en-US" sz="1050" dirty="0"/>
          </a:p>
          <a:p>
            <a:pPr indent="0" marL="0">
              <a:spcAft>
                <a:spcPts val="400"/>
              </a:spcAft>
              <a:buNone/>
            </a:pPr>
            <a:r>
              <a:rPr lang="en-US" sz="1050" dirty="0">
                <a:solidFill>
                  <a:srgbClr val="1F2937"/>
                </a:solidFill>
              </a:rPr>
              <a:t>結論：Transformer では通常 exp(x) を採用。Sparsemax・Entmax などの代替もあるが、滑らかな微分と負→正変換の両立から exp(x) が標準的に使われる。</a:t>
            </a:r>
            <a:endParaRPr lang="en-US" sz="1050" dirty="0"/>
          </a:p>
        </p:txBody>
      </p:sp>
      <p:sp>
        <p:nvSpPr>
          <p:cNvPr id="14" name="Shape 12"/>
          <p:cNvSpPr/>
          <p:nvPr/>
        </p:nvSpPr>
        <p:spPr>
          <a:xfrm>
            <a:off x="6053328" y="1371600"/>
            <a:ext cx="2724912" cy="331012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15" name="Shape 13"/>
          <p:cNvSpPr/>
          <p:nvPr/>
        </p:nvSpPr>
        <p:spPr>
          <a:xfrm>
            <a:off x="6053328" y="1371600"/>
            <a:ext cx="45720" cy="3310128"/>
          </a:xfrm>
          <a:prstGeom prst="rect">
            <a:avLst/>
          </a:prstGeom>
          <a:solidFill>
            <a:srgbClr val="0F6E56"/>
          </a:solidFill>
          <a:ln w="12700">
            <a:solidFill>
              <a:srgbClr val="0F6E56"/>
            </a:solidFill>
            <a:prstDash val="solid"/>
          </a:ln>
        </p:spPr>
      </p:sp>
      <p:sp>
        <p:nvSpPr>
          <p:cNvPr id="16" name="Text 14"/>
          <p:cNvSpPr/>
          <p:nvPr/>
        </p:nvSpPr>
        <p:spPr>
          <a:xfrm>
            <a:off x="6190488" y="1426464"/>
            <a:ext cx="2468880" cy="329184"/>
          </a:xfrm>
          <a:prstGeom prst="rect">
            <a:avLst/>
          </a:prstGeom>
          <a:noFill/>
          <a:ln/>
        </p:spPr>
        <p:txBody>
          <a:bodyPr wrap="square" rtlCol="0" anchor="ctr"/>
          <a:lstStyle/>
          <a:p>
            <a:pPr indent="0" marL="0">
              <a:buNone/>
            </a:pPr>
            <a:r>
              <a:rPr lang="en-US" sz="1150" b="1" dirty="0">
                <a:solidFill>
                  <a:srgbClr val="0F6E56"/>
                </a:solidFill>
              </a:rPr>
              <a:t>③ 小さな差を劇的に強調する</a:t>
            </a:r>
            <a:endParaRPr lang="en-US" sz="1150" dirty="0"/>
          </a:p>
        </p:txBody>
      </p:sp>
      <p:sp>
        <p:nvSpPr>
          <p:cNvPr id="17" name="Text 15"/>
          <p:cNvSpPr/>
          <p:nvPr/>
        </p:nvSpPr>
        <p:spPr>
          <a:xfrm>
            <a:off x="6190488" y="1792224"/>
            <a:ext cx="2505456" cy="2779776"/>
          </a:xfrm>
          <a:prstGeom prst="rect">
            <a:avLst/>
          </a:prstGeom>
          <a:noFill/>
          <a:ln/>
        </p:spPr>
        <p:txBody>
          <a:bodyPr wrap="square" rtlCol="0" anchor="ctr"/>
          <a:lstStyle/>
          <a:p>
            <a:pPr indent="0" marL="0">
              <a:spcAft>
                <a:spcPts val="400"/>
              </a:spcAft>
              <a:buNone/>
            </a:pPr>
            <a:r>
              <a:rPr lang="en-US" sz="1050" dirty="0">
                <a:solidFill>
                  <a:srgbClr val="1F2937"/>
                </a:solidFill>
              </a:rPr>
              <a:t>e ≈ 2.718 は指数的に増加。</a:t>
            </a:r>
            <a:endParaRPr lang="en-US" sz="1050" dirty="0"/>
          </a:p>
          <a:p>
            <a:pPr indent="0" marL="0">
              <a:spcAft>
                <a:spcPts val="400"/>
              </a:spcAft>
              <a:buNone/>
            </a:pPr>
            <a:endParaRPr lang="en-US" sz="1050" dirty="0"/>
          </a:p>
          <a:p>
            <a:pPr indent="0" marL="0">
              <a:spcAft>
                <a:spcPts val="400"/>
              </a:spcAft>
              <a:buNone/>
            </a:pPr>
            <a:r>
              <a:rPr lang="en-US" sz="1050" dirty="0">
                <a:solidFill>
                  <a:srgbClr val="1F2937"/>
                </a:solidFill>
              </a:rPr>
              <a:t>スコアが 1 増える → 約 2.7 倍</a:t>
            </a:r>
            <a:endParaRPr lang="en-US" sz="1050" dirty="0"/>
          </a:p>
          <a:p>
            <a:pPr indent="0" marL="0">
              <a:spcAft>
                <a:spcPts val="400"/>
              </a:spcAft>
              <a:buNone/>
            </a:pPr>
            <a:r>
              <a:rPr lang="en-US" sz="1050" dirty="0">
                <a:solidFill>
                  <a:srgbClr val="1F2937"/>
                </a:solidFill>
              </a:rPr>
              <a:t>スコアが 2 増える → 約 7.4 倍</a:t>
            </a:r>
            <a:endParaRPr lang="en-US" sz="1050" dirty="0"/>
          </a:p>
          <a:p>
            <a:pPr indent="0" marL="0">
              <a:spcAft>
                <a:spcPts val="400"/>
              </a:spcAft>
              <a:buNone/>
            </a:pPr>
            <a:endParaRPr lang="en-US" sz="1050" dirty="0"/>
          </a:p>
          <a:p>
            <a:pPr indent="0" marL="0">
              <a:spcAft>
                <a:spcPts val="400"/>
              </a:spcAft>
              <a:buNone/>
            </a:pPr>
            <a:r>
              <a:rPr lang="en-US" sz="1050" dirty="0">
                <a:solidFill>
                  <a:srgbClr val="1F2937"/>
                </a:solidFill>
              </a:rPr>
              <a:t>スコア差が「3」だけでも</a:t>
            </a:r>
            <a:endParaRPr lang="en-US" sz="1050" dirty="0"/>
          </a:p>
          <a:p>
            <a:pPr indent="0" marL="0">
              <a:spcAft>
                <a:spcPts val="400"/>
              </a:spcAft>
              <a:buNone/>
            </a:pPr>
            <a:r>
              <a:rPr lang="en-US" sz="1050" dirty="0">
                <a:solidFill>
                  <a:srgbClr val="1F2937"/>
                </a:solidFill>
              </a:rPr>
              <a:t>→ exp を通すと約 20 倍に開く</a:t>
            </a:r>
            <a:endParaRPr lang="en-US" sz="1050" dirty="0"/>
          </a:p>
          <a:p>
            <a:pPr indent="0" marL="0">
              <a:spcAft>
                <a:spcPts val="400"/>
              </a:spcAft>
              <a:buNone/>
            </a:pPr>
            <a:endParaRPr lang="en-US" sz="1050" dirty="0"/>
          </a:p>
          <a:p>
            <a:pPr indent="0" marL="0">
              <a:spcAft>
                <a:spcPts val="400"/>
              </a:spcAft>
              <a:buNone/>
            </a:pPr>
            <a:r>
              <a:rPr lang="en-US" sz="1050" dirty="0">
                <a:solidFill>
                  <a:srgbClr val="1F2937"/>
                </a:solidFill>
              </a:rPr>
              <a:t>この差の拡大があるから Softmax 後に最も関連性の高い単語が 90% 以上の注意を独占できる。</a:t>
            </a:r>
            <a:endParaRPr lang="en-US" sz="1050" dirty="0"/>
          </a:p>
        </p:txBody>
      </p:sp>
      <p:sp>
        <p:nvSpPr>
          <p:cNvPr id="18" name="Shape 16"/>
          <p:cNvSpPr/>
          <p:nvPr/>
        </p:nvSpPr>
        <p:spPr>
          <a:xfrm>
            <a:off x="347472" y="4736592"/>
            <a:ext cx="8430768" cy="384048"/>
          </a:xfrm>
          <a:prstGeom prst="roundRect">
            <a:avLst>
              <a:gd name="adj" fmla="val 9524"/>
            </a:avLst>
          </a:prstGeom>
          <a:solidFill>
            <a:srgbClr val="1A1A2E"/>
          </a:solidFill>
          <a:ln w="6350">
            <a:solidFill>
              <a:srgbClr val="BA7517"/>
            </a:solidFill>
            <a:prstDash val="solid"/>
          </a:ln>
        </p:spPr>
      </p:sp>
      <p:sp>
        <p:nvSpPr>
          <p:cNvPr id="19" name="Text 17"/>
          <p:cNvSpPr/>
          <p:nvPr/>
        </p:nvSpPr>
        <p:spPr>
          <a:xfrm>
            <a:off x="502920" y="4764024"/>
            <a:ext cx="8229600" cy="320040"/>
          </a:xfrm>
          <a:prstGeom prst="rect">
            <a:avLst/>
          </a:prstGeom>
          <a:noFill/>
          <a:ln/>
        </p:spPr>
        <p:txBody>
          <a:bodyPr wrap="square" rtlCol="0" anchor="ctr"/>
          <a:lstStyle/>
          <a:p>
            <a:pPr indent="0" marL="0">
              <a:buNone/>
            </a:pPr>
            <a:r>
              <a:rPr lang="en-US" sz="1050" dirty="0">
                <a:solidFill>
                  <a:srgbClr val="A0A8C0"/>
                </a:solidFill>
              </a:rPr>
              <a:t xml:space="preserve">exp 変換の例：  </a:t>
            </a:r>
            <a:pPr indent="0" marL="0">
              <a:buNone/>
            </a:pPr>
            <a:r>
              <a:rPr lang="en-US" sz="1050" b="1" dirty="0">
                <a:solidFill>
                  <a:srgbClr val="D85A30"/>
                </a:solidFill>
              </a:rPr>
              <a:t>x=−5 → 0.007　</a:t>
            </a:r>
            <a:pPr indent="0" marL="0">
              <a:buNone/>
            </a:pPr>
            <a:r>
              <a:rPr lang="en-US" sz="1050" b="1" dirty="0">
                <a:solidFill>
                  <a:srgbClr val="6B7280"/>
                </a:solidFill>
              </a:rPr>
              <a:t>x=0 → 1.0　</a:t>
            </a:r>
            <a:pPr indent="0" marL="0">
              <a:buNone/>
            </a:pPr>
            <a:r>
              <a:rPr lang="en-US" sz="1050" b="1" dirty="0">
                <a:solidFill>
                  <a:srgbClr val="0F6E56"/>
                </a:solidFill>
              </a:rPr>
              <a:t>x=2 → 7.4　</a:t>
            </a:r>
            <a:pPr indent="0" marL="0">
              <a:buNone/>
            </a:pPr>
            <a:r>
              <a:rPr lang="en-US" sz="1050" b="1" dirty="0">
                <a:solidFill>
                  <a:srgbClr val="534AB7"/>
                </a:solidFill>
              </a:rPr>
              <a:t>x=5 → 148　</a:t>
            </a:r>
            <a:pPr indent="0" marL="0">
              <a:buNone/>
            </a:pPr>
            <a:r>
              <a:rPr lang="en-US" sz="1050" b="1" dirty="0">
                <a:solidFill>
                  <a:srgbClr val="BA7517"/>
                </a:solidFill>
              </a:rPr>
              <a:t>x=10 → 22026　</a:t>
            </a:r>
            <a:pPr indent="0" marL="0">
              <a:buNone/>
            </a:pPr>
            <a:r>
              <a:rPr lang="en-US" sz="1050" dirty="0">
                <a:solidFill>
                  <a:srgbClr val="A0A8C0"/>
                </a:solidFill>
              </a:rPr>
              <a:t>← スコア差10で300万倍以上の差になる</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7 / 28</a:t>
            </a:r>
            <a:endParaRPr lang="en-US" sz="900" dirty="0"/>
          </a:p>
        </p:txBody>
      </p:sp>
      <p:sp>
        <p:nvSpPr>
          <p:cNvPr id="3" name="Shape 1"/>
          <p:cNvSpPr/>
          <p:nvPr/>
        </p:nvSpPr>
        <p:spPr>
          <a:xfrm>
            <a:off x="347472" y="274320"/>
            <a:ext cx="54864" cy="475488"/>
          </a:xfrm>
          <a:prstGeom prst="rect">
            <a:avLst/>
          </a:prstGeom>
          <a:solidFill>
            <a:srgbClr val="BA7517"/>
          </a:solidFill>
          <a:ln w="12700">
            <a:solidFill>
              <a:srgbClr val="BA7517"/>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Softmax — 注意を「確率」に変える</a:t>
            </a:r>
            <a:endParaRPr lang="en-US" sz="2000" dirty="0"/>
          </a:p>
        </p:txBody>
      </p:sp>
      <p:sp>
        <p:nvSpPr>
          <p:cNvPr id="5" name="Shape 3"/>
          <p:cNvSpPr/>
          <p:nvPr/>
        </p:nvSpPr>
        <p:spPr>
          <a:xfrm>
            <a:off x="347472" y="932688"/>
            <a:ext cx="8430768" cy="640080"/>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6" name="Shape 4"/>
          <p:cNvSpPr/>
          <p:nvPr/>
        </p:nvSpPr>
        <p:spPr>
          <a:xfrm>
            <a:off x="347472" y="932688"/>
            <a:ext cx="45720" cy="640080"/>
          </a:xfrm>
          <a:prstGeom prst="rect">
            <a:avLst/>
          </a:prstGeom>
          <a:solidFill>
            <a:srgbClr val="BA7517"/>
          </a:solidFill>
          <a:ln w="12700">
            <a:solidFill>
              <a:srgbClr val="BA7517"/>
            </a:solidFill>
            <a:prstDash val="solid"/>
          </a:ln>
        </p:spPr>
      </p:sp>
      <p:sp>
        <p:nvSpPr>
          <p:cNvPr id="7" name="Text 5"/>
          <p:cNvSpPr/>
          <p:nvPr/>
        </p:nvSpPr>
        <p:spPr>
          <a:xfrm>
            <a:off x="502920" y="987552"/>
            <a:ext cx="8229600" cy="512064"/>
          </a:xfrm>
          <a:prstGeom prst="rect">
            <a:avLst/>
          </a:prstGeom>
          <a:noFill/>
          <a:ln/>
        </p:spPr>
        <p:txBody>
          <a:bodyPr wrap="square" rtlCol="0" anchor="ctr"/>
          <a:lstStyle/>
          <a:p>
            <a:pPr algn="ctr" indent="0" marL="0">
              <a:buNone/>
            </a:pPr>
            <a:r>
              <a:rPr lang="en-US" sz="1700" b="1" dirty="0">
                <a:solidFill>
                  <a:srgbClr val="BA7517"/>
                </a:solidFill>
                <a:latin typeface="Consolas" pitchFamily="34" charset="0"/>
                <a:ea typeface="Consolas" pitchFamily="34" charset="-122"/>
                <a:cs typeface="Consolas" pitchFamily="34" charset="-120"/>
              </a:rPr>
              <a:t>softmax(xᵢ) = exp(xᵢ) / Σⱼ exp(xⱼ)</a:t>
            </a:r>
            <a:endParaRPr lang="en-US" sz="1700" dirty="0"/>
          </a:p>
        </p:txBody>
      </p:sp>
      <p:sp>
        <p:nvSpPr>
          <p:cNvPr id="8" name="Shape 6"/>
          <p:cNvSpPr/>
          <p:nvPr/>
        </p:nvSpPr>
        <p:spPr>
          <a:xfrm>
            <a:off x="347472" y="1719072"/>
            <a:ext cx="2724912" cy="144475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9" name="Shape 7"/>
          <p:cNvSpPr/>
          <p:nvPr/>
        </p:nvSpPr>
        <p:spPr>
          <a:xfrm>
            <a:off x="347472" y="1719072"/>
            <a:ext cx="45720" cy="1444752"/>
          </a:xfrm>
          <a:prstGeom prst="rect">
            <a:avLst/>
          </a:prstGeom>
          <a:solidFill>
            <a:srgbClr val="0F6E56"/>
          </a:solidFill>
          <a:ln w="12700">
            <a:solidFill>
              <a:srgbClr val="0F6E56"/>
            </a:solidFill>
            <a:prstDash val="solid"/>
          </a:ln>
        </p:spPr>
      </p:sp>
      <p:sp>
        <p:nvSpPr>
          <p:cNvPr id="10" name="Text 8"/>
          <p:cNvSpPr/>
          <p:nvPr/>
        </p:nvSpPr>
        <p:spPr>
          <a:xfrm>
            <a:off x="438912" y="1773936"/>
            <a:ext cx="420624" cy="384048"/>
          </a:xfrm>
          <a:prstGeom prst="rect">
            <a:avLst/>
          </a:prstGeom>
          <a:noFill/>
          <a:ln/>
        </p:spPr>
        <p:txBody>
          <a:bodyPr wrap="square" rtlCol="0" anchor="ctr"/>
          <a:lstStyle/>
          <a:p>
            <a:pPr indent="0" marL="0">
              <a:buNone/>
            </a:pPr>
            <a:r>
              <a:rPr lang="en-US" sz="1800" b="1" dirty="0">
                <a:solidFill>
                  <a:srgbClr val="0F6E56"/>
                </a:solidFill>
              </a:rPr>
              <a:t>①</a:t>
            </a:r>
            <a:endParaRPr lang="en-US" sz="1800" dirty="0"/>
          </a:p>
        </p:txBody>
      </p:sp>
      <p:sp>
        <p:nvSpPr>
          <p:cNvPr id="11" name="Text 9"/>
          <p:cNvSpPr/>
          <p:nvPr/>
        </p:nvSpPr>
        <p:spPr>
          <a:xfrm>
            <a:off x="877824" y="1773936"/>
            <a:ext cx="2057400" cy="384048"/>
          </a:xfrm>
          <a:prstGeom prst="rect">
            <a:avLst/>
          </a:prstGeom>
          <a:noFill/>
          <a:ln/>
        </p:spPr>
        <p:txBody>
          <a:bodyPr wrap="square" rtlCol="0" anchor="ctr"/>
          <a:lstStyle/>
          <a:p>
            <a:pPr indent="0" marL="0">
              <a:buNone/>
            </a:pPr>
            <a:r>
              <a:rPr lang="en-US" sz="1300" b="1" dirty="0">
                <a:solidFill>
                  <a:srgbClr val="0F6E56"/>
                </a:solidFill>
              </a:rPr>
              <a:t>常に正</a:t>
            </a:r>
            <a:endParaRPr lang="en-US" sz="1300" dirty="0"/>
          </a:p>
        </p:txBody>
      </p:sp>
      <p:sp>
        <p:nvSpPr>
          <p:cNvPr id="12" name="Text 10"/>
          <p:cNvSpPr/>
          <p:nvPr/>
        </p:nvSpPr>
        <p:spPr>
          <a:xfrm>
            <a:off x="438912" y="2194560"/>
            <a:ext cx="2542032" cy="896112"/>
          </a:xfrm>
          <a:prstGeom prst="rect">
            <a:avLst/>
          </a:prstGeom>
          <a:noFill/>
          <a:ln/>
        </p:spPr>
        <p:txBody>
          <a:bodyPr wrap="square" rtlCol="0" anchor="ctr"/>
          <a:lstStyle/>
          <a:p>
            <a:pPr indent="0" marL="0">
              <a:spcAft>
                <a:spcPts val="400"/>
              </a:spcAft>
              <a:buNone/>
            </a:pPr>
            <a:r>
              <a:rPr lang="en-US" sz="1100" dirty="0">
                <a:solidFill>
                  <a:srgbClr val="1F2937"/>
                </a:solidFill>
              </a:rPr>
              <a:t>exp(x) は x がどんな値でも必ず正</a:t>
            </a:r>
            <a:endParaRPr lang="en-US" sz="1100" dirty="0"/>
          </a:p>
          <a:p>
            <a:pPr indent="0" marL="0">
              <a:spcAft>
                <a:spcPts val="400"/>
              </a:spcAft>
              <a:buNone/>
            </a:pPr>
            <a:r>
              <a:rPr lang="en-US" sz="1100" dirty="0">
                <a:solidFill>
                  <a:srgbClr val="1F2937"/>
                </a:solidFill>
              </a:rPr>
              <a:t>→ 負の重みにならない</a:t>
            </a:r>
            <a:endParaRPr lang="en-US" sz="1100" dirty="0"/>
          </a:p>
        </p:txBody>
      </p:sp>
      <p:sp>
        <p:nvSpPr>
          <p:cNvPr id="13" name="Shape 11"/>
          <p:cNvSpPr/>
          <p:nvPr/>
        </p:nvSpPr>
        <p:spPr>
          <a:xfrm>
            <a:off x="3218688" y="1719072"/>
            <a:ext cx="2724912" cy="144475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14" name="Shape 12"/>
          <p:cNvSpPr/>
          <p:nvPr/>
        </p:nvSpPr>
        <p:spPr>
          <a:xfrm>
            <a:off x="3218688" y="1719072"/>
            <a:ext cx="45720" cy="1444752"/>
          </a:xfrm>
          <a:prstGeom prst="rect">
            <a:avLst/>
          </a:prstGeom>
          <a:solidFill>
            <a:srgbClr val="BA7517"/>
          </a:solidFill>
          <a:ln w="12700">
            <a:solidFill>
              <a:srgbClr val="BA7517"/>
            </a:solidFill>
            <a:prstDash val="solid"/>
          </a:ln>
        </p:spPr>
      </p:sp>
      <p:sp>
        <p:nvSpPr>
          <p:cNvPr id="15" name="Text 13"/>
          <p:cNvSpPr/>
          <p:nvPr/>
        </p:nvSpPr>
        <p:spPr>
          <a:xfrm>
            <a:off x="3310128" y="1773936"/>
            <a:ext cx="420624" cy="384048"/>
          </a:xfrm>
          <a:prstGeom prst="rect">
            <a:avLst/>
          </a:prstGeom>
          <a:noFill/>
          <a:ln/>
        </p:spPr>
        <p:txBody>
          <a:bodyPr wrap="square" rtlCol="0" anchor="ctr"/>
          <a:lstStyle/>
          <a:p>
            <a:pPr indent="0" marL="0">
              <a:buNone/>
            </a:pPr>
            <a:r>
              <a:rPr lang="en-US" sz="1800" b="1" dirty="0">
                <a:solidFill>
                  <a:srgbClr val="BA7517"/>
                </a:solidFill>
              </a:rPr>
              <a:t>②</a:t>
            </a:r>
            <a:endParaRPr lang="en-US" sz="1800" dirty="0"/>
          </a:p>
        </p:txBody>
      </p:sp>
      <p:sp>
        <p:nvSpPr>
          <p:cNvPr id="16" name="Text 14"/>
          <p:cNvSpPr/>
          <p:nvPr/>
        </p:nvSpPr>
        <p:spPr>
          <a:xfrm>
            <a:off x="3749040" y="1773936"/>
            <a:ext cx="2057400" cy="384048"/>
          </a:xfrm>
          <a:prstGeom prst="rect">
            <a:avLst/>
          </a:prstGeom>
          <a:noFill/>
          <a:ln/>
        </p:spPr>
        <p:txBody>
          <a:bodyPr wrap="square" rtlCol="0" anchor="ctr"/>
          <a:lstStyle/>
          <a:p>
            <a:pPr indent="0" marL="0">
              <a:buNone/>
            </a:pPr>
            <a:r>
              <a:rPr lang="en-US" sz="1300" b="1" dirty="0">
                <a:solidFill>
                  <a:srgbClr val="BA7517"/>
                </a:solidFill>
              </a:rPr>
              <a:t>差を強調</a:t>
            </a:r>
            <a:endParaRPr lang="en-US" sz="1300" dirty="0"/>
          </a:p>
        </p:txBody>
      </p:sp>
      <p:sp>
        <p:nvSpPr>
          <p:cNvPr id="17" name="Text 15"/>
          <p:cNvSpPr/>
          <p:nvPr/>
        </p:nvSpPr>
        <p:spPr>
          <a:xfrm>
            <a:off x="3310128" y="2194560"/>
            <a:ext cx="2542032" cy="896112"/>
          </a:xfrm>
          <a:prstGeom prst="rect">
            <a:avLst/>
          </a:prstGeom>
          <a:noFill/>
          <a:ln/>
        </p:spPr>
        <p:txBody>
          <a:bodyPr wrap="square" rtlCol="0" anchor="ctr"/>
          <a:lstStyle/>
          <a:p>
            <a:pPr indent="0" marL="0">
              <a:spcAft>
                <a:spcPts val="400"/>
              </a:spcAft>
              <a:buNone/>
            </a:pPr>
            <a:r>
              <a:rPr lang="en-US" sz="1100" dirty="0">
                <a:solidFill>
                  <a:srgbClr val="1F2937"/>
                </a:solidFill>
              </a:rPr>
              <a:t>指数関数で差を拡大</a:t>
            </a:r>
            <a:endParaRPr lang="en-US" sz="1100" dirty="0"/>
          </a:p>
          <a:p>
            <a:pPr indent="0" marL="0">
              <a:spcAft>
                <a:spcPts val="400"/>
              </a:spcAft>
              <a:buNone/>
            </a:pPr>
            <a:r>
              <a:rPr lang="en-US" sz="1100" dirty="0">
                <a:solidFill>
                  <a:srgbClr val="1F2937"/>
                </a:solidFill>
              </a:rPr>
              <a:t>→ 最重要単語が注意を独占</a:t>
            </a:r>
            <a:endParaRPr lang="en-US" sz="1100" dirty="0"/>
          </a:p>
        </p:txBody>
      </p:sp>
      <p:sp>
        <p:nvSpPr>
          <p:cNvPr id="18" name="Shape 16"/>
          <p:cNvSpPr/>
          <p:nvPr/>
        </p:nvSpPr>
        <p:spPr>
          <a:xfrm>
            <a:off x="6089904" y="1719072"/>
            <a:ext cx="2724912" cy="144475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19" name="Shape 17"/>
          <p:cNvSpPr/>
          <p:nvPr/>
        </p:nvSpPr>
        <p:spPr>
          <a:xfrm>
            <a:off x="6089904" y="1719072"/>
            <a:ext cx="45720" cy="1444752"/>
          </a:xfrm>
          <a:prstGeom prst="rect">
            <a:avLst/>
          </a:prstGeom>
          <a:solidFill>
            <a:srgbClr val="534AB7"/>
          </a:solidFill>
          <a:ln w="12700">
            <a:solidFill>
              <a:srgbClr val="534AB7"/>
            </a:solidFill>
            <a:prstDash val="solid"/>
          </a:ln>
        </p:spPr>
      </p:sp>
      <p:sp>
        <p:nvSpPr>
          <p:cNvPr id="20" name="Text 18"/>
          <p:cNvSpPr/>
          <p:nvPr/>
        </p:nvSpPr>
        <p:spPr>
          <a:xfrm>
            <a:off x="6181344" y="1773936"/>
            <a:ext cx="420624" cy="384048"/>
          </a:xfrm>
          <a:prstGeom prst="rect">
            <a:avLst/>
          </a:prstGeom>
          <a:noFill/>
          <a:ln/>
        </p:spPr>
        <p:txBody>
          <a:bodyPr wrap="square" rtlCol="0" anchor="ctr"/>
          <a:lstStyle/>
          <a:p>
            <a:pPr indent="0" marL="0">
              <a:buNone/>
            </a:pPr>
            <a:r>
              <a:rPr lang="en-US" sz="1800" b="1" dirty="0">
                <a:solidFill>
                  <a:srgbClr val="534AB7"/>
                </a:solidFill>
              </a:rPr>
              <a:t>③</a:t>
            </a:r>
            <a:endParaRPr lang="en-US" sz="1800" dirty="0"/>
          </a:p>
        </p:txBody>
      </p:sp>
      <p:sp>
        <p:nvSpPr>
          <p:cNvPr id="21" name="Text 19"/>
          <p:cNvSpPr/>
          <p:nvPr/>
        </p:nvSpPr>
        <p:spPr>
          <a:xfrm>
            <a:off x="6620256" y="1773936"/>
            <a:ext cx="2057400" cy="384048"/>
          </a:xfrm>
          <a:prstGeom prst="rect">
            <a:avLst/>
          </a:prstGeom>
          <a:noFill/>
          <a:ln/>
        </p:spPr>
        <p:txBody>
          <a:bodyPr wrap="square" rtlCol="0" anchor="ctr"/>
          <a:lstStyle/>
          <a:p>
            <a:pPr indent="0" marL="0">
              <a:buNone/>
            </a:pPr>
            <a:r>
              <a:rPr lang="en-US" sz="1300" b="1" dirty="0">
                <a:solidFill>
                  <a:srgbClr val="534AB7"/>
                </a:solidFill>
              </a:rPr>
              <a:t>合計 = 1</a:t>
            </a:r>
            <a:endParaRPr lang="en-US" sz="1300" dirty="0"/>
          </a:p>
        </p:txBody>
      </p:sp>
      <p:sp>
        <p:nvSpPr>
          <p:cNvPr id="22" name="Text 20"/>
          <p:cNvSpPr/>
          <p:nvPr/>
        </p:nvSpPr>
        <p:spPr>
          <a:xfrm>
            <a:off x="6181344" y="2194560"/>
            <a:ext cx="2542032" cy="896112"/>
          </a:xfrm>
          <a:prstGeom prst="rect">
            <a:avLst/>
          </a:prstGeom>
          <a:noFill/>
          <a:ln/>
        </p:spPr>
        <p:txBody>
          <a:bodyPr wrap="square" rtlCol="0" anchor="ctr"/>
          <a:lstStyle/>
          <a:p>
            <a:pPr indent="0" marL="0">
              <a:spcAft>
                <a:spcPts val="400"/>
              </a:spcAft>
              <a:buNone/>
            </a:pPr>
            <a:r>
              <a:rPr lang="en-US" sz="1100" dirty="0">
                <a:solidFill>
                  <a:srgbClr val="1F2937"/>
                </a:solidFill>
              </a:rPr>
              <a:t>合計で割ることで確率分布</a:t>
            </a:r>
            <a:endParaRPr lang="en-US" sz="1100" dirty="0"/>
          </a:p>
          <a:p>
            <a:pPr indent="0" marL="0">
              <a:spcAft>
                <a:spcPts val="400"/>
              </a:spcAft>
              <a:buNone/>
            </a:pPr>
            <a:r>
              <a:rPr lang="en-US" sz="1100" dirty="0">
                <a:solidFill>
                  <a:srgbClr val="1F2937"/>
                </a:solidFill>
              </a:rPr>
              <a:t>→「注意の比率」として解釈可</a:t>
            </a:r>
            <a:endParaRPr lang="en-US" sz="1100" dirty="0"/>
          </a:p>
        </p:txBody>
      </p:sp>
      <p:sp>
        <p:nvSpPr>
          <p:cNvPr id="23" name="Shape 21"/>
          <p:cNvSpPr/>
          <p:nvPr/>
        </p:nvSpPr>
        <p:spPr>
          <a:xfrm>
            <a:off x="347472" y="3291840"/>
            <a:ext cx="4041648" cy="153619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24" name="Shape 22"/>
          <p:cNvSpPr/>
          <p:nvPr/>
        </p:nvSpPr>
        <p:spPr>
          <a:xfrm>
            <a:off x="347472" y="3291840"/>
            <a:ext cx="45720" cy="1536192"/>
          </a:xfrm>
          <a:prstGeom prst="rect">
            <a:avLst/>
          </a:prstGeom>
          <a:solidFill>
            <a:srgbClr val="BA7517"/>
          </a:solidFill>
          <a:ln w="12700">
            <a:solidFill>
              <a:srgbClr val="BA7517"/>
            </a:solidFill>
            <a:prstDash val="solid"/>
          </a:ln>
        </p:spPr>
      </p:sp>
      <p:sp>
        <p:nvSpPr>
          <p:cNvPr id="25" name="Text 23"/>
          <p:cNvSpPr/>
          <p:nvPr/>
        </p:nvSpPr>
        <p:spPr>
          <a:xfrm>
            <a:off x="484632" y="3346704"/>
            <a:ext cx="3767328" cy="274320"/>
          </a:xfrm>
          <a:prstGeom prst="rect">
            <a:avLst/>
          </a:prstGeom>
          <a:noFill/>
          <a:ln/>
        </p:spPr>
        <p:txBody>
          <a:bodyPr wrap="square" rtlCol="0" anchor="ctr"/>
          <a:lstStyle/>
          <a:p>
            <a:pPr indent="0" marL="0">
              <a:buNone/>
            </a:pPr>
            <a:r>
              <a:rPr lang="en-US" sz="1100" b="1" dirty="0">
                <a:solidFill>
                  <a:srgbClr val="BA7517"/>
                </a:solidFill>
              </a:rPr>
              <a:t>Softmax 前（生スコア）</a:t>
            </a:r>
            <a:endParaRPr lang="en-US" sz="1100" dirty="0"/>
          </a:p>
        </p:txBody>
      </p:sp>
      <p:sp>
        <p:nvSpPr>
          <p:cNvPr id="26" name="Text 24"/>
          <p:cNvSpPr/>
          <p:nvPr/>
        </p:nvSpPr>
        <p:spPr>
          <a:xfrm>
            <a:off x="484632" y="3639312"/>
            <a:ext cx="3767328" cy="292608"/>
          </a:xfrm>
          <a:prstGeom prst="rect">
            <a:avLst/>
          </a:prstGeom>
          <a:noFill/>
          <a:ln/>
        </p:spPr>
        <p:txBody>
          <a:bodyPr wrap="square" rtlCol="0" anchor="ctr"/>
          <a:lstStyle/>
          <a:p>
            <a:pPr algn="ctr" indent="0" marL="0">
              <a:buNone/>
            </a:pPr>
            <a:r>
              <a:rPr lang="en-US" sz="1050" dirty="0">
                <a:solidFill>
                  <a:srgbClr val="1F2937"/>
                </a:solidFill>
                <a:latin typeface="Consolas" pitchFamily="34" charset="0"/>
                <a:ea typeface="Consolas" pitchFamily="34" charset="-122"/>
                <a:cs typeface="Consolas" pitchFamily="34" charset="-120"/>
              </a:rPr>
              <a:t>[猫:2.1, が:0.3, 走る:5.2, 公園:−1.0]</a:t>
            </a:r>
            <a:endParaRPr lang="en-US" sz="1050" dirty="0"/>
          </a:p>
        </p:txBody>
      </p:sp>
      <p:sp>
        <p:nvSpPr>
          <p:cNvPr id="27" name="Shape 25"/>
          <p:cNvSpPr/>
          <p:nvPr/>
        </p:nvSpPr>
        <p:spPr>
          <a:xfrm>
            <a:off x="640080" y="3968496"/>
            <a:ext cx="3493008" cy="0"/>
          </a:xfrm>
          <a:prstGeom prst="line">
            <a:avLst/>
          </a:prstGeom>
          <a:noFill/>
          <a:ln w="10160">
            <a:solidFill>
              <a:srgbClr val="BA7517"/>
            </a:solidFill>
            <a:prstDash val="dash"/>
          </a:ln>
        </p:spPr>
      </p:sp>
      <p:sp>
        <p:nvSpPr>
          <p:cNvPr id="28" name="Text 26"/>
          <p:cNvSpPr/>
          <p:nvPr/>
        </p:nvSpPr>
        <p:spPr>
          <a:xfrm>
            <a:off x="484632" y="4023360"/>
            <a:ext cx="3767328" cy="274320"/>
          </a:xfrm>
          <a:prstGeom prst="rect">
            <a:avLst/>
          </a:prstGeom>
          <a:noFill/>
          <a:ln/>
        </p:spPr>
        <p:txBody>
          <a:bodyPr wrap="square" rtlCol="0" anchor="ctr"/>
          <a:lstStyle/>
          <a:p>
            <a:pPr indent="0" marL="0">
              <a:buNone/>
            </a:pPr>
            <a:r>
              <a:rPr lang="en-US" sz="1100" b="1" dirty="0">
                <a:solidFill>
                  <a:srgbClr val="0F6E56"/>
                </a:solidFill>
              </a:rPr>
              <a:t>Softmax 後（注意の重み）</a:t>
            </a:r>
            <a:endParaRPr lang="en-US" sz="1100" dirty="0"/>
          </a:p>
        </p:txBody>
      </p:sp>
      <p:sp>
        <p:nvSpPr>
          <p:cNvPr id="29" name="Text 27"/>
          <p:cNvSpPr/>
          <p:nvPr/>
        </p:nvSpPr>
        <p:spPr>
          <a:xfrm>
            <a:off x="484632" y="4315968"/>
            <a:ext cx="3767328" cy="292608"/>
          </a:xfrm>
          <a:prstGeom prst="rect">
            <a:avLst/>
          </a:prstGeom>
          <a:noFill/>
          <a:ln/>
        </p:spPr>
        <p:txBody>
          <a:bodyPr wrap="square" rtlCol="0" anchor="ctr"/>
          <a:lstStyle/>
          <a:p>
            <a:pPr algn="ctr" indent="0" marL="0">
              <a:buNone/>
            </a:pPr>
            <a:r>
              <a:rPr lang="en-US" sz="1050" dirty="0">
                <a:solidFill>
                  <a:srgbClr val="0F6E56"/>
                </a:solidFill>
                <a:latin typeface="Consolas" pitchFamily="34" charset="0"/>
                <a:ea typeface="Consolas" pitchFamily="34" charset="-122"/>
                <a:cs typeface="Consolas" pitchFamily="34" charset="-120"/>
              </a:rPr>
              <a:t>[猫:4%, が:1%, 走る:94%, 公園:1%]</a:t>
            </a:r>
            <a:endParaRPr lang="en-US" sz="1050" dirty="0"/>
          </a:p>
        </p:txBody>
      </p:sp>
      <p:sp>
        <p:nvSpPr>
          <p:cNvPr id="30" name="Shape 28"/>
          <p:cNvSpPr/>
          <p:nvPr/>
        </p:nvSpPr>
        <p:spPr>
          <a:xfrm>
            <a:off x="4526280" y="3291840"/>
            <a:ext cx="4251960" cy="153619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31" name="Shape 29"/>
          <p:cNvSpPr/>
          <p:nvPr/>
        </p:nvSpPr>
        <p:spPr>
          <a:xfrm>
            <a:off x="4526280" y="3291840"/>
            <a:ext cx="45720" cy="1536192"/>
          </a:xfrm>
          <a:prstGeom prst="rect">
            <a:avLst/>
          </a:prstGeom>
          <a:solidFill>
            <a:srgbClr val="534AB7"/>
          </a:solidFill>
          <a:ln w="12700">
            <a:solidFill>
              <a:srgbClr val="534AB7"/>
            </a:solidFill>
            <a:prstDash val="solid"/>
          </a:ln>
        </p:spPr>
      </p:sp>
      <p:sp>
        <p:nvSpPr>
          <p:cNvPr id="32" name="Text 30"/>
          <p:cNvSpPr/>
          <p:nvPr/>
        </p:nvSpPr>
        <p:spPr>
          <a:xfrm>
            <a:off x="4663440" y="3346704"/>
            <a:ext cx="3977640" cy="274320"/>
          </a:xfrm>
          <a:prstGeom prst="rect">
            <a:avLst/>
          </a:prstGeom>
          <a:noFill/>
          <a:ln/>
        </p:spPr>
        <p:txBody>
          <a:bodyPr wrap="square" rtlCol="0" anchor="ctr"/>
          <a:lstStyle/>
          <a:p>
            <a:pPr indent="0" marL="0">
              <a:buNone/>
            </a:pPr>
            <a:r>
              <a:rPr lang="en-US" sz="1100" b="1" dirty="0">
                <a:solidFill>
                  <a:srgbClr val="534AB7"/>
                </a:solidFill>
              </a:rPr>
              <a:t>√dₖ で割る理由</a:t>
            </a:r>
            <a:endParaRPr lang="en-US" sz="1100" dirty="0"/>
          </a:p>
        </p:txBody>
      </p:sp>
      <p:sp>
        <p:nvSpPr>
          <p:cNvPr id="33" name="Text 31"/>
          <p:cNvSpPr/>
          <p:nvPr/>
        </p:nvSpPr>
        <p:spPr>
          <a:xfrm>
            <a:off x="4663440" y="3657600"/>
            <a:ext cx="3977640" cy="1097280"/>
          </a:xfrm>
          <a:prstGeom prst="rect">
            <a:avLst/>
          </a:prstGeom>
          <a:noFill/>
          <a:ln/>
        </p:spPr>
        <p:txBody>
          <a:bodyPr wrap="square" rtlCol="0" anchor="ctr"/>
          <a:lstStyle/>
          <a:p>
            <a:pPr indent="0" marL="0">
              <a:spcAft>
                <a:spcPts val="600"/>
              </a:spcAft>
              <a:buNone/>
            </a:pPr>
            <a:r>
              <a:rPr lang="en-US" sz="1100" dirty="0">
                <a:solidFill>
                  <a:srgbClr val="1F2937"/>
                </a:solidFill>
              </a:rPr>
              <a:t>次元数 dₖ が大きいほど内積が大きくなり Softmax が飽和（勾配消失）する。</a:t>
            </a:r>
            <a:endParaRPr lang="en-US" sz="1100" dirty="0"/>
          </a:p>
          <a:p>
            <a:pPr indent="0" marL="0">
              <a:spcAft>
                <a:spcPts val="600"/>
              </a:spcAft>
              <a:buNone/>
            </a:pPr>
            <a:endParaRPr lang="en-US" sz="1100" dirty="0"/>
          </a:p>
          <a:p>
            <a:pPr indent="0" marL="0">
              <a:spcAft>
                <a:spcPts val="600"/>
              </a:spcAft>
              <a:buNone/>
            </a:pPr>
            <a:r>
              <a:rPr lang="en-US" sz="1100" dirty="0">
                <a:solidFill>
                  <a:srgbClr val="1F2937"/>
                </a:solidFill>
              </a:rPr>
              <a:t>score / √dₖ でスケール正規化することで適切な分布を維持できる。</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8 / 28</a:t>
            </a:r>
            <a:endParaRPr lang="en-US" sz="900" dirty="0"/>
          </a:p>
        </p:txBody>
      </p:sp>
      <p:sp>
        <p:nvSpPr>
          <p:cNvPr id="3" name="Shape 1"/>
          <p:cNvSpPr/>
          <p:nvPr/>
        </p:nvSpPr>
        <p:spPr>
          <a:xfrm>
            <a:off x="347472" y="274320"/>
            <a:ext cx="54864" cy="475488"/>
          </a:xfrm>
          <a:prstGeom prst="rect">
            <a:avLst/>
          </a:prstGeom>
          <a:solidFill>
            <a:srgbClr val="534AB7"/>
          </a:solidFill>
          <a:ln w="12700">
            <a:solidFill>
              <a:srgbClr val="534AB7"/>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Attention の全体像 — Q · K · V</a:t>
            </a:r>
            <a:endParaRPr lang="en-US" sz="2000" dirty="0"/>
          </a:p>
        </p:txBody>
      </p:sp>
      <p:sp>
        <p:nvSpPr>
          <p:cNvPr id="5" name="Shape 3"/>
          <p:cNvSpPr/>
          <p:nvPr/>
        </p:nvSpPr>
        <p:spPr>
          <a:xfrm>
            <a:off x="347472" y="932688"/>
            <a:ext cx="8430768" cy="62179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6" name="Shape 4"/>
          <p:cNvSpPr/>
          <p:nvPr/>
        </p:nvSpPr>
        <p:spPr>
          <a:xfrm>
            <a:off x="347472" y="932688"/>
            <a:ext cx="45720" cy="621792"/>
          </a:xfrm>
          <a:prstGeom prst="rect">
            <a:avLst/>
          </a:prstGeom>
          <a:solidFill>
            <a:srgbClr val="534AB7"/>
          </a:solidFill>
          <a:ln w="12700">
            <a:solidFill>
              <a:srgbClr val="534AB7"/>
            </a:solidFill>
            <a:prstDash val="solid"/>
          </a:ln>
        </p:spPr>
      </p:sp>
      <p:sp>
        <p:nvSpPr>
          <p:cNvPr id="7" name="Text 5"/>
          <p:cNvSpPr/>
          <p:nvPr/>
        </p:nvSpPr>
        <p:spPr>
          <a:xfrm>
            <a:off x="502920" y="987552"/>
            <a:ext cx="8229600" cy="493776"/>
          </a:xfrm>
          <a:prstGeom prst="rect">
            <a:avLst/>
          </a:prstGeom>
          <a:noFill/>
          <a:ln/>
        </p:spPr>
        <p:txBody>
          <a:bodyPr wrap="square" rtlCol="0" anchor="ctr"/>
          <a:lstStyle/>
          <a:p>
            <a:pPr algn="ctr" indent="0" marL="0">
              <a:buNone/>
            </a:pPr>
            <a:r>
              <a:rPr lang="en-US" sz="1600" b="1" dirty="0">
                <a:solidFill>
                  <a:srgbClr val="534AB7"/>
                </a:solidFill>
                <a:latin typeface="Consolas" pitchFamily="34" charset="0"/>
                <a:ea typeface="Consolas" pitchFamily="34" charset="-122"/>
                <a:cs typeface="Consolas" pitchFamily="34" charset="-120"/>
              </a:rPr>
              <a:t>Attention(Q, K, V)  =  softmax( QKᵀ / √dₖ )  ·  V</a:t>
            </a:r>
            <a:endParaRPr lang="en-US" sz="1600" dirty="0"/>
          </a:p>
        </p:txBody>
      </p:sp>
      <p:sp>
        <p:nvSpPr>
          <p:cNvPr id="8" name="Shape 6"/>
          <p:cNvSpPr/>
          <p:nvPr/>
        </p:nvSpPr>
        <p:spPr>
          <a:xfrm>
            <a:off x="347472" y="1700784"/>
            <a:ext cx="2724912" cy="166420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9" name="Shape 7"/>
          <p:cNvSpPr/>
          <p:nvPr/>
        </p:nvSpPr>
        <p:spPr>
          <a:xfrm>
            <a:off x="347472" y="1700784"/>
            <a:ext cx="45720" cy="1664208"/>
          </a:xfrm>
          <a:prstGeom prst="rect">
            <a:avLst/>
          </a:prstGeom>
          <a:solidFill>
            <a:srgbClr val="534AB7"/>
          </a:solidFill>
          <a:ln w="12700">
            <a:solidFill>
              <a:srgbClr val="534AB7"/>
            </a:solidFill>
            <a:prstDash val="solid"/>
          </a:ln>
        </p:spPr>
      </p:sp>
      <p:sp>
        <p:nvSpPr>
          <p:cNvPr id="10" name="Text 8"/>
          <p:cNvSpPr/>
          <p:nvPr/>
        </p:nvSpPr>
        <p:spPr>
          <a:xfrm>
            <a:off x="438912" y="1755648"/>
            <a:ext cx="2542032" cy="365760"/>
          </a:xfrm>
          <a:prstGeom prst="rect">
            <a:avLst/>
          </a:prstGeom>
          <a:noFill/>
          <a:ln/>
        </p:spPr>
        <p:txBody>
          <a:bodyPr wrap="square" rtlCol="0" anchor="ctr"/>
          <a:lstStyle/>
          <a:p>
            <a:pPr indent="0" marL="0">
              <a:buNone/>
            </a:pPr>
            <a:r>
              <a:rPr lang="en-US" sz="1300" b="1" dirty="0">
                <a:solidFill>
                  <a:srgbClr val="534AB7"/>
                </a:solidFill>
              </a:rPr>
              <a:t>Q  Query</a:t>
            </a:r>
            <a:endParaRPr lang="en-US" sz="1300" dirty="0"/>
          </a:p>
        </p:txBody>
      </p:sp>
      <p:sp>
        <p:nvSpPr>
          <p:cNvPr id="11" name="Text 9"/>
          <p:cNvSpPr/>
          <p:nvPr/>
        </p:nvSpPr>
        <p:spPr>
          <a:xfrm>
            <a:off x="438912" y="2157984"/>
            <a:ext cx="2542032" cy="1152144"/>
          </a:xfrm>
          <a:prstGeom prst="rect">
            <a:avLst/>
          </a:prstGeom>
          <a:noFill/>
          <a:ln/>
        </p:spPr>
        <p:txBody>
          <a:bodyPr wrap="square" rtlCol="0" anchor="ctr"/>
          <a:lstStyle/>
          <a:p>
            <a:pPr indent="0" marL="0">
              <a:spcAft>
                <a:spcPts val="400"/>
              </a:spcAft>
              <a:buNone/>
            </a:pPr>
            <a:r>
              <a:rPr lang="en-US" sz="1100" dirty="0">
                <a:solidFill>
                  <a:srgbClr val="1F2937"/>
                </a:solidFill>
              </a:rPr>
              <a:t>「何を探す？」</a:t>
            </a:r>
            <a:endParaRPr lang="en-US" sz="1100" dirty="0"/>
          </a:p>
          <a:p>
            <a:pPr indent="0" marL="0">
              <a:spcAft>
                <a:spcPts val="400"/>
              </a:spcAft>
              <a:buNone/>
            </a:pPr>
            <a:r>
              <a:rPr lang="en-US" sz="1100" dirty="0">
                <a:solidFill>
                  <a:srgbClr val="1F2937"/>
                </a:solidFill>
              </a:rPr>
              <a:t>処理中の単語が発する問い</a:t>
            </a:r>
            <a:endParaRPr lang="en-US" sz="1100" dirty="0"/>
          </a:p>
          <a:p>
            <a:pPr indent="0" marL="0">
              <a:spcAft>
                <a:spcPts val="400"/>
              </a:spcAft>
              <a:buNone/>
            </a:pPr>
            <a:r>
              <a:rPr lang="en-US" sz="1100" dirty="0">
                <a:solidFill>
                  <a:srgbClr val="1F2937"/>
                </a:solidFill>
              </a:rPr>
              <a:t>W_Q で Embedding を変換</a:t>
            </a:r>
            <a:endParaRPr lang="en-US" sz="1100" dirty="0"/>
          </a:p>
          <a:p>
            <a:pPr indent="0" marL="0">
              <a:spcAft>
                <a:spcPts val="400"/>
              </a:spcAft>
              <a:buNone/>
            </a:pPr>
            <a:r>
              <a:rPr lang="en-US" sz="1100" dirty="0">
                <a:solidFill>
                  <a:srgbClr val="1F2937"/>
                </a:solidFill>
              </a:rPr>
              <a:t>= 検索クエリ文字列</a:t>
            </a:r>
            <a:endParaRPr lang="en-US" sz="1100" dirty="0"/>
          </a:p>
        </p:txBody>
      </p:sp>
      <p:sp>
        <p:nvSpPr>
          <p:cNvPr id="12" name="Shape 10"/>
          <p:cNvSpPr/>
          <p:nvPr/>
        </p:nvSpPr>
        <p:spPr>
          <a:xfrm>
            <a:off x="3218688" y="1700784"/>
            <a:ext cx="2724912" cy="166420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13" name="Shape 11"/>
          <p:cNvSpPr/>
          <p:nvPr/>
        </p:nvSpPr>
        <p:spPr>
          <a:xfrm>
            <a:off x="3218688" y="1700784"/>
            <a:ext cx="45720" cy="1664208"/>
          </a:xfrm>
          <a:prstGeom prst="rect">
            <a:avLst/>
          </a:prstGeom>
          <a:solidFill>
            <a:srgbClr val="0F6E56"/>
          </a:solidFill>
          <a:ln w="12700">
            <a:solidFill>
              <a:srgbClr val="0F6E56"/>
            </a:solidFill>
            <a:prstDash val="solid"/>
          </a:ln>
        </p:spPr>
      </p:sp>
      <p:sp>
        <p:nvSpPr>
          <p:cNvPr id="14" name="Text 12"/>
          <p:cNvSpPr/>
          <p:nvPr/>
        </p:nvSpPr>
        <p:spPr>
          <a:xfrm>
            <a:off x="3310128" y="1755648"/>
            <a:ext cx="2542032" cy="365760"/>
          </a:xfrm>
          <a:prstGeom prst="rect">
            <a:avLst/>
          </a:prstGeom>
          <a:noFill/>
          <a:ln/>
        </p:spPr>
        <p:txBody>
          <a:bodyPr wrap="square" rtlCol="0" anchor="ctr"/>
          <a:lstStyle/>
          <a:p>
            <a:pPr indent="0" marL="0">
              <a:buNone/>
            </a:pPr>
            <a:r>
              <a:rPr lang="en-US" sz="1300" b="1" dirty="0">
                <a:solidFill>
                  <a:srgbClr val="0F6E56"/>
                </a:solidFill>
              </a:rPr>
              <a:t>K  Key</a:t>
            </a:r>
            <a:endParaRPr lang="en-US" sz="1300" dirty="0"/>
          </a:p>
        </p:txBody>
      </p:sp>
      <p:sp>
        <p:nvSpPr>
          <p:cNvPr id="15" name="Text 13"/>
          <p:cNvSpPr/>
          <p:nvPr/>
        </p:nvSpPr>
        <p:spPr>
          <a:xfrm>
            <a:off x="3310128" y="2157984"/>
            <a:ext cx="2542032" cy="1152144"/>
          </a:xfrm>
          <a:prstGeom prst="rect">
            <a:avLst/>
          </a:prstGeom>
          <a:noFill/>
          <a:ln/>
        </p:spPr>
        <p:txBody>
          <a:bodyPr wrap="square" rtlCol="0" anchor="ctr"/>
          <a:lstStyle/>
          <a:p>
            <a:pPr indent="0" marL="0">
              <a:spcAft>
                <a:spcPts val="400"/>
              </a:spcAft>
              <a:buNone/>
            </a:pPr>
            <a:r>
              <a:rPr lang="en-US" sz="1100" dirty="0">
                <a:solidFill>
                  <a:srgbClr val="1F2937"/>
                </a:solidFill>
              </a:rPr>
              <a:t>「誰が該当する？」</a:t>
            </a:r>
            <a:endParaRPr lang="en-US" sz="1100" dirty="0"/>
          </a:p>
          <a:p>
            <a:pPr indent="0" marL="0">
              <a:spcAft>
                <a:spcPts val="400"/>
              </a:spcAft>
              <a:buNone/>
            </a:pPr>
            <a:r>
              <a:rPr lang="en-US" sz="1100" dirty="0">
                <a:solidFill>
                  <a:srgbClr val="1F2937"/>
                </a:solidFill>
              </a:rPr>
              <a:t>各単語が提示する索引ラベル</a:t>
            </a:r>
            <a:endParaRPr lang="en-US" sz="1100" dirty="0"/>
          </a:p>
          <a:p>
            <a:pPr indent="0" marL="0">
              <a:spcAft>
                <a:spcPts val="400"/>
              </a:spcAft>
              <a:buNone/>
            </a:pPr>
            <a:r>
              <a:rPr lang="en-US" sz="1100" dirty="0">
                <a:solidFill>
                  <a:srgbClr val="1F2937"/>
                </a:solidFill>
              </a:rPr>
              <a:t>W_K で Embedding を変換</a:t>
            </a:r>
            <a:endParaRPr lang="en-US" sz="1100" dirty="0"/>
          </a:p>
          <a:p>
            <a:pPr indent="0" marL="0">
              <a:spcAft>
                <a:spcPts val="400"/>
              </a:spcAft>
              <a:buNone/>
            </a:pPr>
            <a:r>
              <a:rPr lang="en-US" sz="1100" dirty="0">
                <a:solidFill>
                  <a:srgbClr val="1F2937"/>
                </a:solidFill>
              </a:rPr>
              <a:t>= 索引（インデックス）</a:t>
            </a:r>
            <a:endParaRPr lang="en-US" sz="1100" dirty="0"/>
          </a:p>
        </p:txBody>
      </p:sp>
      <p:sp>
        <p:nvSpPr>
          <p:cNvPr id="16" name="Shape 14"/>
          <p:cNvSpPr/>
          <p:nvPr/>
        </p:nvSpPr>
        <p:spPr>
          <a:xfrm>
            <a:off x="6089904" y="1700784"/>
            <a:ext cx="2724912" cy="166420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17" name="Shape 15"/>
          <p:cNvSpPr/>
          <p:nvPr/>
        </p:nvSpPr>
        <p:spPr>
          <a:xfrm>
            <a:off x="6089904" y="1700784"/>
            <a:ext cx="45720" cy="1664208"/>
          </a:xfrm>
          <a:prstGeom prst="rect">
            <a:avLst/>
          </a:prstGeom>
          <a:solidFill>
            <a:srgbClr val="D85A30"/>
          </a:solidFill>
          <a:ln w="12700">
            <a:solidFill>
              <a:srgbClr val="D85A30"/>
            </a:solidFill>
            <a:prstDash val="solid"/>
          </a:ln>
        </p:spPr>
      </p:sp>
      <p:sp>
        <p:nvSpPr>
          <p:cNvPr id="18" name="Text 16"/>
          <p:cNvSpPr/>
          <p:nvPr/>
        </p:nvSpPr>
        <p:spPr>
          <a:xfrm>
            <a:off x="6181344" y="1755648"/>
            <a:ext cx="2542032" cy="365760"/>
          </a:xfrm>
          <a:prstGeom prst="rect">
            <a:avLst/>
          </a:prstGeom>
          <a:noFill/>
          <a:ln/>
        </p:spPr>
        <p:txBody>
          <a:bodyPr wrap="square" rtlCol="0" anchor="ctr"/>
          <a:lstStyle/>
          <a:p>
            <a:pPr indent="0" marL="0">
              <a:buNone/>
            </a:pPr>
            <a:r>
              <a:rPr lang="en-US" sz="1300" b="1" dirty="0">
                <a:solidFill>
                  <a:srgbClr val="D85A30"/>
                </a:solidFill>
              </a:rPr>
              <a:t>V  Value</a:t>
            </a:r>
            <a:endParaRPr lang="en-US" sz="1300" dirty="0"/>
          </a:p>
        </p:txBody>
      </p:sp>
      <p:sp>
        <p:nvSpPr>
          <p:cNvPr id="19" name="Text 17"/>
          <p:cNvSpPr/>
          <p:nvPr/>
        </p:nvSpPr>
        <p:spPr>
          <a:xfrm>
            <a:off x="6181344" y="2157984"/>
            <a:ext cx="2542032" cy="1152144"/>
          </a:xfrm>
          <a:prstGeom prst="rect">
            <a:avLst/>
          </a:prstGeom>
          <a:noFill/>
          <a:ln/>
        </p:spPr>
        <p:txBody>
          <a:bodyPr wrap="square" rtlCol="0" anchor="ctr"/>
          <a:lstStyle/>
          <a:p>
            <a:pPr indent="0" marL="0">
              <a:spcAft>
                <a:spcPts val="400"/>
              </a:spcAft>
              <a:buNone/>
            </a:pPr>
            <a:r>
              <a:rPr lang="en-US" sz="1100" dirty="0">
                <a:solidFill>
                  <a:srgbClr val="1F2937"/>
                </a:solidFill>
              </a:rPr>
              <a:t>「実際に取り出す情報」</a:t>
            </a:r>
            <a:endParaRPr lang="en-US" sz="1100" dirty="0"/>
          </a:p>
          <a:p>
            <a:pPr indent="0" marL="0">
              <a:spcAft>
                <a:spcPts val="400"/>
              </a:spcAft>
              <a:buNone/>
            </a:pPr>
            <a:r>
              <a:rPr lang="en-US" sz="1100" dirty="0">
                <a:solidFill>
                  <a:srgbClr val="1F2937"/>
                </a:solidFill>
              </a:rPr>
              <a:t>Attention 重みで加重平均</a:t>
            </a:r>
            <a:endParaRPr lang="en-US" sz="1100" dirty="0"/>
          </a:p>
          <a:p>
            <a:pPr indent="0" marL="0">
              <a:spcAft>
                <a:spcPts val="400"/>
              </a:spcAft>
              <a:buNone/>
            </a:pPr>
            <a:r>
              <a:rPr lang="en-US" sz="1100" dirty="0">
                <a:solidFill>
                  <a:srgbClr val="1F2937"/>
                </a:solidFill>
              </a:rPr>
              <a:t>W_V で Embedding を変換</a:t>
            </a:r>
            <a:endParaRPr lang="en-US" sz="1100" dirty="0"/>
          </a:p>
          <a:p>
            <a:pPr indent="0" marL="0">
              <a:spcAft>
                <a:spcPts val="400"/>
              </a:spcAft>
              <a:buNone/>
            </a:pPr>
            <a:r>
              <a:rPr lang="en-US" sz="1100" dirty="0">
                <a:solidFill>
                  <a:srgbClr val="1F2937"/>
                </a:solidFill>
              </a:rPr>
              <a:t>= 本文（実コンテンツ）</a:t>
            </a:r>
            <a:endParaRPr lang="en-US" sz="1100" dirty="0"/>
          </a:p>
        </p:txBody>
      </p:sp>
      <p:sp>
        <p:nvSpPr>
          <p:cNvPr id="20" name="Shape 18"/>
          <p:cNvSpPr/>
          <p:nvPr/>
        </p:nvSpPr>
        <p:spPr>
          <a:xfrm>
            <a:off x="347472" y="3493008"/>
            <a:ext cx="8430768" cy="126187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21" name="Shape 19"/>
          <p:cNvSpPr/>
          <p:nvPr/>
        </p:nvSpPr>
        <p:spPr>
          <a:xfrm>
            <a:off x="347472" y="3493008"/>
            <a:ext cx="45720" cy="1261872"/>
          </a:xfrm>
          <a:prstGeom prst="rect">
            <a:avLst/>
          </a:prstGeom>
          <a:solidFill>
            <a:srgbClr val="BA7517"/>
          </a:solidFill>
          <a:ln w="12700">
            <a:solidFill>
              <a:srgbClr val="BA7517"/>
            </a:solidFill>
            <a:prstDash val="solid"/>
          </a:ln>
        </p:spPr>
      </p:sp>
      <p:sp>
        <p:nvSpPr>
          <p:cNvPr id="22" name="Text 20"/>
          <p:cNvSpPr/>
          <p:nvPr/>
        </p:nvSpPr>
        <p:spPr>
          <a:xfrm>
            <a:off x="484632" y="3547872"/>
            <a:ext cx="1828800" cy="256032"/>
          </a:xfrm>
          <a:prstGeom prst="rect">
            <a:avLst/>
          </a:prstGeom>
          <a:noFill/>
          <a:ln/>
        </p:spPr>
        <p:txBody>
          <a:bodyPr wrap="square" rtlCol="0" anchor="ctr"/>
          <a:lstStyle/>
          <a:p>
            <a:pPr indent="0" marL="0">
              <a:buNone/>
            </a:pPr>
            <a:r>
              <a:rPr lang="en-US" sz="1100" b="1" dirty="0">
                <a:solidFill>
                  <a:srgbClr val="BA7517"/>
                </a:solidFill>
              </a:rPr>
              <a:t>処理の流れ</a:t>
            </a:r>
            <a:endParaRPr lang="en-US" sz="1100" dirty="0"/>
          </a:p>
        </p:txBody>
      </p:sp>
      <p:sp>
        <p:nvSpPr>
          <p:cNvPr id="23" name="Shape 21"/>
          <p:cNvSpPr/>
          <p:nvPr/>
        </p:nvSpPr>
        <p:spPr>
          <a:xfrm>
            <a:off x="438912" y="3858768"/>
            <a:ext cx="1261872" cy="402336"/>
          </a:xfrm>
          <a:prstGeom prst="roundRect">
            <a:avLst>
              <a:gd name="adj" fmla="val 11364"/>
            </a:avLst>
          </a:prstGeom>
          <a:solidFill>
            <a:srgbClr val="534AB7"/>
          </a:solidFill>
          <a:ln w="12700">
            <a:solidFill>
              <a:srgbClr val="534AB7"/>
            </a:solidFill>
            <a:prstDash val="solid"/>
          </a:ln>
        </p:spPr>
      </p:sp>
      <p:sp>
        <p:nvSpPr>
          <p:cNvPr id="24" name="Text 22"/>
          <p:cNvSpPr/>
          <p:nvPr/>
        </p:nvSpPr>
        <p:spPr>
          <a:xfrm>
            <a:off x="438912" y="3858768"/>
            <a:ext cx="1261872" cy="402336"/>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1. Q,K,V 生成</a:t>
            </a:r>
            <a:endParaRPr lang="en-US" sz="950" dirty="0"/>
          </a:p>
        </p:txBody>
      </p:sp>
      <p:sp>
        <p:nvSpPr>
          <p:cNvPr id="25" name="Shape 23"/>
          <p:cNvSpPr/>
          <p:nvPr/>
        </p:nvSpPr>
        <p:spPr>
          <a:xfrm>
            <a:off x="1700784" y="4059936"/>
            <a:ext cx="128016" cy="0"/>
          </a:xfrm>
          <a:prstGeom prst="line">
            <a:avLst/>
          </a:prstGeom>
          <a:noFill/>
          <a:ln w="12700">
            <a:solidFill>
              <a:srgbClr val="6B7280"/>
            </a:solidFill>
            <a:prstDash val="solid"/>
          </a:ln>
        </p:spPr>
      </p:sp>
      <p:sp>
        <p:nvSpPr>
          <p:cNvPr id="26" name="Shape 24"/>
          <p:cNvSpPr/>
          <p:nvPr/>
        </p:nvSpPr>
        <p:spPr>
          <a:xfrm>
            <a:off x="1828800" y="3858768"/>
            <a:ext cx="1261872" cy="402336"/>
          </a:xfrm>
          <a:prstGeom prst="roundRect">
            <a:avLst>
              <a:gd name="adj" fmla="val 11364"/>
            </a:avLst>
          </a:prstGeom>
          <a:solidFill>
            <a:srgbClr val="534AB7"/>
          </a:solidFill>
          <a:ln w="12700">
            <a:solidFill>
              <a:srgbClr val="534AB7"/>
            </a:solidFill>
            <a:prstDash val="solid"/>
          </a:ln>
        </p:spPr>
      </p:sp>
      <p:sp>
        <p:nvSpPr>
          <p:cNvPr id="27" name="Text 25"/>
          <p:cNvSpPr/>
          <p:nvPr/>
        </p:nvSpPr>
        <p:spPr>
          <a:xfrm>
            <a:off x="1828800" y="3858768"/>
            <a:ext cx="1261872" cy="402336"/>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2. 内積スコア</a:t>
            </a:r>
            <a:endParaRPr lang="en-US" sz="950" dirty="0"/>
          </a:p>
        </p:txBody>
      </p:sp>
      <p:sp>
        <p:nvSpPr>
          <p:cNvPr id="28" name="Shape 26"/>
          <p:cNvSpPr/>
          <p:nvPr/>
        </p:nvSpPr>
        <p:spPr>
          <a:xfrm>
            <a:off x="3090672" y="4059936"/>
            <a:ext cx="128016" cy="0"/>
          </a:xfrm>
          <a:prstGeom prst="line">
            <a:avLst/>
          </a:prstGeom>
          <a:noFill/>
          <a:ln w="12700">
            <a:solidFill>
              <a:srgbClr val="6B7280"/>
            </a:solidFill>
            <a:prstDash val="solid"/>
          </a:ln>
        </p:spPr>
      </p:sp>
      <p:sp>
        <p:nvSpPr>
          <p:cNvPr id="29" name="Shape 27"/>
          <p:cNvSpPr/>
          <p:nvPr/>
        </p:nvSpPr>
        <p:spPr>
          <a:xfrm>
            <a:off x="3218688" y="3858768"/>
            <a:ext cx="1261872" cy="402336"/>
          </a:xfrm>
          <a:prstGeom prst="roundRect">
            <a:avLst>
              <a:gd name="adj" fmla="val 11364"/>
            </a:avLst>
          </a:prstGeom>
          <a:solidFill>
            <a:srgbClr val="BA7517"/>
          </a:solidFill>
          <a:ln w="12700">
            <a:solidFill>
              <a:srgbClr val="BA7517"/>
            </a:solidFill>
            <a:prstDash val="solid"/>
          </a:ln>
        </p:spPr>
      </p:sp>
      <p:sp>
        <p:nvSpPr>
          <p:cNvPr id="30" name="Text 28"/>
          <p:cNvSpPr/>
          <p:nvPr/>
        </p:nvSpPr>
        <p:spPr>
          <a:xfrm>
            <a:off x="3218688" y="3858768"/>
            <a:ext cx="1261872" cy="402336"/>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3. / √dₖ 正規化</a:t>
            </a:r>
            <a:endParaRPr lang="en-US" sz="950" dirty="0"/>
          </a:p>
        </p:txBody>
      </p:sp>
      <p:sp>
        <p:nvSpPr>
          <p:cNvPr id="31" name="Shape 29"/>
          <p:cNvSpPr/>
          <p:nvPr/>
        </p:nvSpPr>
        <p:spPr>
          <a:xfrm>
            <a:off x="4480560" y="4059936"/>
            <a:ext cx="128016" cy="0"/>
          </a:xfrm>
          <a:prstGeom prst="line">
            <a:avLst/>
          </a:prstGeom>
          <a:noFill/>
          <a:ln w="12700">
            <a:solidFill>
              <a:srgbClr val="6B7280"/>
            </a:solidFill>
            <a:prstDash val="solid"/>
          </a:ln>
        </p:spPr>
      </p:sp>
      <p:sp>
        <p:nvSpPr>
          <p:cNvPr id="32" name="Shape 30"/>
          <p:cNvSpPr/>
          <p:nvPr/>
        </p:nvSpPr>
        <p:spPr>
          <a:xfrm>
            <a:off x="4608576" y="3858768"/>
            <a:ext cx="1261872" cy="402336"/>
          </a:xfrm>
          <a:prstGeom prst="roundRect">
            <a:avLst>
              <a:gd name="adj" fmla="val 11364"/>
            </a:avLst>
          </a:prstGeom>
          <a:solidFill>
            <a:srgbClr val="BA7517"/>
          </a:solidFill>
          <a:ln w="12700">
            <a:solidFill>
              <a:srgbClr val="BA7517"/>
            </a:solidFill>
            <a:prstDash val="solid"/>
          </a:ln>
        </p:spPr>
      </p:sp>
      <p:sp>
        <p:nvSpPr>
          <p:cNvPr id="33" name="Text 31"/>
          <p:cNvSpPr/>
          <p:nvPr/>
        </p:nvSpPr>
        <p:spPr>
          <a:xfrm>
            <a:off x="4608576" y="3858768"/>
            <a:ext cx="1261872" cy="402336"/>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4. Softmax→重み</a:t>
            </a:r>
            <a:endParaRPr lang="en-US" sz="950" dirty="0"/>
          </a:p>
        </p:txBody>
      </p:sp>
      <p:sp>
        <p:nvSpPr>
          <p:cNvPr id="34" name="Shape 32"/>
          <p:cNvSpPr/>
          <p:nvPr/>
        </p:nvSpPr>
        <p:spPr>
          <a:xfrm>
            <a:off x="5870448" y="4059936"/>
            <a:ext cx="128016" cy="0"/>
          </a:xfrm>
          <a:prstGeom prst="line">
            <a:avLst/>
          </a:prstGeom>
          <a:noFill/>
          <a:ln w="12700">
            <a:solidFill>
              <a:srgbClr val="6B7280"/>
            </a:solidFill>
            <a:prstDash val="solid"/>
          </a:ln>
        </p:spPr>
      </p:sp>
      <p:sp>
        <p:nvSpPr>
          <p:cNvPr id="35" name="Shape 33"/>
          <p:cNvSpPr/>
          <p:nvPr/>
        </p:nvSpPr>
        <p:spPr>
          <a:xfrm>
            <a:off x="5998464" y="3858768"/>
            <a:ext cx="1261872" cy="402336"/>
          </a:xfrm>
          <a:prstGeom prst="roundRect">
            <a:avLst>
              <a:gd name="adj" fmla="val 11364"/>
            </a:avLst>
          </a:prstGeom>
          <a:solidFill>
            <a:srgbClr val="0F6E56"/>
          </a:solidFill>
          <a:ln w="12700">
            <a:solidFill>
              <a:srgbClr val="0F6E56"/>
            </a:solidFill>
            <a:prstDash val="solid"/>
          </a:ln>
        </p:spPr>
      </p:sp>
      <p:sp>
        <p:nvSpPr>
          <p:cNvPr id="36" name="Text 34"/>
          <p:cNvSpPr/>
          <p:nvPr/>
        </p:nvSpPr>
        <p:spPr>
          <a:xfrm>
            <a:off x="5998464" y="3858768"/>
            <a:ext cx="1261872" cy="402336"/>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5. Value 加重平均</a:t>
            </a:r>
            <a:endParaRPr lang="en-US" sz="950" dirty="0"/>
          </a:p>
        </p:txBody>
      </p:sp>
      <p:sp>
        <p:nvSpPr>
          <p:cNvPr id="37" name="Shape 35"/>
          <p:cNvSpPr/>
          <p:nvPr/>
        </p:nvSpPr>
        <p:spPr>
          <a:xfrm>
            <a:off x="7260336" y="4059936"/>
            <a:ext cx="128016" cy="0"/>
          </a:xfrm>
          <a:prstGeom prst="line">
            <a:avLst/>
          </a:prstGeom>
          <a:noFill/>
          <a:ln w="12700">
            <a:solidFill>
              <a:srgbClr val="6B7280"/>
            </a:solidFill>
            <a:prstDash val="solid"/>
          </a:ln>
        </p:spPr>
      </p:sp>
      <p:sp>
        <p:nvSpPr>
          <p:cNvPr id="38" name="Shape 36"/>
          <p:cNvSpPr/>
          <p:nvPr/>
        </p:nvSpPr>
        <p:spPr>
          <a:xfrm>
            <a:off x="7388352" y="3858768"/>
            <a:ext cx="1261872" cy="402336"/>
          </a:xfrm>
          <a:prstGeom prst="roundRect">
            <a:avLst>
              <a:gd name="adj" fmla="val 11364"/>
            </a:avLst>
          </a:prstGeom>
          <a:solidFill>
            <a:srgbClr val="0F6E56"/>
          </a:solidFill>
          <a:ln w="12700">
            <a:solidFill>
              <a:srgbClr val="0F6E56"/>
            </a:solidFill>
            <a:prstDash val="solid"/>
          </a:ln>
        </p:spPr>
      </p:sp>
      <p:sp>
        <p:nvSpPr>
          <p:cNvPr id="39" name="Text 37"/>
          <p:cNvSpPr/>
          <p:nvPr/>
        </p:nvSpPr>
        <p:spPr>
          <a:xfrm>
            <a:off x="7388352" y="3858768"/>
            <a:ext cx="1261872" cy="402336"/>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6. 文脈化表現完成</a:t>
            </a:r>
            <a:endParaRPr lang="en-US" sz="950" dirty="0"/>
          </a:p>
        </p:txBody>
      </p:sp>
      <p:sp>
        <p:nvSpPr>
          <p:cNvPr id="40" name="Text 38"/>
          <p:cNvSpPr/>
          <p:nvPr/>
        </p:nvSpPr>
        <p:spPr>
          <a:xfrm>
            <a:off x="484632" y="4334256"/>
            <a:ext cx="8229600" cy="292608"/>
          </a:xfrm>
          <a:prstGeom prst="rect">
            <a:avLst/>
          </a:prstGeom>
          <a:noFill/>
          <a:ln/>
        </p:spPr>
        <p:txBody>
          <a:bodyPr wrap="square" rtlCol="0" anchor="ctr"/>
          <a:lstStyle/>
          <a:p>
            <a:pPr algn="ctr" indent="0" marL="0">
              <a:buNone/>
            </a:pPr>
            <a:r>
              <a:rPr lang="en-US" sz="1050" i="1" dirty="0">
                <a:solidFill>
                  <a:srgbClr val="4B5563"/>
                </a:solidFill>
              </a:rPr>
              <a:t>Key は索引、Value は本文 — 検索エンジンと同じ原理で文脈を取り出す</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9 / 28</a:t>
            </a:r>
            <a:endParaRPr lang="en-US" sz="900" dirty="0"/>
          </a:p>
        </p:txBody>
      </p:sp>
      <p:sp>
        <p:nvSpPr>
          <p:cNvPr id="3" name="Shape 1"/>
          <p:cNvSpPr/>
          <p:nvPr/>
        </p:nvSpPr>
        <p:spPr>
          <a:xfrm>
            <a:off x="347472" y="274320"/>
            <a:ext cx="54864" cy="475488"/>
          </a:xfrm>
          <a:prstGeom prst="rect">
            <a:avLst/>
          </a:prstGeom>
          <a:solidFill>
            <a:srgbClr val="534AB7"/>
          </a:solidFill>
          <a:ln w="12700">
            <a:solidFill>
              <a:srgbClr val="534AB7"/>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Attention Matrix — 全トークン対全トークンで内積を計算する</a:t>
            </a:r>
            <a:endParaRPr lang="en-US" sz="2000" dirty="0"/>
          </a:p>
        </p:txBody>
      </p:sp>
      <p:sp>
        <p:nvSpPr>
          <p:cNvPr id="5" name="Text 3"/>
          <p:cNvSpPr/>
          <p:nvPr/>
        </p:nvSpPr>
        <p:spPr>
          <a:xfrm>
            <a:off x="347472" y="932688"/>
            <a:ext cx="8430768" cy="384048"/>
          </a:xfrm>
          <a:prstGeom prst="rect">
            <a:avLst/>
          </a:prstGeom>
          <a:noFill/>
          <a:ln/>
        </p:spPr>
        <p:txBody>
          <a:bodyPr wrap="square" rtlCol="0" anchor="ctr"/>
          <a:lstStyle/>
          <a:p>
            <a:pPr indent="0" marL="0">
              <a:buNone/>
            </a:pPr>
            <a:r>
              <a:rPr lang="en-US" sz="1100" i="1" dirty="0">
                <a:solidFill>
                  <a:srgbClr val="4B5563"/>
                </a:solidFill>
              </a:rPr>
              <a:t>Q·K の内積は「処理中の1単語 vs 1単語」ではない。N トークンあれば N×N = N² 個すべての組み合わせで内積を計算し、全結合グラフの重み行列を作る。</a:t>
            </a:r>
            <a:endParaRPr lang="en-US" sz="1100" dirty="0"/>
          </a:p>
        </p:txBody>
      </p:sp>
      <p:sp>
        <p:nvSpPr>
          <p:cNvPr id="6" name="Shape 4"/>
          <p:cNvSpPr/>
          <p:nvPr/>
        </p:nvSpPr>
        <p:spPr>
          <a:xfrm>
            <a:off x="347472" y="1389888"/>
            <a:ext cx="4133088" cy="217627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7" name="Shape 5"/>
          <p:cNvSpPr/>
          <p:nvPr/>
        </p:nvSpPr>
        <p:spPr>
          <a:xfrm>
            <a:off x="347472" y="1389888"/>
            <a:ext cx="45720" cy="2176272"/>
          </a:xfrm>
          <a:prstGeom prst="rect">
            <a:avLst/>
          </a:prstGeom>
          <a:solidFill>
            <a:srgbClr val="534AB7"/>
          </a:solidFill>
          <a:ln w="12700">
            <a:solidFill>
              <a:srgbClr val="534AB7"/>
            </a:solidFill>
            <a:prstDash val="solid"/>
          </a:ln>
        </p:spPr>
      </p:sp>
      <p:sp>
        <p:nvSpPr>
          <p:cNvPr id="8" name="Text 6"/>
          <p:cNvSpPr/>
          <p:nvPr/>
        </p:nvSpPr>
        <p:spPr>
          <a:xfrm>
            <a:off x="484632" y="1444752"/>
            <a:ext cx="3858768" cy="310896"/>
          </a:xfrm>
          <a:prstGeom prst="rect">
            <a:avLst/>
          </a:prstGeom>
          <a:noFill/>
          <a:ln/>
        </p:spPr>
        <p:txBody>
          <a:bodyPr wrap="square" rtlCol="0" anchor="ctr"/>
          <a:lstStyle/>
          <a:p>
            <a:pPr indent="0" marL="0">
              <a:buNone/>
            </a:pPr>
            <a:r>
              <a:rPr lang="en-US" sz="1300" b="1" dirty="0">
                <a:solidFill>
                  <a:srgbClr val="534AB7"/>
                </a:solidFill>
              </a:rPr>
              <a:t>QKᵀ の行列計算</a:t>
            </a:r>
            <a:endParaRPr lang="en-US" sz="1300" dirty="0"/>
          </a:p>
        </p:txBody>
      </p:sp>
      <p:sp>
        <p:nvSpPr>
          <p:cNvPr id="9" name="Text 7"/>
          <p:cNvSpPr/>
          <p:nvPr/>
        </p:nvSpPr>
        <p:spPr>
          <a:xfrm>
            <a:off x="484632" y="1792224"/>
            <a:ext cx="3858768" cy="822960"/>
          </a:xfrm>
          <a:prstGeom prst="rect">
            <a:avLst/>
          </a:prstGeom>
          <a:noFill/>
          <a:ln/>
        </p:spPr>
        <p:txBody>
          <a:bodyPr wrap="square" rtlCol="0" anchor="ctr"/>
          <a:lstStyle/>
          <a:p>
            <a:pPr indent="0" marL="0">
              <a:spcAft>
                <a:spcPts val="400"/>
              </a:spcAft>
              <a:buNone/>
            </a:pPr>
            <a:r>
              <a:rPr lang="en-US" sz="1100" dirty="0">
                <a:solidFill>
                  <a:srgbClr val="1F2937"/>
                </a:solidFill>
                <a:latin typeface="Consolas" pitchFamily="34" charset="0"/>
                <a:ea typeface="Consolas" pitchFamily="34" charset="-122"/>
                <a:cs typeface="Consolas" pitchFamily="34" charset="-120"/>
              </a:rPr>
              <a:t>Q : [N × d]   — N トークン分のQuery</a:t>
            </a:r>
            <a:endParaRPr lang="en-US" sz="1100" dirty="0"/>
          </a:p>
          <a:p>
            <a:pPr indent="0" marL="0">
              <a:spcAft>
                <a:spcPts val="400"/>
              </a:spcAft>
              <a:buNone/>
            </a:pPr>
            <a:r>
              <a:rPr lang="en-US" sz="1100" dirty="0">
                <a:solidFill>
                  <a:srgbClr val="1F2937"/>
                </a:solidFill>
                <a:latin typeface="Consolas" pitchFamily="34" charset="0"/>
                <a:ea typeface="Consolas" pitchFamily="34" charset="-122"/>
                <a:cs typeface="Consolas" pitchFamily="34" charset="-120"/>
              </a:rPr>
              <a:t>Kᵀ: [d × N]   — K を転置</a:t>
            </a:r>
            <a:endParaRPr lang="en-US" sz="1100" dirty="0"/>
          </a:p>
          <a:p>
            <a:pPr indent="0" marL="0">
              <a:spcAft>
                <a:spcPts val="400"/>
              </a:spcAft>
              <a:buNone/>
            </a:pPr>
            <a:endParaRPr lang="en-US" sz="1100" dirty="0"/>
          </a:p>
          <a:p>
            <a:pPr indent="0" marL="0">
              <a:spcAft>
                <a:spcPts val="400"/>
              </a:spcAft>
              <a:buNone/>
            </a:pPr>
            <a:r>
              <a:rPr lang="en-US" sz="1100" dirty="0">
                <a:solidFill>
                  <a:srgbClr val="1F2937"/>
                </a:solidFill>
                <a:latin typeface="Consolas" pitchFamily="34" charset="0"/>
                <a:ea typeface="Consolas" pitchFamily="34" charset="-122"/>
                <a:cs typeface="Consolas" pitchFamily="34" charset="-120"/>
              </a:rPr>
              <a:t>QKᵀ: [N × N]  — 全トークン間の関連度表</a:t>
            </a:r>
            <a:endParaRPr lang="en-US" sz="1100" dirty="0"/>
          </a:p>
        </p:txBody>
      </p:sp>
      <p:sp>
        <p:nvSpPr>
          <p:cNvPr id="10" name="Text 8"/>
          <p:cNvSpPr/>
          <p:nvPr/>
        </p:nvSpPr>
        <p:spPr>
          <a:xfrm>
            <a:off x="484632" y="2651760"/>
            <a:ext cx="3858768" cy="804672"/>
          </a:xfrm>
          <a:prstGeom prst="rect">
            <a:avLst/>
          </a:prstGeom>
          <a:noFill/>
          <a:ln/>
        </p:spPr>
        <p:txBody>
          <a:bodyPr wrap="square" rtlCol="0" anchor="ctr"/>
          <a:lstStyle/>
          <a:p>
            <a:pPr indent="0" marL="0">
              <a:spcAft>
                <a:spcPts val="400"/>
              </a:spcAft>
              <a:buNone/>
            </a:pPr>
            <a:r>
              <a:rPr lang="en-US" sz="1050" dirty="0">
                <a:solidFill>
                  <a:srgbClr val="1F2937"/>
                </a:solidFill>
              </a:rPr>
              <a:t>T（転置）とは：行と列を入れ替える操作。</a:t>
            </a:r>
            <a:endParaRPr lang="en-US" sz="1050" dirty="0"/>
          </a:p>
          <a:p>
            <a:pPr indent="0" marL="0">
              <a:spcAft>
                <a:spcPts val="400"/>
              </a:spcAft>
              <a:buNone/>
            </a:pPr>
            <a:r>
              <a:rPr lang="en-US" sz="1050" dirty="0">
                <a:solidFill>
                  <a:srgbClr val="1F2937"/>
                </a:solidFill>
              </a:rPr>
              <a:t>K は [N×d] → Kᵀ は [d×N] になり、</a:t>
            </a:r>
            <a:endParaRPr lang="en-US" sz="1050" dirty="0"/>
          </a:p>
          <a:p>
            <a:pPr indent="0" marL="0">
              <a:spcAft>
                <a:spcPts val="400"/>
              </a:spcAft>
              <a:buNone/>
            </a:pPr>
            <a:r>
              <a:rPr lang="en-US" sz="1050" dirty="0">
                <a:solidFill>
                  <a:srgbClr val="1F2937"/>
                </a:solidFill>
              </a:rPr>
              <a:t>Q [N×d] × Kᵀ [d×N] = QKᵀ [N×N] が成立。</a:t>
            </a:r>
            <a:endParaRPr lang="en-US" sz="1050" dirty="0"/>
          </a:p>
        </p:txBody>
      </p:sp>
      <p:sp>
        <p:nvSpPr>
          <p:cNvPr id="11" name="Shape 9"/>
          <p:cNvSpPr/>
          <p:nvPr/>
        </p:nvSpPr>
        <p:spPr>
          <a:xfrm>
            <a:off x="4617720" y="1389888"/>
            <a:ext cx="4160520" cy="336499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12" name="Shape 10"/>
          <p:cNvSpPr/>
          <p:nvPr/>
        </p:nvSpPr>
        <p:spPr>
          <a:xfrm>
            <a:off x="4617720" y="1389888"/>
            <a:ext cx="45720" cy="3364992"/>
          </a:xfrm>
          <a:prstGeom prst="rect">
            <a:avLst/>
          </a:prstGeom>
          <a:solidFill>
            <a:srgbClr val="BA7517"/>
          </a:solidFill>
          <a:ln w="12700">
            <a:solidFill>
              <a:srgbClr val="BA7517"/>
            </a:solidFill>
            <a:prstDash val="solid"/>
          </a:ln>
        </p:spPr>
      </p:sp>
      <p:sp>
        <p:nvSpPr>
          <p:cNvPr id="13" name="Text 11"/>
          <p:cNvSpPr/>
          <p:nvPr/>
        </p:nvSpPr>
        <p:spPr>
          <a:xfrm>
            <a:off x="4754880" y="1444752"/>
            <a:ext cx="3858768" cy="310896"/>
          </a:xfrm>
          <a:prstGeom prst="rect">
            <a:avLst/>
          </a:prstGeom>
          <a:noFill/>
          <a:ln/>
        </p:spPr>
        <p:txBody>
          <a:bodyPr wrap="square" rtlCol="0" anchor="ctr"/>
          <a:lstStyle/>
          <a:p>
            <a:pPr indent="0" marL="0">
              <a:buNone/>
            </a:pPr>
            <a:r>
              <a:rPr lang="en-US" sz="1100" b="1" dirty="0">
                <a:solidFill>
                  <a:srgbClr val="BA7517"/>
                </a:solidFill>
              </a:rPr>
              <a:t>「猫 が 公園 を 走る」の Attention Score Matrix</a:t>
            </a:r>
            <a:endParaRPr lang="en-US" sz="1100" dirty="0"/>
          </a:p>
        </p:txBody>
      </p:sp>
      <p:sp>
        <p:nvSpPr>
          <p:cNvPr id="14" name="Text 12"/>
          <p:cNvSpPr/>
          <p:nvPr/>
        </p:nvSpPr>
        <p:spPr>
          <a:xfrm>
            <a:off x="5532120" y="1847088"/>
            <a:ext cx="548640" cy="256032"/>
          </a:xfrm>
          <a:prstGeom prst="rect">
            <a:avLst/>
          </a:prstGeom>
          <a:noFill/>
          <a:ln/>
        </p:spPr>
        <p:txBody>
          <a:bodyPr wrap="square" rtlCol="0" anchor="ctr"/>
          <a:lstStyle/>
          <a:p>
            <a:pPr algn="ctr" indent="0" marL="0">
              <a:buNone/>
            </a:pPr>
            <a:r>
              <a:rPr lang="en-US" sz="1000" b="1" dirty="0">
                <a:solidFill>
                  <a:srgbClr val="BA7517"/>
                </a:solidFill>
              </a:rPr>
              <a:t>猫</a:t>
            </a:r>
            <a:endParaRPr lang="en-US" sz="1000" dirty="0"/>
          </a:p>
        </p:txBody>
      </p:sp>
      <p:sp>
        <p:nvSpPr>
          <p:cNvPr id="15" name="Text 13"/>
          <p:cNvSpPr/>
          <p:nvPr/>
        </p:nvSpPr>
        <p:spPr>
          <a:xfrm>
            <a:off x="6080760" y="1847088"/>
            <a:ext cx="548640" cy="256032"/>
          </a:xfrm>
          <a:prstGeom prst="rect">
            <a:avLst/>
          </a:prstGeom>
          <a:noFill/>
          <a:ln/>
        </p:spPr>
        <p:txBody>
          <a:bodyPr wrap="square" rtlCol="0" anchor="ctr"/>
          <a:lstStyle/>
          <a:p>
            <a:pPr algn="ctr" indent="0" marL="0">
              <a:buNone/>
            </a:pPr>
            <a:r>
              <a:rPr lang="en-US" sz="1000" b="1" dirty="0">
                <a:solidFill>
                  <a:srgbClr val="BA7517"/>
                </a:solidFill>
              </a:rPr>
              <a:t>が</a:t>
            </a:r>
            <a:endParaRPr lang="en-US" sz="1000" dirty="0"/>
          </a:p>
        </p:txBody>
      </p:sp>
      <p:sp>
        <p:nvSpPr>
          <p:cNvPr id="16" name="Text 14"/>
          <p:cNvSpPr/>
          <p:nvPr/>
        </p:nvSpPr>
        <p:spPr>
          <a:xfrm>
            <a:off x="6629400" y="1847088"/>
            <a:ext cx="548640" cy="256032"/>
          </a:xfrm>
          <a:prstGeom prst="rect">
            <a:avLst/>
          </a:prstGeom>
          <a:noFill/>
          <a:ln/>
        </p:spPr>
        <p:txBody>
          <a:bodyPr wrap="square" rtlCol="0" anchor="ctr"/>
          <a:lstStyle/>
          <a:p>
            <a:pPr algn="ctr" indent="0" marL="0">
              <a:buNone/>
            </a:pPr>
            <a:r>
              <a:rPr lang="en-US" sz="1000" b="1" dirty="0">
                <a:solidFill>
                  <a:srgbClr val="BA7517"/>
                </a:solidFill>
              </a:rPr>
              <a:t>公園</a:t>
            </a:r>
            <a:endParaRPr lang="en-US" sz="1000" dirty="0"/>
          </a:p>
        </p:txBody>
      </p:sp>
      <p:sp>
        <p:nvSpPr>
          <p:cNvPr id="17" name="Text 15"/>
          <p:cNvSpPr/>
          <p:nvPr/>
        </p:nvSpPr>
        <p:spPr>
          <a:xfrm>
            <a:off x="7178040" y="1847088"/>
            <a:ext cx="548640" cy="256032"/>
          </a:xfrm>
          <a:prstGeom prst="rect">
            <a:avLst/>
          </a:prstGeom>
          <a:noFill/>
          <a:ln/>
        </p:spPr>
        <p:txBody>
          <a:bodyPr wrap="square" rtlCol="0" anchor="ctr"/>
          <a:lstStyle/>
          <a:p>
            <a:pPr algn="ctr" indent="0" marL="0">
              <a:buNone/>
            </a:pPr>
            <a:r>
              <a:rPr lang="en-US" sz="1000" b="1" dirty="0">
                <a:solidFill>
                  <a:srgbClr val="BA7517"/>
                </a:solidFill>
              </a:rPr>
              <a:t>を</a:t>
            </a:r>
            <a:endParaRPr lang="en-US" sz="1000" dirty="0"/>
          </a:p>
        </p:txBody>
      </p:sp>
      <p:sp>
        <p:nvSpPr>
          <p:cNvPr id="18" name="Text 16"/>
          <p:cNvSpPr/>
          <p:nvPr/>
        </p:nvSpPr>
        <p:spPr>
          <a:xfrm>
            <a:off x="7726680" y="1847088"/>
            <a:ext cx="548640" cy="256032"/>
          </a:xfrm>
          <a:prstGeom prst="rect">
            <a:avLst/>
          </a:prstGeom>
          <a:noFill/>
          <a:ln/>
        </p:spPr>
        <p:txBody>
          <a:bodyPr wrap="square" rtlCol="0" anchor="ctr"/>
          <a:lstStyle/>
          <a:p>
            <a:pPr algn="ctr" indent="0" marL="0">
              <a:buNone/>
            </a:pPr>
            <a:r>
              <a:rPr lang="en-US" sz="1000" b="1" dirty="0">
                <a:solidFill>
                  <a:srgbClr val="BA7517"/>
                </a:solidFill>
              </a:rPr>
              <a:t>走る</a:t>
            </a:r>
            <a:endParaRPr lang="en-US" sz="1000" dirty="0"/>
          </a:p>
        </p:txBody>
      </p:sp>
      <p:sp>
        <p:nvSpPr>
          <p:cNvPr id="19" name="Text 17"/>
          <p:cNvSpPr/>
          <p:nvPr/>
        </p:nvSpPr>
        <p:spPr>
          <a:xfrm>
            <a:off x="5074920" y="2139696"/>
            <a:ext cx="438912" cy="329184"/>
          </a:xfrm>
          <a:prstGeom prst="rect">
            <a:avLst/>
          </a:prstGeom>
          <a:noFill/>
          <a:ln/>
        </p:spPr>
        <p:txBody>
          <a:bodyPr wrap="square" rtlCol="0" anchor="ctr"/>
          <a:lstStyle/>
          <a:p>
            <a:pPr algn="r" indent="0" marL="0">
              <a:buNone/>
            </a:pPr>
            <a:r>
              <a:rPr lang="en-US" sz="1000" b="1" dirty="0">
                <a:solidFill>
                  <a:srgbClr val="BA7517"/>
                </a:solidFill>
              </a:rPr>
              <a:t>猫</a:t>
            </a:r>
            <a:endParaRPr lang="en-US" sz="1000" dirty="0"/>
          </a:p>
        </p:txBody>
      </p:sp>
      <p:sp>
        <p:nvSpPr>
          <p:cNvPr id="20" name="Shape 18"/>
          <p:cNvSpPr/>
          <p:nvPr/>
        </p:nvSpPr>
        <p:spPr>
          <a:xfrm>
            <a:off x="5532120" y="2139696"/>
            <a:ext cx="521208" cy="301752"/>
          </a:xfrm>
          <a:prstGeom prst="rect">
            <a:avLst/>
          </a:prstGeom>
          <a:solidFill>
            <a:srgbClr val="CECBF6"/>
          </a:solidFill>
          <a:ln w="3810">
            <a:solidFill>
              <a:srgbClr val="DEDCF0"/>
            </a:solidFill>
            <a:prstDash val="solid"/>
          </a:ln>
        </p:spPr>
      </p:sp>
      <p:sp>
        <p:nvSpPr>
          <p:cNvPr id="21" name="Text 19"/>
          <p:cNvSpPr/>
          <p:nvPr/>
        </p:nvSpPr>
        <p:spPr>
          <a:xfrm>
            <a:off x="5532120" y="2139696"/>
            <a:ext cx="521208" cy="301752"/>
          </a:xfrm>
          <a:prstGeom prst="rect">
            <a:avLst/>
          </a:prstGeom>
          <a:noFill/>
          <a:ln/>
        </p:spPr>
        <p:txBody>
          <a:bodyPr wrap="square" rtlCol="0" anchor="ctr"/>
          <a:lstStyle/>
          <a:p>
            <a:pPr algn="ctr" indent="0" marL="0">
              <a:buNone/>
            </a:pPr>
            <a:r>
              <a:rPr lang="en-US" sz="950" b="1" dirty="0">
                <a:solidFill>
                  <a:srgbClr val="26215C"/>
                </a:solidFill>
                <a:latin typeface="Consolas" pitchFamily="34" charset="0"/>
                <a:ea typeface="Consolas" pitchFamily="34" charset="-122"/>
                <a:cs typeface="Consolas" pitchFamily="34" charset="-120"/>
              </a:rPr>
              <a:t>1.8</a:t>
            </a:r>
            <a:endParaRPr lang="en-US" sz="950" dirty="0"/>
          </a:p>
        </p:txBody>
      </p:sp>
      <p:sp>
        <p:nvSpPr>
          <p:cNvPr id="22" name="Shape 20"/>
          <p:cNvSpPr/>
          <p:nvPr/>
        </p:nvSpPr>
        <p:spPr>
          <a:xfrm>
            <a:off x="6080760" y="2139696"/>
            <a:ext cx="521208" cy="301752"/>
          </a:xfrm>
          <a:prstGeom prst="rect">
            <a:avLst/>
          </a:prstGeom>
          <a:solidFill>
            <a:srgbClr val="DDD9F1"/>
          </a:solidFill>
          <a:ln w="3810">
            <a:solidFill>
              <a:srgbClr val="DEDCF0"/>
            </a:solidFill>
            <a:prstDash val="solid"/>
          </a:ln>
        </p:spPr>
      </p:sp>
      <p:sp>
        <p:nvSpPr>
          <p:cNvPr id="23" name="Text 21"/>
          <p:cNvSpPr/>
          <p:nvPr/>
        </p:nvSpPr>
        <p:spPr>
          <a:xfrm>
            <a:off x="6080760" y="2139696"/>
            <a:ext cx="521208" cy="301752"/>
          </a:xfrm>
          <a:prstGeom prst="rect">
            <a:avLst/>
          </a:prstGeom>
          <a:noFill/>
          <a:ln/>
        </p:spPr>
        <p:txBody>
          <a:bodyPr wrap="square" rtlCol="0" anchor="ctr"/>
          <a:lstStyle/>
          <a:p>
            <a:pPr algn="ctr" indent="0" marL="0">
              <a:buNone/>
            </a:pPr>
            <a:r>
              <a:rPr lang="en-US" sz="950" dirty="0">
                <a:solidFill>
                  <a:srgbClr val="6B7280"/>
                </a:solidFill>
                <a:latin typeface="Consolas" pitchFamily="34" charset="0"/>
                <a:ea typeface="Consolas" pitchFamily="34" charset="-122"/>
                <a:cs typeface="Consolas" pitchFamily="34" charset="-120"/>
              </a:rPr>
              <a:t>0.3</a:t>
            </a:r>
            <a:endParaRPr lang="en-US" sz="950" dirty="0"/>
          </a:p>
        </p:txBody>
      </p:sp>
      <p:sp>
        <p:nvSpPr>
          <p:cNvPr id="24" name="Shape 22"/>
          <p:cNvSpPr/>
          <p:nvPr/>
        </p:nvSpPr>
        <p:spPr>
          <a:xfrm>
            <a:off x="6629400" y="2139696"/>
            <a:ext cx="521208" cy="301752"/>
          </a:xfrm>
          <a:prstGeom prst="rect">
            <a:avLst/>
          </a:prstGeom>
          <a:solidFill>
            <a:srgbClr val="D1CCE9"/>
          </a:solidFill>
          <a:ln w="3810">
            <a:solidFill>
              <a:srgbClr val="DEDCF0"/>
            </a:solidFill>
            <a:prstDash val="solid"/>
          </a:ln>
        </p:spPr>
      </p:sp>
      <p:sp>
        <p:nvSpPr>
          <p:cNvPr id="25" name="Text 23"/>
          <p:cNvSpPr/>
          <p:nvPr/>
        </p:nvSpPr>
        <p:spPr>
          <a:xfrm>
            <a:off x="6629400" y="2139696"/>
            <a:ext cx="521208" cy="301752"/>
          </a:xfrm>
          <a:prstGeom prst="rect">
            <a:avLst/>
          </a:prstGeom>
          <a:noFill/>
          <a:ln/>
        </p:spPr>
        <p:txBody>
          <a:bodyPr wrap="square" rtlCol="0" anchor="ctr"/>
          <a:lstStyle/>
          <a:p>
            <a:pPr algn="ctr" indent="0" marL="0">
              <a:buNone/>
            </a:pPr>
            <a:r>
              <a:rPr lang="en-US" sz="950" dirty="0">
                <a:solidFill>
                  <a:srgbClr val="6B7280"/>
                </a:solidFill>
                <a:latin typeface="Consolas" pitchFamily="34" charset="0"/>
                <a:ea typeface="Consolas" pitchFamily="34" charset="-122"/>
                <a:cs typeface="Consolas" pitchFamily="34" charset="-120"/>
              </a:rPr>
              <a:t>0.5</a:t>
            </a:r>
            <a:endParaRPr lang="en-US" sz="950" dirty="0"/>
          </a:p>
        </p:txBody>
      </p:sp>
      <p:sp>
        <p:nvSpPr>
          <p:cNvPr id="26" name="Shape 24"/>
          <p:cNvSpPr/>
          <p:nvPr/>
        </p:nvSpPr>
        <p:spPr>
          <a:xfrm>
            <a:off x="7178040" y="2139696"/>
            <a:ext cx="521208" cy="301752"/>
          </a:xfrm>
          <a:prstGeom prst="rect">
            <a:avLst/>
          </a:prstGeom>
          <a:solidFill>
            <a:srgbClr val="E3E0F5"/>
          </a:solidFill>
          <a:ln w="3810">
            <a:solidFill>
              <a:srgbClr val="DEDCF0"/>
            </a:solidFill>
            <a:prstDash val="solid"/>
          </a:ln>
        </p:spPr>
      </p:sp>
      <p:sp>
        <p:nvSpPr>
          <p:cNvPr id="27" name="Text 25"/>
          <p:cNvSpPr/>
          <p:nvPr/>
        </p:nvSpPr>
        <p:spPr>
          <a:xfrm>
            <a:off x="7178040" y="2139696"/>
            <a:ext cx="521208" cy="301752"/>
          </a:xfrm>
          <a:prstGeom prst="rect">
            <a:avLst/>
          </a:prstGeom>
          <a:noFill/>
          <a:ln/>
        </p:spPr>
        <p:txBody>
          <a:bodyPr wrap="square" rtlCol="0" anchor="ctr"/>
          <a:lstStyle/>
          <a:p>
            <a:pPr algn="ctr" indent="0" marL="0">
              <a:buNone/>
            </a:pPr>
            <a:r>
              <a:rPr lang="en-US" sz="950" dirty="0">
                <a:solidFill>
                  <a:srgbClr val="6B7280"/>
                </a:solidFill>
                <a:latin typeface="Consolas" pitchFamily="34" charset="0"/>
                <a:ea typeface="Consolas" pitchFamily="34" charset="-122"/>
                <a:cs typeface="Consolas" pitchFamily="34" charset="-120"/>
              </a:rPr>
              <a:t>0.2</a:t>
            </a:r>
            <a:endParaRPr lang="en-US" sz="950" dirty="0"/>
          </a:p>
        </p:txBody>
      </p:sp>
      <p:sp>
        <p:nvSpPr>
          <p:cNvPr id="28" name="Shape 26"/>
          <p:cNvSpPr/>
          <p:nvPr/>
        </p:nvSpPr>
        <p:spPr>
          <a:xfrm>
            <a:off x="7726680" y="2139696"/>
            <a:ext cx="521208" cy="301752"/>
          </a:xfrm>
          <a:prstGeom prst="rect">
            <a:avLst/>
          </a:prstGeom>
          <a:solidFill>
            <a:srgbClr val="BBB1D7"/>
          </a:solidFill>
          <a:ln w="3810">
            <a:solidFill>
              <a:srgbClr val="DEDCF0"/>
            </a:solidFill>
            <a:prstDash val="solid"/>
          </a:ln>
        </p:spPr>
      </p:sp>
      <p:sp>
        <p:nvSpPr>
          <p:cNvPr id="29" name="Text 27"/>
          <p:cNvSpPr/>
          <p:nvPr/>
        </p:nvSpPr>
        <p:spPr>
          <a:xfrm>
            <a:off x="7726680" y="2139696"/>
            <a:ext cx="521208" cy="301752"/>
          </a:xfrm>
          <a:prstGeom prst="rect">
            <a:avLst/>
          </a:prstGeom>
          <a:noFill/>
          <a:ln/>
        </p:spPr>
        <p:txBody>
          <a:bodyPr wrap="square" rtlCol="0" anchor="ctr"/>
          <a:lstStyle/>
          <a:p>
            <a:pPr algn="ctr" indent="0" marL="0">
              <a:buNone/>
            </a:pPr>
            <a:r>
              <a:rPr lang="en-US" sz="950" dirty="0">
                <a:solidFill>
                  <a:srgbClr val="6B7280"/>
                </a:solidFill>
                <a:latin typeface="Consolas" pitchFamily="34" charset="0"/>
                <a:ea typeface="Consolas" pitchFamily="34" charset="-122"/>
                <a:cs typeface="Consolas" pitchFamily="34" charset="-120"/>
              </a:rPr>
              <a:t>0.9</a:t>
            </a:r>
            <a:endParaRPr lang="en-US" sz="950" dirty="0"/>
          </a:p>
        </p:txBody>
      </p:sp>
      <p:sp>
        <p:nvSpPr>
          <p:cNvPr id="30" name="Text 28"/>
          <p:cNvSpPr/>
          <p:nvPr/>
        </p:nvSpPr>
        <p:spPr>
          <a:xfrm>
            <a:off x="5074920" y="2468880"/>
            <a:ext cx="438912" cy="329184"/>
          </a:xfrm>
          <a:prstGeom prst="rect">
            <a:avLst/>
          </a:prstGeom>
          <a:noFill/>
          <a:ln/>
        </p:spPr>
        <p:txBody>
          <a:bodyPr wrap="square" rtlCol="0" anchor="ctr"/>
          <a:lstStyle/>
          <a:p>
            <a:pPr algn="r" indent="0" marL="0">
              <a:buNone/>
            </a:pPr>
            <a:r>
              <a:rPr lang="en-US" sz="1000" b="1" dirty="0">
                <a:solidFill>
                  <a:srgbClr val="BA7517"/>
                </a:solidFill>
              </a:rPr>
              <a:t>が</a:t>
            </a:r>
            <a:endParaRPr lang="en-US" sz="1000" dirty="0"/>
          </a:p>
        </p:txBody>
      </p:sp>
      <p:sp>
        <p:nvSpPr>
          <p:cNvPr id="31" name="Shape 29"/>
          <p:cNvSpPr/>
          <p:nvPr/>
        </p:nvSpPr>
        <p:spPr>
          <a:xfrm>
            <a:off x="5532120" y="2468880"/>
            <a:ext cx="521208" cy="301752"/>
          </a:xfrm>
          <a:prstGeom prst="rect">
            <a:avLst/>
          </a:prstGeom>
          <a:solidFill>
            <a:srgbClr val="D7D2ED"/>
          </a:solidFill>
          <a:ln w="3810">
            <a:solidFill>
              <a:srgbClr val="DEDCF0"/>
            </a:solidFill>
            <a:prstDash val="solid"/>
          </a:ln>
        </p:spPr>
      </p:sp>
      <p:sp>
        <p:nvSpPr>
          <p:cNvPr id="32" name="Text 30"/>
          <p:cNvSpPr/>
          <p:nvPr/>
        </p:nvSpPr>
        <p:spPr>
          <a:xfrm>
            <a:off x="5532120" y="2468880"/>
            <a:ext cx="521208" cy="301752"/>
          </a:xfrm>
          <a:prstGeom prst="rect">
            <a:avLst/>
          </a:prstGeom>
          <a:noFill/>
          <a:ln/>
        </p:spPr>
        <p:txBody>
          <a:bodyPr wrap="square" rtlCol="0" anchor="ctr"/>
          <a:lstStyle/>
          <a:p>
            <a:pPr algn="ctr" indent="0" marL="0">
              <a:buNone/>
            </a:pPr>
            <a:r>
              <a:rPr lang="en-US" sz="950" dirty="0">
                <a:solidFill>
                  <a:srgbClr val="6B7280"/>
                </a:solidFill>
                <a:latin typeface="Consolas" pitchFamily="34" charset="0"/>
                <a:ea typeface="Consolas" pitchFamily="34" charset="-122"/>
                <a:cs typeface="Consolas" pitchFamily="34" charset="-120"/>
              </a:rPr>
              <a:t>0.4</a:t>
            </a:r>
            <a:endParaRPr lang="en-US" sz="950" dirty="0"/>
          </a:p>
        </p:txBody>
      </p:sp>
      <p:sp>
        <p:nvSpPr>
          <p:cNvPr id="33" name="Shape 31"/>
          <p:cNvSpPr/>
          <p:nvPr/>
        </p:nvSpPr>
        <p:spPr>
          <a:xfrm>
            <a:off x="6080760" y="2468880"/>
            <a:ext cx="521208" cy="301752"/>
          </a:xfrm>
          <a:prstGeom prst="rect">
            <a:avLst/>
          </a:prstGeom>
          <a:solidFill>
            <a:srgbClr val="CECBF6"/>
          </a:solidFill>
          <a:ln w="3810">
            <a:solidFill>
              <a:srgbClr val="DEDCF0"/>
            </a:solidFill>
            <a:prstDash val="solid"/>
          </a:ln>
        </p:spPr>
      </p:sp>
      <p:sp>
        <p:nvSpPr>
          <p:cNvPr id="34" name="Text 32"/>
          <p:cNvSpPr/>
          <p:nvPr/>
        </p:nvSpPr>
        <p:spPr>
          <a:xfrm>
            <a:off x="6080760" y="2468880"/>
            <a:ext cx="521208" cy="301752"/>
          </a:xfrm>
          <a:prstGeom prst="rect">
            <a:avLst/>
          </a:prstGeom>
          <a:noFill/>
          <a:ln/>
        </p:spPr>
        <p:txBody>
          <a:bodyPr wrap="square" rtlCol="0" anchor="ctr"/>
          <a:lstStyle/>
          <a:p>
            <a:pPr algn="ctr" indent="0" marL="0">
              <a:buNone/>
            </a:pPr>
            <a:r>
              <a:rPr lang="en-US" sz="950" b="1" dirty="0">
                <a:solidFill>
                  <a:srgbClr val="26215C"/>
                </a:solidFill>
                <a:latin typeface="Consolas" pitchFamily="34" charset="0"/>
                <a:ea typeface="Consolas" pitchFamily="34" charset="-122"/>
                <a:cs typeface="Consolas" pitchFamily="34" charset="-120"/>
              </a:rPr>
              <a:t>1.5</a:t>
            </a:r>
            <a:endParaRPr lang="en-US" sz="950" dirty="0"/>
          </a:p>
        </p:txBody>
      </p:sp>
      <p:sp>
        <p:nvSpPr>
          <p:cNvPr id="35" name="Shape 33"/>
          <p:cNvSpPr/>
          <p:nvPr/>
        </p:nvSpPr>
        <p:spPr>
          <a:xfrm>
            <a:off x="6629400" y="2468880"/>
            <a:ext cx="521208" cy="301752"/>
          </a:xfrm>
          <a:prstGeom prst="rect">
            <a:avLst/>
          </a:prstGeom>
          <a:solidFill>
            <a:srgbClr val="E3E0F5"/>
          </a:solidFill>
          <a:ln w="3810">
            <a:solidFill>
              <a:srgbClr val="DEDCF0"/>
            </a:solidFill>
            <a:prstDash val="solid"/>
          </a:ln>
        </p:spPr>
      </p:sp>
      <p:sp>
        <p:nvSpPr>
          <p:cNvPr id="36" name="Text 34"/>
          <p:cNvSpPr/>
          <p:nvPr/>
        </p:nvSpPr>
        <p:spPr>
          <a:xfrm>
            <a:off x="6629400" y="2468880"/>
            <a:ext cx="521208" cy="301752"/>
          </a:xfrm>
          <a:prstGeom prst="rect">
            <a:avLst/>
          </a:prstGeom>
          <a:noFill/>
          <a:ln/>
        </p:spPr>
        <p:txBody>
          <a:bodyPr wrap="square" rtlCol="0" anchor="ctr"/>
          <a:lstStyle/>
          <a:p>
            <a:pPr algn="ctr" indent="0" marL="0">
              <a:buNone/>
            </a:pPr>
            <a:r>
              <a:rPr lang="en-US" sz="950" dirty="0">
                <a:solidFill>
                  <a:srgbClr val="6B7280"/>
                </a:solidFill>
                <a:latin typeface="Consolas" pitchFamily="34" charset="0"/>
                <a:ea typeface="Consolas" pitchFamily="34" charset="-122"/>
                <a:cs typeface="Consolas" pitchFamily="34" charset="-120"/>
              </a:rPr>
              <a:t>0.2</a:t>
            </a:r>
            <a:endParaRPr lang="en-US" sz="950" dirty="0"/>
          </a:p>
        </p:txBody>
      </p:sp>
      <p:sp>
        <p:nvSpPr>
          <p:cNvPr id="37" name="Shape 35"/>
          <p:cNvSpPr/>
          <p:nvPr/>
        </p:nvSpPr>
        <p:spPr>
          <a:xfrm>
            <a:off x="7178040" y="2468880"/>
            <a:ext cx="521208" cy="301752"/>
          </a:xfrm>
          <a:prstGeom prst="rect">
            <a:avLst/>
          </a:prstGeom>
          <a:solidFill>
            <a:srgbClr val="C6BEE0"/>
          </a:solidFill>
          <a:ln w="3810">
            <a:solidFill>
              <a:srgbClr val="DEDCF0"/>
            </a:solidFill>
            <a:prstDash val="solid"/>
          </a:ln>
        </p:spPr>
      </p:sp>
      <p:sp>
        <p:nvSpPr>
          <p:cNvPr id="38" name="Text 36"/>
          <p:cNvSpPr/>
          <p:nvPr/>
        </p:nvSpPr>
        <p:spPr>
          <a:xfrm>
            <a:off x="7178040" y="2468880"/>
            <a:ext cx="521208" cy="301752"/>
          </a:xfrm>
          <a:prstGeom prst="rect">
            <a:avLst/>
          </a:prstGeom>
          <a:noFill/>
          <a:ln/>
        </p:spPr>
        <p:txBody>
          <a:bodyPr wrap="square" rtlCol="0" anchor="ctr"/>
          <a:lstStyle/>
          <a:p>
            <a:pPr algn="ctr" indent="0" marL="0">
              <a:buNone/>
            </a:pPr>
            <a:r>
              <a:rPr lang="en-US" sz="950" dirty="0">
                <a:solidFill>
                  <a:srgbClr val="6B7280"/>
                </a:solidFill>
                <a:latin typeface="Consolas" pitchFamily="34" charset="0"/>
                <a:ea typeface="Consolas" pitchFamily="34" charset="-122"/>
                <a:cs typeface="Consolas" pitchFamily="34" charset="-120"/>
              </a:rPr>
              <a:t>0.7</a:t>
            </a:r>
            <a:endParaRPr lang="en-US" sz="950" dirty="0"/>
          </a:p>
        </p:txBody>
      </p:sp>
      <p:sp>
        <p:nvSpPr>
          <p:cNvPr id="39" name="Shape 37"/>
          <p:cNvSpPr/>
          <p:nvPr/>
        </p:nvSpPr>
        <p:spPr>
          <a:xfrm>
            <a:off x="7726680" y="2468880"/>
            <a:ext cx="521208" cy="301752"/>
          </a:xfrm>
          <a:prstGeom prst="rect">
            <a:avLst/>
          </a:prstGeom>
          <a:solidFill>
            <a:srgbClr val="DDD9F1"/>
          </a:solidFill>
          <a:ln w="3810">
            <a:solidFill>
              <a:srgbClr val="DEDCF0"/>
            </a:solidFill>
            <a:prstDash val="solid"/>
          </a:ln>
        </p:spPr>
      </p:sp>
      <p:sp>
        <p:nvSpPr>
          <p:cNvPr id="40" name="Text 38"/>
          <p:cNvSpPr/>
          <p:nvPr/>
        </p:nvSpPr>
        <p:spPr>
          <a:xfrm>
            <a:off x="7726680" y="2468880"/>
            <a:ext cx="521208" cy="301752"/>
          </a:xfrm>
          <a:prstGeom prst="rect">
            <a:avLst/>
          </a:prstGeom>
          <a:noFill/>
          <a:ln/>
        </p:spPr>
        <p:txBody>
          <a:bodyPr wrap="square" rtlCol="0" anchor="ctr"/>
          <a:lstStyle/>
          <a:p>
            <a:pPr algn="ctr" indent="0" marL="0">
              <a:buNone/>
            </a:pPr>
            <a:r>
              <a:rPr lang="en-US" sz="950" dirty="0">
                <a:solidFill>
                  <a:srgbClr val="6B7280"/>
                </a:solidFill>
                <a:latin typeface="Consolas" pitchFamily="34" charset="0"/>
                <a:ea typeface="Consolas" pitchFamily="34" charset="-122"/>
                <a:cs typeface="Consolas" pitchFamily="34" charset="-120"/>
              </a:rPr>
              <a:t>0.3</a:t>
            </a:r>
            <a:endParaRPr lang="en-US" sz="950" dirty="0"/>
          </a:p>
        </p:txBody>
      </p:sp>
      <p:sp>
        <p:nvSpPr>
          <p:cNvPr id="41" name="Text 39"/>
          <p:cNvSpPr/>
          <p:nvPr/>
        </p:nvSpPr>
        <p:spPr>
          <a:xfrm>
            <a:off x="5074920" y="2798064"/>
            <a:ext cx="438912" cy="329184"/>
          </a:xfrm>
          <a:prstGeom prst="rect">
            <a:avLst/>
          </a:prstGeom>
          <a:noFill/>
          <a:ln/>
        </p:spPr>
        <p:txBody>
          <a:bodyPr wrap="square" rtlCol="0" anchor="ctr"/>
          <a:lstStyle/>
          <a:p>
            <a:pPr algn="r" indent="0" marL="0">
              <a:buNone/>
            </a:pPr>
            <a:r>
              <a:rPr lang="en-US" sz="1000" b="1" dirty="0">
                <a:solidFill>
                  <a:srgbClr val="BA7517"/>
                </a:solidFill>
              </a:rPr>
              <a:t>公園</a:t>
            </a:r>
            <a:endParaRPr lang="en-US" sz="1000" dirty="0"/>
          </a:p>
        </p:txBody>
      </p:sp>
      <p:sp>
        <p:nvSpPr>
          <p:cNvPr id="42" name="Shape 40"/>
          <p:cNvSpPr/>
          <p:nvPr/>
        </p:nvSpPr>
        <p:spPr>
          <a:xfrm>
            <a:off x="5532120" y="2798064"/>
            <a:ext cx="521208" cy="301752"/>
          </a:xfrm>
          <a:prstGeom prst="rect">
            <a:avLst/>
          </a:prstGeom>
          <a:solidFill>
            <a:srgbClr val="CCC5E4"/>
          </a:solidFill>
          <a:ln w="3810">
            <a:solidFill>
              <a:srgbClr val="DEDCF0"/>
            </a:solidFill>
            <a:prstDash val="solid"/>
          </a:ln>
        </p:spPr>
      </p:sp>
      <p:sp>
        <p:nvSpPr>
          <p:cNvPr id="43" name="Text 41"/>
          <p:cNvSpPr/>
          <p:nvPr/>
        </p:nvSpPr>
        <p:spPr>
          <a:xfrm>
            <a:off x="5532120" y="2798064"/>
            <a:ext cx="521208" cy="301752"/>
          </a:xfrm>
          <a:prstGeom prst="rect">
            <a:avLst/>
          </a:prstGeom>
          <a:noFill/>
          <a:ln/>
        </p:spPr>
        <p:txBody>
          <a:bodyPr wrap="square" rtlCol="0" anchor="ctr"/>
          <a:lstStyle/>
          <a:p>
            <a:pPr algn="ctr" indent="0" marL="0">
              <a:buNone/>
            </a:pPr>
            <a:r>
              <a:rPr lang="en-US" sz="950" dirty="0">
                <a:solidFill>
                  <a:srgbClr val="6B7280"/>
                </a:solidFill>
                <a:latin typeface="Consolas" pitchFamily="34" charset="0"/>
                <a:ea typeface="Consolas" pitchFamily="34" charset="-122"/>
                <a:cs typeface="Consolas" pitchFamily="34" charset="-120"/>
              </a:rPr>
              <a:t>0.6</a:t>
            </a:r>
            <a:endParaRPr lang="en-US" sz="950" dirty="0"/>
          </a:p>
        </p:txBody>
      </p:sp>
      <p:sp>
        <p:nvSpPr>
          <p:cNvPr id="44" name="Shape 42"/>
          <p:cNvSpPr/>
          <p:nvPr/>
        </p:nvSpPr>
        <p:spPr>
          <a:xfrm>
            <a:off x="6080760" y="2798064"/>
            <a:ext cx="521208" cy="301752"/>
          </a:xfrm>
          <a:prstGeom prst="rect">
            <a:avLst/>
          </a:prstGeom>
          <a:solidFill>
            <a:srgbClr val="E3E0F5"/>
          </a:solidFill>
          <a:ln w="3810">
            <a:solidFill>
              <a:srgbClr val="DEDCF0"/>
            </a:solidFill>
            <a:prstDash val="solid"/>
          </a:ln>
        </p:spPr>
      </p:sp>
      <p:sp>
        <p:nvSpPr>
          <p:cNvPr id="45" name="Text 43"/>
          <p:cNvSpPr/>
          <p:nvPr/>
        </p:nvSpPr>
        <p:spPr>
          <a:xfrm>
            <a:off x="6080760" y="2798064"/>
            <a:ext cx="521208" cy="301752"/>
          </a:xfrm>
          <a:prstGeom prst="rect">
            <a:avLst/>
          </a:prstGeom>
          <a:noFill/>
          <a:ln/>
        </p:spPr>
        <p:txBody>
          <a:bodyPr wrap="square" rtlCol="0" anchor="ctr"/>
          <a:lstStyle/>
          <a:p>
            <a:pPr algn="ctr" indent="0" marL="0">
              <a:buNone/>
            </a:pPr>
            <a:r>
              <a:rPr lang="en-US" sz="950" dirty="0">
                <a:solidFill>
                  <a:srgbClr val="6B7280"/>
                </a:solidFill>
                <a:latin typeface="Consolas" pitchFamily="34" charset="0"/>
                <a:ea typeface="Consolas" pitchFamily="34" charset="-122"/>
                <a:cs typeface="Consolas" pitchFamily="34" charset="-120"/>
              </a:rPr>
              <a:t>0.2</a:t>
            </a:r>
            <a:endParaRPr lang="en-US" sz="950" dirty="0"/>
          </a:p>
        </p:txBody>
      </p:sp>
      <p:sp>
        <p:nvSpPr>
          <p:cNvPr id="46" name="Shape 44"/>
          <p:cNvSpPr/>
          <p:nvPr/>
        </p:nvSpPr>
        <p:spPr>
          <a:xfrm>
            <a:off x="6629400" y="2798064"/>
            <a:ext cx="521208" cy="301752"/>
          </a:xfrm>
          <a:prstGeom prst="rect">
            <a:avLst/>
          </a:prstGeom>
          <a:solidFill>
            <a:srgbClr val="CECBF6"/>
          </a:solidFill>
          <a:ln w="3810">
            <a:solidFill>
              <a:srgbClr val="DEDCF0"/>
            </a:solidFill>
            <a:prstDash val="solid"/>
          </a:ln>
        </p:spPr>
      </p:sp>
      <p:sp>
        <p:nvSpPr>
          <p:cNvPr id="47" name="Text 45"/>
          <p:cNvSpPr/>
          <p:nvPr/>
        </p:nvSpPr>
        <p:spPr>
          <a:xfrm>
            <a:off x="6629400" y="2798064"/>
            <a:ext cx="521208" cy="301752"/>
          </a:xfrm>
          <a:prstGeom prst="rect">
            <a:avLst/>
          </a:prstGeom>
          <a:noFill/>
          <a:ln/>
        </p:spPr>
        <p:txBody>
          <a:bodyPr wrap="square" rtlCol="0" anchor="ctr"/>
          <a:lstStyle/>
          <a:p>
            <a:pPr algn="ctr" indent="0" marL="0">
              <a:buNone/>
            </a:pPr>
            <a:r>
              <a:rPr lang="en-US" sz="950" b="1" dirty="0">
                <a:solidFill>
                  <a:srgbClr val="26215C"/>
                </a:solidFill>
                <a:latin typeface="Consolas" pitchFamily="34" charset="0"/>
                <a:ea typeface="Consolas" pitchFamily="34" charset="-122"/>
                <a:cs typeface="Consolas" pitchFamily="34" charset="-120"/>
              </a:rPr>
              <a:t>1.9</a:t>
            </a:r>
            <a:endParaRPr lang="en-US" sz="950" dirty="0"/>
          </a:p>
        </p:txBody>
      </p:sp>
      <p:sp>
        <p:nvSpPr>
          <p:cNvPr id="48" name="Shape 46"/>
          <p:cNvSpPr/>
          <p:nvPr/>
        </p:nvSpPr>
        <p:spPr>
          <a:xfrm>
            <a:off x="7178040" y="2798064"/>
            <a:ext cx="521208" cy="301752"/>
          </a:xfrm>
          <a:prstGeom prst="rect">
            <a:avLst/>
          </a:prstGeom>
          <a:solidFill>
            <a:srgbClr val="C0B8DC"/>
          </a:solidFill>
          <a:ln w="3810">
            <a:solidFill>
              <a:srgbClr val="DEDCF0"/>
            </a:solidFill>
            <a:prstDash val="solid"/>
          </a:ln>
        </p:spPr>
      </p:sp>
      <p:sp>
        <p:nvSpPr>
          <p:cNvPr id="49" name="Text 47"/>
          <p:cNvSpPr/>
          <p:nvPr/>
        </p:nvSpPr>
        <p:spPr>
          <a:xfrm>
            <a:off x="7178040" y="2798064"/>
            <a:ext cx="521208" cy="301752"/>
          </a:xfrm>
          <a:prstGeom prst="rect">
            <a:avLst/>
          </a:prstGeom>
          <a:noFill/>
          <a:ln/>
        </p:spPr>
        <p:txBody>
          <a:bodyPr wrap="square" rtlCol="0" anchor="ctr"/>
          <a:lstStyle/>
          <a:p>
            <a:pPr algn="ctr" indent="0" marL="0">
              <a:buNone/>
            </a:pPr>
            <a:r>
              <a:rPr lang="en-US" sz="950" dirty="0">
                <a:solidFill>
                  <a:srgbClr val="6B7280"/>
                </a:solidFill>
                <a:latin typeface="Consolas" pitchFamily="34" charset="0"/>
                <a:ea typeface="Consolas" pitchFamily="34" charset="-122"/>
                <a:cs typeface="Consolas" pitchFamily="34" charset="-120"/>
              </a:rPr>
              <a:t>0.8</a:t>
            </a:r>
            <a:endParaRPr lang="en-US" sz="950" dirty="0"/>
          </a:p>
        </p:txBody>
      </p:sp>
      <p:sp>
        <p:nvSpPr>
          <p:cNvPr id="50" name="Shape 48"/>
          <p:cNvSpPr/>
          <p:nvPr/>
        </p:nvSpPr>
        <p:spPr>
          <a:xfrm>
            <a:off x="7726680" y="2798064"/>
            <a:ext cx="521208" cy="301752"/>
          </a:xfrm>
          <a:prstGeom prst="rect">
            <a:avLst/>
          </a:prstGeom>
          <a:solidFill>
            <a:srgbClr val="AFA4CF"/>
          </a:solidFill>
          <a:ln w="3810">
            <a:solidFill>
              <a:srgbClr val="DEDCF0"/>
            </a:solidFill>
            <a:prstDash val="solid"/>
          </a:ln>
        </p:spPr>
      </p:sp>
      <p:sp>
        <p:nvSpPr>
          <p:cNvPr id="51" name="Text 49"/>
          <p:cNvSpPr/>
          <p:nvPr/>
        </p:nvSpPr>
        <p:spPr>
          <a:xfrm>
            <a:off x="7726680" y="2798064"/>
            <a:ext cx="521208" cy="301752"/>
          </a:xfrm>
          <a:prstGeom prst="rect">
            <a:avLst/>
          </a:prstGeom>
          <a:noFill/>
          <a:ln/>
        </p:spPr>
        <p:txBody>
          <a:bodyPr wrap="square" rtlCol="0" anchor="ctr"/>
          <a:lstStyle/>
          <a:p>
            <a:pPr algn="ctr" indent="0" marL="0">
              <a:buNone/>
            </a:pPr>
            <a:r>
              <a:rPr lang="en-US" sz="950" dirty="0">
                <a:solidFill>
                  <a:srgbClr val="6B7280"/>
                </a:solidFill>
                <a:latin typeface="Consolas" pitchFamily="34" charset="0"/>
                <a:ea typeface="Consolas" pitchFamily="34" charset="-122"/>
                <a:cs typeface="Consolas" pitchFamily="34" charset="-120"/>
              </a:rPr>
              <a:t>1.1</a:t>
            </a:r>
            <a:endParaRPr lang="en-US" sz="950" dirty="0"/>
          </a:p>
        </p:txBody>
      </p:sp>
      <p:sp>
        <p:nvSpPr>
          <p:cNvPr id="52" name="Text 50"/>
          <p:cNvSpPr/>
          <p:nvPr/>
        </p:nvSpPr>
        <p:spPr>
          <a:xfrm>
            <a:off x="5074920" y="3127248"/>
            <a:ext cx="438912" cy="329184"/>
          </a:xfrm>
          <a:prstGeom prst="rect">
            <a:avLst/>
          </a:prstGeom>
          <a:noFill/>
          <a:ln/>
        </p:spPr>
        <p:txBody>
          <a:bodyPr wrap="square" rtlCol="0" anchor="ctr"/>
          <a:lstStyle/>
          <a:p>
            <a:pPr algn="r" indent="0" marL="0">
              <a:buNone/>
            </a:pPr>
            <a:r>
              <a:rPr lang="en-US" sz="1000" b="1" dirty="0">
                <a:solidFill>
                  <a:srgbClr val="BA7517"/>
                </a:solidFill>
              </a:rPr>
              <a:t>を</a:t>
            </a:r>
            <a:endParaRPr lang="en-US" sz="1000" dirty="0"/>
          </a:p>
        </p:txBody>
      </p:sp>
      <p:sp>
        <p:nvSpPr>
          <p:cNvPr id="53" name="Shape 51"/>
          <p:cNvSpPr/>
          <p:nvPr/>
        </p:nvSpPr>
        <p:spPr>
          <a:xfrm>
            <a:off x="5532120" y="3127248"/>
            <a:ext cx="521208" cy="301752"/>
          </a:xfrm>
          <a:prstGeom prst="rect">
            <a:avLst/>
          </a:prstGeom>
          <a:solidFill>
            <a:srgbClr val="DDD9F1"/>
          </a:solidFill>
          <a:ln w="3810">
            <a:solidFill>
              <a:srgbClr val="DEDCF0"/>
            </a:solidFill>
            <a:prstDash val="solid"/>
          </a:ln>
        </p:spPr>
      </p:sp>
      <p:sp>
        <p:nvSpPr>
          <p:cNvPr id="54" name="Text 52"/>
          <p:cNvSpPr/>
          <p:nvPr/>
        </p:nvSpPr>
        <p:spPr>
          <a:xfrm>
            <a:off x="5532120" y="3127248"/>
            <a:ext cx="521208" cy="301752"/>
          </a:xfrm>
          <a:prstGeom prst="rect">
            <a:avLst/>
          </a:prstGeom>
          <a:noFill/>
          <a:ln/>
        </p:spPr>
        <p:txBody>
          <a:bodyPr wrap="square" rtlCol="0" anchor="ctr"/>
          <a:lstStyle/>
          <a:p>
            <a:pPr algn="ctr" indent="0" marL="0">
              <a:buNone/>
            </a:pPr>
            <a:r>
              <a:rPr lang="en-US" sz="950" dirty="0">
                <a:solidFill>
                  <a:srgbClr val="6B7280"/>
                </a:solidFill>
                <a:latin typeface="Consolas" pitchFamily="34" charset="0"/>
                <a:ea typeface="Consolas" pitchFamily="34" charset="-122"/>
                <a:cs typeface="Consolas" pitchFamily="34" charset="-120"/>
              </a:rPr>
              <a:t>0.3</a:t>
            </a:r>
            <a:endParaRPr lang="en-US" sz="950" dirty="0"/>
          </a:p>
        </p:txBody>
      </p:sp>
      <p:sp>
        <p:nvSpPr>
          <p:cNvPr id="55" name="Shape 53"/>
          <p:cNvSpPr/>
          <p:nvPr/>
        </p:nvSpPr>
        <p:spPr>
          <a:xfrm>
            <a:off x="6080760" y="3127248"/>
            <a:ext cx="521208" cy="301752"/>
          </a:xfrm>
          <a:prstGeom prst="rect">
            <a:avLst/>
          </a:prstGeom>
          <a:solidFill>
            <a:srgbClr val="CCC5E4"/>
          </a:solidFill>
          <a:ln w="3810">
            <a:solidFill>
              <a:srgbClr val="DEDCF0"/>
            </a:solidFill>
            <a:prstDash val="solid"/>
          </a:ln>
        </p:spPr>
      </p:sp>
      <p:sp>
        <p:nvSpPr>
          <p:cNvPr id="56" name="Text 54"/>
          <p:cNvSpPr/>
          <p:nvPr/>
        </p:nvSpPr>
        <p:spPr>
          <a:xfrm>
            <a:off x="6080760" y="3127248"/>
            <a:ext cx="521208" cy="301752"/>
          </a:xfrm>
          <a:prstGeom prst="rect">
            <a:avLst/>
          </a:prstGeom>
          <a:noFill/>
          <a:ln/>
        </p:spPr>
        <p:txBody>
          <a:bodyPr wrap="square" rtlCol="0" anchor="ctr"/>
          <a:lstStyle/>
          <a:p>
            <a:pPr algn="ctr" indent="0" marL="0">
              <a:buNone/>
            </a:pPr>
            <a:r>
              <a:rPr lang="en-US" sz="950" dirty="0">
                <a:solidFill>
                  <a:srgbClr val="6B7280"/>
                </a:solidFill>
                <a:latin typeface="Consolas" pitchFamily="34" charset="0"/>
                <a:ea typeface="Consolas" pitchFamily="34" charset="-122"/>
                <a:cs typeface="Consolas" pitchFamily="34" charset="-120"/>
              </a:rPr>
              <a:t>0.6</a:t>
            </a:r>
            <a:endParaRPr lang="en-US" sz="950" dirty="0"/>
          </a:p>
        </p:txBody>
      </p:sp>
      <p:sp>
        <p:nvSpPr>
          <p:cNvPr id="57" name="Shape 55"/>
          <p:cNvSpPr/>
          <p:nvPr/>
        </p:nvSpPr>
        <p:spPr>
          <a:xfrm>
            <a:off x="6629400" y="3127248"/>
            <a:ext cx="521208" cy="301752"/>
          </a:xfrm>
          <a:prstGeom prst="rect">
            <a:avLst/>
          </a:prstGeom>
          <a:solidFill>
            <a:srgbClr val="C6BEE0"/>
          </a:solidFill>
          <a:ln w="3810">
            <a:solidFill>
              <a:srgbClr val="DEDCF0"/>
            </a:solidFill>
            <a:prstDash val="solid"/>
          </a:ln>
        </p:spPr>
      </p:sp>
      <p:sp>
        <p:nvSpPr>
          <p:cNvPr id="58" name="Text 56"/>
          <p:cNvSpPr/>
          <p:nvPr/>
        </p:nvSpPr>
        <p:spPr>
          <a:xfrm>
            <a:off x="6629400" y="3127248"/>
            <a:ext cx="521208" cy="301752"/>
          </a:xfrm>
          <a:prstGeom prst="rect">
            <a:avLst/>
          </a:prstGeom>
          <a:noFill/>
          <a:ln/>
        </p:spPr>
        <p:txBody>
          <a:bodyPr wrap="square" rtlCol="0" anchor="ctr"/>
          <a:lstStyle/>
          <a:p>
            <a:pPr algn="ctr" indent="0" marL="0">
              <a:buNone/>
            </a:pPr>
            <a:r>
              <a:rPr lang="en-US" sz="950" dirty="0">
                <a:solidFill>
                  <a:srgbClr val="6B7280"/>
                </a:solidFill>
                <a:latin typeface="Consolas" pitchFamily="34" charset="0"/>
                <a:ea typeface="Consolas" pitchFamily="34" charset="-122"/>
                <a:cs typeface="Consolas" pitchFamily="34" charset="-120"/>
              </a:rPr>
              <a:t>0.7</a:t>
            </a:r>
            <a:endParaRPr lang="en-US" sz="950" dirty="0"/>
          </a:p>
        </p:txBody>
      </p:sp>
      <p:sp>
        <p:nvSpPr>
          <p:cNvPr id="59" name="Shape 57"/>
          <p:cNvSpPr/>
          <p:nvPr/>
        </p:nvSpPr>
        <p:spPr>
          <a:xfrm>
            <a:off x="7178040" y="3127248"/>
            <a:ext cx="521208" cy="301752"/>
          </a:xfrm>
          <a:prstGeom prst="rect">
            <a:avLst/>
          </a:prstGeom>
          <a:solidFill>
            <a:srgbClr val="CECBF6"/>
          </a:solidFill>
          <a:ln w="3810">
            <a:solidFill>
              <a:srgbClr val="DEDCF0"/>
            </a:solidFill>
            <a:prstDash val="solid"/>
          </a:ln>
        </p:spPr>
      </p:sp>
      <p:sp>
        <p:nvSpPr>
          <p:cNvPr id="60" name="Text 58"/>
          <p:cNvSpPr/>
          <p:nvPr/>
        </p:nvSpPr>
        <p:spPr>
          <a:xfrm>
            <a:off x="7178040" y="3127248"/>
            <a:ext cx="521208" cy="301752"/>
          </a:xfrm>
          <a:prstGeom prst="rect">
            <a:avLst/>
          </a:prstGeom>
          <a:noFill/>
          <a:ln/>
        </p:spPr>
        <p:txBody>
          <a:bodyPr wrap="square" rtlCol="0" anchor="ctr"/>
          <a:lstStyle/>
          <a:p>
            <a:pPr algn="ctr" indent="0" marL="0">
              <a:buNone/>
            </a:pPr>
            <a:r>
              <a:rPr lang="en-US" sz="950" b="1" dirty="0">
                <a:solidFill>
                  <a:srgbClr val="26215C"/>
                </a:solidFill>
                <a:latin typeface="Consolas" pitchFamily="34" charset="0"/>
                <a:ea typeface="Consolas" pitchFamily="34" charset="-122"/>
                <a:cs typeface="Consolas" pitchFamily="34" charset="-120"/>
              </a:rPr>
              <a:t>1.4</a:t>
            </a:r>
            <a:endParaRPr lang="en-US" sz="950" dirty="0"/>
          </a:p>
        </p:txBody>
      </p:sp>
      <p:sp>
        <p:nvSpPr>
          <p:cNvPr id="61" name="Shape 59"/>
          <p:cNvSpPr/>
          <p:nvPr/>
        </p:nvSpPr>
        <p:spPr>
          <a:xfrm>
            <a:off x="7726680" y="3127248"/>
            <a:ext cx="521208" cy="301752"/>
          </a:xfrm>
          <a:prstGeom prst="rect">
            <a:avLst/>
          </a:prstGeom>
          <a:solidFill>
            <a:srgbClr val="D1CCE9"/>
          </a:solidFill>
          <a:ln w="3810">
            <a:solidFill>
              <a:srgbClr val="DEDCF0"/>
            </a:solidFill>
            <a:prstDash val="solid"/>
          </a:ln>
        </p:spPr>
      </p:sp>
      <p:sp>
        <p:nvSpPr>
          <p:cNvPr id="62" name="Text 60"/>
          <p:cNvSpPr/>
          <p:nvPr/>
        </p:nvSpPr>
        <p:spPr>
          <a:xfrm>
            <a:off x="7726680" y="3127248"/>
            <a:ext cx="521208" cy="301752"/>
          </a:xfrm>
          <a:prstGeom prst="rect">
            <a:avLst/>
          </a:prstGeom>
          <a:noFill/>
          <a:ln/>
        </p:spPr>
        <p:txBody>
          <a:bodyPr wrap="square" rtlCol="0" anchor="ctr"/>
          <a:lstStyle/>
          <a:p>
            <a:pPr algn="ctr" indent="0" marL="0">
              <a:buNone/>
            </a:pPr>
            <a:r>
              <a:rPr lang="en-US" sz="950" dirty="0">
                <a:solidFill>
                  <a:srgbClr val="6B7280"/>
                </a:solidFill>
                <a:latin typeface="Consolas" pitchFamily="34" charset="0"/>
                <a:ea typeface="Consolas" pitchFamily="34" charset="-122"/>
                <a:cs typeface="Consolas" pitchFamily="34" charset="-120"/>
              </a:rPr>
              <a:t>0.5</a:t>
            </a:r>
            <a:endParaRPr lang="en-US" sz="950" dirty="0"/>
          </a:p>
        </p:txBody>
      </p:sp>
      <p:sp>
        <p:nvSpPr>
          <p:cNvPr id="63" name="Text 61"/>
          <p:cNvSpPr/>
          <p:nvPr/>
        </p:nvSpPr>
        <p:spPr>
          <a:xfrm>
            <a:off x="5074920" y="3456432"/>
            <a:ext cx="438912" cy="329184"/>
          </a:xfrm>
          <a:prstGeom prst="rect">
            <a:avLst/>
          </a:prstGeom>
          <a:noFill/>
          <a:ln/>
        </p:spPr>
        <p:txBody>
          <a:bodyPr wrap="square" rtlCol="0" anchor="ctr"/>
          <a:lstStyle/>
          <a:p>
            <a:pPr algn="r" indent="0" marL="0">
              <a:buNone/>
            </a:pPr>
            <a:r>
              <a:rPr lang="en-US" sz="1000" b="1" dirty="0">
                <a:solidFill>
                  <a:srgbClr val="BA7517"/>
                </a:solidFill>
              </a:rPr>
              <a:t>走る</a:t>
            </a:r>
            <a:endParaRPr lang="en-US" sz="1000" dirty="0"/>
          </a:p>
        </p:txBody>
      </p:sp>
      <p:sp>
        <p:nvSpPr>
          <p:cNvPr id="64" name="Shape 62"/>
          <p:cNvSpPr/>
          <p:nvPr/>
        </p:nvSpPr>
        <p:spPr>
          <a:xfrm>
            <a:off x="5532120" y="3456432"/>
            <a:ext cx="521208" cy="301752"/>
          </a:xfrm>
          <a:prstGeom prst="rect">
            <a:avLst/>
          </a:prstGeom>
          <a:solidFill>
            <a:srgbClr val="B5AAD3"/>
          </a:solidFill>
          <a:ln w="3810">
            <a:solidFill>
              <a:srgbClr val="DEDCF0"/>
            </a:solidFill>
            <a:prstDash val="solid"/>
          </a:ln>
        </p:spPr>
      </p:sp>
      <p:sp>
        <p:nvSpPr>
          <p:cNvPr id="65" name="Text 63"/>
          <p:cNvSpPr/>
          <p:nvPr/>
        </p:nvSpPr>
        <p:spPr>
          <a:xfrm>
            <a:off x="5532120" y="3456432"/>
            <a:ext cx="521208" cy="301752"/>
          </a:xfrm>
          <a:prstGeom prst="rect">
            <a:avLst/>
          </a:prstGeom>
          <a:noFill/>
          <a:ln/>
        </p:spPr>
        <p:txBody>
          <a:bodyPr wrap="square" rtlCol="0" anchor="ctr"/>
          <a:lstStyle/>
          <a:p>
            <a:pPr algn="ctr" indent="0" marL="0">
              <a:buNone/>
            </a:pPr>
            <a:r>
              <a:rPr lang="en-US" sz="950" dirty="0">
                <a:solidFill>
                  <a:srgbClr val="6B7280"/>
                </a:solidFill>
                <a:latin typeface="Consolas" pitchFamily="34" charset="0"/>
                <a:ea typeface="Consolas" pitchFamily="34" charset="-122"/>
                <a:cs typeface="Consolas" pitchFamily="34" charset="-120"/>
              </a:rPr>
              <a:t>1.0</a:t>
            </a:r>
            <a:endParaRPr lang="en-US" sz="950" dirty="0"/>
          </a:p>
        </p:txBody>
      </p:sp>
      <p:sp>
        <p:nvSpPr>
          <p:cNvPr id="66" name="Shape 64"/>
          <p:cNvSpPr/>
          <p:nvPr/>
        </p:nvSpPr>
        <p:spPr>
          <a:xfrm>
            <a:off x="6080760" y="3456432"/>
            <a:ext cx="521208" cy="301752"/>
          </a:xfrm>
          <a:prstGeom prst="rect">
            <a:avLst/>
          </a:prstGeom>
          <a:solidFill>
            <a:srgbClr val="D7D2ED"/>
          </a:solidFill>
          <a:ln w="3810">
            <a:solidFill>
              <a:srgbClr val="DEDCF0"/>
            </a:solidFill>
            <a:prstDash val="solid"/>
          </a:ln>
        </p:spPr>
      </p:sp>
      <p:sp>
        <p:nvSpPr>
          <p:cNvPr id="67" name="Text 65"/>
          <p:cNvSpPr/>
          <p:nvPr/>
        </p:nvSpPr>
        <p:spPr>
          <a:xfrm>
            <a:off x="6080760" y="3456432"/>
            <a:ext cx="521208" cy="301752"/>
          </a:xfrm>
          <a:prstGeom prst="rect">
            <a:avLst/>
          </a:prstGeom>
          <a:noFill/>
          <a:ln/>
        </p:spPr>
        <p:txBody>
          <a:bodyPr wrap="square" rtlCol="0" anchor="ctr"/>
          <a:lstStyle/>
          <a:p>
            <a:pPr algn="ctr" indent="0" marL="0">
              <a:buNone/>
            </a:pPr>
            <a:r>
              <a:rPr lang="en-US" sz="950" dirty="0">
                <a:solidFill>
                  <a:srgbClr val="6B7280"/>
                </a:solidFill>
                <a:latin typeface="Consolas" pitchFamily="34" charset="0"/>
                <a:ea typeface="Consolas" pitchFamily="34" charset="-122"/>
                <a:cs typeface="Consolas" pitchFamily="34" charset="-120"/>
              </a:rPr>
              <a:t>0.4</a:t>
            </a:r>
            <a:endParaRPr lang="en-US" sz="950" dirty="0"/>
          </a:p>
        </p:txBody>
      </p:sp>
      <p:sp>
        <p:nvSpPr>
          <p:cNvPr id="68" name="Shape 66"/>
          <p:cNvSpPr/>
          <p:nvPr/>
        </p:nvSpPr>
        <p:spPr>
          <a:xfrm>
            <a:off x="6629400" y="3456432"/>
            <a:ext cx="521208" cy="301752"/>
          </a:xfrm>
          <a:prstGeom prst="rect">
            <a:avLst/>
          </a:prstGeom>
          <a:solidFill>
            <a:srgbClr val="A99DCB"/>
          </a:solidFill>
          <a:ln w="3810">
            <a:solidFill>
              <a:srgbClr val="DEDCF0"/>
            </a:solidFill>
            <a:prstDash val="solid"/>
          </a:ln>
        </p:spPr>
      </p:sp>
      <p:sp>
        <p:nvSpPr>
          <p:cNvPr id="69" name="Text 67"/>
          <p:cNvSpPr/>
          <p:nvPr/>
        </p:nvSpPr>
        <p:spPr>
          <a:xfrm>
            <a:off x="6629400" y="3456432"/>
            <a:ext cx="521208" cy="301752"/>
          </a:xfrm>
          <a:prstGeom prst="rect">
            <a:avLst/>
          </a:prstGeom>
          <a:noFill/>
          <a:ln/>
        </p:spPr>
        <p:txBody>
          <a:bodyPr wrap="square" rtlCol="0" anchor="ctr"/>
          <a:lstStyle/>
          <a:p>
            <a:pPr algn="ctr" indent="0" marL="0">
              <a:buNone/>
            </a:pPr>
            <a:r>
              <a:rPr lang="en-US" sz="950" dirty="0">
                <a:solidFill>
                  <a:srgbClr val="6B7280"/>
                </a:solidFill>
                <a:latin typeface="Consolas" pitchFamily="34" charset="0"/>
                <a:ea typeface="Consolas" pitchFamily="34" charset="-122"/>
                <a:cs typeface="Consolas" pitchFamily="34" charset="-120"/>
              </a:rPr>
              <a:t>1.2</a:t>
            </a:r>
            <a:endParaRPr lang="en-US" sz="950" dirty="0"/>
          </a:p>
        </p:txBody>
      </p:sp>
      <p:sp>
        <p:nvSpPr>
          <p:cNvPr id="70" name="Shape 68"/>
          <p:cNvSpPr/>
          <p:nvPr/>
        </p:nvSpPr>
        <p:spPr>
          <a:xfrm>
            <a:off x="7178040" y="3456432"/>
            <a:ext cx="521208" cy="301752"/>
          </a:xfrm>
          <a:prstGeom prst="rect">
            <a:avLst/>
          </a:prstGeom>
          <a:solidFill>
            <a:srgbClr val="D1CCE9"/>
          </a:solidFill>
          <a:ln w="3810">
            <a:solidFill>
              <a:srgbClr val="DEDCF0"/>
            </a:solidFill>
            <a:prstDash val="solid"/>
          </a:ln>
        </p:spPr>
      </p:sp>
      <p:sp>
        <p:nvSpPr>
          <p:cNvPr id="71" name="Text 69"/>
          <p:cNvSpPr/>
          <p:nvPr/>
        </p:nvSpPr>
        <p:spPr>
          <a:xfrm>
            <a:off x="7178040" y="3456432"/>
            <a:ext cx="521208" cy="301752"/>
          </a:xfrm>
          <a:prstGeom prst="rect">
            <a:avLst/>
          </a:prstGeom>
          <a:noFill/>
          <a:ln/>
        </p:spPr>
        <p:txBody>
          <a:bodyPr wrap="square" rtlCol="0" anchor="ctr"/>
          <a:lstStyle/>
          <a:p>
            <a:pPr algn="ctr" indent="0" marL="0">
              <a:buNone/>
            </a:pPr>
            <a:r>
              <a:rPr lang="en-US" sz="950" dirty="0">
                <a:solidFill>
                  <a:srgbClr val="6B7280"/>
                </a:solidFill>
                <a:latin typeface="Consolas" pitchFamily="34" charset="0"/>
                <a:ea typeface="Consolas" pitchFamily="34" charset="-122"/>
                <a:cs typeface="Consolas" pitchFamily="34" charset="-120"/>
              </a:rPr>
              <a:t>0.5</a:t>
            </a:r>
            <a:endParaRPr lang="en-US" sz="950" dirty="0"/>
          </a:p>
        </p:txBody>
      </p:sp>
      <p:sp>
        <p:nvSpPr>
          <p:cNvPr id="72" name="Shape 70"/>
          <p:cNvSpPr/>
          <p:nvPr/>
        </p:nvSpPr>
        <p:spPr>
          <a:xfrm>
            <a:off x="7726680" y="3456432"/>
            <a:ext cx="521208" cy="301752"/>
          </a:xfrm>
          <a:prstGeom prst="rect">
            <a:avLst/>
          </a:prstGeom>
          <a:solidFill>
            <a:srgbClr val="CECBF6"/>
          </a:solidFill>
          <a:ln w="3810">
            <a:solidFill>
              <a:srgbClr val="DEDCF0"/>
            </a:solidFill>
            <a:prstDash val="solid"/>
          </a:ln>
        </p:spPr>
      </p:sp>
      <p:sp>
        <p:nvSpPr>
          <p:cNvPr id="73" name="Text 71"/>
          <p:cNvSpPr/>
          <p:nvPr/>
        </p:nvSpPr>
        <p:spPr>
          <a:xfrm>
            <a:off x="7726680" y="3456432"/>
            <a:ext cx="521208" cy="301752"/>
          </a:xfrm>
          <a:prstGeom prst="rect">
            <a:avLst/>
          </a:prstGeom>
          <a:noFill/>
          <a:ln/>
        </p:spPr>
        <p:txBody>
          <a:bodyPr wrap="square" rtlCol="0" anchor="ctr"/>
          <a:lstStyle/>
          <a:p>
            <a:pPr algn="ctr" indent="0" marL="0">
              <a:buNone/>
            </a:pPr>
            <a:r>
              <a:rPr lang="en-US" sz="950" b="1" dirty="0">
                <a:solidFill>
                  <a:srgbClr val="26215C"/>
                </a:solidFill>
                <a:latin typeface="Consolas" pitchFamily="34" charset="0"/>
                <a:ea typeface="Consolas" pitchFamily="34" charset="-122"/>
                <a:cs typeface="Consolas" pitchFamily="34" charset="-120"/>
              </a:rPr>
              <a:t>2.1</a:t>
            </a:r>
            <a:endParaRPr lang="en-US" sz="950" dirty="0"/>
          </a:p>
        </p:txBody>
      </p:sp>
      <p:sp>
        <p:nvSpPr>
          <p:cNvPr id="74" name="Text 72"/>
          <p:cNvSpPr/>
          <p:nvPr/>
        </p:nvSpPr>
        <p:spPr>
          <a:xfrm>
            <a:off x="4754880" y="3657600"/>
            <a:ext cx="3858768" cy="219456"/>
          </a:xfrm>
          <a:prstGeom prst="rect">
            <a:avLst/>
          </a:prstGeom>
          <a:noFill/>
          <a:ln/>
        </p:spPr>
        <p:txBody>
          <a:bodyPr wrap="square" rtlCol="0" anchor="ctr"/>
          <a:lstStyle/>
          <a:p>
            <a:pPr indent="0" marL="0">
              <a:buNone/>
            </a:pPr>
            <a:r>
              <a:rPr lang="en-US" sz="950" i="1" dirty="0">
                <a:solidFill>
                  <a:srgbClr val="4B5563"/>
                </a:solidFill>
              </a:rPr>
              <a:t>← 濃い紫 = 高スコア（強い関連）　薄い = 低スコア</a:t>
            </a:r>
            <a:endParaRPr lang="en-US" sz="950" dirty="0"/>
          </a:p>
        </p:txBody>
      </p:sp>
      <p:sp>
        <p:nvSpPr>
          <p:cNvPr id="75" name="Shape 73"/>
          <p:cNvSpPr/>
          <p:nvPr/>
        </p:nvSpPr>
        <p:spPr>
          <a:xfrm>
            <a:off x="347472" y="4133088"/>
            <a:ext cx="4133088" cy="566928"/>
          </a:xfrm>
          <a:prstGeom prst="roundRect">
            <a:avLst>
              <a:gd name="adj" fmla="val 8065"/>
            </a:avLst>
          </a:prstGeom>
          <a:solidFill>
            <a:srgbClr val="EEEDFE"/>
          </a:solidFill>
          <a:ln w="6350">
            <a:solidFill>
              <a:srgbClr val="534AB7"/>
            </a:solidFill>
            <a:prstDash val="solid"/>
          </a:ln>
        </p:spPr>
      </p:sp>
      <p:sp>
        <p:nvSpPr>
          <p:cNvPr id="76" name="Text 74"/>
          <p:cNvSpPr/>
          <p:nvPr/>
        </p:nvSpPr>
        <p:spPr>
          <a:xfrm>
            <a:off x="484632" y="4169664"/>
            <a:ext cx="3913632" cy="493776"/>
          </a:xfrm>
          <a:prstGeom prst="rect">
            <a:avLst/>
          </a:prstGeom>
          <a:noFill/>
          <a:ln/>
        </p:spPr>
        <p:txBody>
          <a:bodyPr wrap="square" rtlCol="0" anchor="ctr"/>
          <a:lstStyle/>
          <a:p>
            <a:pPr indent="0" marL="0">
              <a:buNone/>
            </a:pPr>
            <a:r>
              <a:rPr lang="en-US" sz="1050" dirty="0">
                <a:solidFill>
                  <a:srgbClr val="4B5563"/>
                </a:solidFill>
              </a:rPr>
              <a:t xml:space="preserve">N=5 トークン → </a:t>
            </a:r>
            <a:pPr indent="0" marL="0">
              <a:buNone/>
            </a:pPr>
            <a:r>
              <a:rPr lang="en-US" sz="1050" b="1" dirty="0">
                <a:solidFill>
                  <a:srgbClr val="534AB7"/>
                </a:solidFill>
              </a:rPr>
              <a:t>5×5 = 25個</a:t>
            </a:r>
            <a:pPr indent="0" marL="0">
              <a:buNone/>
            </a:pPr>
            <a:r>
              <a:rPr lang="en-US" sz="1050" dirty="0">
                <a:solidFill>
                  <a:srgbClr val="1F2937"/>
                </a:solidFill>
              </a:rPr>
              <a:t xml:space="preserve"> の内積を計算</a:t>
            </a:r>
            <a:endParaRPr lang="en-US" sz="1050" dirty="0"/>
          </a:p>
          <a:p>
            <a:pPr indent="0" marL="0">
              <a:buNone/>
            </a:pPr>
            <a:r>
              <a:rPr lang="en-US" sz="1050" dirty="0">
                <a:solidFill>
                  <a:srgbClr val="1F2937"/>
                </a:solidFill>
              </a:rPr>
              <a:t>各行が「そのトークンが全単語をどれだけ参照するか」を表す</a:t>
            </a:r>
            <a:endParaRPr lang="en-US" sz="1050" dirty="0"/>
          </a:p>
        </p:txBody>
      </p:sp>
      <p:sp>
        <p:nvSpPr>
          <p:cNvPr id="77" name="Shape 75"/>
          <p:cNvSpPr/>
          <p:nvPr/>
        </p:nvSpPr>
        <p:spPr>
          <a:xfrm>
            <a:off x="4617720" y="4133088"/>
            <a:ext cx="4160520" cy="566928"/>
          </a:xfrm>
          <a:prstGeom prst="roundRect">
            <a:avLst>
              <a:gd name="adj" fmla="val 8065"/>
            </a:avLst>
          </a:prstGeom>
          <a:solidFill>
            <a:srgbClr val="FAEEDA"/>
          </a:solidFill>
          <a:ln w="6350">
            <a:solidFill>
              <a:srgbClr val="BA7517"/>
            </a:solidFill>
            <a:prstDash val="solid"/>
          </a:ln>
        </p:spPr>
      </p:sp>
      <p:sp>
        <p:nvSpPr>
          <p:cNvPr id="78" name="Text 76"/>
          <p:cNvSpPr/>
          <p:nvPr/>
        </p:nvSpPr>
        <p:spPr>
          <a:xfrm>
            <a:off x="4754880" y="4169664"/>
            <a:ext cx="3913632" cy="493776"/>
          </a:xfrm>
          <a:prstGeom prst="rect">
            <a:avLst/>
          </a:prstGeom>
          <a:noFill/>
          <a:ln/>
        </p:spPr>
        <p:txBody>
          <a:bodyPr wrap="square" rtlCol="0" anchor="ctr"/>
          <a:lstStyle/>
          <a:p>
            <a:pPr indent="0" marL="0">
              <a:buNone/>
            </a:pPr>
            <a:r>
              <a:rPr lang="en-US" sz="1050" b="1" dirty="0">
                <a:solidFill>
                  <a:srgbClr val="BA7517"/>
                </a:solidFill>
              </a:rPr>
              <a:t>走る 行</a:t>
            </a:r>
            <a:pPr indent="0" marL="0">
              <a:buNone/>
            </a:pPr>
            <a:r>
              <a:rPr lang="en-US" sz="1050" dirty="0">
                <a:solidFill>
                  <a:srgbClr val="1F2937"/>
                </a:solidFill>
              </a:rPr>
              <a:t xml:space="preserve"> を見ると猫(1.0)・公園(1.2)・自身(2.1) に高スコア</a:t>
            </a:r>
            <a:endParaRPr lang="en-US" sz="1050" dirty="0"/>
          </a:p>
          <a:p>
            <a:pPr indent="0" marL="0">
              <a:buNone/>
            </a:pPr>
            <a:r>
              <a:rPr lang="en-US" sz="1050" dirty="0">
                <a:solidFill>
                  <a:srgbClr val="1F2937"/>
                </a:solidFill>
              </a:rPr>
              <a:t>→ 主語と場所を参照しながら動詞の意味を形成している</a:t>
            </a:r>
            <a:endParaRPr lang="en-US" sz="1050" dirty="0"/>
          </a:p>
        </p:txBody>
      </p:sp>
      <p:sp>
        <p:nvSpPr>
          <p:cNvPr id="79" name="Text 77"/>
          <p:cNvSpPr/>
          <p:nvPr/>
        </p:nvSpPr>
        <p:spPr>
          <a:xfrm>
            <a:off x="347472" y="4791456"/>
            <a:ext cx="8430768" cy="310896"/>
          </a:xfrm>
          <a:prstGeom prst="rect">
            <a:avLst/>
          </a:prstGeom>
          <a:noFill/>
          <a:ln/>
        </p:spPr>
        <p:txBody>
          <a:bodyPr wrap="square" rtlCol="0" anchor="ctr"/>
          <a:lstStyle/>
          <a:p>
            <a:pPr indent="0" marL="0">
              <a:buNone/>
            </a:pPr>
            <a:r>
              <a:rPr lang="en-US" sz="1000" i="1" dirty="0">
                <a:solidFill>
                  <a:srgbClr val="4B5563"/>
                </a:solidFill>
              </a:rPr>
              <a:t>💡 補足：Transformer は各層で全結合グラフの重みを動的に再構築していると解釈できる（Graph Neural Network との類似性）。</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10 / 28</a:t>
            </a:r>
            <a:endParaRPr lang="en-US" sz="900" dirty="0"/>
          </a:p>
        </p:txBody>
      </p:sp>
      <p:sp>
        <p:nvSpPr>
          <p:cNvPr id="3" name="Shape 1"/>
          <p:cNvSpPr/>
          <p:nvPr/>
        </p:nvSpPr>
        <p:spPr>
          <a:xfrm>
            <a:off x="347472" y="274320"/>
            <a:ext cx="54864" cy="475488"/>
          </a:xfrm>
          <a:prstGeom prst="rect">
            <a:avLst/>
          </a:prstGeom>
          <a:solidFill>
            <a:srgbClr val="0F6E56"/>
          </a:solidFill>
          <a:ln w="12700">
            <a:solidFill>
              <a:srgbClr val="0F6E56"/>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Attention Output — Softmax の重みで Value を混ぜると何が生まれるか</a:t>
            </a:r>
            <a:endParaRPr lang="en-US" sz="2000" dirty="0"/>
          </a:p>
        </p:txBody>
      </p:sp>
      <p:sp>
        <p:nvSpPr>
          <p:cNvPr id="5" name="Text 3"/>
          <p:cNvSpPr/>
          <p:nvPr/>
        </p:nvSpPr>
        <p:spPr>
          <a:xfrm>
            <a:off x="347472" y="932688"/>
            <a:ext cx="8430768" cy="384048"/>
          </a:xfrm>
          <a:prstGeom prst="rect">
            <a:avLst/>
          </a:prstGeom>
          <a:noFill/>
          <a:ln/>
        </p:spPr>
        <p:txBody>
          <a:bodyPr wrap="square" rtlCol="0" anchor="ctr"/>
          <a:lstStyle/>
          <a:p>
            <a:pPr indent="0" marL="0">
              <a:buNone/>
            </a:pPr>
            <a:r>
              <a:rPr lang="en-US" sz="1100" i="1" dirty="0">
                <a:solidFill>
                  <a:srgbClr val="4B5563"/>
                </a:solidFill>
              </a:rPr>
              <a:t>Softmax で「どこを見るか」の重みが決まった。次はその重みを使って Value を加重平均する。これが Attention の最終出力＝「文脈を取り込んだ新しい意味ベクトル」。</a:t>
            </a:r>
            <a:endParaRPr lang="en-US" sz="1100" dirty="0"/>
          </a:p>
        </p:txBody>
      </p:sp>
      <p:sp>
        <p:nvSpPr>
          <p:cNvPr id="6" name="Shape 4"/>
          <p:cNvSpPr/>
          <p:nvPr/>
        </p:nvSpPr>
        <p:spPr>
          <a:xfrm>
            <a:off x="347472" y="1408176"/>
            <a:ext cx="2633472" cy="321868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7" name="Shape 5"/>
          <p:cNvSpPr/>
          <p:nvPr/>
        </p:nvSpPr>
        <p:spPr>
          <a:xfrm>
            <a:off x="347472" y="1408176"/>
            <a:ext cx="45720" cy="3218688"/>
          </a:xfrm>
          <a:prstGeom prst="rect">
            <a:avLst/>
          </a:prstGeom>
          <a:solidFill>
            <a:srgbClr val="BA7517"/>
          </a:solidFill>
          <a:ln w="12700">
            <a:solidFill>
              <a:srgbClr val="BA7517"/>
            </a:solidFill>
            <a:prstDash val="solid"/>
          </a:ln>
        </p:spPr>
      </p:sp>
      <p:sp>
        <p:nvSpPr>
          <p:cNvPr id="8" name="Text 6"/>
          <p:cNvSpPr/>
          <p:nvPr/>
        </p:nvSpPr>
        <p:spPr>
          <a:xfrm>
            <a:off x="484632" y="1463040"/>
            <a:ext cx="2377440" cy="438912"/>
          </a:xfrm>
          <a:prstGeom prst="rect">
            <a:avLst/>
          </a:prstGeom>
          <a:noFill/>
          <a:ln/>
        </p:spPr>
        <p:txBody>
          <a:bodyPr wrap="square" rtlCol="0" anchor="ctr"/>
          <a:lstStyle/>
          <a:p>
            <a:pPr indent="0" marL="0">
              <a:buNone/>
            </a:pPr>
            <a:r>
              <a:rPr lang="en-US" sz="1200" b="1" dirty="0">
                <a:solidFill>
                  <a:srgbClr val="BA7517"/>
                </a:solidFill>
              </a:rPr>
              <a:t>「走る」の</a:t>
            </a:r>
            <a:endParaRPr lang="en-US" sz="1200" dirty="0"/>
          </a:p>
          <a:p>
            <a:pPr indent="0" marL="0">
              <a:buNone/>
            </a:pPr>
            <a:r>
              <a:rPr lang="en-US" sz="1200" b="1" dirty="0">
                <a:solidFill>
                  <a:srgbClr val="BA7517"/>
                </a:solidFill>
              </a:rPr>
              <a:t>Attention 重み</a:t>
            </a:r>
            <a:endParaRPr lang="en-US" sz="1200" dirty="0"/>
          </a:p>
        </p:txBody>
      </p:sp>
      <p:sp>
        <p:nvSpPr>
          <p:cNvPr id="9" name="Shape 7"/>
          <p:cNvSpPr/>
          <p:nvPr/>
        </p:nvSpPr>
        <p:spPr>
          <a:xfrm>
            <a:off x="484632" y="2084832"/>
            <a:ext cx="877824" cy="310896"/>
          </a:xfrm>
          <a:prstGeom prst="rect">
            <a:avLst/>
          </a:prstGeom>
          <a:solidFill>
            <a:srgbClr val="534AB7"/>
          </a:solidFill>
          <a:ln w="12700">
            <a:solidFill>
              <a:srgbClr val="534AB7"/>
            </a:solidFill>
            <a:prstDash val="solid"/>
          </a:ln>
        </p:spPr>
      </p:sp>
      <p:sp>
        <p:nvSpPr>
          <p:cNvPr id="10" name="Text 8"/>
          <p:cNvSpPr/>
          <p:nvPr/>
        </p:nvSpPr>
        <p:spPr>
          <a:xfrm>
            <a:off x="484632" y="2084832"/>
            <a:ext cx="402336" cy="310896"/>
          </a:xfrm>
          <a:prstGeom prst="rect">
            <a:avLst/>
          </a:prstGeom>
          <a:noFill/>
          <a:ln/>
        </p:spPr>
        <p:txBody>
          <a:bodyPr wrap="square" rtlCol="0" anchor="ctr"/>
          <a:lstStyle/>
          <a:p>
            <a:pPr algn="ctr" indent="0" marL="0">
              <a:buNone/>
            </a:pPr>
            <a:r>
              <a:rPr lang="en-US" sz="1100" b="1" dirty="0">
                <a:solidFill>
                  <a:srgbClr val="FFFFFF"/>
                </a:solidFill>
              </a:rPr>
              <a:t>猫</a:t>
            </a:r>
            <a:endParaRPr lang="en-US" sz="1100" dirty="0"/>
          </a:p>
        </p:txBody>
      </p:sp>
      <p:sp>
        <p:nvSpPr>
          <p:cNvPr id="11" name="Text 9"/>
          <p:cNvSpPr/>
          <p:nvPr/>
        </p:nvSpPr>
        <p:spPr>
          <a:xfrm>
            <a:off x="914400" y="2084832"/>
            <a:ext cx="402336" cy="310896"/>
          </a:xfrm>
          <a:prstGeom prst="rect">
            <a:avLst/>
          </a:prstGeom>
          <a:noFill/>
          <a:ln/>
        </p:spPr>
        <p:txBody>
          <a:bodyPr wrap="square" rtlCol="0" anchor="ctr"/>
          <a:lstStyle/>
          <a:p>
            <a:pPr indent="0" marL="0">
              <a:buNone/>
            </a:pPr>
            <a:r>
              <a:rPr lang="en-US" sz="1100" b="1" dirty="0">
                <a:solidFill>
                  <a:srgbClr val="534AB7"/>
                </a:solidFill>
              </a:rPr>
              <a:t>40%</a:t>
            </a:r>
            <a:endParaRPr lang="en-US" sz="1100" dirty="0"/>
          </a:p>
        </p:txBody>
      </p:sp>
      <p:sp>
        <p:nvSpPr>
          <p:cNvPr id="12" name="Shape 10"/>
          <p:cNvSpPr/>
          <p:nvPr/>
        </p:nvSpPr>
        <p:spPr>
          <a:xfrm>
            <a:off x="484632" y="2578608"/>
            <a:ext cx="109728" cy="310896"/>
          </a:xfrm>
          <a:prstGeom prst="rect">
            <a:avLst/>
          </a:prstGeom>
          <a:solidFill>
            <a:srgbClr val="6B7280"/>
          </a:solidFill>
          <a:ln w="12700">
            <a:solidFill>
              <a:srgbClr val="6B7280"/>
            </a:solidFill>
            <a:prstDash val="solid"/>
          </a:ln>
        </p:spPr>
      </p:sp>
      <p:sp>
        <p:nvSpPr>
          <p:cNvPr id="13" name="Text 11"/>
          <p:cNvSpPr/>
          <p:nvPr/>
        </p:nvSpPr>
        <p:spPr>
          <a:xfrm>
            <a:off x="484632" y="2578608"/>
            <a:ext cx="402336" cy="310896"/>
          </a:xfrm>
          <a:prstGeom prst="rect">
            <a:avLst/>
          </a:prstGeom>
          <a:noFill/>
          <a:ln/>
        </p:spPr>
        <p:txBody>
          <a:bodyPr wrap="square" rtlCol="0" anchor="ctr"/>
          <a:lstStyle/>
          <a:p>
            <a:pPr algn="ctr" indent="0" marL="0">
              <a:buNone/>
            </a:pPr>
            <a:r>
              <a:rPr lang="en-US" sz="1100" b="1" dirty="0">
                <a:solidFill>
                  <a:srgbClr val="FFFFFF"/>
                </a:solidFill>
              </a:rPr>
              <a:t>が</a:t>
            </a:r>
            <a:endParaRPr lang="en-US" sz="1100" dirty="0"/>
          </a:p>
        </p:txBody>
      </p:sp>
      <p:sp>
        <p:nvSpPr>
          <p:cNvPr id="14" name="Text 12"/>
          <p:cNvSpPr/>
          <p:nvPr/>
        </p:nvSpPr>
        <p:spPr>
          <a:xfrm>
            <a:off x="914400" y="2578608"/>
            <a:ext cx="402336" cy="310896"/>
          </a:xfrm>
          <a:prstGeom prst="rect">
            <a:avLst/>
          </a:prstGeom>
          <a:noFill/>
          <a:ln/>
        </p:spPr>
        <p:txBody>
          <a:bodyPr wrap="square" rtlCol="0" anchor="ctr"/>
          <a:lstStyle/>
          <a:p>
            <a:pPr indent="0" marL="0">
              <a:buNone/>
            </a:pPr>
            <a:r>
              <a:rPr lang="en-US" sz="1100" dirty="0">
                <a:solidFill>
                  <a:srgbClr val="6B7280"/>
                </a:solidFill>
              </a:rPr>
              <a:t>5%</a:t>
            </a:r>
            <a:endParaRPr lang="en-US" sz="1100" dirty="0"/>
          </a:p>
        </p:txBody>
      </p:sp>
      <p:sp>
        <p:nvSpPr>
          <p:cNvPr id="15" name="Shape 13"/>
          <p:cNvSpPr/>
          <p:nvPr/>
        </p:nvSpPr>
        <p:spPr>
          <a:xfrm>
            <a:off x="484632" y="3072384"/>
            <a:ext cx="987552" cy="310896"/>
          </a:xfrm>
          <a:prstGeom prst="rect">
            <a:avLst/>
          </a:prstGeom>
          <a:solidFill>
            <a:srgbClr val="0F6E56"/>
          </a:solidFill>
          <a:ln w="12700">
            <a:solidFill>
              <a:srgbClr val="0F6E56"/>
            </a:solidFill>
            <a:prstDash val="solid"/>
          </a:ln>
        </p:spPr>
      </p:sp>
      <p:sp>
        <p:nvSpPr>
          <p:cNvPr id="16" name="Text 14"/>
          <p:cNvSpPr/>
          <p:nvPr/>
        </p:nvSpPr>
        <p:spPr>
          <a:xfrm>
            <a:off x="484632" y="3072384"/>
            <a:ext cx="402336" cy="310896"/>
          </a:xfrm>
          <a:prstGeom prst="rect">
            <a:avLst/>
          </a:prstGeom>
          <a:noFill/>
          <a:ln/>
        </p:spPr>
        <p:txBody>
          <a:bodyPr wrap="square" rtlCol="0" anchor="ctr"/>
          <a:lstStyle/>
          <a:p>
            <a:pPr algn="ctr" indent="0" marL="0">
              <a:buNone/>
            </a:pPr>
            <a:r>
              <a:rPr lang="en-US" sz="1100" b="1" dirty="0">
                <a:solidFill>
                  <a:srgbClr val="FFFFFF"/>
                </a:solidFill>
              </a:rPr>
              <a:t>公園</a:t>
            </a:r>
            <a:endParaRPr lang="en-US" sz="1100" dirty="0"/>
          </a:p>
        </p:txBody>
      </p:sp>
      <p:sp>
        <p:nvSpPr>
          <p:cNvPr id="17" name="Text 15"/>
          <p:cNvSpPr/>
          <p:nvPr/>
        </p:nvSpPr>
        <p:spPr>
          <a:xfrm>
            <a:off x="914400" y="3072384"/>
            <a:ext cx="402336" cy="310896"/>
          </a:xfrm>
          <a:prstGeom prst="rect">
            <a:avLst/>
          </a:prstGeom>
          <a:noFill/>
          <a:ln/>
        </p:spPr>
        <p:txBody>
          <a:bodyPr wrap="square" rtlCol="0" anchor="ctr"/>
          <a:lstStyle/>
          <a:p>
            <a:pPr indent="0" marL="0">
              <a:buNone/>
            </a:pPr>
            <a:r>
              <a:rPr lang="en-US" sz="1100" b="1" dirty="0">
                <a:solidFill>
                  <a:srgbClr val="0F6E56"/>
                </a:solidFill>
              </a:rPr>
              <a:t>45%</a:t>
            </a:r>
            <a:endParaRPr lang="en-US" sz="1100" dirty="0"/>
          </a:p>
        </p:txBody>
      </p:sp>
      <p:sp>
        <p:nvSpPr>
          <p:cNvPr id="18" name="Shape 16"/>
          <p:cNvSpPr/>
          <p:nvPr/>
        </p:nvSpPr>
        <p:spPr>
          <a:xfrm>
            <a:off x="484632" y="3566160"/>
            <a:ext cx="73152" cy="310896"/>
          </a:xfrm>
          <a:prstGeom prst="rect">
            <a:avLst/>
          </a:prstGeom>
          <a:solidFill>
            <a:srgbClr val="6B7280"/>
          </a:solidFill>
          <a:ln w="12700">
            <a:solidFill>
              <a:srgbClr val="6B7280"/>
            </a:solidFill>
            <a:prstDash val="solid"/>
          </a:ln>
        </p:spPr>
      </p:sp>
      <p:sp>
        <p:nvSpPr>
          <p:cNvPr id="19" name="Text 17"/>
          <p:cNvSpPr/>
          <p:nvPr/>
        </p:nvSpPr>
        <p:spPr>
          <a:xfrm>
            <a:off x="484632" y="3566160"/>
            <a:ext cx="402336" cy="310896"/>
          </a:xfrm>
          <a:prstGeom prst="rect">
            <a:avLst/>
          </a:prstGeom>
          <a:noFill/>
          <a:ln/>
        </p:spPr>
        <p:txBody>
          <a:bodyPr wrap="square" rtlCol="0" anchor="ctr"/>
          <a:lstStyle/>
          <a:p>
            <a:pPr algn="ctr" indent="0" marL="0">
              <a:buNone/>
            </a:pPr>
            <a:r>
              <a:rPr lang="en-US" sz="1100" b="1" dirty="0">
                <a:solidFill>
                  <a:srgbClr val="FFFFFF"/>
                </a:solidFill>
              </a:rPr>
              <a:t>を</a:t>
            </a:r>
            <a:endParaRPr lang="en-US" sz="1100" dirty="0"/>
          </a:p>
        </p:txBody>
      </p:sp>
      <p:sp>
        <p:nvSpPr>
          <p:cNvPr id="20" name="Text 18"/>
          <p:cNvSpPr/>
          <p:nvPr/>
        </p:nvSpPr>
        <p:spPr>
          <a:xfrm>
            <a:off x="914400" y="3566160"/>
            <a:ext cx="402336" cy="310896"/>
          </a:xfrm>
          <a:prstGeom prst="rect">
            <a:avLst/>
          </a:prstGeom>
          <a:noFill/>
          <a:ln/>
        </p:spPr>
        <p:txBody>
          <a:bodyPr wrap="square" rtlCol="0" anchor="ctr"/>
          <a:lstStyle/>
          <a:p>
            <a:pPr indent="0" marL="0">
              <a:buNone/>
            </a:pPr>
            <a:r>
              <a:rPr lang="en-US" sz="1100" dirty="0">
                <a:solidFill>
                  <a:srgbClr val="6B7280"/>
                </a:solidFill>
              </a:rPr>
              <a:t>2%</a:t>
            </a:r>
            <a:endParaRPr lang="en-US" sz="1100" dirty="0"/>
          </a:p>
        </p:txBody>
      </p:sp>
      <p:sp>
        <p:nvSpPr>
          <p:cNvPr id="21" name="Shape 19"/>
          <p:cNvSpPr/>
          <p:nvPr/>
        </p:nvSpPr>
        <p:spPr>
          <a:xfrm>
            <a:off x="484632" y="4059936"/>
            <a:ext cx="175565" cy="310896"/>
          </a:xfrm>
          <a:prstGeom prst="rect">
            <a:avLst/>
          </a:prstGeom>
          <a:solidFill>
            <a:srgbClr val="BA7517"/>
          </a:solidFill>
          <a:ln w="12700">
            <a:solidFill>
              <a:srgbClr val="BA7517"/>
            </a:solidFill>
            <a:prstDash val="solid"/>
          </a:ln>
        </p:spPr>
      </p:sp>
      <p:sp>
        <p:nvSpPr>
          <p:cNvPr id="22" name="Text 20"/>
          <p:cNvSpPr/>
          <p:nvPr/>
        </p:nvSpPr>
        <p:spPr>
          <a:xfrm>
            <a:off x="484632" y="4059936"/>
            <a:ext cx="402336" cy="310896"/>
          </a:xfrm>
          <a:prstGeom prst="rect">
            <a:avLst/>
          </a:prstGeom>
          <a:noFill/>
          <a:ln/>
        </p:spPr>
        <p:txBody>
          <a:bodyPr wrap="square" rtlCol="0" anchor="ctr"/>
          <a:lstStyle/>
          <a:p>
            <a:pPr algn="ctr" indent="0" marL="0">
              <a:buNone/>
            </a:pPr>
            <a:r>
              <a:rPr lang="en-US" sz="1100" b="1" dirty="0">
                <a:solidFill>
                  <a:srgbClr val="FFFFFF"/>
                </a:solidFill>
              </a:rPr>
              <a:t>走る</a:t>
            </a:r>
            <a:endParaRPr lang="en-US" sz="1100" dirty="0"/>
          </a:p>
        </p:txBody>
      </p:sp>
      <p:sp>
        <p:nvSpPr>
          <p:cNvPr id="23" name="Text 21"/>
          <p:cNvSpPr/>
          <p:nvPr/>
        </p:nvSpPr>
        <p:spPr>
          <a:xfrm>
            <a:off x="914400" y="4059936"/>
            <a:ext cx="402336" cy="310896"/>
          </a:xfrm>
          <a:prstGeom prst="rect">
            <a:avLst/>
          </a:prstGeom>
          <a:noFill/>
          <a:ln/>
        </p:spPr>
        <p:txBody>
          <a:bodyPr wrap="square" rtlCol="0" anchor="ctr"/>
          <a:lstStyle/>
          <a:p>
            <a:pPr indent="0" marL="0">
              <a:buNone/>
            </a:pPr>
            <a:r>
              <a:rPr lang="en-US" sz="1100" dirty="0">
                <a:solidFill>
                  <a:srgbClr val="BA7517"/>
                </a:solidFill>
              </a:rPr>
              <a:t>8%</a:t>
            </a:r>
            <a:endParaRPr lang="en-US" sz="1100" dirty="0"/>
          </a:p>
        </p:txBody>
      </p:sp>
      <p:sp>
        <p:nvSpPr>
          <p:cNvPr id="24" name="Shape 22"/>
          <p:cNvSpPr/>
          <p:nvPr/>
        </p:nvSpPr>
        <p:spPr>
          <a:xfrm>
            <a:off x="3108960" y="1408176"/>
            <a:ext cx="2724912" cy="321868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25" name="Shape 23"/>
          <p:cNvSpPr/>
          <p:nvPr/>
        </p:nvSpPr>
        <p:spPr>
          <a:xfrm>
            <a:off x="3108960" y="1408176"/>
            <a:ext cx="45720" cy="3218688"/>
          </a:xfrm>
          <a:prstGeom prst="rect">
            <a:avLst/>
          </a:prstGeom>
          <a:solidFill>
            <a:srgbClr val="534AB7"/>
          </a:solidFill>
          <a:ln w="12700">
            <a:solidFill>
              <a:srgbClr val="534AB7"/>
            </a:solidFill>
            <a:prstDash val="solid"/>
          </a:ln>
        </p:spPr>
      </p:sp>
      <p:sp>
        <p:nvSpPr>
          <p:cNvPr id="26" name="Text 24"/>
          <p:cNvSpPr/>
          <p:nvPr/>
        </p:nvSpPr>
        <p:spPr>
          <a:xfrm>
            <a:off x="3246120" y="1463040"/>
            <a:ext cx="2468880" cy="329184"/>
          </a:xfrm>
          <a:prstGeom prst="rect">
            <a:avLst/>
          </a:prstGeom>
          <a:noFill/>
          <a:ln/>
        </p:spPr>
        <p:txBody>
          <a:bodyPr wrap="square" rtlCol="0" anchor="ctr"/>
          <a:lstStyle/>
          <a:p>
            <a:pPr indent="0" marL="0">
              <a:buNone/>
            </a:pPr>
            <a:r>
              <a:rPr lang="en-US" sz="1200" b="1" dirty="0">
                <a:solidFill>
                  <a:srgbClr val="534AB7"/>
                </a:solidFill>
              </a:rPr>
              <a:t>Attention Output</a:t>
            </a:r>
            <a:endParaRPr lang="en-US" sz="1200" dirty="0"/>
          </a:p>
        </p:txBody>
      </p:sp>
      <p:sp>
        <p:nvSpPr>
          <p:cNvPr id="27" name="Text 25"/>
          <p:cNvSpPr/>
          <p:nvPr/>
        </p:nvSpPr>
        <p:spPr>
          <a:xfrm>
            <a:off x="3246120" y="1810512"/>
            <a:ext cx="2468880" cy="256032"/>
          </a:xfrm>
          <a:prstGeom prst="rect">
            <a:avLst/>
          </a:prstGeom>
          <a:noFill/>
          <a:ln/>
        </p:spPr>
        <p:txBody>
          <a:bodyPr wrap="square" rtlCol="0" anchor="ctr"/>
          <a:lstStyle/>
          <a:p>
            <a:pPr algn="ctr" indent="0" marL="0">
              <a:buNone/>
            </a:pPr>
            <a:r>
              <a:rPr lang="en-US" sz="1100" dirty="0">
                <a:solidFill>
                  <a:srgbClr val="534AB7"/>
                </a:solidFill>
                <a:latin typeface="Consolas" pitchFamily="34" charset="0"/>
                <a:ea typeface="Consolas" pitchFamily="34" charset="-122"/>
                <a:cs typeface="Consolas" pitchFamily="34" charset="-120"/>
              </a:rPr>
              <a:t>= Σ (重み × Value)</a:t>
            </a:r>
            <a:endParaRPr lang="en-US" sz="1100" dirty="0"/>
          </a:p>
        </p:txBody>
      </p:sp>
      <p:sp>
        <p:nvSpPr>
          <p:cNvPr id="28" name="Text 26"/>
          <p:cNvSpPr/>
          <p:nvPr/>
        </p:nvSpPr>
        <p:spPr>
          <a:xfrm>
            <a:off x="3246120" y="2194560"/>
            <a:ext cx="640080" cy="256032"/>
          </a:xfrm>
          <a:prstGeom prst="rect">
            <a:avLst/>
          </a:prstGeom>
          <a:noFill/>
          <a:ln/>
        </p:spPr>
        <p:txBody>
          <a:bodyPr wrap="square" rtlCol="0" anchor="ctr"/>
          <a:lstStyle/>
          <a:p>
            <a:pPr indent="0" marL="0">
              <a:buNone/>
            </a:pPr>
            <a:r>
              <a:rPr lang="en-US" sz="1100" dirty="0">
                <a:solidFill>
                  <a:srgbClr val="4B5563"/>
                </a:solidFill>
                <a:latin typeface="Consolas" pitchFamily="34" charset="0"/>
                <a:ea typeface="Consolas" pitchFamily="34" charset="-122"/>
                <a:cs typeface="Consolas" pitchFamily="34" charset="-120"/>
              </a:rPr>
              <a:t>0.40 ×</a:t>
            </a:r>
            <a:endParaRPr lang="en-US" sz="1100" dirty="0"/>
          </a:p>
        </p:txBody>
      </p:sp>
      <p:sp>
        <p:nvSpPr>
          <p:cNvPr id="29" name="Shape 27"/>
          <p:cNvSpPr/>
          <p:nvPr/>
        </p:nvSpPr>
        <p:spPr>
          <a:xfrm>
            <a:off x="3913632" y="2194560"/>
            <a:ext cx="932688" cy="256032"/>
          </a:xfrm>
          <a:prstGeom prst="roundRect">
            <a:avLst>
              <a:gd name="adj" fmla="val 10714"/>
            </a:avLst>
          </a:prstGeom>
          <a:solidFill>
            <a:srgbClr val="534AB7"/>
          </a:solidFill>
          <a:ln w="12700">
            <a:solidFill>
              <a:srgbClr val="534AB7"/>
            </a:solidFill>
            <a:prstDash val="solid"/>
          </a:ln>
        </p:spPr>
      </p:sp>
      <p:sp>
        <p:nvSpPr>
          <p:cNvPr id="30" name="Text 28"/>
          <p:cNvSpPr/>
          <p:nvPr/>
        </p:nvSpPr>
        <p:spPr>
          <a:xfrm>
            <a:off x="3913632" y="2194560"/>
            <a:ext cx="932688" cy="256032"/>
          </a:xfrm>
          <a:prstGeom prst="rect">
            <a:avLst/>
          </a:prstGeom>
          <a:noFill/>
          <a:ln/>
        </p:spPr>
        <p:txBody>
          <a:bodyPr wrap="square" rtlCol="0" anchor="ctr"/>
          <a:lstStyle/>
          <a:p>
            <a:pPr algn="ctr" indent="0" marL="0">
              <a:buNone/>
            </a:pPr>
            <a:r>
              <a:rPr lang="en-US" sz="1000" b="1" dirty="0">
                <a:solidFill>
                  <a:srgbClr val="FFFFFF"/>
                </a:solidFill>
              </a:rPr>
              <a:t>V(猫)</a:t>
            </a:r>
            <a:endParaRPr lang="en-US" sz="1000" dirty="0"/>
          </a:p>
        </p:txBody>
      </p:sp>
      <p:sp>
        <p:nvSpPr>
          <p:cNvPr id="31" name="Text 29"/>
          <p:cNvSpPr/>
          <p:nvPr/>
        </p:nvSpPr>
        <p:spPr>
          <a:xfrm>
            <a:off x="3246120" y="2450592"/>
            <a:ext cx="1645920" cy="256032"/>
          </a:xfrm>
          <a:prstGeom prst="rect">
            <a:avLst/>
          </a:prstGeom>
          <a:noFill/>
          <a:ln/>
        </p:spPr>
        <p:txBody>
          <a:bodyPr wrap="square" rtlCol="0" anchor="ctr"/>
          <a:lstStyle/>
          <a:p>
            <a:pPr algn="ctr" indent="0" marL="0">
              <a:buNone/>
            </a:pPr>
            <a:r>
              <a:rPr lang="en-US" sz="1200" dirty="0">
                <a:solidFill>
                  <a:srgbClr val="4B5563"/>
                </a:solidFill>
              </a:rPr>
              <a:t>+</a:t>
            </a:r>
            <a:endParaRPr lang="en-US" sz="1200" dirty="0"/>
          </a:p>
        </p:txBody>
      </p:sp>
      <p:sp>
        <p:nvSpPr>
          <p:cNvPr id="32" name="Text 30"/>
          <p:cNvSpPr/>
          <p:nvPr/>
        </p:nvSpPr>
        <p:spPr>
          <a:xfrm>
            <a:off x="3246120" y="2761488"/>
            <a:ext cx="640080" cy="256032"/>
          </a:xfrm>
          <a:prstGeom prst="rect">
            <a:avLst/>
          </a:prstGeom>
          <a:noFill/>
          <a:ln/>
        </p:spPr>
        <p:txBody>
          <a:bodyPr wrap="square" rtlCol="0" anchor="ctr"/>
          <a:lstStyle/>
          <a:p>
            <a:pPr indent="0" marL="0">
              <a:buNone/>
            </a:pPr>
            <a:r>
              <a:rPr lang="en-US" sz="1100" dirty="0">
                <a:solidFill>
                  <a:srgbClr val="4B5563"/>
                </a:solidFill>
                <a:latin typeface="Consolas" pitchFamily="34" charset="0"/>
                <a:ea typeface="Consolas" pitchFamily="34" charset="-122"/>
                <a:cs typeface="Consolas" pitchFamily="34" charset="-120"/>
              </a:rPr>
              <a:t>0.45 ×</a:t>
            </a:r>
            <a:endParaRPr lang="en-US" sz="1100" dirty="0"/>
          </a:p>
        </p:txBody>
      </p:sp>
      <p:sp>
        <p:nvSpPr>
          <p:cNvPr id="33" name="Shape 31"/>
          <p:cNvSpPr/>
          <p:nvPr/>
        </p:nvSpPr>
        <p:spPr>
          <a:xfrm>
            <a:off x="3913632" y="2761488"/>
            <a:ext cx="932688" cy="256032"/>
          </a:xfrm>
          <a:prstGeom prst="roundRect">
            <a:avLst>
              <a:gd name="adj" fmla="val 10714"/>
            </a:avLst>
          </a:prstGeom>
          <a:solidFill>
            <a:srgbClr val="0F6E56"/>
          </a:solidFill>
          <a:ln w="12700">
            <a:solidFill>
              <a:srgbClr val="0F6E56"/>
            </a:solidFill>
            <a:prstDash val="solid"/>
          </a:ln>
        </p:spPr>
      </p:sp>
      <p:sp>
        <p:nvSpPr>
          <p:cNvPr id="34" name="Text 32"/>
          <p:cNvSpPr/>
          <p:nvPr/>
        </p:nvSpPr>
        <p:spPr>
          <a:xfrm>
            <a:off x="3913632" y="2761488"/>
            <a:ext cx="932688" cy="256032"/>
          </a:xfrm>
          <a:prstGeom prst="rect">
            <a:avLst/>
          </a:prstGeom>
          <a:noFill/>
          <a:ln/>
        </p:spPr>
        <p:txBody>
          <a:bodyPr wrap="square" rtlCol="0" anchor="ctr"/>
          <a:lstStyle/>
          <a:p>
            <a:pPr algn="ctr" indent="0" marL="0">
              <a:buNone/>
            </a:pPr>
            <a:r>
              <a:rPr lang="en-US" sz="1000" b="1" dirty="0">
                <a:solidFill>
                  <a:srgbClr val="FFFFFF"/>
                </a:solidFill>
              </a:rPr>
              <a:t>V(公園)</a:t>
            </a:r>
            <a:endParaRPr lang="en-US" sz="1000" dirty="0"/>
          </a:p>
        </p:txBody>
      </p:sp>
      <p:sp>
        <p:nvSpPr>
          <p:cNvPr id="35" name="Text 33"/>
          <p:cNvSpPr/>
          <p:nvPr/>
        </p:nvSpPr>
        <p:spPr>
          <a:xfrm>
            <a:off x="3246120" y="3017520"/>
            <a:ext cx="1645920" cy="256032"/>
          </a:xfrm>
          <a:prstGeom prst="rect">
            <a:avLst/>
          </a:prstGeom>
          <a:noFill/>
          <a:ln/>
        </p:spPr>
        <p:txBody>
          <a:bodyPr wrap="square" rtlCol="0" anchor="ctr"/>
          <a:lstStyle/>
          <a:p>
            <a:pPr algn="ctr" indent="0" marL="0">
              <a:buNone/>
            </a:pPr>
            <a:r>
              <a:rPr lang="en-US" sz="1200" dirty="0">
                <a:solidFill>
                  <a:srgbClr val="4B5563"/>
                </a:solidFill>
              </a:rPr>
              <a:t>+</a:t>
            </a:r>
            <a:endParaRPr lang="en-US" sz="1200" dirty="0"/>
          </a:p>
        </p:txBody>
      </p:sp>
      <p:sp>
        <p:nvSpPr>
          <p:cNvPr id="36" name="Text 34"/>
          <p:cNvSpPr/>
          <p:nvPr/>
        </p:nvSpPr>
        <p:spPr>
          <a:xfrm>
            <a:off x="3246120" y="3328416"/>
            <a:ext cx="640080" cy="256032"/>
          </a:xfrm>
          <a:prstGeom prst="rect">
            <a:avLst/>
          </a:prstGeom>
          <a:noFill/>
          <a:ln/>
        </p:spPr>
        <p:txBody>
          <a:bodyPr wrap="square" rtlCol="0" anchor="ctr"/>
          <a:lstStyle/>
          <a:p>
            <a:pPr indent="0" marL="0">
              <a:buNone/>
            </a:pPr>
            <a:r>
              <a:rPr lang="en-US" sz="1100" dirty="0">
                <a:solidFill>
                  <a:srgbClr val="4B5563"/>
                </a:solidFill>
                <a:latin typeface="Consolas" pitchFamily="34" charset="0"/>
                <a:ea typeface="Consolas" pitchFamily="34" charset="-122"/>
                <a:cs typeface="Consolas" pitchFamily="34" charset="-120"/>
              </a:rPr>
              <a:t>0.08 ×</a:t>
            </a:r>
            <a:endParaRPr lang="en-US" sz="1100" dirty="0"/>
          </a:p>
        </p:txBody>
      </p:sp>
      <p:sp>
        <p:nvSpPr>
          <p:cNvPr id="37" name="Shape 35"/>
          <p:cNvSpPr/>
          <p:nvPr/>
        </p:nvSpPr>
        <p:spPr>
          <a:xfrm>
            <a:off x="3913632" y="3328416"/>
            <a:ext cx="932688" cy="256032"/>
          </a:xfrm>
          <a:prstGeom prst="roundRect">
            <a:avLst>
              <a:gd name="adj" fmla="val 10714"/>
            </a:avLst>
          </a:prstGeom>
          <a:solidFill>
            <a:srgbClr val="BA7517"/>
          </a:solidFill>
          <a:ln w="12700">
            <a:solidFill>
              <a:srgbClr val="BA7517"/>
            </a:solidFill>
            <a:prstDash val="solid"/>
          </a:ln>
        </p:spPr>
      </p:sp>
      <p:sp>
        <p:nvSpPr>
          <p:cNvPr id="38" name="Text 36"/>
          <p:cNvSpPr/>
          <p:nvPr/>
        </p:nvSpPr>
        <p:spPr>
          <a:xfrm>
            <a:off x="3913632" y="3328416"/>
            <a:ext cx="932688" cy="256032"/>
          </a:xfrm>
          <a:prstGeom prst="rect">
            <a:avLst/>
          </a:prstGeom>
          <a:noFill/>
          <a:ln/>
        </p:spPr>
        <p:txBody>
          <a:bodyPr wrap="square" rtlCol="0" anchor="ctr"/>
          <a:lstStyle/>
          <a:p>
            <a:pPr algn="ctr" indent="0" marL="0">
              <a:buNone/>
            </a:pPr>
            <a:r>
              <a:rPr lang="en-US" sz="1000" b="1" dirty="0">
                <a:solidFill>
                  <a:srgbClr val="FFFFFF"/>
                </a:solidFill>
              </a:rPr>
              <a:t>V(走る)</a:t>
            </a:r>
            <a:endParaRPr lang="en-US" sz="1000" dirty="0"/>
          </a:p>
        </p:txBody>
      </p:sp>
      <p:sp>
        <p:nvSpPr>
          <p:cNvPr id="39" name="Text 37"/>
          <p:cNvSpPr/>
          <p:nvPr/>
        </p:nvSpPr>
        <p:spPr>
          <a:xfrm>
            <a:off x="3246120" y="3584448"/>
            <a:ext cx="1645920" cy="256032"/>
          </a:xfrm>
          <a:prstGeom prst="rect">
            <a:avLst/>
          </a:prstGeom>
          <a:noFill/>
          <a:ln/>
        </p:spPr>
        <p:txBody>
          <a:bodyPr wrap="square" rtlCol="0" anchor="ctr"/>
          <a:lstStyle/>
          <a:p>
            <a:pPr algn="ctr" indent="0" marL="0">
              <a:buNone/>
            </a:pPr>
            <a:r>
              <a:rPr lang="en-US" sz="1200" dirty="0">
                <a:solidFill>
                  <a:srgbClr val="4B5563"/>
                </a:solidFill>
              </a:rPr>
              <a:t>+</a:t>
            </a:r>
            <a:endParaRPr lang="en-US" sz="1200" dirty="0"/>
          </a:p>
        </p:txBody>
      </p:sp>
      <p:sp>
        <p:nvSpPr>
          <p:cNvPr id="40" name="Text 38"/>
          <p:cNvSpPr/>
          <p:nvPr/>
        </p:nvSpPr>
        <p:spPr>
          <a:xfrm>
            <a:off x="3246120" y="3895344"/>
            <a:ext cx="640080" cy="256032"/>
          </a:xfrm>
          <a:prstGeom prst="rect">
            <a:avLst/>
          </a:prstGeom>
          <a:noFill/>
          <a:ln/>
        </p:spPr>
        <p:txBody>
          <a:bodyPr wrap="square" rtlCol="0" anchor="ctr"/>
          <a:lstStyle/>
          <a:p>
            <a:pPr indent="0" marL="0">
              <a:buNone/>
            </a:pPr>
            <a:r>
              <a:rPr lang="en-US" sz="1100" dirty="0">
                <a:solidFill>
                  <a:srgbClr val="4B5563"/>
                </a:solidFill>
                <a:latin typeface="Consolas" pitchFamily="34" charset="0"/>
                <a:ea typeface="Consolas" pitchFamily="34" charset="-122"/>
                <a:cs typeface="Consolas" pitchFamily="34" charset="-120"/>
              </a:rPr>
              <a:t>0.05 ×</a:t>
            </a:r>
            <a:endParaRPr lang="en-US" sz="1100" dirty="0"/>
          </a:p>
        </p:txBody>
      </p:sp>
      <p:sp>
        <p:nvSpPr>
          <p:cNvPr id="41" name="Shape 39"/>
          <p:cNvSpPr/>
          <p:nvPr/>
        </p:nvSpPr>
        <p:spPr>
          <a:xfrm>
            <a:off x="3913632" y="3895344"/>
            <a:ext cx="932688" cy="256032"/>
          </a:xfrm>
          <a:prstGeom prst="roundRect">
            <a:avLst>
              <a:gd name="adj" fmla="val 10714"/>
            </a:avLst>
          </a:prstGeom>
          <a:solidFill>
            <a:srgbClr val="6B7280"/>
          </a:solidFill>
          <a:ln w="12700">
            <a:solidFill>
              <a:srgbClr val="6B7280"/>
            </a:solidFill>
            <a:prstDash val="solid"/>
          </a:ln>
        </p:spPr>
      </p:sp>
      <p:sp>
        <p:nvSpPr>
          <p:cNvPr id="42" name="Text 40"/>
          <p:cNvSpPr/>
          <p:nvPr/>
        </p:nvSpPr>
        <p:spPr>
          <a:xfrm>
            <a:off x="3913632" y="3895344"/>
            <a:ext cx="932688" cy="256032"/>
          </a:xfrm>
          <a:prstGeom prst="rect">
            <a:avLst/>
          </a:prstGeom>
          <a:noFill/>
          <a:ln/>
        </p:spPr>
        <p:txBody>
          <a:bodyPr wrap="square" rtlCol="0" anchor="ctr"/>
          <a:lstStyle/>
          <a:p>
            <a:pPr algn="ctr" indent="0" marL="0">
              <a:buNone/>
            </a:pPr>
            <a:r>
              <a:rPr lang="en-US" sz="1000" b="1" dirty="0">
                <a:solidFill>
                  <a:srgbClr val="FFFFFF"/>
                </a:solidFill>
              </a:rPr>
              <a:t>V(が)+…</a:t>
            </a:r>
            <a:endParaRPr lang="en-US" sz="1000" dirty="0"/>
          </a:p>
        </p:txBody>
      </p:sp>
      <p:sp>
        <p:nvSpPr>
          <p:cNvPr id="43" name="Text 41"/>
          <p:cNvSpPr/>
          <p:nvPr/>
        </p:nvSpPr>
        <p:spPr>
          <a:xfrm>
            <a:off x="3246120" y="4315968"/>
            <a:ext cx="2468880" cy="256032"/>
          </a:xfrm>
          <a:prstGeom prst="rect">
            <a:avLst/>
          </a:prstGeom>
          <a:noFill/>
          <a:ln/>
        </p:spPr>
        <p:txBody>
          <a:bodyPr wrap="square" rtlCol="0" anchor="ctr"/>
          <a:lstStyle/>
          <a:p>
            <a:pPr algn="ctr" indent="0" marL="0">
              <a:buNone/>
            </a:pPr>
            <a:r>
              <a:rPr lang="en-US" sz="1100" b="1" dirty="0">
                <a:solidFill>
                  <a:srgbClr val="534AB7"/>
                </a:solidFill>
                <a:latin typeface="Consolas" pitchFamily="34" charset="0"/>
                <a:ea typeface="Consolas" pitchFamily="34" charset="-122"/>
                <a:cs typeface="Consolas" pitchFamily="34" charset="-120"/>
              </a:rPr>
              <a:t>= [0.63, 0.52, ...]</a:t>
            </a:r>
            <a:endParaRPr lang="en-US" sz="1100" dirty="0"/>
          </a:p>
        </p:txBody>
      </p:sp>
      <p:sp>
        <p:nvSpPr>
          <p:cNvPr id="44" name="Shape 42"/>
          <p:cNvSpPr/>
          <p:nvPr/>
        </p:nvSpPr>
        <p:spPr>
          <a:xfrm>
            <a:off x="5943600" y="1408176"/>
            <a:ext cx="2834640" cy="321868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45" name="Shape 43"/>
          <p:cNvSpPr/>
          <p:nvPr/>
        </p:nvSpPr>
        <p:spPr>
          <a:xfrm>
            <a:off x="5943600" y="1408176"/>
            <a:ext cx="45720" cy="3218688"/>
          </a:xfrm>
          <a:prstGeom prst="rect">
            <a:avLst/>
          </a:prstGeom>
          <a:solidFill>
            <a:srgbClr val="0F6E56"/>
          </a:solidFill>
          <a:ln w="12700">
            <a:solidFill>
              <a:srgbClr val="0F6E56"/>
            </a:solidFill>
            <a:prstDash val="solid"/>
          </a:ln>
        </p:spPr>
      </p:sp>
      <p:sp>
        <p:nvSpPr>
          <p:cNvPr id="46" name="Text 44"/>
          <p:cNvSpPr/>
          <p:nvPr/>
        </p:nvSpPr>
        <p:spPr>
          <a:xfrm>
            <a:off x="6080760" y="1463040"/>
            <a:ext cx="2560320" cy="438912"/>
          </a:xfrm>
          <a:prstGeom prst="rect">
            <a:avLst/>
          </a:prstGeom>
          <a:noFill/>
          <a:ln/>
        </p:spPr>
        <p:txBody>
          <a:bodyPr wrap="square" rtlCol="0" anchor="ctr"/>
          <a:lstStyle/>
          <a:p>
            <a:pPr indent="0" marL="0">
              <a:buNone/>
            </a:pPr>
            <a:r>
              <a:rPr lang="en-US" sz="1200" b="1" dirty="0">
                <a:solidFill>
                  <a:srgbClr val="0F6E56"/>
                </a:solidFill>
              </a:rPr>
              <a:t>「走る」の</a:t>
            </a:r>
            <a:endParaRPr lang="en-US" sz="1200" dirty="0"/>
          </a:p>
          <a:p>
            <a:pPr indent="0" marL="0">
              <a:buNone/>
            </a:pPr>
            <a:r>
              <a:rPr lang="en-US" sz="1200" b="1" dirty="0">
                <a:solidFill>
                  <a:srgbClr val="0F6E56"/>
                </a:solidFill>
              </a:rPr>
              <a:t>新しい意味ベクトル</a:t>
            </a:r>
            <a:endParaRPr lang="en-US" sz="1200" dirty="0"/>
          </a:p>
        </p:txBody>
      </p:sp>
      <p:sp>
        <p:nvSpPr>
          <p:cNvPr id="47" name="Text 45"/>
          <p:cNvSpPr/>
          <p:nvPr/>
        </p:nvSpPr>
        <p:spPr>
          <a:xfrm>
            <a:off x="6080760" y="1956816"/>
            <a:ext cx="2560320" cy="274320"/>
          </a:xfrm>
          <a:prstGeom prst="rect">
            <a:avLst/>
          </a:prstGeom>
          <a:noFill/>
          <a:ln/>
        </p:spPr>
        <p:txBody>
          <a:bodyPr wrap="square" rtlCol="0" anchor="ctr"/>
          <a:lstStyle/>
          <a:p>
            <a:pPr algn="ctr" indent="0" marL="0">
              <a:buNone/>
            </a:pPr>
            <a:r>
              <a:rPr lang="en-US" sz="1200" b="1" dirty="0">
                <a:solidFill>
                  <a:srgbClr val="0F6E56"/>
                </a:solidFill>
                <a:latin typeface="Consolas" pitchFamily="34" charset="0"/>
                <a:ea typeface="Consolas" pitchFamily="34" charset="-122"/>
                <a:cs typeface="Consolas" pitchFamily="34" charset="-120"/>
              </a:rPr>
              <a:t>[0.63, 0.52, …]</a:t>
            </a:r>
            <a:endParaRPr lang="en-US" sz="1200" dirty="0"/>
          </a:p>
        </p:txBody>
      </p:sp>
      <p:sp>
        <p:nvSpPr>
          <p:cNvPr id="48" name="Shape 46"/>
          <p:cNvSpPr/>
          <p:nvPr/>
        </p:nvSpPr>
        <p:spPr>
          <a:xfrm>
            <a:off x="6217920" y="2286000"/>
            <a:ext cx="2286000" cy="0"/>
          </a:xfrm>
          <a:prstGeom prst="line">
            <a:avLst/>
          </a:prstGeom>
          <a:noFill/>
          <a:ln w="6350">
            <a:solidFill>
              <a:srgbClr val="E5E7EB"/>
            </a:solidFill>
            <a:prstDash val="solid"/>
          </a:ln>
        </p:spPr>
      </p:sp>
      <p:sp>
        <p:nvSpPr>
          <p:cNvPr id="49" name="Text 47"/>
          <p:cNvSpPr/>
          <p:nvPr/>
        </p:nvSpPr>
        <p:spPr>
          <a:xfrm>
            <a:off x="6080760" y="2359152"/>
            <a:ext cx="2578608" cy="2194560"/>
          </a:xfrm>
          <a:prstGeom prst="rect">
            <a:avLst/>
          </a:prstGeom>
          <a:noFill/>
          <a:ln/>
        </p:spPr>
        <p:txBody>
          <a:bodyPr wrap="square" rtlCol="0" anchor="ctr"/>
          <a:lstStyle/>
          <a:p>
            <a:pPr indent="0" marL="0">
              <a:spcAft>
                <a:spcPts val="300"/>
              </a:spcAft>
              <a:buNone/>
            </a:pPr>
            <a:r>
              <a:rPr lang="en-US" sz="1050" dirty="0">
                <a:solidFill>
                  <a:srgbClr val="1F2937"/>
                </a:solidFill>
              </a:rPr>
              <a:t>この1ベクトルには
</a:t>
            </a:r>
            <a:pPr indent="0" marL="0">
              <a:spcAft>
                <a:spcPts val="300"/>
              </a:spcAft>
              <a:buNone/>
            </a:pPr>
            <a:r>
              <a:rPr lang="en-US" sz="1050" b="1" dirty="0">
                <a:solidFill>
                  <a:srgbClr val="534AB7"/>
                </a:solidFill>
              </a:rPr>
              <a:t>猫（主語・動作主）
</a:t>
            </a:r>
            <a:pPr indent="0" marL="0">
              <a:spcAft>
                <a:spcPts val="300"/>
              </a:spcAft>
              <a:buNone/>
            </a:pPr>
            <a:r>
              <a:rPr lang="en-US" sz="1050" b="1" dirty="0">
                <a:solidFill>
                  <a:srgbClr val="0F6E56"/>
                </a:solidFill>
              </a:rPr>
              <a:t>公園（場所）
</a:t>
            </a:r>
            <a:pPr indent="0" marL="0">
              <a:spcAft>
                <a:spcPts val="300"/>
              </a:spcAft>
              <a:buNone/>
            </a:pPr>
            <a:r>
              <a:rPr lang="en-US" sz="1050" b="1" dirty="0">
                <a:solidFill>
                  <a:srgbClr val="BA7517"/>
                </a:solidFill>
              </a:rPr>
              <a:t>走る（自己情報）
</a:t>
            </a:r>
            <a:pPr indent="0" marL="0">
              <a:spcAft>
                <a:spcPts val="300"/>
              </a:spcAft>
              <a:buNone/>
            </a:pPr>
            <a:r>
              <a:rPr lang="en-US" sz="1050" dirty="0">
                <a:solidFill>
                  <a:srgbClr val="1F2937"/>
                </a:solidFill>
              </a:rPr>
              <a:t>が混ざっている
</a:t>
            </a:r>
            <a:pPr indent="0" marL="0">
              <a:spcAft>
                <a:spcPts val="300"/>
              </a:spcAft>
              <a:buNone/>
            </a:pPr>
            <a:r>
              <a:rPr lang="en-US" sz="1050" dirty="0">
                <a:solidFill>
                  <a:srgbClr val="1F2937"/>
                </a:solidFill>
              </a:rPr>
              <a:t>単独の「走る」ではなく
</a:t>
            </a:r>
            <a:pPr indent="0" marL="0">
              <a:spcAft>
                <a:spcPts val="300"/>
              </a:spcAft>
              <a:buNone/>
            </a:pPr>
            <a:r>
              <a:rPr lang="en-US" sz="1050" b="1" dirty="0">
                <a:solidFill>
                  <a:srgbClr val="0F6E56"/>
                </a:solidFill>
              </a:rPr>
              <a:t>文脈化された「走る」</a:t>
            </a:r>
            <a:endParaRPr lang="en-US" sz="1050" dirty="0"/>
          </a:p>
        </p:txBody>
      </p:sp>
      <p:sp>
        <p:nvSpPr>
          <p:cNvPr id="50" name="Shape 48"/>
          <p:cNvSpPr/>
          <p:nvPr/>
        </p:nvSpPr>
        <p:spPr>
          <a:xfrm>
            <a:off x="347472" y="4718304"/>
            <a:ext cx="8430768" cy="438912"/>
          </a:xfrm>
          <a:prstGeom prst="roundRect">
            <a:avLst>
              <a:gd name="adj" fmla="val 10417"/>
            </a:avLst>
          </a:prstGeom>
          <a:solidFill>
            <a:srgbClr val="1A1A2E"/>
          </a:solidFill>
          <a:ln w="6350">
            <a:solidFill>
              <a:srgbClr val="0F6E56"/>
            </a:solidFill>
            <a:prstDash val="solid"/>
          </a:ln>
        </p:spPr>
      </p:sp>
      <p:sp>
        <p:nvSpPr>
          <p:cNvPr id="51" name="Text 49"/>
          <p:cNvSpPr/>
          <p:nvPr/>
        </p:nvSpPr>
        <p:spPr>
          <a:xfrm>
            <a:off x="502920" y="4754880"/>
            <a:ext cx="8229600" cy="365760"/>
          </a:xfrm>
          <a:prstGeom prst="rect">
            <a:avLst/>
          </a:prstGeom>
          <a:noFill/>
          <a:ln/>
        </p:spPr>
        <p:txBody>
          <a:bodyPr wrap="square" rtlCol="0" anchor="ctr"/>
          <a:lstStyle/>
          <a:p>
            <a:pPr indent="0" marL="0">
              <a:buNone/>
            </a:pPr>
            <a:r>
              <a:rPr lang="en-US" sz="1100" b="1" dirty="0">
                <a:solidFill>
                  <a:srgbClr val="0F6E56"/>
                </a:solidFill>
              </a:rPr>
              <a:t>これが Attention の本質：</a:t>
            </a:r>
            <a:pPr indent="0" marL="0">
              <a:buNone/>
            </a:pPr>
            <a:r>
              <a:rPr lang="en-US" sz="1100" dirty="0">
                <a:solidFill>
                  <a:srgbClr val="C0C8E8"/>
                </a:solidFill>
              </a:rPr>
              <a:t xml:space="preserve">  Softmax の重みで Value を混ぜることで、単語単体の意味から</a:t>
            </a:r>
            <a:pPr indent="0" marL="0">
              <a:buNone/>
            </a:pPr>
            <a:r>
              <a:rPr lang="en-US" sz="1100" b="1" dirty="0">
                <a:solidFill>
                  <a:srgbClr val="FFFFFF"/>
                </a:solidFill>
              </a:rPr>
              <a:t>「周囲の文脈を取り込んだ新しい意味ベクトル」</a:t>
            </a:r>
            <a:pPr indent="0" marL="0">
              <a:buNone/>
            </a:pPr>
            <a:r>
              <a:rPr lang="en-US" sz="1100" dirty="0">
                <a:solidFill>
                  <a:srgbClr val="C0C8E8"/>
                </a:solidFill>
              </a:rPr>
              <a:t>が生まれる</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11 / 28</a:t>
            </a:r>
            <a:endParaRPr lang="en-US" sz="900" dirty="0"/>
          </a:p>
        </p:txBody>
      </p:sp>
      <p:sp>
        <p:nvSpPr>
          <p:cNvPr id="3" name="Shape 1"/>
          <p:cNvSpPr/>
          <p:nvPr/>
        </p:nvSpPr>
        <p:spPr>
          <a:xfrm>
            <a:off x="347472" y="274320"/>
            <a:ext cx="54864" cy="475488"/>
          </a:xfrm>
          <a:prstGeom prst="rect">
            <a:avLst/>
          </a:prstGeom>
          <a:solidFill>
            <a:srgbClr val="534AB7"/>
          </a:solidFill>
          <a:ln w="12700">
            <a:solidFill>
              <a:srgbClr val="534AB7"/>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Multi-Head Attention — 複数の視点で同時に読む</a:t>
            </a:r>
            <a:endParaRPr lang="en-US" sz="2000" dirty="0"/>
          </a:p>
        </p:txBody>
      </p:sp>
      <p:sp>
        <p:nvSpPr>
          <p:cNvPr id="5" name="Text 3"/>
          <p:cNvSpPr/>
          <p:nvPr/>
        </p:nvSpPr>
        <p:spPr>
          <a:xfrm>
            <a:off x="347472" y="950976"/>
            <a:ext cx="8430768" cy="402336"/>
          </a:xfrm>
          <a:prstGeom prst="rect">
            <a:avLst/>
          </a:prstGeom>
          <a:noFill/>
          <a:ln/>
        </p:spPr>
        <p:txBody>
          <a:bodyPr wrap="square" rtlCol="0" anchor="ctr"/>
          <a:lstStyle/>
          <a:p>
            <a:pPr indent="0" marL="0">
              <a:buNone/>
            </a:pPr>
            <a:r>
              <a:rPr lang="en-US" sz="1150" i="1" dirty="0">
                <a:solidFill>
                  <a:srgbClr val="4B5563"/>
                </a:solidFill>
              </a:rPr>
              <a:t>1つの Attention Head では「1つの視点」しか見られない。文法・時系列・意味役割・感情を同時に捉えるには複数 Head が必要。</a:t>
            </a:r>
            <a:endParaRPr lang="en-US" sz="1150" dirty="0"/>
          </a:p>
        </p:txBody>
      </p:sp>
      <p:sp>
        <p:nvSpPr>
          <p:cNvPr id="6" name="Shape 4"/>
          <p:cNvSpPr/>
          <p:nvPr/>
        </p:nvSpPr>
        <p:spPr>
          <a:xfrm>
            <a:off x="347472" y="1444752"/>
            <a:ext cx="2029968" cy="190195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7" name="Shape 5"/>
          <p:cNvSpPr/>
          <p:nvPr/>
        </p:nvSpPr>
        <p:spPr>
          <a:xfrm>
            <a:off x="347472" y="1444752"/>
            <a:ext cx="45720" cy="1901952"/>
          </a:xfrm>
          <a:prstGeom prst="rect">
            <a:avLst/>
          </a:prstGeom>
          <a:solidFill>
            <a:srgbClr val="534AB7"/>
          </a:solidFill>
          <a:ln w="12700">
            <a:solidFill>
              <a:srgbClr val="534AB7"/>
            </a:solidFill>
            <a:prstDash val="solid"/>
          </a:ln>
        </p:spPr>
      </p:sp>
      <p:sp>
        <p:nvSpPr>
          <p:cNvPr id="8" name="Text 6"/>
          <p:cNvSpPr/>
          <p:nvPr/>
        </p:nvSpPr>
        <p:spPr>
          <a:xfrm>
            <a:off x="438912" y="1499616"/>
            <a:ext cx="1847088" cy="310896"/>
          </a:xfrm>
          <a:prstGeom prst="rect">
            <a:avLst/>
          </a:prstGeom>
          <a:noFill/>
          <a:ln/>
        </p:spPr>
        <p:txBody>
          <a:bodyPr wrap="square" rtlCol="0" anchor="ctr"/>
          <a:lstStyle/>
          <a:p>
            <a:pPr indent="0" marL="0">
              <a:buNone/>
            </a:pPr>
            <a:r>
              <a:rPr lang="en-US" sz="1200" b="1" dirty="0">
                <a:solidFill>
                  <a:srgbClr val="534AB7"/>
                </a:solidFill>
              </a:rPr>
              <a:t>文法 Head</a:t>
            </a:r>
            <a:endParaRPr lang="en-US" sz="1200" dirty="0"/>
          </a:p>
        </p:txBody>
      </p:sp>
      <p:sp>
        <p:nvSpPr>
          <p:cNvPr id="9" name="Text 7"/>
          <p:cNvSpPr/>
          <p:nvPr/>
        </p:nvSpPr>
        <p:spPr>
          <a:xfrm>
            <a:off x="438912" y="1828800"/>
            <a:ext cx="1847088" cy="640080"/>
          </a:xfrm>
          <a:prstGeom prst="rect">
            <a:avLst/>
          </a:prstGeom>
          <a:noFill/>
          <a:ln/>
        </p:spPr>
        <p:txBody>
          <a:bodyPr wrap="square" rtlCol="0" anchor="ctr"/>
          <a:lstStyle/>
          <a:p>
            <a:pPr indent="0" marL="0">
              <a:spcAft>
                <a:spcPts val="400"/>
              </a:spcAft>
              <a:buNone/>
            </a:pPr>
            <a:r>
              <a:rPr lang="en-US" sz="1050" dirty="0">
                <a:solidFill>
                  <a:srgbClr val="1F2937"/>
                </a:solidFill>
              </a:rPr>
              <a:t>主語−述語・助詞の係受け</a:t>
            </a:r>
            <a:endParaRPr lang="en-US" sz="1050" dirty="0"/>
          </a:p>
          <a:p>
            <a:pPr indent="0" marL="0">
              <a:spcAft>
                <a:spcPts val="400"/>
              </a:spcAft>
              <a:buNone/>
            </a:pPr>
            <a:r>
              <a:rPr lang="en-US" sz="1050" dirty="0">
                <a:solidFill>
                  <a:srgbClr val="1F2937"/>
                </a:solidFill>
              </a:rPr>
              <a:t>構文ツリーを形成</a:t>
            </a:r>
            <a:endParaRPr lang="en-US" sz="1050" dirty="0"/>
          </a:p>
        </p:txBody>
      </p:sp>
      <p:sp>
        <p:nvSpPr>
          <p:cNvPr id="10" name="Shape 8"/>
          <p:cNvSpPr/>
          <p:nvPr/>
        </p:nvSpPr>
        <p:spPr>
          <a:xfrm>
            <a:off x="438912" y="2523744"/>
            <a:ext cx="713232" cy="237744"/>
          </a:xfrm>
          <a:prstGeom prst="roundRect">
            <a:avLst>
              <a:gd name="adj" fmla="val 15385"/>
            </a:avLst>
          </a:prstGeom>
          <a:solidFill>
            <a:srgbClr val="534AB7"/>
          </a:solidFill>
          <a:ln w="12700">
            <a:solidFill>
              <a:srgbClr val="534AB7"/>
            </a:solidFill>
            <a:prstDash val="solid"/>
          </a:ln>
        </p:spPr>
      </p:sp>
      <p:sp>
        <p:nvSpPr>
          <p:cNvPr id="11" name="Text 9"/>
          <p:cNvSpPr/>
          <p:nvPr/>
        </p:nvSpPr>
        <p:spPr>
          <a:xfrm>
            <a:off x="438912" y="2523744"/>
            <a:ext cx="713232" cy="237744"/>
          </a:xfrm>
          <a:prstGeom prst="rect">
            <a:avLst/>
          </a:prstGeom>
          <a:noFill/>
          <a:ln/>
        </p:spPr>
        <p:txBody>
          <a:bodyPr wrap="square" lIns="0" tIns="0" rIns="0" bIns="0" rtlCol="0" anchor="ctr"/>
          <a:lstStyle/>
          <a:p>
            <a:pPr algn="ctr" indent="0" marL="0">
              <a:buNone/>
            </a:pPr>
            <a:r>
              <a:rPr lang="en-US" sz="900" b="1" dirty="0">
                <a:solidFill>
                  <a:srgbClr val="FFFFFF"/>
                </a:solidFill>
              </a:rPr>
              <a:t>主語−動詞</a:t>
            </a:r>
            <a:endParaRPr lang="en-US" sz="900" dirty="0"/>
          </a:p>
        </p:txBody>
      </p:sp>
      <p:sp>
        <p:nvSpPr>
          <p:cNvPr id="12" name="Shape 10"/>
          <p:cNvSpPr/>
          <p:nvPr/>
        </p:nvSpPr>
        <p:spPr>
          <a:xfrm>
            <a:off x="1216152" y="2523744"/>
            <a:ext cx="658368" cy="237744"/>
          </a:xfrm>
          <a:prstGeom prst="roundRect">
            <a:avLst>
              <a:gd name="adj" fmla="val 15385"/>
            </a:avLst>
          </a:prstGeom>
          <a:solidFill>
            <a:srgbClr val="534AB7"/>
          </a:solidFill>
          <a:ln w="12700">
            <a:solidFill>
              <a:srgbClr val="534AB7"/>
            </a:solidFill>
            <a:prstDash val="solid"/>
          </a:ln>
        </p:spPr>
      </p:sp>
      <p:sp>
        <p:nvSpPr>
          <p:cNvPr id="13" name="Text 11"/>
          <p:cNvSpPr/>
          <p:nvPr/>
        </p:nvSpPr>
        <p:spPr>
          <a:xfrm>
            <a:off x="1216152" y="2523744"/>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rPr>
              <a:t>格関係</a:t>
            </a:r>
            <a:endParaRPr lang="en-US" sz="900" dirty="0"/>
          </a:p>
        </p:txBody>
      </p:sp>
      <p:sp>
        <p:nvSpPr>
          <p:cNvPr id="14" name="Shape 12"/>
          <p:cNvSpPr/>
          <p:nvPr/>
        </p:nvSpPr>
        <p:spPr>
          <a:xfrm>
            <a:off x="2523744" y="1444752"/>
            <a:ext cx="2029968" cy="190195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15" name="Shape 13"/>
          <p:cNvSpPr/>
          <p:nvPr/>
        </p:nvSpPr>
        <p:spPr>
          <a:xfrm>
            <a:off x="2523744" y="1444752"/>
            <a:ext cx="45720" cy="1901952"/>
          </a:xfrm>
          <a:prstGeom prst="rect">
            <a:avLst/>
          </a:prstGeom>
          <a:solidFill>
            <a:srgbClr val="0F6E56"/>
          </a:solidFill>
          <a:ln w="12700">
            <a:solidFill>
              <a:srgbClr val="0F6E56"/>
            </a:solidFill>
            <a:prstDash val="solid"/>
          </a:ln>
        </p:spPr>
      </p:sp>
      <p:sp>
        <p:nvSpPr>
          <p:cNvPr id="16" name="Text 14"/>
          <p:cNvSpPr/>
          <p:nvPr/>
        </p:nvSpPr>
        <p:spPr>
          <a:xfrm>
            <a:off x="2615184" y="1499616"/>
            <a:ext cx="1847088" cy="310896"/>
          </a:xfrm>
          <a:prstGeom prst="rect">
            <a:avLst/>
          </a:prstGeom>
          <a:noFill/>
          <a:ln/>
        </p:spPr>
        <p:txBody>
          <a:bodyPr wrap="square" rtlCol="0" anchor="ctr"/>
          <a:lstStyle/>
          <a:p>
            <a:pPr indent="0" marL="0">
              <a:buNone/>
            </a:pPr>
            <a:r>
              <a:rPr lang="en-US" sz="1200" b="1" dirty="0">
                <a:solidFill>
                  <a:srgbClr val="0F6E56"/>
                </a:solidFill>
              </a:rPr>
              <a:t>時系列 Head</a:t>
            </a:r>
            <a:endParaRPr lang="en-US" sz="1200" dirty="0"/>
          </a:p>
        </p:txBody>
      </p:sp>
      <p:sp>
        <p:nvSpPr>
          <p:cNvPr id="17" name="Text 15"/>
          <p:cNvSpPr/>
          <p:nvPr/>
        </p:nvSpPr>
        <p:spPr>
          <a:xfrm>
            <a:off x="2615184" y="1828800"/>
            <a:ext cx="1847088" cy="640080"/>
          </a:xfrm>
          <a:prstGeom prst="rect">
            <a:avLst/>
          </a:prstGeom>
          <a:noFill/>
          <a:ln/>
        </p:spPr>
        <p:txBody>
          <a:bodyPr wrap="square" rtlCol="0" anchor="ctr"/>
          <a:lstStyle/>
          <a:p>
            <a:pPr indent="0" marL="0">
              <a:spcAft>
                <a:spcPts val="400"/>
              </a:spcAft>
              <a:buNone/>
            </a:pPr>
            <a:r>
              <a:rPr lang="en-US" sz="1050" dirty="0">
                <a:solidFill>
                  <a:srgbClr val="1F2937"/>
                </a:solidFill>
              </a:rPr>
              <a:t>前後の因果・時制・順序</a:t>
            </a:r>
            <a:endParaRPr lang="en-US" sz="1050" dirty="0"/>
          </a:p>
          <a:p>
            <a:pPr indent="0" marL="0">
              <a:spcAft>
                <a:spcPts val="400"/>
              </a:spcAft>
              <a:buNone/>
            </a:pPr>
            <a:r>
              <a:rPr lang="en-US" sz="1050" dirty="0">
                <a:solidFill>
                  <a:srgbClr val="1F2937"/>
                </a:solidFill>
              </a:rPr>
              <a:t>「その後」「だから」を捉える</a:t>
            </a:r>
            <a:endParaRPr lang="en-US" sz="1050" dirty="0"/>
          </a:p>
        </p:txBody>
      </p:sp>
      <p:sp>
        <p:nvSpPr>
          <p:cNvPr id="18" name="Shape 16"/>
          <p:cNvSpPr/>
          <p:nvPr/>
        </p:nvSpPr>
        <p:spPr>
          <a:xfrm>
            <a:off x="2615184" y="2523744"/>
            <a:ext cx="658368" cy="237744"/>
          </a:xfrm>
          <a:prstGeom prst="roundRect">
            <a:avLst>
              <a:gd name="adj" fmla="val 15385"/>
            </a:avLst>
          </a:prstGeom>
          <a:solidFill>
            <a:srgbClr val="0F6E56"/>
          </a:solidFill>
          <a:ln w="12700">
            <a:solidFill>
              <a:srgbClr val="0F6E56"/>
            </a:solidFill>
            <a:prstDash val="solid"/>
          </a:ln>
        </p:spPr>
      </p:sp>
      <p:sp>
        <p:nvSpPr>
          <p:cNvPr id="19" name="Text 17"/>
          <p:cNvSpPr/>
          <p:nvPr/>
        </p:nvSpPr>
        <p:spPr>
          <a:xfrm>
            <a:off x="2615184" y="2523744"/>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rPr>
              <a:t>因果</a:t>
            </a:r>
            <a:endParaRPr lang="en-US" sz="900" dirty="0"/>
          </a:p>
        </p:txBody>
      </p:sp>
      <p:sp>
        <p:nvSpPr>
          <p:cNvPr id="20" name="Shape 18"/>
          <p:cNvSpPr/>
          <p:nvPr/>
        </p:nvSpPr>
        <p:spPr>
          <a:xfrm>
            <a:off x="3337560" y="2523744"/>
            <a:ext cx="658368" cy="237744"/>
          </a:xfrm>
          <a:prstGeom prst="roundRect">
            <a:avLst>
              <a:gd name="adj" fmla="val 15385"/>
            </a:avLst>
          </a:prstGeom>
          <a:solidFill>
            <a:srgbClr val="0F6E56"/>
          </a:solidFill>
          <a:ln w="12700">
            <a:solidFill>
              <a:srgbClr val="0F6E56"/>
            </a:solidFill>
            <a:prstDash val="solid"/>
          </a:ln>
        </p:spPr>
      </p:sp>
      <p:sp>
        <p:nvSpPr>
          <p:cNvPr id="21" name="Text 19"/>
          <p:cNvSpPr/>
          <p:nvPr/>
        </p:nvSpPr>
        <p:spPr>
          <a:xfrm>
            <a:off x="3337560" y="2523744"/>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rPr>
              <a:t>時制</a:t>
            </a:r>
            <a:endParaRPr lang="en-US" sz="900" dirty="0"/>
          </a:p>
        </p:txBody>
      </p:sp>
      <p:sp>
        <p:nvSpPr>
          <p:cNvPr id="22" name="Shape 20"/>
          <p:cNvSpPr/>
          <p:nvPr/>
        </p:nvSpPr>
        <p:spPr>
          <a:xfrm>
            <a:off x="4059936" y="2523744"/>
            <a:ext cx="658368" cy="237744"/>
          </a:xfrm>
          <a:prstGeom prst="roundRect">
            <a:avLst>
              <a:gd name="adj" fmla="val 15385"/>
            </a:avLst>
          </a:prstGeom>
          <a:solidFill>
            <a:srgbClr val="0F6E56"/>
          </a:solidFill>
          <a:ln w="12700">
            <a:solidFill>
              <a:srgbClr val="0F6E56"/>
            </a:solidFill>
            <a:prstDash val="solid"/>
          </a:ln>
        </p:spPr>
      </p:sp>
      <p:sp>
        <p:nvSpPr>
          <p:cNvPr id="23" name="Text 21"/>
          <p:cNvSpPr/>
          <p:nvPr/>
        </p:nvSpPr>
        <p:spPr>
          <a:xfrm>
            <a:off x="4059936" y="2523744"/>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rPr>
              <a:t>順序</a:t>
            </a:r>
            <a:endParaRPr lang="en-US" sz="900" dirty="0"/>
          </a:p>
        </p:txBody>
      </p:sp>
      <p:sp>
        <p:nvSpPr>
          <p:cNvPr id="24" name="Shape 22"/>
          <p:cNvSpPr/>
          <p:nvPr/>
        </p:nvSpPr>
        <p:spPr>
          <a:xfrm>
            <a:off x="4700016" y="1444752"/>
            <a:ext cx="2029968" cy="190195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25" name="Shape 23"/>
          <p:cNvSpPr/>
          <p:nvPr/>
        </p:nvSpPr>
        <p:spPr>
          <a:xfrm>
            <a:off x="4700016" y="1444752"/>
            <a:ext cx="45720" cy="1901952"/>
          </a:xfrm>
          <a:prstGeom prst="rect">
            <a:avLst/>
          </a:prstGeom>
          <a:solidFill>
            <a:srgbClr val="BA7517"/>
          </a:solidFill>
          <a:ln w="12700">
            <a:solidFill>
              <a:srgbClr val="BA7517"/>
            </a:solidFill>
            <a:prstDash val="solid"/>
          </a:ln>
        </p:spPr>
      </p:sp>
      <p:sp>
        <p:nvSpPr>
          <p:cNvPr id="26" name="Text 24"/>
          <p:cNvSpPr/>
          <p:nvPr/>
        </p:nvSpPr>
        <p:spPr>
          <a:xfrm>
            <a:off x="4791456" y="1499616"/>
            <a:ext cx="1847088" cy="310896"/>
          </a:xfrm>
          <a:prstGeom prst="rect">
            <a:avLst/>
          </a:prstGeom>
          <a:noFill/>
          <a:ln/>
        </p:spPr>
        <p:txBody>
          <a:bodyPr wrap="square" rtlCol="0" anchor="ctr"/>
          <a:lstStyle/>
          <a:p>
            <a:pPr indent="0" marL="0">
              <a:buNone/>
            </a:pPr>
            <a:r>
              <a:rPr lang="en-US" sz="1200" b="1" dirty="0">
                <a:solidFill>
                  <a:srgbClr val="BA7517"/>
                </a:solidFill>
              </a:rPr>
              <a:t>意味役割 Head</a:t>
            </a:r>
            <a:endParaRPr lang="en-US" sz="1200" dirty="0"/>
          </a:p>
        </p:txBody>
      </p:sp>
      <p:sp>
        <p:nvSpPr>
          <p:cNvPr id="27" name="Text 25"/>
          <p:cNvSpPr/>
          <p:nvPr/>
        </p:nvSpPr>
        <p:spPr>
          <a:xfrm>
            <a:off x="4791456" y="1828800"/>
            <a:ext cx="1847088" cy="640080"/>
          </a:xfrm>
          <a:prstGeom prst="rect">
            <a:avLst/>
          </a:prstGeom>
          <a:noFill/>
          <a:ln/>
        </p:spPr>
        <p:txBody>
          <a:bodyPr wrap="square" rtlCol="0" anchor="ctr"/>
          <a:lstStyle/>
          <a:p>
            <a:pPr indent="0" marL="0">
              <a:spcAft>
                <a:spcPts val="400"/>
              </a:spcAft>
              <a:buNone/>
            </a:pPr>
            <a:r>
              <a:rPr lang="en-US" sz="1050" dirty="0">
                <a:solidFill>
                  <a:srgbClr val="1F2937"/>
                </a:solidFill>
              </a:rPr>
              <a:t>誰が何をどこで</a:t>
            </a:r>
            <a:endParaRPr lang="en-US" sz="1050" dirty="0"/>
          </a:p>
          <a:p>
            <a:pPr indent="0" marL="0">
              <a:spcAft>
                <a:spcPts val="400"/>
              </a:spcAft>
              <a:buNone/>
            </a:pPr>
            <a:r>
              <a:rPr lang="en-US" sz="1050" dirty="0">
                <a:solidFill>
                  <a:srgbClr val="1F2937"/>
                </a:solidFill>
              </a:rPr>
              <a:t>動作主・対象・場所格</a:t>
            </a:r>
            <a:endParaRPr lang="en-US" sz="1050" dirty="0"/>
          </a:p>
        </p:txBody>
      </p:sp>
      <p:sp>
        <p:nvSpPr>
          <p:cNvPr id="28" name="Shape 26"/>
          <p:cNvSpPr/>
          <p:nvPr/>
        </p:nvSpPr>
        <p:spPr>
          <a:xfrm>
            <a:off x="4791456" y="2523744"/>
            <a:ext cx="658368" cy="237744"/>
          </a:xfrm>
          <a:prstGeom prst="roundRect">
            <a:avLst>
              <a:gd name="adj" fmla="val 15385"/>
            </a:avLst>
          </a:prstGeom>
          <a:solidFill>
            <a:srgbClr val="BA7517"/>
          </a:solidFill>
          <a:ln w="12700">
            <a:solidFill>
              <a:srgbClr val="BA7517"/>
            </a:solidFill>
            <a:prstDash val="solid"/>
          </a:ln>
        </p:spPr>
      </p:sp>
      <p:sp>
        <p:nvSpPr>
          <p:cNvPr id="29" name="Text 27"/>
          <p:cNvSpPr/>
          <p:nvPr/>
        </p:nvSpPr>
        <p:spPr>
          <a:xfrm>
            <a:off x="4791456" y="2523744"/>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rPr>
              <a:t>動作主</a:t>
            </a:r>
            <a:endParaRPr lang="en-US" sz="900" dirty="0"/>
          </a:p>
        </p:txBody>
      </p:sp>
      <p:sp>
        <p:nvSpPr>
          <p:cNvPr id="30" name="Shape 28"/>
          <p:cNvSpPr/>
          <p:nvPr/>
        </p:nvSpPr>
        <p:spPr>
          <a:xfrm>
            <a:off x="5513832" y="2523744"/>
            <a:ext cx="658368" cy="237744"/>
          </a:xfrm>
          <a:prstGeom prst="roundRect">
            <a:avLst>
              <a:gd name="adj" fmla="val 15385"/>
            </a:avLst>
          </a:prstGeom>
          <a:solidFill>
            <a:srgbClr val="BA7517"/>
          </a:solidFill>
          <a:ln w="12700">
            <a:solidFill>
              <a:srgbClr val="BA7517"/>
            </a:solidFill>
            <a:prstDash val="solid"/>
          </a:ln>
        </p:spPr>
      </p:sp>
      <p:sp>
        <p:nvSpPr>
          <p:cNvPr id="31" name="Text 29"/>
          <p:cNvSpPr/>
          <p:nvPr/>
        </p:nvSpPr>
        <p:spPr>
          <a:xfrm>
            <a:off x="5513832" y="2523744"/>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rPr>
              <a:t>場所格</a:t>
            </a:r>
            <a:endParaRPr lang="en-US" sz="900" dirty="0"/>
          </a:p>
        </p:txBody>
      </p:sp>
      <p:sp>
        <p:nvSpPr>
          <p:cNvPr id="32" name="Shape 30"/>
          <p:cNvSpPr/>
          <p:nvPr/>
        </p:nvSpPr>
        <p:spPr>
          <a:xfrm>
            <a:off x="6236208" y="2523744"/>
            <a:ext cx="658368" cy="237744"/>
          </a:xfrm>
          <a:prstGeom prst="roundRect">
            <a:avLst>
              <a:gd name="adj" fmla="val 15385"/>
            </a:avLst>
          </a:prstGeom>
          <a:solidFill>
            <a:srgbClr val="BA7517"/>
          </a:solidFill>
          <a:ln w="12700">
            <a:solidFill>
              <a:srgbClr val="BA7517"/>
            </a:solidFill>
            <a:prstDash val="solid"/>
          </a:ln>
        </p:spPr>
      </p:sp>
      <p:sp>
        <p:nvSpPr>
          <p:cNvPr id="33" name="Text 31"/>
          <p:cNvSpPr/>
          <p:nvPr/>
        </p:nvSpPr>
        <p:spPr>
          <a:xfrm>
            <a:off x="6236208" y="2523744"/>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rPr>
              <a:t>対象</a:t>
            </a:r>
            <a:endParaRPr lang="en-US" sz="900" dirty="0"/>
          </a:p>
        </p:txBody>
      </p:sp>
      <p:sp>
        <p:nvSpPr>
          <p:cNvPr id="34" name="Shape 32"/>
          <p:cNvSpPr/>
          <p:nvPr/>
        </p:nvSpPr>
        <p:spPr>
          <a:xfrm>
            <a:off x="6876288" y="1444752"/>
            <a:ext cx="2029968" cy="190195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35" name="Shape 33"/>
          <p:cNvSpPr/>
          <p:nvPr/>
        </p:nvSpPr>
        <p:spPr>
          <a:xfrm>
            <a:off x="6876288" y="1444752"/>
            <a:ext cx="45720" cy="1901952"/>
          </a:xfrm>
          <a:prstGeom prst="rect">
            <a:avLst/>
          </a:prstGeom>
          <a:solidFill>
            <a:srgbClr val="D85A30"/>
          </a:solidFill>
          <a:ln w="12700">
            <a:solidFill>
              <a:srgbClr val="D85A30"/>
            </a:solidFill>
            <a:prstDash val="solid"/>
          </a:ln>
        </p:spPr>
      </p:sp>
      <p:sp>
        <p:nvSpPr>
          <p:cNvPr id="36" name="Text 34"/>
          <p:cNvSpPr/>
          <p:nvPr/>
        </p:nvSpPr>
        <p:spPr>
          <a:xfrm>
            <a:off x="6967728" y="1499616"/>
            <a:ext cx="1847088" cy="310896"/>
          </a:xfrm>
          <a:prstGeom prst="rect">
            <a:avLst/>
          </a:prstGeom>
          <a:noFill/>
          <a:ln/>
        </p:spPr>
        <p:txBody>
          <a:bodyPr wrap="square" rtlCol="0" anchor="ctr"/>
          <a:lstStyle/>
          <a:p>
            <a:pPr indent="0" marL="0">
              <a:buNone/>
            </a:pPr>
            <a:r>
              <a:rPr lang="en-US" sz="1200" b="1" dirty="0">
                <a:solidFill>
                  <a:srgbClr val="D85A30"/>
                </a:solidFill>
              </a:rPr>
              <a:t>感情 Head</a:t>
            </a:r>
            <a:endParaRPr lang="en-US" sz="1200" dirty="0"/>
          </a:p>
        </p:txBody>
      </p:sp>
      <p:sp>
        <p:nvSpPr>
          <p:cNvPr id="37" name="Text 35"/>
          <p:cNvSpPr/>
          <p:nvPr/>
        </p:nvSpPr>
        <p:spPr>
          <a:xfrm>
            <a:off x="6967728" y="1828800"/>
            <a:ext cx="1847088" cy="640080"/>
          </a:xfrm>
          <a:prstGeom prst="rect">
            <a:avLst/>
          </a:prstGeom>
          <a:noFill/>
          <a:ln/>
        </p:spPr>
        <p:txBody>
          <a:bodyPr wrap="square" rtlCol="0" anchor="ctr"/>
          <a:lstStyle/>
          <a:p>
            <a:pPr indent="0" marL="0">
              <a:spcAft>
                <a:spcPts val="400"/>
              </a:spcAft>
              <a:buNone/>
            </a:pPr>
            <a:r>
              <a:rPr lang="en-US" sz="1050" dirty="0">
                <a:solidFill>
                  <a:srgbClr val="1F2937"/>
                </a:solidFill>
              </a:rPr>
              <a:t>ポジティブ／ネガティブ</a:t>
            </a:r>
            <a:endParaRPr lang="en-US" sz="1050" dirty="0"/>
          </a:p>
          <a:p>
            <a:pPr indent="0" marL="0">
              <a:spcAft>
                <a:spcPts val="400"/>
              </a:spcAft>
              <a:buNone/>
            </a:pPr>
            <a:r>
              <a:rPr lang="en-US" sz="1050" dirty="0">
                <a:solidFill>
                  <a:srgbClr val="1F2937"/>
                </a:solidFill>
              </a:rPr>
              <a:t>感情強度・トーン</a:t>
            </a:r>
            <a:endParaRPr lang="en-US" sz="1050" dirty="0"/>
          </a:p>
        </p:txBody>
      </p:sp>
      <p:sp>
        <p:nvSpPr>
          <p:cNvPr id="38" name="Shape 36"/>
          <p:cNvSpPr/>
          <p:nvPr/>
        </p:nvSpPr>
        <p:spPr>
          <a:xfrm>
            <a:off x="6967728" y="2523744"/>
            <a:ext cx="658368" cy="237744"/>
          </a:xfrm>
          <a:prstGeom prst="roundRect">
            <a:avLst>
              <a:gd name="adj" fmla="val 15385"/>
            </a:avLst>
          </a:prstGeom>
          <a:solidFill>
            <a:srgbClr val="D85A30"/>
          </a:solidFill>
          <a:ln w="12700">
            <a:solidFill>
              <a:srgbClr val="D85A30"/>
            </a:solidFill>
            <a:prstDash val="solid"/>
          </a:ln>
        </p:spPr>
      </p:sp>
      <p:sp>
        <p:nvSpPr>
          <p:cNvPr id="39" name="Text 37"/>
          <p:cNvSpPr/>
          <p:nvPr/>
        </p:nvSpPr>
        <p:spPr>
          <a:xfrm>
            <a:off x="6967728" y="2523744"/>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rPr>
              <a:t>感情極性</a:t>
            </a:r>
            <a:endParaRPr lang="en-US" sz="900" dirty="0"/>
          </a:p>
        </p:txBody>
      </p:sp>
      <p:sp>
        <p:nvSpPr>
          <p:cNvPr id="40" name="Shape 38"/>
          <p:cNvSpPr/>
          <p:nvPr/>
        </p:nvSpPr>
        <p:spPr>
          <a:xfrm>
            <a:off x="7690104" y="2523744"/>
            <a:ext cx="658368" cy="237744"/>
          </a:xfrm>
          <a:prstGeom prst="roundRect">
            <a:avLst>
              <a:gd name="adj" fmla="val 15385"/>
            </a:avLst>
          </a:prstGeom>
          <a:solidFill>
            <a:srgbClr val="D85A30"/>
          </a:solidFill>
          <a:ln w="12700">
            <a:solidFill>
              <a:srgbClr val="D85A30"/>
            </a:solidFill>
            <a:prstDash val="solid"/>
          </a:ln>
        </p:spPr>
      </p:sp>
      <p:sp>
        <p:nvSpPr>
          <p:cNvPr id="41" name="Text 39"/>
          <p:cNvSpPr/>
          <p:nvPr/>
        </p:nvSpPr>
        <p:spPr>
          <a:xfrm>
            <a:off x="7690104" y="2523744"/>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rPr>
              <a:t>強度</a:t>
            </a:r>
            <a:endParaRPr lang="en-US" sz="900" dirty="0"/>
          </a:p>
        </p:txBody>
      </p:sp>
      <p:sp>
        <p:nvSpPr>
          <p:cNvPr id="42" name="Shape 40"/>
          <p:cNvSpPr/>
          <p:nvPr/>
        </p:nvSpPr>
        <p:spPr>
          <a:xfrm>
            <a:off x="8412480" y="2523744"/>
            <a:ext cx="658368" cy="237744"/>
          </a:xfrm>
          <a:prstGeom prst="roundRect">
            <a:avLst>
              <a:gd name="adj" fmla="val 15385"/>
            </a:avLst>
          </a:prstGeom>
          <a:solidFill>
            <a:srgbClr val="D85A30"/>
          </a:solidFill>
          <a:ln w="12700">
            <a:solidFill>
              <a:srgbClr val="D85A30"/>
            </a:solidFill>
            <a:prstDash val="solid"/>
          </a:ln>
        </p:spPr>
      </p:sp>
      <p:sp>
        <p:nvSpPr>
          <p:cNvPr id="43" name="Text 41"/>
          <p:cNvSpPr/>
          <p:nvPr/>
        </p:nvSpPr>
        <p:spPr>
          <a:xfrm>
            <a:off x="8412480" y="2523744"/>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rPr>
              <a:t>トーン</a:t>
            </a:r>
            <a:endParaRPr lang="en-US" sz="900" dirty="0"/>
          </a:p>
        </p:txBody>
      </p:sp>
      <p:sp>
        <p:nvSpPr>
          <p:cNvPr id="44" name="Shape 42"/>
          <p:cNvSpPr/>
          <p:nvPr/>
        </p:nvSpPr>
        <p:spPr>
          <a:xfrm>
            <a:off x="347472" y="3749040"/>
            <a:ext cx="8430768" cy="457200"/>
          </a:xfrm>
          <a:prstGeom prst="roundRect">
            <a:avLst>
              <a:gd name="adj" fmla="val 10000"/>
            </a:avLst>
          </a:prstGeom>
          <a:solidFill>
            <a:srgbClr val="F0F4FF"/>
          </a:solidFill>
          <a:ln w="6350">
            <a:solidFill>
              <a:srgbClr val="534AB7"/>
            </a:solidFill>
            <a:prstDash val="solid"/>
          </a:ln>
        </p:spPr>
      </p:sp>
      <p:sp>
        <p:nvSpPr>
          <p:cNvPr id="45" name="Text 43"/>
          <p:cNvSpPr/>
          <p:nvPr/>
        </p:nvSpPr>
        <p:spPr>
          <a:xfrm>
            <a:off x="502920" y="3785616"/>
            <a:ext cx="8229600" cy="384048"/>
          </a:xfrm>
          <a:prstGeom prst="rect">
            <a:avLst/>
          </a:prstGeom>
          <a:noFill/>
          <a:ln/>
        </p:spPr>
        <p:txBody>
          <a:bodyPr wrap="square" rtlCol="0" anchor="ctr"/>
          <a:lstStyle/>
          <a:p>
            <a:pPr indent="0" marL="0">
              <a:buNone/>
            </a:pPr>
            <a:r>
              <a:rPr lang="en-US" sz="1100" dirty="0">
                <a:solidFill>
                  <a:srgbClr val="1F2937"/>
                </a:solidFill>
              </a:rPr>
              <a:t>各 Head の出力を結合 → W_O で線形変換 → 文法も感情も意味役割も含んだ 1 本のベクトルに圧縮</a:t>
            </a:r>
            <a:endParaRPr lang="en-US" sz="1100" dirty="0"/>
          </a:p>
        </p:txBody>
      </p:sp>
      <p:sp>
        <p:nvSpPr>
          <p:cNvPr id="46" name="Shape 44"/>
          <p:cNvSpPr/>
          <p:nvPr/>
        </p:nvSpPr>
        <p:spPr>
          <a:xfrm>
            <a:off x="438912" y="4315968"/>
            <a:ext cx="1261872" cy="384048"/>
          </a:xfrm>
          <a:prstGeom prst="roundRect">
            <a:avLst>
              <a:gd name="adj" fmla="val 11905"/>
            </a:avLst>
          </a:prstGeom>
          <a:solidFill>
            <a:srgbClr val="534AB7"/>
          </a:solidFill>
          <a:ln w="12700">
            <a:solidFill>
              <a:srgbClr val="534AB7"/>
            </a:solidFill>
            <a:prstDash val="solid"/>
          </a:ln>
        </p:spPr>
      </p:sp>
      <p:sp>
        <p:nvSpPr>
          <p:cNvPr id="47" name="Text 45"/>
          <p:cNvSpPr/>
          <p:nvPr/>
        </p:nvSpPr>
        <p:spPr>
          <a:xfrm>
            <a:off x="438912" y="4315968"/>
            <a:ext cx="1261872" cy="384048"/>
          </a:xfrm>
          <a:prstGeom prst="rect">
            <a:avLst/>
          </a:prstGeom>
          <a:noFill/>
          <a:ln/>
        </p:spPr>
        <p:txBody>
          <a:bodyPr wrap="square" lIns="25400" tIns="25400" rIns="25400" bIns="25400" rtlCol="0" anchor="ctr"/>
          <a:lstStyle/>
          <a:p>
            <a:pPr algn="ctr" indent="0" marL="0">
              <a:buNone/>
            </a:pPr>
            <a:r>
              <a:rPr lang="en-US" sz="1000" b="1" dirty="0">
                <a:solidFill>
                  <a:srgbClr val="FFFFFF"/>
                </a:solidFill>
              </a:rPr>
              <a:t>Head1</a:t>
            </a:r>
            <a:endParaRPr lang="en-US" sz="1000" dirty="0"/>
          </a:p>
        </p:txBody>
      </p:sp>
      <p:sp>
        <p:nvSpPr>
          <p:cNvPr id="48" name="Shape 46"/>
          <p:cNvSpPr/>
          <p:nvPr/>
        </p:nvSpPr>
        <p:spPr>
          <a:xfrm>
            <a:off x="1700784" y="4507992"/>
            <a:ext cx="164592" cy="0"/>
          </a:xfrm>
          <a:prstGeom prst="line">
            <a:avLst/>
          </a:prstGeom>
          <a:noFill/>
          <a:ln w="12700">
            <a:solidFill>
              <a:srgbClr val="6B7280"/>
            </a:solidFill>
            <a:prstDash val="solid"/>
          </a:ln>
        </p:spPr>
      </p:sp>
      <p:sp>
        <p:nvSpPr>
          <p:cNvPr id="49" name="Shape 47"/>
          <p:cNvSpPr/>
          <p:nvPr/>
        </p:nvSpPr>
        <p:spPr>
          <a:xfrm>
            <a:off x="1865376" y="4315968"/>
            <a:ext cx="1261872" cy="384048"/>
          </a:xfrm>
          <a:prstGeom prst="roundRect">
            <a:avLst>
              <a:gd name="adj" fmla="val 11905"/>
            </a:avLst>
          </a:prstGeom>
          <a:solidFill>
            <a:srgbClr val="0F6E56"/>
          </a:solidFill>
          <a:ln w="12700">
            <a:solidFill>
              <a:srgbClr val="0F6E56"/>
            </a:solidFill>
            <a:prstDash val="solid"/>
          </a:ln>
        </p:spPr>
      </p:sp>
      <p:sp>
        <p:nvSpPr>
          <p:cNvPr id="50" name="Text 48"/>
          <p:cNvSpPr/>
          <p:nvPr/>
        </p:nvSpPr>
        <p:spPr>
          <a:xfrm>
            <a:off x="1865376" y="4315968"/>
            <a:ext cx="1261872" cy="384048"/>
          </a:xfrm>
          <a:prstGeom prst="rect">
            <a:avLst/>
          </a:prstGeom>
          <a:noFill/>
          <a:ln/>
        </p:spPr>
        <p:txBody>
          <a:bodyPr wrap="square" lIns="25400" tIns="25400" rIns="25400" bIns="25400" rtlCol="0" anchor="ctr"/>
          <a:lstStyle/>
          <a:p>
            <a:pPr algn="ctr" indent="0" marL="0">
              <a:buNone/>
            </a:pPr>
            <a:r>
              <a:rPr lang="en-US" sz="1000" b="1" dirty="0">
                <a:solidFill>
                  <a:srgbClr val="FFFFFF"/>
                </a:solidFill>
              </a:rPr>
              <a:t>Head2</a:t>
            </a:r>
            <a:endParaRPr lang="en-US" sz="1000" dirty="0"/>
          </a:p>
        </p:txBody>
      </p:sp>
      <p:sp>
        <p:nvSpPr>
          <p:cNvPr id="51" name="Shape 49"/>
          <p:cNvSpPr/>
          <p:nvPr/>
        </p:nvSpPr>
        <p:spPr>
          <a:xfrm>
            <a:off x="3127248" y="4507992"/>
            <a:ext cx="164592" cy="0"/>
          </a:xfrm>
          <a:prstGeom prst="line">
            <a:avLst/>
          </a:prstGeom>
          <a:noFill/>
          <a:ln w="12700">
            <a:solidFill>
              <a:srgbClr val="6B7280"/>
            </a:solidFill>
            <a:prstDash val="solid"/>
          </a:ln>
        </p:spPr>
      </p:sp>
      <p:sp>
        <p:nvSpPr>
          <p:cNvPr id="52" name="Shape 50"/>
          <p:cNvSpPr/>
          <p:nvPr/>
        </p:nvSpPr>
        <p:spPr>
          <a:xfrm>
            <a:off x="3291840" y="4315968"/>
            <a:ext cx="1261872" cy="384048"/>
          </a:xfrm>
          <a:prstGeom prst="roundRect">
            <a:avLst>
              <a:gd name="adj" fmla="val 11905"/>
            </a:avLst>
          </a:prstGeom>
          <a:solidFill>
            <a:srgbClr val="BA7517"/>
          </a:solidFill>
          <a:ln w="12700">
            <a:solidFill>
              <a:srgbClr val="BA7517"/>
            </a:solidFill>
            <a:prstDash val="solid"/>
          </a:ln>
        </p:spPr>
      </p:sp>
      <p:sp>
        <p:nvSpPr>
          <p:cNvPr id="53" name="Text 51"/>
          <p:cNvSpPr/>
          <p:nvPr/>
        </p:nvSpPr>
        <p:spPr>
          <a:xfrm>
            <a:off x="3291840" y="4315968"/>
            <a:ext cx="1261872" cy="384048"/>
          </a:xfrm>
          <a:prstGeom prst="rect">
            <a:avLst/>
          </a:prstGeom>
          <a:noFill/>
          <a:ln/>
        </p:spPr>
        <p:txBody>
          <a:bodyPr wrap="square" lIns="25400" tIns="25400" rIns="25400" bIns="25400" rtlCol="0" anchor="ctr"/>
          <a:lstStyle/>
          <a:p>
            <a:pPr algn="ctr" indent="0" marL="0">
              <a:buNone/>
            </a:pPr>
            <a:r>
              <a:rPr lang="en-US" sz="1000" b="1" dirty="0">
                <a:solidFill>
                  <a:srgbClr val="FFFFFF"/>
                </a:solidFill>
              </a:rPr>
              <a:t>Head3</a:t>
            </a:r>
            <a:endParaRPr lang="en-US" sz="1000" dirty="0"/>
          </a:p>
        </p:txBody>
      </p:sp>
      <p:sp>
        <p:nvSpPr>
          <p:cNvPr id="54" name="Shape 52"/>
          <p:cNvSpPr/>
          <p:nvPr/>
        </p:nvSpPr>
        <p:spPr>
          <a:xfrm>
            <a:off x="4553712" y="4507992"/>
            <a:ext cx="164592" cy="0"/>
          </a:xfrm>
          <a:prstGeom prst="line">
            <a:avLst/>
          </a:prstGeom>
          <a:noFill/>
          <a:ln w="12700">
            <a:solidFill>
              <a:srgbClr val="6B7280"/>
            </a:solidFill>
            <a:prstDash val="solid"/>
          </a:ln>
        </p:spPr>
      </p:sp>
      <p:sp>
        <p:nvSpPr>
          <p:cNvPr id="55" name="Shape 53"/>
          <p:cNvSpPr/>
          <p:nvPr/>
        </p:nvSpPr>
        <p:spPr>
          <a:xfrm>
            <a:off x="4718304" y="4315968"/>
            <a:ext cx="1261872" cy="384048"/>
          </a:xfrm>
          <a:prstGeom prst="roundRect">
            <a:avLst>
              <a:gd name="adj" fmla="val 11905"/>
            </a:avLst>
          </a:prstGeom>
          <a:solidFill>
            <a:srgbClr val="D85A30"/>
          </a:solidFill>
          <a:ln w="12700">
            <a:solidFill>
              <a:srgbClr val="D85A30"/>
            </a:solidFill>
            <a:prstDash val="solid"/>
          </a:ln>
        </p:spPr>
      </p:sp>
      <p:sp>
        <p:nvSpPr>
          <p:cNvPr id="56" name="Text 54"/>
          <p:cNvSpPr/>
          <p:nvPr/>
        </p:nvSpPr>
        <p:spPr>
          <a:xfrm>
            <a:off x="4718304" y="4315968"/>
            <a:ext cx="1261872" cy="384048"/>
          </a:xfrm>
          <a:prstGeom prst="rect">
            <a:avLst/>
          </a:prstGeom>
          <a:noFill/>
          <a:ln/>
        </p:spPr>
        <p:txBody>
          <a:bodyPr wrap="square" lIns="25400" tIns="25400" rIns="25400" bIns="25400" rtlCol="0" anchor="ctr"/>
          <a:lstStyle/>
          <a:p>
            <a:pPr algn="ctr" indent="0" marL="0">
              <a:buNone/>
            </a:pPr>
            <a:r>
              <a:rPr lang="en-US" sz="1000" b="1" dirty="0">
                <a:solidFill>
                  <a:srgbClr val="FFFFFF"/>
                </a:solidFill>
              </a:rPr>
              <a:t>Head4</a:t>
            </a:r>
            <a:endParaRPr lang="en-US" sz="1000" dirty="0"/>
          </a:p>
        </p:txBody>
      </p:sp>
      <p:sp>
        <p:nvSpPr>
          <p:cNvPr id="57" name="Shape 55"/>
          <p:cNvSpPr/>
          <p:nvPr/>
        </p:nvSpPr>
        <p:spPr>
          <a:xfrm>
            <a:off x="6492240" y="4279392"/>
            <a:ext cx="2286000" cy="457200"/>
          </a:xfrm>
          <a:prstGeom prst="roundRect">
            <a:avLst>
              <a:gd name="adj" fmla="val 10000"/>
            </a:avLst>
          </a:prstGeom>
          <a:solidFill>
            <a:srgbClr val="1A1A2E"/>
          </a:solidFill>
          <a:ln w="12700">
            <a:solidFill>
              <a:srgbClr val="1A1A2E"/>
            </a:solidFill>
            <a:prstDash val="solid"/>
          </a:ln>
        </p:spPr>
      </p:sp>
      <p:sp>
        <p:nvSpPr>
          <p:cNvPr id="58" name="Text 56"/>
          <p:cNvSpPr/>
          <p:nvPr/>
        </p:nvSpPr>
        <p:spPr>
          <a:xfrm>
            <a:off x="6492240" y="4279392"/>
            <a:ext cx="2286000" cy="457200"/>
          </a:xfrm>
          <a:prstGeom prst="rect">
            <a:avLst/>
          </a:prstGeom>
          <a:noFill/>
          <a:ln/>
        </p:spPr>
        <p:txBody>
          <a:bodyPr wrap="square" lIns="25400" tIns="25400" rIns="25400" bIns="25400" rtlCol="0" anchor="ctr"/>
          <a:lstStyle/>
          <a:p>
            <a:pPr algn="ctr" indent="0" marL="0">
              <a:buNone/>
            </a:pPr>
            <a:r>
              <a:rPr lang="en-US" sz="1100" b="1" dirty="0">
                <a:solidFill>
                  <a:srgbClr val="FFFFFF"/>
                </a:solidFill>
              </a:rPr>
              <a:t>結合 → W_O 変換</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12 / 28</a:t>
            </a:r>
            <a:endParaRPr lang="en-US" sz="900" dirty="0"/>
          </a:p>
        </p:txBody>
      </p:sp>
      <p:sp>
        <p:nvSpPr>
          <p:cNvPr id="3" name="Shape 1"/>
          <p:cNvSpPr/>
          <p:nvPr/>
        </p:nvSpPr>
        <p:spPr>
          <a:xfrm>
            <a:off x="347472" y="274320"/>
            <a:ext cx="54864" cy="475488"/>
          </a:xfrm>
          <a:prstGeom prst="rect">
            <a:avLst/>
          </a:prstGeom>
          <a:solidFill>
            <a:srgbClr val="0F6E56"/>
          </a:solidFill>
          <a:ln w="12700">
            <a:solidFill>
              <a:srgbClr val="0F6E56"/>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Residual Connection — 元情報を壊さずに差分を積み上げる</a:t>
            </a:r>
            <a:endParaRPr lang="en-US" sz="2000" dirty="0"/>
          </a:p>
        </p:txBody>
      </p:sp>
      <p:sp>
        <p:nvSpPr>
          <p:cNvPr id="5" name="Text 3"/>
          <p:cNvSpPr/>
          <p:nvPr/>
        </p:nvSpPr>
        <p:spPr>
          <a:xfrm>
            <a:off x="347472" y="932688"/>
            <a:ext cx="8430768" cy="347472"/>
          </a:xfrm>
          <a:prstGeom prst="rect">
            <a:avLst/>
          </a:prstGeom>
          <a:noFill/>
          <a:ln/>
        </p:spPr>
        <p:txBody>
          <a:bodyPr wrap="square" rtlCol="0" anchor="ctr"/>
          <a:lstStyle/>
          <a:p>
            <a:pPr indent="0" marL="0">
              <a:buNone/>
            </a:pPr>
            <a:r>
              <a:rPr lang="en-US" sz="1100" i="1" dirty="0">
                <a:solidFill>
                  <a:srgbClr val="4B5563"/>
                </a:solidFill>
              </a:rPr>
              <a:t>Attention の出力をそのまま次層に渡すと、層を重ねるたびに元の情報が上書きされる。Residual はこれを防ぐ。</a:t>
            </a:r>
            <a:endParaRPr lang="en-US" sz="1100" dirty="0"/>
          </a:p>
        </p:txBody>
      </p:sp>
      <p:sp>
        <p:nvSpPr>
          <p:cNvPr id="6" name="Shape 4"/>
          <p:cNvSpPr/>
          <p:nvPr/>
        </p:nvSpPr>
        <p:spPr>
          <a:xfrm>
            <a:off x="347472" y="1371600"/>
            <a:ext cx="8430768" cy="548640"/>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7" name="Shape 5"/>
          <p:cNvSpPr/>
          <p:nvPr/>
        </p:nvSpPr>
        <p:spPr>
          <a:xfrm>
            <a:off x="347472" y="1371600"/>
            <a:ext cx="45720" cy="548640"/>
          </a:xfrm>
          <a:prstGeom prst="rect">
            <a:avLst/>
          </a:prstGeom>
          <a:solidFill>
            <a:srgbClr val="0F6E56"/>
          </a:solidFill>
          <a:ln w="12700">
            <a:solidFill>
              <a:srgbClr val="0F6E56"/>
            </a:solidFill>
            <a:prstDash val="solid"/>
          </a:ln>
        </p:spPr>
      </p:sp>
      <p:sp>
        <p:nvSpPr>
          <p:cNvPr id="8" name="Text 6"/>
          <p:cNvSpPr/>
          <p:nvPr/>
        </p:nvSpPr>
        <p:spPr>
          <a:xfrm>
            <a:off x="502920" y="1408176"/>
            <a:ext cx="8229600" cy="457200"/>
          </a:xfrm>
          <a:prstGeom prst="rect">
            <a:avLst/>
          </a:prstGeom>
          <a:noFill/>
          <a:ln/>
        </p:spPr>
        <p:txBody>
          <a:bodyPr wrap="square" rtlCol="0" anchor="ctr"/>
          <a:lstStyle/>
          <a:p>
            <a:pPr algn="ctr" indent="0" marL="0">
              <a:buNone/>
            </a:pPr>
            <a:r>
              <a:rPr lang="en-US" sz="1700" b="1" dirty="0">
                <a:solidFill>
                  <a:srgbClr val="0F6E56"/>
                </a:solidFill>
                <a:latin typeface="Consolas" pitchFamily="34" charset="0"/>
                <a:ea typeface="Consolas" pitchFamily="34" charset="-122"/>
                <a:cs typeface="Consolas" pitchFamily="34" charset="-120"/>
              </a:rPr>
              <a:t>output  =  Attention(x)  +  x</a:t>
            </a:r>
            <a:endParaRPr lang="en-US" sz="1700" dirty="0"/>
          </a:p>
        </p:txBody>
      </p:sp>
      <p:sp>
        <p:nvSpPr>
          <p:cNvPr id="9" name="Shape 7"/>
          <p:cNvSpPr/>
          <p:nvPr/>
        </p:nvSpPr>
        <p:spPr>
          <a:xfrm>
            <a:off x="347472" y="2048256"/>
            <a:ext cx="4041648" cy="2139696"/>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10" name="Shape 8"/>
          <p:cNvSpPr/>
          <p:nvPr/>
        </p:nvSpPr>
        <p:spPr>
          <a:xfrm>
            <a:off x="347472" y="2048256"/>
            <a:ext cx="45720" cy="2139696"/>
          </a:xfrm>
          <a:prstGeom prst="rect">
            <a:avLst/>
          </a:prstGeom>
          <a:solidFill>
            <a:srgbClr val="D85A30"/>
          </a:solidFill>
          <a:ln w="12700">
            <a:solidFill>
              <a:srgbClr val="D85A30"/>
            </a:solidFill>
            <a:prstDash val="solid"/>
          </a:ln>
        </p:spPr>
      </p:sp>
      <p:sp>
        <p:nvSpPr>
          <p:cNvPr id="11" name="Text 9"/>
          <p:cNvSpPr/>
          <p:nvPr/>
        </p:nvSpPr>
        <p:spPr>
          <a:xfrm>
            <a:off x="484632" y="2103120"/>
            <a:ext cx="3767328" cy="310896"/>
          </a:xfrm>
          <a:prstGeom prst="rect">
            <a:avLst/>
          </a:prstGeom>
          <a:noFill/>
          <a:ln/>
        </p:spPr>
        <p:txBody>
          <a:bodyPr wrap="square" rtlCol="0" anchor="ctr"/>
          <a:lstStyle/>
          <a:p>
            <a:pPr indent="0" marL="0">
              <a:buNone/>
            </a:pPr>
            <a:r>
              <a:rPr lang="en-US" sz="1300" b="1" dirty="0">
                <a:solidFill>
                  <a:srgbClr val="D85A30"/>
                </a:solidFill>
              </a:rPr>
              <a:t>Residual なし（問題）</a:t>
            </a:r>
            <a:endParaRPr lang="en-US" sz="1300" dirty="0"/>
          </a:p>
        </p:txBody>
      </p:sp>
      <p:sp>
        <p:nvSpPr>
          <p:cNvPr id="12" name="Text 10"/>
          <p:cNvSpPr/>
          <p:nvPr/>
        </p:nvSpPr>
        <p:spPr>
          <a:xfrm>
            <a:off x="484632" y="2450592"/>
            <a:ext cx="3767328" cy="1609344"/>
          </a:xfrm>
          <a:prstGeom prst="rect">
            <a:avLst/>
          </a:prstGeom>
          <a:noFill/>
          <a:ln/>
        </p:spPr>
        <p:txBody>
          <a:bodyPr wrap="square" rtlCol="0" anchor="ctr"/>
          <a:lstStyle/>
          <a:p>
            <a:pPr indent="0" marL="0">
              <a:spcAft>
                <a:spcPts val="300"/>
              </a:spcAft>
              <a:buNone/>
            </a:pPr>
            <a:r>
              <a:rPr lang="en-US" sz="1100" dirty="0">
                <a:solidFill>
                  <a:srgbClr val="1F2937"/>
                </a:solidFill>
              </a:rPr>
              <a:t>入力:
</a:t>
            </a:r>
            <a:pPr indent="0" marL="0">
              <a:spcAft>
                <a:spcPts val="300"/>
              </a:spcAft>
              <a:buNone/>
            </a:pPr>
            <a:r>
              <a:rPr lang="en-US" sz="1100" b="1" dirty="0">
                <a:solidFill>
                  <a:srgbClr val="534AB7"/>
                </a:solidFill>
              </a:rPr>
              <a:t>[猫の意味ベクトル]
</a:t>
            </a:r>
            <a:pPr indent="0" marL="0">
              <a:spcAft>
                <a:spcPts val="300"/>
              </a:spcAft>
              <a:buNone/>
            </a:pPr>
            <a:r>
              <a:rPr lang="en-US" sz="1100" dirty="0">
                <a:solidFill>
                  <a:srgbClr val="1F2937"/>
                </a:solidFill>
              </a:rPr>
              <a:t>
Attention後:
</a:t>
            </a:r>
            <a:pPr indent="0" marL="0">
              <a:spcAft>
                <a:spcPts val="300"/>
              </a:spcAft>
              <a:buNone/>
            </a:pPr>
            <a:r>
              <a:rPr lang="en-US" sz="1100" b="1" dirty="0">
                <a:solidFill>
                  <a:srgbClr val="0F6E56"/>
                </a:solidFill>
              </a:rPr>
              <a:t>[猫+公園+走るの混合]
</a:t>
            </a:r>
            <a:pPr indent="0" marL="0">
              <a:spcAft>
                <a:spcPts val="300"/>
              </a:spcAft>
              <a:buNone/>
            </a:pPr>
            <a:endParaRPr lang="en-US" sz="1100" dirty="0"/>
          </a:p>
          <a:p>
            <a:pPr indent="0" marL="0">
              <a:spcAft>
                <a:spcPts val="300"/>
              </a:spcAft>
              <a:buNone/>
            </a:pPr>
            <a:r>
              <a:rPr lang="en-US" sz="1100" dirty="0">
                <a:solidFill>
                  <a:srgbClr val="1F2937"/>
                </a:solidFill>
              </a:rPr>
              <a:t>→ 元の「猫」の情報が</a:t>
            </a:r>
            <a:endParaRPr lang="en-US" sz="1100" dirty="0"/>
          </a:p>
          <a:p>
            <a:pPr indent="0" marL="0">
              <a:spcAft>
                <a:spcPts val="300"/>
              </a:spcAft>
              <a:buNone/>
            </a:pPr>
            <a:r>
              <a:rPr lang="en-US" sz="1100" b="1" dirty="0">
                <a:solidFill>
                  <a:srgbClr val="D85A30"/>
                </a:solidFill>
              </a:rPr>
              <a:t>上書き・消失</a:t>
            </a:r>
            <a:endParaRPr lang="en-US" sz="1100" dirty="0"/>
          </a:p>
        </p:txBody>
      </p:sp>
      <p:sp>
        <p:nvSpPr>
          <p:cNvPr id="13" name="Shape 11"/>
          <p:cNvSpPr/>
          <p:nvPr/>
        </p:nvSpPr>
        <p:spPr>
          <a:xfrm>
            <a:off x="4526280" y="2048256"/>
            <a:ext cx="4251960" cy="2139696"/>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14" name="Shape 12"/>
          <p:cNvSpPr/>
          <p:nvPr/>
        </p:nvSpPr>
        <p:spPr>
          <a:xfrm>
            <a:off x="4526280" y="2048256"/>
            <a:ext cx="45720" cy="2139696"/>
          </a:xfrm>
          <a:prstGeom prst="rect">
            <a:avLst/>
          </a:prstGeom>
          <a:solidFill>
            <a:srgbClr val="0F6E56"/>
          </a:solidFill>
          <a:ln w="12700">
            <a:solidFill>
              <a:srgbClr val="0F6E56"/>
            </a:solidFill>
            <a:prstDash val="solid"/>
          </a:ln>
        </p:spPr>
      </p:sp>
      <p:sp>
        <p:nvSpPr>
          <p:cNvPr id="15" name="Text 13"/>
          <p:cNvSpPr/>
          <p:nvPr/>
        </p:nvSpPr>
        <p:spPr>
          <a:xfrm>
            <a:off x="4663440" y="2103120"/>
            <a:ext cx="3977640" cy="310896"/>
          </a:xfrm>
          <a:prstGeom prst="rect">
            <a:avLst/>
          </a:prstGeom>
          <a:noFill/>
          <a:ln/>
        </p:spPr>
        <p:txBody>
          <a:bodyPr wrap="square" rtlCol="0" anchor="ctr"/>
          <a:lstStyle/>
          <a:p>
            <a:pPr indent="0" marL="0">
              <a:buNone/>
            </a:pPr>
            <a:r>
              <a:rPr lang="en-US" sz="1300" b="1" dirty="0">
                <a:solidFill>
                  <a:srgbClr val="0F6E56"/>
                </a:solidFill>
              </a:rPr>
              <a:t>Residual あり（解決）</a:t>
            </a:r>
            <a:endParaRPr lang="en-US" sz="1300" dirty="0"/>
          </a:p>
        </p:txBody>
      </p:sp>
      <p:sp>
        <p:nvSpPr>
          <p:cNvPr id="16" name="Text 14"/>
          <p:cNvSpPr/>
          <p:nvPr/>
        </p:nvSpPr>
        <p:spPr>
          <a:xfrm>
            <a:off x="4663440" y="2450592"/>
            <a:ext cx="3977640" cy="1609344"/>
          </a:xfrm>
          <a:prstGeom prst="rect">
            <a:avLst/>
          </a:prstGeom>
          <a:noFill/>
          <a:ln/>
        </p:spPr>
        <p:txBody>
          <a:bodyPr wrap="square" rtlCol="0" anchor="ctr"/>
          <a:lstStyle/>
          <a:p>
            <a:pPr indent="0" marL="0">
              <a:spcAft>
                <a:spcPts val="300"/>
              </a:spcAft>
              <a:buNone/>
            </a:pPr>
            <a:r>
              <a:rPr lang="en-US" sz="1100" dirty="0">
                <a:solidFill>
                  <a:srgbClr val="1F2937"/>
                </a:solidFill>
              </a:rPr>
              <a:t>Attention出力:
</a:t>
            </a:r>
            <a:pPr indent="0" marL="0">
              <a:spcAft>
                <a:spcPts val="300"/>
              </a:spcAft>
              <a:buNone/>
            </a:pPr>
            <a:r>
              <a:rPr lang="en-US" sz="1100" b="1" dirty="0">
                <a:solidFill>
                  <a:srgbClr val="BA7517"/>
                </a:solidFill>
              </a:rPr>
              <a:t>[+公園方向, +走る方向]
</a:t>
            </a:r>
            <a:pPr indent="0" marL="0">
              <a:spcAft>
                <a:spcPts val="300"/>
              </a:spcAft>
              <a:buNone/>
            </a:pPr>
            <a:r>
              <a:rPr lang="en-US" sz="1100" dirty="0">
                <a:solidFill>
                  <a:srgbClr val="1F2937"/>
                </a:solidFill>
              </a:rPr>
              <a:t>
+ 元の入力:
</a:t>
            </a:r>
            <a:pPr indent="0" marL="0">
              <a:spcAft>
                <a:spcPts val="300"/>
              </a:spcAft>
              <a:buNone/>
            </a:pPr>
            <a:r>
              <a:rPr lang="en-US" sz="1100" b="1" dirty="0">
                <a:solidFill>
                  <a:srgbClr val="534AB7"/>
                </a:solidFill>
              </a:rPr>
              <a:t>[猫の意味ベクトル]
</a:t>
            </a:r>
            <a:pPr indent="0" marL="0">
              <a:spcAft>
                <a:spcPts val="300"/>
              </a:spcAft>
              <a:buNone/>
            </a:pPr>
            <a:endParaRPr lang="en-US" sz="1100" dirty="0"/>
          </a:p>
          <a:p>
            <a:pPr indent="0" marL="0">
              <a:spcAft>
                <a:spcPts val="300"/>
              </a:spcAft>
              <a:buNone/>
            </a:pPr>
            <a:r>
              <a:rPr lang="en-US" sz="1100" dirty="0">
                <a:solidFill>
                  <a:srgbClr val="1F2937"/>
                </a:solidFill>
              </a:rPr>
              <a:t>= 元情報を保ちながら</a:t>
            </a:r>
            <a:endParaRPr lang="en-US" sz="1100" dirty="0"/>
          </a:p>
          <a:p>
            <a:pPr indent="0" marL="0">
              <a:spcAft>
                <a:spcPts val="300"/>
              </a:spcAft>
              <a:buNone/>
            </a:pPr>
            <a:r>
              <a:rPr lang="en-US" sz="1100" b="1" dirty="0">
                <a:solidFill>
                  <a:srgbClr val="0F6E56"/>
                </a:solidFill>
              </a:rPr>
              <a:t>情報を追加</a:t>
            </a:r>
            <a:endParaRPr lang="en-US" sz="1100" dirty="0"/>
          </a:p>
        </p:txBody>
      </p:sp>
      <p:sp>
        <p:nvSpPr>
          <p:cNvPr id="17" name="Shape 15"/>
          <p:cNvSpPr/>
          <p:nvPr/>
        </p:nvSpPr>
        <p:spPr>
          <a:xfrm>
            <a:off x="347472" y="4315968"/>
            <a:ext cx="8430768" cy="566928"/>
          </a:xfrm>
          <a:prstGeom prst="roundRect">
            <a:avLst>
              <a:gd name="adj" fmla="val 9677"/>
            </a:avLst>
          </a:prstGeom>
          <a:solidFill>
            <a:srgbClr val="F0FFF6"/>
          </a:solidFill>
          <a:ln w="6350">
            <a:solidFill>
              <a:srgbClr val="0F6E56"/>
            </a:solidFill>
            <a:prstDash val="solid"/>
          </a:ln>
        </p:spPr>
      </p:sp>
      <p:sp>
        <p:nvSpPr>
          <p:cNvPr id="18" name="Text 16"/>
          <p:cNvSpPr/>
          <p:nvPr/>
        </p:nvSpPr>
        <p:spPr>
          <a:xfrm>
            <a:off x="502920" y="4370832"/>
            <a:ext cx="8229600" cy="457200"/>
          </a:xfrm>
          <a:prstGeom prst="rect">
            <a:avLst/>
          </a:prstGeom>
          <a:noFill/>
          <a:ln/>
        </p:spPr>
        <p:txBody>
          <a:bodyPr wrap="square" rtlCol="0" anchor="ctr"/>
          <a:lstStyle/>
          <a:p>
            <a:pPr indent="0" marL="0">
              <a:buNone/>
            </a:pPr>
            <a:r>
              <a:rPr lang="en-US" sz="1100" b="1" dirty="0">
                <a:solidFill>
                  <a:srgbClr val="0F6E56"/>
                </a:solidFill>
              </a:rPr>
              <a:t>LayerNorm：</a:t>
            </a:r>
            <a:pPr indent="0" marL="0">
              <a:buNone/>
            </a:pPr>
            <a:r>
              <a:rPr lang="en-US" sz="1100" dirty="0">
                <a:solidFill>
                  <a:srgbClr val="1F2937"/>
                </a:solidFill>
              </a:rPr>
              <a:t xml:space="preserve">  Residual で足した後に分布を正規化。値のスケールが暴走しないよう安定化させ、深い層でも学習を壊れにくくする。</a:t>
            </a:r>
            <a:endParaRPr lang="en-US" sz="1100" dirty="0"/>
          </a:p>
        </p:txBody>
      </p:sp>
      <p:sp>
        <p:nvSpPr>
          <p:cNvPr id="19" name="Shape 17"/>
          <p:cNvSpPr/>
          <p:nvPr/>
        </p:nvSpPr>
        <p:spPr>
          <a:xfrm>
            <a:off x="347472" y="4937760"/>
            <a:ext cx="8430768" cy="201168"/>
          </a:xfrm>
          <a:prstGeom prst="roundRect">
            <a:avLst>
              <a:gd name="adj" fmla="val 18182"/>
            </a:avLst>
          </a:prstGeom>
          <a:solidFill>
            <a:srgbClr val="1A1A2E"/>
          </a:solidFill>
          <a:ln w="6350">
            <a:solidFill>
              <a:srgbClr val="0F6E56"/>
            </a:solidFill>
            <a:prstDash val="solid"/>
          </a:ln>
        </p:spPr>
      </p:sp>
      <p:sp>
        <p:nvSpPr>
          <p:cNvPr id="20" name="Text 18"/>
          <p:cNvSpPr/>
          <p:nvPr/>
        </p:nvSpPr>
        <p:spPr>
          <a:xfrm>
            <a:off x="502920" y="4956048"/>
            <a:ext cx="8229600" cy="164592"/>
          </a:xfrm>
          <a:prstGeom prst="rect">
            <a:avLst/>
          </a:prstGeom>
          <a:noFill/>
          <a:ln/>
        </p:spPr>
        <p:txBody>
          <a:bodyPr wrap="square" rtlCol="0" anchor="ctr"/>
          <a:lstStyle/>
          <a:p>
            <a:pPr algn="ctr" indent="0" marL="0">
              <a:buNone/>
            </a:pPr>
            <a:r>
              <a:rPr lang="en-US" sz="1000" dirty="0">
                <a:solidFill>
                  <a:srgbClr val="C0C8E8"/>
                </a:solidFill>
              </a:rPr>
              <a:t>直感：Attention は「ゼロから作る」のではなく「元の情報に差分だけ追加する」</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13 / 28</a:t>
            </a:r>
            <a:endParaRPr lang="en-US" sz="900" dirty="0"/>
          </a:p>
        </p:txBody>
      </p:sp>
      <p:sp>
        <p:nvSpPr>
          <p:cNvPr id="3" name="Shape 1"/>
          <p:cNvSpPr/>
          <p:nvPr/>
        </p:nvSpPr>
        <p:spPr>
          <a:xfrm>
            <a:off x="347472" y="274320"/>
            <a:ext cx="54864" cy="475488"/>
          </a:xfrm>
          <a:prstGeom prst="rect">
            <a:avLst/>
          </a:prstGeom>
          <a:solidFill>
            <a:srgbClr val="D85A30"/>
          </a:solidFill>
          <a:ln w="12700">
            <a:solidFill>
              <a:srgbClr val="D85A30"/>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FFN — Attention が「収集」し FFN が「変換」する</a:t>
            </a:r>
            <a:endParaRPr lang="en-US" sz="2000" dirty="0"/>
          </a:p>
        </p:txBody>
      </p:sp>
      <p:sp>
        <p:nvSpPr>
          <p:cNvPr id="5" name="Text 3"/>
          <p:cNvSpPr/>
          <p:nvPr/>
        </p:nvSpPr>
        <p:spPr>
          <a:xfrm>
            <a:off x="347472" y="932688"/>
            <a:ext cx="8430768" cy="347472"/>
          </a:xfrm>
          <a:prstGeom prst="rect">
            <a:avLst/>
          </a:prstGeom>
          <a:noFill/>
          <a:ln/>
        </p:spPr>
        <p:txBody>
          <a:bodyPr wrap="square" rtlCol="0" anchor="ctr"/>
          <a:lstStyle/>
          <a:p>
            <a:pPr indent="0" marL="0">
              <a:buNone/>
            </a:pPr>
            <a:r>
              <a:rPr lang="en-US" sz="1100" i="1" dirty="0">
                <a:solidFill>
                  <a:srgbClr val="4B5563"/>
                </a:solidFill>
              </a:rPr>
              <a:t>Attention は「どの単語の情報を集めるか」を決めるだけで、意味の変換はしていない。FFN がその変換を担う。</a:t>
            </a:r>
            <a:endParaRPr lang="en-US" sz="1100" dirty="0"/>
          </a:p>
        </p:txBody>
      </p:sp>
      <p:sp>
        <p:nvSpPr>
          <p:cNvPr id="6" name="Shape 4"/>
          <p:cNvSpPr/>
          <p:nvPr/>
        </p:nvSpPr>
        <p:spPr>
          <a:xfrm>
            <a:off x="347472" y="1371600"/>
            <a:ext cx="8430768" cy="493776"/>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7" name="Shape 5"/>
          <p:cNvSpPr/>
          <p:nvPr/>
        </p:nvSpPr>
        <p:spPr>
          <a:xfrm>
            <a:off x="347472" y="1371600"/>
            <a:ext cx="45720" cy="493776"/>
          </a:xfrm>
          <a:prstGeom prst="rect">
            <a:avLst/>
          </a:prstGeom>
          <a:solidFill>
            <a:srgbClr val="D85A30"/>
          </a:solidFill>
          <a:ln w="12700">
            <a:solidFill>
              <a:srgbClr val="D85A30"/>
            </a:solidFill>
            <a:prstDash val="solid"/>
          </a:ln>
        </p:spPr>
      </p:sp>
      <p:sp>
        <p:nvSpPr>
          <p:cNvPr id="8" name="Text 6"/>
          <p:cNvSpPr/>
          <p:nvPr/>
        </p:nvSpPr>
        <p:spPr>
          <a:xfrm>
            <a:off x="502920" y="1408176"/>
            <a:ext cx="8229600" cy="402336"/>
          </a:xfrm>
          <a:prstGeom prst="rect">
            <a:avLst/>
          </a:prstGeom>
          <a:noFill/>
          <a:ln/>
        </p:spPr>
        <p:txBody>
          <a:bodyPr wrap="square" rtlCol="0" anchor="ctr"/>
          <a:lstStyle/>
          <a:p>
            <a:pPr algn="ctr" indent="0" marL="0">
              <a:buNone/>
            </a:pPr>
            <a:r>
              <a:rPr lang="en-US" sz="1600" b="1" dirty="0">
                <a:solidFill>
                  <a:srgbClr val="D85A30"/>
                </a:solidFill>
                <a:latin typeface="Consolas" pitchFamily="34" charset="0"/>
                <a:ea typeface="Consolas" pitchFamily="34" charset="-122"/>
                <a:cs typeface="Consolas" pitchFamily="34" charset="-120"/>
              </a:rPr>
              <a:t>FFN(x) = W₂ · ReLU( W₁ · x + b₁ ) + b₂</a:t>
            </a:r>
            <a:endParaRPr lang="en-US" sz="1600" dirty="0"/>
          </a:p>
        </p:txBody>
      </p:sp>
      <p:sp>
        <p:nvSpPr>
          <p:cNvPr id="9" name="Shape 7"/>
          <p:cNvSpPr/>
          <p:nvPr/>
        </p:nvSpPr>
        <p:spPr>
          <a:xfrm>
            <a:off x="347472" y="1993392"/>
            <a:ext cx="3950208" cy="2121408"/>
          </a:xfrm>
          <a:prstGeom prst="rect">
            <a:avLst/>
          </a:prstGeom>
          <a:solidFill>
            <a:srgbClr val="EEEDFE"/>
          </a:solidFill>
          <a:ln w="6350">
            <a:solidFill>
              <a:srgbClr val="534AB7"/>
            </a:solidFill>
            <a:prstDash val="solid"/>
          </a:ln>
        </p:spPr>
      </p:sp>
      <p:sp>
        <p:nvSpPr>
          <p:cNvPr id="10" name="Shape 8"/>
          <p:cNvSpPr/>
          <p:nvPr/>
        </p:nvSpPr>
        <p:spPr>
          <a:xfrm>
            <a:off x="347472" y="1993392"/>
            <a:ext cx="3950208" cy="36576"/>
          </a:xfrm>
          <a:prstGeom prst="rect">
            <a:avLst/>
          </a:prstGeom>
          <a:solidFill>
            <a:srgbClr val="534AB7"/>
          </a:solidFill>
          <a:ln w="12700">
            <a:solidFill>
              <a:srgbClr val="534AB7"/>
            </a:solidFill>
            <a:prstDash val="solid"/>
          </a:ln>
        </p:spPr>
      </p:sp>
      <p:sp>
        <p:nvSpPr>
          <p:cNvPr id="11" name="Text 9"/>
          <p:cNvSpPr/>
          <p:nvPr/>
        </p:nvSpPr>
        <p:spPr>
          <a:xfrm>
            <a:off x="484632" y="2048256"/>
            <a:ext cx="3767328" cy="329184"/>
          </a:xfrm>
          <a:prstGeom prst="rect">
            <a:avLst/>
          </a:prstGeom>
          <a:noFill/>
          <a:ln/>
        </p:spPr>
        <p:txBody>
          <a:bodyPr wrap="square" rtlCol="0" anchor="ctr"/>
          <a:lstStyle/>
          <a:p>
            <a:pPr indent="0" marL="0">
              <a:buNone/>
            </a:pPr>
            <a:r>
              <a:rPr lang="en-US" sz="1300" b="1" dirty="0">
                <a:solidFill>
                  <a:srgbClr val="534AB7"/>
                </a:solidFill>
              </a:rPr>
              <a:t>Attention = 情報の収集</a:t>
            </a:r>
            <a:endParaRPr lang="en-US" sz="1300" dirty="0"/>
          </a:p>
        </p:txBody>
      </p:sp>
      <p:sp>
        <p:nvSpPr>
          <p:cNvPr id="12" name="Text 10"/>
          <p:cNvSpPr/>
          <p:nvPr/>
        </p:nvSpPr>
        <p:spPr>
          <a:xfrm>
            <a:off x="484632" y="2414016"/>
            <a:ext cx="3767328" cy="1627632"/>
          </a:xfrm>
          <a:prstGeom prst="rect">
            <a:avLst/>
          </a:prstGeom>
          <a:noFill/>
          <a:ln/>
        </p:spPr>
        <p:txBody>
          <a:bodyPr wrap="square" rtlCol="0" anchor="ctr"/>
          <a:lstStyle/>
          <a:p>
            <a:pPr indent="0" marL="0">
              <a:spcAft>
                <a:spcPts val="400"/>
              </a:spcAft>
              <a:buNone/>
            </a:pPr>
            <a:r>
              <a:rPr lang="en-US" sz="1100" dirty="0">
                <a:solidFill>
                  <a:srgbClr val="1F2937"/>
                </a:solidFill>
              </a:rPr>
              <a:t>「猫」「公園」「走る」の情報を</a:t>
            </a:r>
            <a:endParaRPr lang="en-US" sz="1100" dirty="0"/>
          </a:p>
          <a:p>
            <a:pPr indent="0" marL="0">
              <a:spcAft>
                <a:spcPts val="400"/>
              </a:spcAft>
              <a:buNone/>
            </a:pPr>
            <a:r>
              <a:rPr lang="en-US" sz="1100" dirty="0">
                <a:solidFill>
                  <a:srgbClr val="1F2937"/>
                </a:solidFill>
              </a:rPr>
              <a:t>集めてきた。</a:t>
            </a:r>
            <a:endParaRPr lang="en-US" sz="1100" dirty="0"/>
          </a:p>
          <a:p>
            <a:pPr indent="0" marL="0">
              <a:spcAft>
                <a:spcPts val="400"/>
              </a:spcAft>
              <a:buNone/>
            </a:pPr>
            <a:endParaRPr lang="en-US" sz="1100" dirty="0"/>
          </a:p>
          <a:p>
            <a:pPr indent="0" marL="0">
              <a:spcAft>
                <a:spcPts val="400"/>
              </a:spcAft>
              <a:buNone/>
            </a:pPr>
            <a:r>
              <a:rPr lang="en-US" sz="1100" dirty="0">
                <a:solidFill>
                  <a:srgbClr val="1F2937"/>
                </a:solidFill>
              </a:rPr>
              <a:t>でも</a:t>
            </a:r>
            <a:endParaRPr lang="en-US" sz="1100" dirty="0"/>
          </a:p>
          <a:p>
            <a:pPr indent="0" marL="0">
              <a:spcAft>
                <a:spcPts val="400"/>
              </a:spcAft>
              <a:buNone/>
            </a:pPr>
            <a:r>
              <a:rPr lang="en-US" sz="1100" dirty="0">
                <a:solidFill>
                  <a:srgbClr val="1F2937"/>
                </a:solidFill>
              </a:rPr>
              <a:t>まだ「変換」はしていない。</a:t>
            </a:r>
            <a:endParaRPr lang="en-US" sz="1100" dirty="0"/>
          </a:p>
          <a:p>
            <a:pPr indent="0" marL="0">
              <a:spcAft>
                <a:spcPts val="400"/>
              </a:spcAft>
              <a:buNone/>
            </a:pPr>
            <a:r>
              <a:rPr lang="en-US" sz="1100" dirty="0">
                <a:solidFill>
                  <a:srgbClr val="1F2937"/>
                </a:solidFill>
              </a:rPr>
              <a:t>集めただけ。</a:t>
            </a:r>
            <a:endParaRPr lang="en-US" sz="1100" dirty="0"/>
          </a:p>
        </p:txBody>
      </p:sp>
      <p:sp>
        <p:nvSpPr>
          <p:cNvPr id="13" name="Text 11"/>
          <p:cNvSpPr/>
          <p:nvPr/>
        </p:nvSpPr>
        <p:spPr>
          <a:xfrm>
            <a:off x="4370832" y="2852928"/>
            <a:ext cx="402336" cy="329184"/>
          </a:xfrm>
          <a:prstGeom prst="rect">
            <a:avLst/>
          </a:prstGeom>
          <a:noFill/>
          <a:ln/>
        </p:spPr>
        <p:txBody>
          <a:bodyPr wrap="square" rtlCol="0" anchor="ctr"/>
          <a:lstStyle/>
          <a:p>
            <a:pPr algn="ctr" indent="0" marL="0">
              <a:buNone/>
            </a:pPr>
            <a:r>
              <a:rPr lang="en-US" sz="1800" b="1" dirty="0">
                <a:solidFill>
                  <a:srgbClr val="6B7280"/>
                </a:solidFill>
              </a:rPr>
              <a:t>→</a:t>
            </a:r>
            <a:endParaRPr lang="en-US" sz="1800" dirty="0"/>
          </a:p>
        </p:txBody>
      </p:sp>
      <p:sp>
        <p:nvSpPr>
          <p:cNvPr id="14" name="Shape 12"/>
          <p:cNvSpPr/>
          <p:nvPr/>
        </p:nvSpPr>
        <p:spPr>
          <a:xfrm>
            <a:off x="4828032" y="1993392"/>
            <a:ext cx="3950208" cy="2121408"/>
          </a:xfrm>
          <a:prstGeom prst="rect">
            <a:avLst/>
          </a:prstGeom>
          <a:solidFill>
            <a:srgbClr val="FAECE7"/>
          </a:solidFill>
          <a:ln w="6350">
            <a:solidFill>
              <a:srgbClr val="D85A30"/>
            </a:solidFill>
            <a:prstDash val="solid"/>
          </a:ln>
        </p:spPr>
      </p:sp>
      <p:sp>
        <p:nvSpPr>
          <p:cNvPr id="15" name="Shape 13"/>
          <p:cNvSpPr/>
          <p:nvPr/>
        </p:nvSpPr>
        <p:spPr>
          <a:xfrm>
            <a:off x="4828032" y="1993392"/>
            <a:ext cx="3950208" cy="36576"/>
          </a:xfrm>
          <a:prstGeom prst="rect">
            <a:avLst/>
          </a:prstGeom>
          <a:solidFill>
            <a:srgbClr val="D85A30"/>
          </a:solidFill>
          <a:ln w="12700">
            <a:solidFill>
              <a:srgbClr val="D85A30"/>
            </a:solidFill>
            <a:prstDash val="solid"/>
          </a:ln>
        </p:spPr>
      </p:sp>
      <p:sp>
        <p:nvSpPr>
          <p:cNvPr id="16" name="Text 14"/>
          <p:cNvSpPr/>
          <p:nvPr/>
        </p:nvSpPr>
        <p:spPr>
          <a:xfrm>
            <a:off x="4956048" y="2048256"/>
            <a:ext cx="3767328" cy="329184"/>
          </a:xfrm>
          <a:prstGeom prst="rect">
            <a:avLst/>
          </a:prstGeom>
          <a:noFill/>
          <a:ln/>
        </p:spPr>
        <p:txBody>
          <a:bodyPr wrap="square" rtlCol="0" anchor="ctr"/>
          <a:lstStyle/>
          <a:p>
            <a:pPr indent="0" marL="0">
              <a:buNone/>
            </a:pPr>
            <a:r>
              <a:rPr lang="en-US" sz="1300" b="1" dirty="0">
                <a:solidFill>
                  <a:srgbClr val="D85A30"/>
                </a:solidFill>
              </a:rPr>
              <a:t>FFN = 意味の変換</a:t>
            </a:r>
            <a:endParaRPr lang="en-US" sz="1300" dirty="0"/>
          </a:p>
        </p:txBody>
      </p:sp>
      <p:sp>
        <p:nvSpPr>
          <p:cNvPr id="17" name="Text 15"/>
          <p:cNvSpPr/>
          <p:nvPr/>
        </p:nvSpPr>
        <p:spPr>
          <a:xfrm>
            <a:off x="4956048" y="2414016"/>
            <a:ext cx="3767328" cy="1627632"/>
          </a:xfrm>
          <a:prstGeom prst="rect">
            <a:avLst/>
          </a:prstGeom>
          <a:noFill/>
          <a:ln/>
        </p:spPr>
        <p:txBody>
          <a:bodyPr wrap="square" rtlCol="0" anchor="ctr"/>
          <a:lstStyle/>
          <a:p>
            <a:pPr indent="0" marL="0">
              <a:spcAft>
                <a:spcPts val="400"/>
              </a:spcAft>
              <a:buNone/>
            </a:pPr>
            <a:r>
              <a:rPr lang="en-US" sz="1100" dirty="0">
                <a:solidFill>
                  <a:srgbClr val="1F2937"/>
                </a:solidFill>
              </a:rPr>
              <a:t>集めた情報を使って</a:t>
            </a:r>
            <a:endParaRPr lang="en-US" sz="1100" dirty="0"/>
          </a:p>
          <a:p>
            <a:pPr indent="0" marL="0">
              <a:spcAft>
                <a:spcPts val="400"/>
              </a:spcAft>
              <a:buNone/>
            </a:pPr>
            <a:r>
              <a:rPr lang="en-US" sz="1100" dirty="0">
                <a:solidFill>
                  <a:srgbClr val="1F2937"/>
                </a:solidFill>
              </a:rPr>
              <a:t>意味を変換・抽象化する。</a:t>
            </a:r>
            <a:endParaRPr lang="en-US" sz="1100" dirty="0"/>
          </a:p>
          <a:p>
            <a:pPr indent="0" marL="0">
              <a:spcAft>
                <a:spcPts val="400"/>
              </a:spcAft>
              <a:buNone/>
            </a:pPr>
            <a:endParaRPr lang="en-US" sz="1100" dirty="0"/>
          </a:p>
          <a:p>
            <a:pPr indent="0" marL="0">
              <a:spcAft>
                <a:spcPts val="400"/>
              </a:spcAft>
              <a:buNone/>
            </a:pPr>
            <a:r>
              <a:rPr lang="en-US" sz="1100" dirty="0">
                <a:solidFill>
                  <a:srgbClr val="1F2937"/>
                </a:solidFill>
              </a:rPr>
              <a:t>例:</a:t>
            </a:r>
            <a:endParaRPr lang="en-US" sz="1100" dirty="0"/>
          </a:p>
          <a:p>
            <a:pPr indent="0" marL="0">
              <a:spcAft>
                <a:spcPts val="400"/>
              </a:spcAft>
              <a:buNone/>
            </a:pPr>
            <a:r>
              <a:rPr lang="en-US" sz="1100" dirty="0">
                <a:solidFill>
                  <a:srgbClr val="1F2937"/>
                </a:solidFill>
              </a:rPr>
              <a:t>「猫+走る+公園」</a:t>
            </a:r>
            <a:endParaRPr lang="en-US" sz="1100" dirty="0"/>
          </a:p>
          <a:p>
            <a:pPr indent="0" marL="0">
              <a:spcAft>
                <a:spcPts val="400"/>
              </a:spcAft>
              <a:buNone/>
            </a:pPr>
            <a:r>
              <a:rPr lang="en-US" sz="1100" dirty="0">
                <a:solidFill>
                  <a:srgbClr val="1F2937"/>
                </a:solidFill>
              </a:rPr>
              <a:t>→「動物の移動イベント」</a:t>
            </a:r>
            <a:endParaRPr lang="en-US" sz="1100" dirty="0"/>
          </a:p>
          <a:p>
            <a:pPr indent="0" marL="0">
              <a:spcAft>
                <a:spcPts val="400"/>
              </a:spcAft>
              <a:buNone/>
            </a:pPr>
            <a:r>
              <a:rPr lang="en-US" sz="1100" dirty="0">
                <a:solidFill>
                  <a:srgbClr val="1F2937"/>
                </a:solidFill>
              </a:rPr>
              <a:t>→ より抽象的な表現へ</a:t>
            </a:r>
            <a:endParaRPr lang="en-US" sz="1100" dirty="0"/>
          </a:p>
        </p:txBody>
      </p:sp>
      <p:sp>
        <p:nvSpPr>
          <p:cNvPr id="18" name="Shape 16"/>
          <p:cNvSpPr/>
          <p:nvPr/>
        </p:nvSpPr>
        <p:spPr>
          <a:xfrm>
            <a:off x="347472" y="4224528"/>
            <a:ext cx="8430768" cy="493776"/>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19" name="Shape 17"/>
          <p:cNvSpPr/>
          <p:nvPr/>
        </p:nvSpPr>
        <p:spPr>
          <a:xfrm>
            <a:off x="347472" y="4224528"/>
            <a:ext cx="45720" cy="493776"/>
          </a:xfrm>
          <a:prstGeom prst="rect">
            <a:avLst/>
          </a:prstGeom>
          <a:solidFill>
            <a:srgbClr val="BA7517"/>
          </a:solidFill>
          <a:ln w="12700">
            <a:solidFill>
              <a:srgbClr val="BA7517"/>
            </a:solidFill>
            <a:prstDash val="solid"/>
          </a:ln>
        </p:spPr>
      </p:sp>
      <p:sp>
        <p:nvSpPr>
          <p:cNvPr id="20" name="Shape 18"/>
          <p:cNvSpPr/>
          <p:nvPr/>
        </p:nvSpPr>
        <p:spPr>
          <a:xfrm>
            <a:off x="438912" y="4334256"/>
            <a:ext cx="1481328" cy="292608"/>
          </a:xfrm>
          <a:prstGeom prst="roundRect">
            <a:avLst>
              <a:gd name="adj" fmla="val 12500"/>
            </a:avLst>
          </a:prstGeom>
          <a:solidFill>
            <a:srgbClr val="534AB7"/>
          </a:solidFill>
          <a:ln w="12700">
            <a:solidFill>
              <a:srgbClr val="534AB7"/>
            </a:solidFill>
            <a:prstDash val="solid"/>
          </a:ln>
        </p:spPr>
      </p:sp>
      <p:sp>
        <p:nvSpPr>
          <p:cNvPr id="21" name="Text 19"/>
          <p:cNvSpPr/>
          <p:nvPr/>
        </p:nvSpPr>
        <p:spPr>
          <a:xfrm>
            <a:off x="438912" y="4334256"/>
            <a:ext cx="1481328" cy="292608"/>
          </a:xfrm>
          <a:prstGeom prst="rect">
            <a:avLst/>
          </a:prstGeom>
          <a:noFill/>
          <a:ln/>
        </p:spPr>
        <p:txBody>
          <a:bodyPr wrap="square" rtlCol="0" anchor="ctr"/>
          <a:lstStyle/>
          <a:p>
            <a:pPr algn="ctr" indent="0" marL="0">
              <a:buNone/>
            </a:pPr>
            <a:r>
              <a:rPr lang="en-US" sz="950" b="1" dirty="0">
                <a:solidFill>
                  <a:srgbClr val="FFFFFF"/>
                </a:solidFill>
              </a:rPr>
              <a:t>Attention Output</a:t>
            </a:r>
            <a:endParaRPr lang="en-US" sz="950" dirty="0"/>
          </a:p>
        </p:txBody>
      </p:sp>
      <p:sp>
        <p:nvSpPr>
          <p:cNvPr id="22" name="Shape 20"/>
          <p:cNvSpPr/>
          <p:nvPr/>
        </p:nvSpPr>
        <p:spPr>
          <a:xfrm>
            <a:off x="1920240" y="4480560"/>
            <a:ext cx="201168" cy="0"/>
          </a:xfrm>
          <a:prstGeom prst="line">
            <a:avLst/>
          </a:prstGeom>
          <a:noFill/>
          <a:ln w="12700">
            <a:solidFill>
              <a:srgbClr val="6B7280"/>
            </a:solidFill>
            <a:prstDash val="solid"/>
          </a:ln>
        </p:spPr>
      </p:sp>
      <p:sp>
        <p:nvSpPr>
          <p:cNvPr id="23" name="Shape 21"/>
          <p:cNvSpPr/>
          <p:nvPr/>
        </p:nvSpPr>
        <p:spPr>
          <a:xfrm>
            <a:off x="2121408" y="4334256"/>
            <a:ext cx="1481328" cy="292608"/>
          </a:xfrm>
          <a:prstGeom prst="roundRect">
            <a:avLst>
              <a:gd name="adj" fmla="val 12500"/>
            </a:avLst>
          </a:prstGeom>
          <a:solidFill>
            <a:srgbClr val="BA7517"/>
          </a:solidFill>
          <a:ln w="12700">
            <a:solidFill>
              <a:srgbClr val="BA7517"/>
            </a:solidFill>
            <a:prstDash val="solid"/>
          </a:ln>
        </p:spPr>
      </p:sp>
      <p:sp>
        <p:nvSpPr>
          <p:cNvPr id="24" name="Text 22"/>
          <p:cNvSpPr/>
          <p:nvPr/>
        </p:nvSpPr>
        <p:spPr>
          <a:xfrm>
            <a:off x="2121408" y="4334256"/>
            <a:ext cx="1481328" cy="292608"/>
          </a:xfrm>
          <a:prstGeom prst="rect">
            <a:avLst/>
          </a:prstGeom>
          <a:noFill/>
          <a:ln/>
        </p:spPr>
        <p:txBody>
          <a:bodyPr wrap="square" rtlCol="0" anchor="ctr"/>
          <a:lstStyle/>
          <a:p>
            <a:pPr algn="ctr" indent="0" marL="0">
              <a:buNone/>
            </a:pPr>
            <a:r>
              <a:rPr lang="en-US" sz="950" b="1" dirty="0">
                <a:solidFill>
                  <a:srgbClr val="FFFFFF"/>
                </a:solidFill>
              </a:rPr>
              <a:t>W₁ で拡張</a:t>
            </a:r>
            <a:endParaRPr lang="en-US" sz="950" dirty="0"/>
          </a:p>
        </p:txBody>
      </p:sp>
      <p:sp>
        <p:nvSpPr>
          <p:cNvPr id="25" name="Shape 23"/>
          <p:cNvSpPr/>
          <p:nvPr/>
        </p:nvSpPr>
        <p:spPr>
          <a:xfrm>
            <a:off x="3602736" y="4480560"/>
            <a:ext cx="201168" cy="0"/>
          </a:xfrm>
          <a:prstGeom prst="line">
            <a:avLst/>
          </a:prstGeom>
          <a:noFill/>
          <a:ln w="12700">
            <a:solidFill>
              <a:srgbClr val="6B7280"/>
            </a:solidFill>
            <a:prstDash val="solid"/>
          </a:ln>
        </p:spPr>
      </p:sp>
      <p:sp>
        <p:nvSpPr>
          <p:cNvPr id="26" name="Shape 24"/>
          <p:cNvSpPr/>
          <p:nvPr/>
        </p:nvSpPr>
        <p:spPr>
          <a:xfrm>
            <a:off x="3803904" y="4334256"/>
            <a:ext cx="1481328" cy="292608"/>
          </a:xfrm>
          <a:prstGeom prst="roundRect">
            <a:avLst>
              <a:gd name="adj" fmla="val 12500"/>
            </a:avLst>
          </a:prstGeom>
          <a:solidFill>
            <a:srgbClr val="D85A30"/>
          </a:solidFill>
          <a:ln w="12700">
            <a:solidFill>
              <a:srgbClr val="D85A30"/>
            </a:solidFill>
            <a:prstDash val="solid"/>
          </a:ln>
        </p:spPr>
      </p:sp>
      <p:sp>
        <p:nvSpPr>
          <p:cNvPr id="27" name="Text 25"/>
          <p:cNvSpPr/>
          <p:nvPr/>
        </p:nvSpPr>
        <p:spPr>
          <a:xfrm>
            <a:off x="3803904" y="4334256"/>
            <a:ext cx="1481328" cy="292608"/>
          </a:xfrm>
          <a:prstGeom prst="rect">
            <a:avLst/>
          </a:prstGeom>
          <a:noFill/>
          <a:ln/>
        </p:spPr>
        <p:txBody>
          <a:bodyPr wrap="square" rtlCol="0" anchor="ctr"/>
          <a:lstStyle/>
          <a:p>
            <a:pPr algn="ctr" indent="0" marL="0">
              <a:buNone/>
            </a:pPr>
            <a:r>
              <a:rPr lang="en-US" sz="950" b="1" dirty="0">
                <a:solidFill>
                  <a:srgbClr val="FFFFFF"/>
                </a:solidFill>
              </a:rPr>
              <a:t>ReLU</a:t>
            </a:r>
            <a:endParaRPr lang="en-US" sz="950" dirty="0"/>
          </a:p>
        </p:txBody>
      </p:sp>
      <p:sp>
        <p:nvSpPr>
          <p:cNvPr id="28" name="Shape 26"/>
          <p:cNvSpPr/>
          <p:nvPr/>
        </p:nvSpPr>
        <p:spPr>
          <a:xfrm>
            <a:off x="5285232" y="4480560"/>
            <a:ext cx="201168" cy="0"/>
          </a:xfrm>
          <a:prstGeom prst="line">
            <a:avLst/>
          </a:prstGeom>
          <a:noFill/>
          <a:ln w="12700">
            <a:solidFill>
              <a:srgbClr val="6B7280"/>
            </a:solidFill>
            <a:prstDash val="solid"/>
          </a:ln>
        </p:spPr>
      </p:sp>
      <p:sp>
        <p:nvSpPr>
          <p:cNvPr id="29" name="Shape 27"/>
          <p:cNvSpPr/>
          <p:nvPr/>
        </p:nvSpPr>
        <p:spPr>
          <a:xfrm>
            <a:off x="5486400" y="4334256"/>
            <a:ext cx="1481328" cy="292608"/>
          </a:xfrm>
          <a:prstGeom prst="roundRect">
            <a:avLst>
              <a:gd name="adj" fmla="val 12500"/>
            </a:avLst>
          </a:prstGeom>
          <a:solidFill>
            <a:srgbClr val="BA7517"/>
          </a:solidFill>
          <a:ln w="12700">
            <a:solidFill>
              <a:srgbClr val="BA7517"/>
            </a:solidFill>
            <a:prstDash val="solid"/>
          </a:ln>
        </p:spPr>
      </p:sp>
      <p:sp>
        <p:nvSpPr>
          <p:cNvPr id="30" name="Text 28"/>
          <p:cNvSpPr/>
          <p:nvPr/>
        </p:nvSpPr>
        <p:spPr>
          <a:xfrm>
            <a:off x="5486400" y="4334256"/>
            <a:ext cx="1481328" cy="292608"/>
          </a:xfrm>
          <a:prstGeom prst="rect">
            <a:avLst/>
          </a:prstGeom>
          <a:noFill/>
          <a:ln/>
        </p:spPr>
        <p:txBody>
          <a:bodyPr wrap="square" rtlCol="0" anchor="ctr"/>
          <a:lstStyle/>
          <a:p>
            <a:pPr algn="ctr" indent="0" marL="0">
              <a:buNone/>
            </a:pPr>
            <a:r>
              <a:rPr lang="en-US" sz="950" b="1" dirty="0">
                <a:solidFill>
                  <a:srgbClr val="FFFFFF"/>
                </a:solidFill>
              </a:rPr>
              <a:t>W₂ で縮小</a:t>
            </a:r>
            <a:endParaRPr lang="en-US" sz="950" dirty="0"/>
          </a:p>
        </p:txBody>
      </p:sp>
      <p:sp>
        <p:nvSpPr>
          <p:cNvPr id="31" name="Shape 29"/>
          <p:cNvSpPr/>
          <p:nvPr/>
        </p:nvSpPr>
        <p:spPr>
          <a:xfrm>
            <a:off x="6967728" y="4480560"/>
            <a:ext cx="201168" cy="0"/>
          </a:xfrm>
          <a:prstGeom prst="line">
            <a:avLst/>
          </a:prstGeom>
          <a:noFill/>
          <a:ln w="12700">
            <a:solidFill>
              <a:srgbClr val="6B7280"/>
            </a:solidFill>
            <a:prstDash val="solid"/>
          </a:ln>
        </p:spPr>
      </p:sp>
      <p:sp>
        <p:nvSpPr>
          <p:cNvPr id="32" name="Shape 30"/>
          <p:cNvSpPr/>
          <p:nvPr/>
        </p:nvSpPr>
        <p:spPr>
          <a:xfrm>
            <a:off x="7168896" y="4334256"/>
            <a:ext cx="1481328" cy="292608"/>
          </a:xfrm>
          <a:prstGeom prst="roundRect">
            <a:avLst>
              <a:gd name="adj" fmla="val 12500"/>
            </a:avLst>
          </a:prstGeom>
          <a:solidFill>
            <a:srgbClr val="0F6E56"/>
          </a:solidFill>
          <a:ln w="12700">
            <a:solidFill>
              <a:srgbClr val="0F6E56"/>
            </a:solidFill>
            <a:prstDash val="solid"/>
          </a:ln>
        </p:spPr>
      </p:sp>
      <p:sp>
        <p:nvSpPr>
          <p:cNvPr id="33" name="Text 31"/>
          <p:cNvSpPr/>
          <p:nvPr/>
        </p:nvSpPr>
        <p:spPr>
          <a:xfrm>
            <a:off x="7168896" y="4334256"/>
            <a:ext cx="1481328" cy="292608"/>
          </a:xfrm>
          <a:prstGeom prst="rect">
            <a:avLst/>
          </a:prstGeom>
          <a:noFill/>
          <a:ln/>
        </p:spPr>
        <p:txBody>
          <a:bodyPr wrap="square" rtlCol="0" anchor="ctr"/>
          <a:lstStyle/>
          <a:p>
            <a:pPr algn="ctr" indent="0" marL="0">
              <a:buNone/>
            </a:pPr>
            <a:r>
              <a:rPr lang="en-US" sz="950" b="1" dirty="0">
                <a:solidFill>
                  <a:srgbClr val="FFFFFF"/>
                </a:solidFill>
              </a:rPr>
              <a:t>Residual + x</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14 / 28</a:t>
            </a:r>
            <a:endParaRPr lang="en-US" sz="900" dirty="0"/>
          </a:p>
        </p:txBody>
      </p:sp>
      <p:sp>
        <p:nvSpPr>
          <p:cNvPr id="3" name="Shape 1"/>
          <p:cNvSpPr/>
          <p:nvPr/>
        </p:nvSpPr>
        <p:spPr>
          <a:xfrm>
            <a:off x="347472" y="274320"/>
            <a:ext cx="54864" cy="475488"/>
          </a:xfrm>
          <a:prstGeom prst="rect">
            <a:avLst/>
          </a:prstGeom>
          <a:solidFill>
            <a:srgbClr val="D85A30"/>
          </a:solidFill>
          <a:ln w="12700">
            <a:solidFill>
              <a:srgbClr val="D85A30"/>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ReLU — なぜ非線形変換が必要なのか</a:t>
            </a:r>
            <a:endParaRPr lang="en-US" sz="2000" dirty="0"/>
          </a:p>
        </p:txBody>
      </p:sp>
      <p:sp>
        <p:nvSpPr>
          <p:cNvPr id="5" name="Text 3"/>
          <p:cNvSpPr/>
          <p:nvPr/>
        </p:nvSpPr>
        <p:spPr>
          <a:xfrm>
            <a:off x="347472" y="932688"/>
            <a:ext cx="8430768" cy="347472"/>
          </a:xfrm>
          <a:prstGeom prst="rect">
            <a:avLst/>
          </a:prstGeom>
          <a:noFill/>
          <a:ln/>
        </p:spPr>
        <p:txBody>
          <a:bodyPr wrap="square" rtlCol="0" anchor="ctr"/>
          <a:lstStyle/>
          <a:p>
            <a:pPr indent="0" marL="0">
              <a:buNone/>
            </a:pPr>
            <a:r>
              <a:rPr lang="en-US" sz="1100" i="1" dirty="0">
                <a:solidFill>
                  <a:srgbClr val="4B5563"/>
                </a:solidFill>
              </a:rPr>
              <a:t>FFN の中核は ReLU（Rectified Linear Unit）。なぜ単純な線形変換ではなく、非線形変換が必要なのか？</a:t>
            </a:r>
            <a:endParaRPr lang="en-US" sz="1100" dirty="0"/>
          </a:p>
        </p:txBody>
      </p:sp>
      <p:sp>
        <p:nvSpPr>
          <p:cNvPr id="6" name="Shape 4"/>
          <p:cNvSpPr/>
          <p:nvPr/>
        </p:nvSpPr>
        <p:spPr>
          <a:xfrm>
            <a:off x="347472" y="1371600"/>
            <a:ext cx="3950208" cy="1517904"/>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7" name="Shape 5"/>
          <p:cNvSpPr/>
          <p:nvPr/>
        </p:nvSpPr>
        <p:spPr>
          <a:xfrm>
            <a:off x="347472" y="1371600"/>
            <a:ext cx="45720" cy="1517904"/>
          </a:xfrm>
          <a:prstGeom prst="rect">
            <a:avLst/>
          </a:prstGeom>
          <a:solidFill>
            <a:srgbClr val="D85A30"/>
          </a:solidFill>
          <a:ln w="12700">
            <a:solidFill>
              <a:srgbClr val="D85A30"/>
            </a:solidFill>
            <a:prstDash val="solid"/>
          </a:ln>
        </p:spPr>
      </p:sp>
      <p:sp>
        <p:nvSpPr>
          <p:cNvPr id="8" name="Text 6"/>
          <p:cNvSpPr/>
          <p:nvPr/>
        </p:nvSpPr>
        <p:spPr>
          <a:xfrm>
            <a:off x="484632" y="1426464"/>
            <a:ext cx="3657600" cy="347472"/>
          </a:xfrm>
          <a:prstGeom prst="rect">
            <a:avLst/>
          </a:prstGeom>
          <a:noFill/>
          <a:ln/>
        </p:spPr>
        <p:txBody>
          <a:bodyPr wrap="square" rtlCol="0" anchor="ctr"/>
          <a:lstStyle/>
          <a:p>
            <a:pPr algn="ctr" indent="0" marL="0">
              <a:buNone/>
            </a:pPr>
            <a:r>
              <a:rPr lang="en-US" sz="1600" b="1" dirty="0">
                <a:solidFill>
                  <a:srgbClr val="D85A30"/>
                </a:solidFill>
                <a:latin typeface="Consolas" pitchFamily="34" charset="0"/>
                <a:ea typeface="Consolas" pitchFamily="34" charset="-122"/>
                <a:cs typeface="Consolas" pitchFamily="34" charset="-120"/>
              </a:rPr>
              <a:t>ReLU(x) = max(0, x)</a:t>
            </a:r>
            <a:endParaRPr lang="en-US" sz="1600" dirty="0"/>
          </a:p>
        </p:txBody>
      </p:sp>
      <p:sp>
        <p:nvSpPr>
          <p:cNvPr id="9" name="Text 7"/>
          <p:cNvSpPr/>
          <p:nvPr/>
        </p:nvSpPr>
        <p:spPr>
          <a:xfrm>
            <a:off x="484632" y="1810512"/>
            <a:ext cx="3657600" cy="585216"/>
          </a:xfrm>
          <a:prstGeom prst="rect">
            <a:avLst/>
          </a:prstGeom>
          <a:noFill/>
          <a:ln/>
        </p:spPr>
        <p:txBody>
          <a:bodyPr wrap="square" rtlCol="0" anchor="ctr"/>
          <a:lstStyle/>
          <a:p>
            <a:pPr indent="0" marL="0">
              <a:spcAft>
                <a:spcPts val="400"/>
              </a:spcAft>
              <a:buNone/>
            </a:pPr>
            <a:r>
              <a:rPr lang="en-US" sz="1100" dirty="0">
                <a:solidFill>
                  <a:srgbClr val="1F2937"/>
                </a:solidFill>
              </a:rPr>
              <a:t>x が正なら → そのまま通す</a:t>
            </a:r>
            <a:endParaRPr lang="en-US" sz="1100" dirty="0"/>
          </a:p>
          <a:p>
            <a:pPr indent="0" marL="0">
              <a:spcAft>
                <a:spcPts val="400"/>
              </a:spcAft>
              <a:buNone/>
            </a:pPr>
            <a:r>
              <a:rPr lang="en-US" sz="1100" dirty="0">
                <a:solidFill>
                  <a:srgbClr val="1F2937"/>
                </a:solidFill>
              </a:rPr>
              <a:t>x が負なら → 0 にする（カット）</a:t>
            </a:r>
            <a:endParaRPr lang="en-US" sz="1100" dirty="0"/>
          </a:p>
        </p:txBody>
      </p:sp>
      <p:sp>
        <p:nvSpPr>
          <p:cNvPr id="10" name="Shape 8"/>
          <p:cNvSpPr/>
          <p:nvPr/>
        </p:nvSpPr>
        <p:spPr>
          <a:xfrm>
            <a:off x="4443984" y="1371600"/>
            <a:ext cx="4334256" cy="1517904"/>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11" name="Shape 9"/>
          <p:cNvSpPr/>
          <p:nvPr/>
        </p:nvSpPr>
        <p:spPr>
          <a:xfrm>
            <a:off x="4443984" y="1371600"/>
            <a:ext cx="45720" cy="1517904"/>
          </a:xfrm>
          <a:prstGeom prst="rect">
            <a:avLst/>
          </a:prstGeom>
          <a:solidFill>
            <a:srgbClr val="534AB7"/>
          </a:solidFill>
          <a:ln w="12700">
            <a:solidFill>
              <a:srgbClr val="534AB7"/>
            </a:solidFill>
            <a:prstDash val="solid"/>
          </a:ln>
        </p:spPr>
      </p:sp>
      <p:sp>
        <p:nvSpPr>
          <p:cNvPr id="12" name="Text 10"/>
          <p:cNvSpPr/>
          <p:nvPr/>
        </p:nvSpPr>
        <p:spPr>
          <a:xfrm>
            <a:off x="4572000" y="1426464"/>
            <a:ext cx="4023360" cy="347472"/>
          </a:xfrm>
          <a:prstGeom prst="rect">
            <a:avLst/>
          </a:prstGeom>
          <a:noFill/>
          <a:ln/>
        </p:spPr>
        <p:txBody>
          <a:bodyPr wrap="square" rtlCol="0" anchor="ctr"/>
          <a:lstStyle/>
          <a:p>
            <a:pPr indent="0" marL="0">
              <a:buNone/>
            </a:pPr>
            <a:r>
              <a:rPr lang="en-US" sz="1200" b="1" dirty="0">
                <a:solidFill>
                  <a:srgbClr val="534AB7"/>
                </a:solidFill>
              </a:rPr>
              <a:t>線形変換だけでは足りない理由</a:t>
            </a:r>
            <a:endParaRPr lang="en-US" sz="1200" dirty="0"/>
          </a:p>
        </p:txBody>
      </p:sp>
      <p:sp>
        <p:nvSpPr>
          <p:cNvPr id="13" name="Text 11"/>
          <p:cNvSpPr/>
          <p:nvPr/>
        </p:nvSpPr>
        <p:spPr>
          <a:xfrm>
            <a:off x="4572000" y="1810512"/>
            <a:ext cx="4023360" cy="731520"/>
          </a:xfrm>
          <a:prstGeom prst="rect">
            <a:avLst/>
          </a:prstGeom>
          <a:noFill/>
          <a:ln/>
        </p:spPr>
        <p:txBody>
          <a:bodyPr wrap="square" rtlCol="0" anchor="ctr"/>
          <a:lstStyle/>
          <a:p>
            <a:pPr indent="0" marL="0">
              <a:spcAft>
                <a:spcPts val="300"/>
              </a:spcAft>
              <a:buNone/>
            </a:pPr>
            <a:r>
              <a:rPr lang="en-US" sz="1100" dirty="0">
                <a:solidFill>
                  <a:srgbClr val="1F2937"/>
                </a:solidFill>
              </a:rPr>
              <a:t>どれだけ層を重ねても</a:t>
            </a:r>
            <a:endParaRPr lang="en-US" sz="1100" dirty="0"/>
          </a:p>
          <a:p>
            <a:pPr indent="0" marL="0">
              <a:spcAft>
                <a:spcPts val="300"/>
              </a:spcAft>
              <a:buNone/>
            </a:pPr>
            <a:r>
              <a:rPr lang="en-US" sz="1100" dirty="0">
                <a:solidFill>
                  <a:srgbClr val="1F2937"/>
                </a:solidFill>
              </a:rPr>
              <a:t>線形変換の合成は線形変換。</a:t>
            </a:r>
            <a:endParaRPr lang="en-US" sz="1100" dirty="0"/>
          </a:p>
          <a:p>
            <a:pPr indent="0" marL="0">
              <a:spcAft>
                <a:spcPts val="300"/>
              </a:spcAft>
              <a:buNone/>
            </a:pPr>
            <a:r>
              <a:rPr lang="en-US" sz="1100" dirty="0">
                <a:solidFill>
                  <a:srgbClr val="1F2937"/>
                </a:solidFill>
              </a:rPr>
              <a:t>→ 表現力が上がらない。</a:t>
            </a:r>
            <a:endParaRPr lang="en-US" sz="1100" dirty="0"/>
          </a:p>
          <a:p>
            <a:pPr indent="0" marL="0">
              <a:spcAft>
                <a:spcPts val="300"/>
              </a:spcAft>
              <a:buNone/>
            </a:pPr>
            <a:r>
              <a:rPr lang="en-US" sz="1100" dirty="0">
                <a:solidFill>
                  <a:srgbClr val="1F2937"/>
                </a:solidFill>
              </a:rPr>
              <a:t>ReLU を挟むことで非線形性が生まれ、複雑な意味を表現できる。</a:t>
            </a:r>
            <a:endParaRPr lang="en-US" sz="1100" dirty="0"/>
          </a:p>
        </p:txBody>
      </p:sp>
      <p:sp>
        <p:nvSpPr>
          <p:cNvPr id="14" name="Shape 12"/>
          <p:cNvSpPr/>
          <p:nvPr/>
        </p:nvSpPr>
        <p:spPr>
          <a:xfrm>
            <a:off x="347472" y="2999232"/>
            <a:ext cx="8430768" cy="1499616"/>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15" name="Shape 13"/>
          <p:cNvSpPr/>
          <p:nvPr/>
        </p:nvSpPr>
        <p:spPr>
          <a:xfrm>
            <a:off x="347472" y="2999232"/>
            <a:ext cx="45720" cy="1499616"/>
          </a:xfrm>
          <a:prstGeom prst="rect">
            <a:avLst/>
          </a:prstGeom>
          <a:solidFill>
            <a:srgbClr val="BA7517"/>
          </a:solidFill>
          <a:ln w="12700">
            <a:solidFill>
              <a:srgbClr val="BA7517"/>
            </a:solidFill>
            <a:prstDash val="solid"/>
          </a:ln>
        </p:spPr>
      </p:sp>
      <p:sp>
        <p:nvSpPr>
          <p:cNvPr id="16" name="Text 14"/>
          <p:cNvSpPr/>
          <p:nvPr/>
        </p:nvSpPr>
        <p:spPr>
          <a:xfrm>
            <a:off x="484632" y="3054096"/>
            <a:ext cx="8229600" cy="292608"/>
          </a:xfrm>
          <a:prstGeom prst="rect">
            <a:avLst/>
          </a:prstGeom>
          <a:noFill/>
          <a:ln/>
        </p:spPr>
        <p:txBody>
          <a:bodyPr wrap="square" rtlCol="0" anchor="ctr"/>
          <a:lstStyle/>
          <a:p>
            <a:pPr indent="0" marL="0">
              <a:buNone/>
            </a:pPr>
            <a:r>
              <a:rPr lang="en-US" sz="1100" b="1" dirty="0">
                <a:solidFill>
                  <a:srgbClr val="BA7517"/>
                </a:solidFill>
              </a:rPr>
              <a:t>FFN の中の処理イメージ（「走る+猫+公園」の場合）</a:t>
            </a:r>
            <a:endParaRPr lang="en-US" sz="1100" dirty="0"/>
          </a:p>
        </p:txBody>
      </p:sp>
      <p:sp>
        <p:nvSpPr>
          <p:cNvPr id="17" name="Shape 15"/>
          <p:cNvSpPr/>
          <p:nvPr/>
        </p:nvSpPr>
        <p:spPr>
          <a:xfrm>
            <a:off x="438912" y="3419856"/>
            <a:ext cx="1481328" cy="548640"/>
          </a:xfrm>
          <a:prstGeom prst="roundRect">
            <a:avLst>
              <a:gd name="adj" fmla="val 8333"/>
            </a:avLst>
          </a:prstGeom>
          <a:solidFill>
            <a:srgbClr val="534AB7"/>
          </a:solidFill>
          <a:ln w="12700">
            <a:solidFill>
              <a:srgbClr val="534AB7"/>
            </a:solidFill>
            <a:prstDash val="solid"/>
          </a:ln>
        </p:spPr>
      </p:sp>
      <p:sp>
        <p:nvSpPr>
          <p:cNvPr id="18" name="Text 16"/>
          <p:cNvSpPr/>
          <p:nvPr/>
        </p:nvSpPr>
        <p:spPr>
          <a:xfrm>
            <a:off x="438912" y="3419856"/>
            <a:ext cx="1481328" cy="548640"/>
          </a:xfrm>
          <a:prstGeom prst="rect">
            <a:avLst/>
          </a:prstGeom>
          <a:noFill/>
          <a:ln/>
        </p:spPr>
        <p:txBody>
          <a:bodyPr wrap="square" lIns="25400" tIns="25400" rIns="25400" bIns="25400" rtlCol="0" anchor="ctr"/>
          <a:lstStyle/>
          <a:p>
            <a:pPr algn="ctr" indent="0" marL="0">
              <a:buNone/>
            </a:pPr>
            <a:r>
              <a:rPr lang="en-US" sz="900" b="1" dirty="0">
                <a:solidFill>
                  <a:srgbClr val="FFFFFF"/>
                </a:solidFill>
              </a:rPr>
              <a:t>入力</a:t>
            </a:r>
            <a:endParaRPr lang="en-US" sz="900" dirty="0"/>
          </a:p>
          <a:p>
            <a:pPr algn="ctr" indent="0" marL="0">
              <a:buNone/>
            </a:pPr>
            <a:r>
              <a:rPr lang="en-US" sz="900" b="1" dirty="0">
                <a:solidFill>
                  <a:srgbClr val="FFFFFF"/>
                </a:solidFill>
              </a:rPr>
              <a:t>[0.63, 0.52, …]</a:t>
            </a:r>
            <a:endParaRPr lang="en-US" sz="900" dirty="0"/>
          </a:p>
        </p:txBody>
      </p:sp>
      <p:sp>
        <p:nvSpPr>
          <p:cNvPr id="19" name="Text 17"/>
          <p:cNvSpPr/>
          <p:nvPr/>
        </p:nvSpPr>
        <p:spPr>
          <a:xfrm>
            <a:off x="438912" y="3986784"/>
            <a:ext cx="1481328" cy="182880"/>
          </a:xfrm>
          <a:prstGeom prst="rect">
            <a:avLst/>
          </a:prstGeom>
          <a:noFill/>
          <a:ln/>
        </p:spPr>
        <p:txBody>
          <a:bodyPr wrap="square" rtlCol="0" anchor="ctr"/>
          <a:lstStyle/>
          <a:p>
            <a:pPr algn="ctr" indent="0" marL="0">
              <a:buNone/>
            </a:pPr>
            <a:r>
              <a:rPr lang="en-US" sz="850" i="1" dirty="0">
                <a:solidFill>
                  <a:srgbClr val="4B5563"/>
                </a:solidFill>
              </a:rPr>
              <a:t>Attention Output</a:t>
            </a:r>
            <a:endParaRPr lang="en-US" sz="850" dirty="0"/>
          </a:p>
        </p:txBody>
      </p:sp>
      <p:sp>
        <p:nvSpPr>
          <p:cNvPr id="20" name="Shape 18"/>
          <p:cNvSpPr/>
          <p:nvPr/>
        </p:nvSpPr>
        <p:spPr>
          <a:xfrm>
            <a:off x="1920240" y="3694176"/>
            <a:ext cx="201168" cy="0"/>
          </a:xfrm>
          <a:prstGeom prst="line">
            <a:avLst/>
          </a:prstGeom>
          <a:noFill/>
          <a:ln w="12700">
            <a:solidFill>
              <a:srgbClr val="6B7280"/>
            </a:solidFill>
            <a:prstDash val="solid"/>
          </a:ln>
        </p:spPr>
      </p:sp>
      <p:sp>
        <p:nvSpPr>
          <p:cNvPr id="21" name="Shape 19"/>
          <p:cNvSpPr/>
          <p:nvPr/>
        </p:nvSpPr>
        <p:spPr>
          <a:xfrm>
            <a:off x="2121408" y="3419856"/>
            <a:ext cx="1481328" cy="548640"/>
          </a:xfrm>
          <a:prstGeom prst="roundRect">
            <a:avLst>
              <a:gd name="adj" fmla="val 8333"/>
            </a:avLst>
          </a:prstGeom>
          <a:solidFill>
            <a:srgbClr val="BA7517"/>
          </a:solidFill>
          <a:ln w="12700">
            <a:solidFill>
              <a:srgbClr val="BA7517"/>
            </a:solidFill>
            <a:prstDash val="solid"/>
          </a:ln>
        </p:spPr>
      </p:sp>
      <p:sp>
        <p:nvSpPr>
          <p:cNvPr id="22" name="Text 20"/>
          <p:cNvSpPr/>
          <p:nvPr/>
        </p:nvSpPr>
        <p:spPr>
          <a:xfrm>
            <a:off x="2121408" y="3419856"/>
            <a:ext cx="1481328" cy="548640"/>
          </a:xfrm>
          <a:prstGeom prst="rect">
            <a:avLst/>
          </a:prstGeom>
          <a:noFill/>
          <a:ln/>
        </p:spPr>
        <p:txBody>
          <a:bodyPr wrap="square" lIns="25400" tIns="25400" rIns="25400" bIns="25400" rtlCol="0" anchor="ctr"/>
          <a:lstStyle/>
          <a:p>
            <a:pPr algn="ctr" indent="0" marL="0">
              <a:buNone/>
            </a:pPr>
            <a:r>
              <a:rPr lang="en-US" sz="900" b="1" dirty="0">
                <a:solidFill>
                  <a:srgbClr val="FFFFFF"/>
                </a:solidFill>
              </a:rPr>
              <a:t>W₁ で4倍に拡張</a:t>
            </a:r>
            <a:endParaRPr lang="en-US" sz="900" dirty="0"/>
          </a:p>
          <a:p>
            <a:pPr algn="ctr" indent="0" marL="0">
              <a:buNone/>
            </a:pPr>
            <a:r>
              <a:rPr lang="en-US" sz="900" b="1" dirty="0">
                <a:solidFill>
                  <a:srgbClr val="FFFFFF"/>
                </a:solidFill>
              </a:rPr>
              <a:t>[768次元→3072次元]</a:t>
            </a:r>
            <a:endParaRPr lang="en-US" sz="900" dirty="0"/>
          </a:p>
        </p:txBody>
      </p:sp>
      <p:sp>
        <p:nvSpPr>
          <p:cNvPr id="23" name="Text 21"/>
          <p:cNvSpPr/>
          <p:nvPr/>
        </p:nvSpPr>
        <p:spPr>
          <a:xfrm>
            <a:off x="2121408" y="3986784"/>
            <a:ext cx="1481328" cy="182880"/>
          </a:xfrm>
          <a:prstGeom prst="rect">
            <a:avLst/>
          </a:prstGeom>
          <a:noFill/>
          <a:ln/>
        </p:spPr>
        <p:txBody>
          <a:bodyPr wrap="square" rtlCol="0" anchor="ctr"/>
          <a:lstStyle/>
          <a:p>
            <a:pPr algn="ctr" indent="0" marL="0">
              <a:buNone/>
            </a:pPr>
            <a:r>
              <a:rPr lang="en-US" sz="850" i="1" dirty="0">
                <a:solidFill>
                  <a:srgbClr val="4B5563"/>
                </a:solidFill>
              </a:rPr>
              <a:t>特徴を膨らませる</a:t>
            </a:r>
            <a:endParaRPr lang="en-US" sz="850" dirty="0"/>
          </a:p>
        </p:txBody>
      </p:sp>
      <p:sp>
        <p:nvSpPr>
          <p:cNvPr id="24" name="Shape 22"/>
          <p:cNvSpPr/>
          <p:nvPr/>
        </p:nvSpPr>
        <p:spPr>
          <a:xfrm>
            <a:off x="3602736" y="3694176"/>
            <a:ext cx="201168" cy="0"/>
          </a:xfrm>
          <a:prstGeom prst="line">
            <a:avLst/>
          </a:prstGeom>
          <a:noFill/>
          <a:ln w="12700">
            <a:solidFill>
              <a:srgbClr val="6B7280"/>
            </a:solidFill>
            <a:prstDash val="solid"/>
          </a:ln>
        </p:spPr>
      </p:sp>
      <p:sp>
        <p:nvSpPr>
          <p:cNvPr id="25" name="Shape 23"/>
          <p:cNvSpPr/>
          <p:nvPr/>
        </p:nvSpPr>
        <p:spPr>
          <a:xfrm>
            <a:off x="3803904" y="3419856"/>
            <a:ext cx="1481328" cy="548640"/>
          </a:xfrm>
          <a:prstGeom prst="roundRect">
            <a:avLst>
              <a:gd name="adj" fmla="val 8333"/>
            </a:avLst>
          </a:prstGeom>
          <a:solidFill>
            <a:srgbClr val="D85A30"/>
          </a:solidFill>
          <a:ln w="12700">
            <a:solidFill>
              <a:srgbClr val="D85A30"/>
            </a:solidFill>
            <a:prstDash val="solid"/>
          </a:ln>
        </p:spPr>
      </p:sp>
      <p:sp>
        <p:nvSpPr>
          <p:cNvPr id="26" name="Text 24"/>
          <p:cNvSpPr/>
          <p:nvPr/>
        </p:nvSpPr>
        <p:spPr>
          <a:xfrm>
            <a:off x="3803904" y="3419856"/>
            <a:ext cx="1481328" cy="548640"/>
          </a:xfrm>
          <a:prstGeom prst="rect">
            <a:avLst/>
          </a:prstGeom>
          <a:noFill/>
          <a:ln/>
        </p:spPr>
        <p:txBody>
          <a:bodyPr wrap="square" lIns="25400" tIns="25400" rIns="25400" bIns="25400" rtlCol="0" anchor="ctr"/>
          <a:lstStyle/>
          <a:p>
            <a:pPr algn="ctr" indent="0" marL="0">
              <a:buNone/>
            </a:pPr>
            <a:r>
              <a:rPr lang="en-US" sz="900" b="1" dirty="0">
                <a:solidFill>
                  <a:srgbClr val="FFFFFF"/>
                </a:solidFill>
              </a:rPr>
              <a:t>ReLU で負をカット</a:t>
            </a:r>
            <a:endParaRPr lang="en-US" sz="900" dirty="0"/>
          </a:p>
          <a:p>
            <a:pPr algn="ctr" indent="0" marL="0">
              <a:buNone/>
            </a:pPr>
            <a:r>
              <a:rPr lang="en-US" sz="900" b="1" dirty="0">
                <a:solidFill>
                  <a:srgbClr val="FFFFFF"/>
                </a:solidFill>
              </a:rPr>
              <a:t>重要な特徴だけ残す</a:t>
            </a:r>
            <a:endParaRPr lang="en-US" sz="900" dirty="0"/>
          </a:p>
        </p:txBody>
      </p:sp>
      <p:sp>
        <p:nvSpPr>
          <p:cNvPr id="27" name="Text 25"/>
          <p:cNvSpPr/>
          <p:nvPr/>
        </p:nvSpPr>
        <p:spPr>
          <a:xfrm>
            <a:off x="3803904" y="3986784"/>
            <a:ext cx="1481328" cy="182880"/>
          </a:xfrm>
          <a:prstGeom prst="rect">
            <a:avLst/>
          </a:prstGeom>
          <a:noFill/>
          <a:ln/>
        </p:spPr>
        <p:txBody>
          <a:bodyPr wrap="square" rtlCol="0" anchor="ctr"/>
          <a:lstStyle/>
          <a:p>
            <a:pPr algn="ctr" indent="0" marL="0">
              <a:buNone/>
            </a:pPr>
            <a:r>
              <a:rPr lang="en-US" sz="850" i="1" dirty="0">
                <a:solidFill>
                  <a:srgbClr val="4B5563"/>
                </a:solidFill>
              </a:rPr>
              <a:t>非線形フィルタリング</a:t>
            </a:r>
            <a:endParaRPr lang="en-US" sz="850" dirty="0"/>
          </a:p>
        </p:txBody>
      </p:sp>
      <p:sp>
        <p:nvSpPr>
          <p:cNvPr id="28" name="Shape 26"/>
          <p:cNvSpPr/>
          <p:nvPr/>
        </p:nvSpPr>
        <p:spPr>
          <a:xfrm>
            <a:off x="5285232" y="3694176"/>
            <a:ext cx="201168" cy="0"/>
          </a:xfrm>
          <a:prstGeom prst="line">
            <a:avLst/>
          </a:prstGeom>
          <a:noFill/>
          <a:ln w="12700">
            <a:solidFill>
              <a:srgbClr val="6B7280"/>
            </a:solidFill>
            <a:prstDash val="solid"/>
          </a:ln>
        </p:spPr>
      </p:sp>
      <p:sp>
        <p:nvSpPr>
          <p:cNvPr id="29" name="Shape 27"/>
          <p:cNvSpPr/>
          <p:nvPr/>
        </p:nvSpPr>
        <p:spPr>
          <a:xfrm>
            <a:off x="5486400" y="3419856"/>
            <a:ext cx="1481328" cy="548640"/>
          </a:xfrm>
          <a:prstGeom prst="roundRect">
            <a:avLst>
              <a:gd name="adj" fmla="val 8333"/>
            </a:avLst>
          </a:prstGeom>
          <a:solidFill>
            <a:srgbClr val="BA7517"/>
          </a:solidFill>
          <a:ln w="12700">
            <a:solidFill>
              <a:srgbClr val="BA7517"/>
            </a:solidFill>
            <a:prstDash val="solid"/>
          </a:ln>
        </p:spPr>
      </p:sp>
      <p:sp>
        <p:nvSpPr>
          <p:cNvPr id="30" name="Text 28"/>
          <p:cNvSpPr/>
          <p:nvPr/>
        </p:nvSpPr>
        <p:spPr>
          <a:xfrm>
            <a:off x="5486400" y="3419856"/>
            <a:ext cx="1481328" cy="548640"/>
          </a:xfrm>
          <a:prstGeom prst="rect">
            <a:avLst/>
          </a:prstGeom>
          <a:noFill/>
          <a:ln/>
        </p:spPr>
        <p:txBody>
          <a:bodyPr wrap="square" lIns="25400" tIns="25400" rIns="25400" bIns="25400" rtlCol="0" anchor="ctr"/>
          <a:lstStyle/>
          <a:p>
            <a:pPr algn="ctr" indent="0" marL="0">
              <a:buNone/>
            </a:pPr>
            <a:r>
              <a:rPr lang="en-US" sz="900" b="1" dirty="0">
                <a:solidFill>
                  <a:srgbClr val="FFFFFF"/>
                </a:solidFill>
              </a:rPr>
              <a:t>W₂ で圧縮</a:t>
            </a:r>
            <a:endParaRPr lang="en-US" sz="900" dirty="0"/>
          </a:p>
          <a:p>
            <a:pPr algn="ctr" indent="0" marL="0">
              <a:buNone/>
            </a:pPr>
            <a:r>
              <a:rPr lang="en-US" sz="900" b="1" dirty="0">
                <a:solidFill>
                  <a:srgbClr val="FFFFFF"/>
                </a:solidFill>
              </a:rPr>
              <a:t>[3072次元→768次元]</a:t>
            </a:r>
            <a:endParaRPr lang="en-US" sz="900" dirty="0"/>
          </a:p>
        </p:txBody>
      </p:sp>
      <p:sp>
        <p:nvSpPr>
          <p:cNvPr id="31" name="Text 29"/>
          <p:cNvSpPr/>
          <p:nvPr/>
        </p:nvSpPr>
        <p:spPr>
          <a:xfrm>
            <a:off x="5486400" y="3986784"/>
            <a:ext cx="1481328" cy="182880"/>
          </a:xfrm>
          <a:prstGeom prst="rect">
            <a:avLst/>
          </a:prstGeom>
          <a:noFill/>
          <a:ln/>
        </p:spPr>
        <p:txBody>
          <a:bodyPr wrap="square" rtlCol="0" anchor="ctr"/>
          <a:lstStyle/>
          <a:p>
            <a:pPr algn="ctr" indent="0" marL="0">
              <a:buNone/>
            </a:pPr>
            <a:r>
              <a:rPr lang="en-US" sz="850" i="1" dirty="0">
                <a:solidFill>
                  <a:srgbClr val="4B5563"/>
                </a:solidFill>
              </a:rPr>
              <a:t>意味を凝縮</a:t>
            </a:r>
            <a:endParaRPr lang="en-US" sz="850" dirty="0"/>
          </a:p>
        </p:txBody>
      </p:sp>
      <p:sp>
        <p:nvSpPr>
          <p:cNvPr id="32" name="Shape 30"/>
          <p:cNvSpPr/>
          <p:nvPr/>
        </p:nvSpPr>
        <p:spPr>
          <a:xfrm>
            <a:off x="6967728" y="3694176"/>
            <a:ext cx="201168" cy="0"/>
          </a:xfrm>
          <a:prstGeom prst="line">
            <a:avLst/>
          </a:prstGeom>
          <a:noFill/>
          <a:ln w="12700">
            <a:solidFill>
              <a:srgbClr val="6B7280"/>
            </a:solidFill>
            <a:prstDash val="solid"/>
          </a:ln>
        </p:spPr>
      </p:sp>
      <p:sp>
        <p:nvSpPr>
          <p:cNvPr id="33" name="Shape 31"/>
          <p:cNvSpPr/>
          <p:nvPr/>
        </p:nvSpPr>
        <p:spPr>
          <a:xfrm>
            <a:off x="7168896" y="3419856"/>
            <a:ext cx="1481328" cy="548640"/>
          </a:xfrm>
          <a:prstGeom prst="roundRect">
            <a:avLst>
              <a:gd name="adj" fmla="val 8333"/>
            </a:avLst>
          </a:prstGeom>
          <a:solidFill>
            <a:srgbClr val="0F6E56"/>
          </a:solidFill>
          <a:ln w="12700">
            <a:solidFill>
              <a:srgbClr val="0F6E56"/>
            </a:solidFill>
            <a:prstDash val="solid"/>
          </a:ln>
        </p:spPr>
      </p:sp>
      <p:sp>
        <p:nvSpPr>
          <p:cNvPr id="34" name="Text 32"/>
          <p:cNvSpPr/>
          <p:nvPr/>
        </p:nvSpPr>
        <p:spPr>
          <a:xfrm>
            <a:off x="7168896" y="3419856"/>
            <a:ext cx="1481328" cy="548640"/>
          </a:xfrm>
          <a:prstGeom prst="rect">
            <a:avLst/>
          </a:prstGeom>
          <a:noFill/>
          <a:ln/>
        </p:spPr>
        <p:txBody>
          <a:bodyPr wrap="square" lIns="25400" tIns="25400" rIns="25400" bIns="25400" rtlCol="0" anchor="ctr"/>
          <a:lstStyle/>
          <a:p>
            <a:pPr algn="ctr" indent="0" marL="0">
              <a:buNone/>
            </a:pPr>
            <a:r>
              <a:rPr lang="en-US" sz="900" b="1" dirty="0">
                <a:solidFill>
                  <a:srgbClr val="FFFFFF"/>
                </a:solidFill>
              </a:rPr>
              <a:t>出力</a:t>
            </a:r>
            <a:endParaRPr lang="en-US" sz="900" dirty="0"/>
          </a:p>
          <a:p>
            <a:pPr algn="ctr" indent="0" marL="0">
              <a:buNone/>
            </a:pPr>
            <a:r>
              <a:rPr lang="en-US" sz="900" b="1" dirty="0">
                <a:solidFill>
                  <a:srgbClr val="FFFFFF"/>
                </a:solidFill>
              </a:rPr>
              <a:t>「移動イベント」表現</a:t>
            </a:r>
            <a:endParaRPr lang="en-US" sz="900" dirty="0"/>
          </a:p>
        </p:txBody>
      </p:sp>
      <p:sp>
        <p:nvSpPr>
          <p:cNvPr id="35" name="Text 33"/>
          <p:cNvSpPr/>
          <p:nvPr/>
        </p:nvSpPr>
        <p:spPr>
          <a:xfrm>
            <a:off x="7168896" y="3986784"/>
            <a:ext cx="1481328" cy="182880"/>
          </a:xfrm>
          <a:prstGeom prst="rect">
            <a:avLst/>
          </a:prstGeom>
          <a:noFill/>
          <a:ln/>
        </p:spPr>
        <p:txBody>
          <a:bodyPr wrap="square" rtlCol="0" anchor="ctr"/>
          <a:lstStyle/>
          <a:p>
            <a:pPr algn="ctr" indent="0" marL="0">
              <a:buNone/>
            </a:pPr>
            <a:r>
              <a:rPr lang="en-US" sz="850" i="1" dirty="0">
                <a:solidFill>
                  <a:srgbClr val="4B5563"/>
                </a:solidFill>
              </a:rPr>
              <a:t>意味が変換された</a:t>
            </a:r>
            <a:endParaRPr lang="en-US" sz="850" dirty="0"/>
          </a:p>
        </p:txBody>
      </p:sp>
      <p:sp>
        <p:nvSpPr>
          <p:cNvPr id="36" name="Shape 34"/>
          <p:cNvSpPr/>
          <p:nvPr/>
        </p:nvSpPr>
        <p:spPr>
          <a:xfrm>
            <a:off x="347472" y="4681728"/>
            <a:ext cx="8430768" cy="438912"/>
          </a:xfrm>
          <a:prstGeom prst="roundRect">
            <a:avLst>
              <a:gd name="adj" fmla="val 10417"/>
            </a:avLst>
          </a:prstGeom>
          <a:solidFill>
            <a:srgbClr val="1A1A2E"/>
          </a:solidFill>
          <a:ln w="6350">
            <a:solidFill>
              <a:srgbClr val="D85A30"/>
            </a:solidFill>
            <a:prstDash val="solid"/>
          </a:ln>
        </p:spPr>
      </p:sp>
      <p:sp>
        <p:nvSpPr>
          <p:cNvPr id="37" name="Text 35"/>
          <p:cNvSpPr/>
          <p:nvPr/>
        </p:nvSpPr>
        <p:spPr>
          <a:xfrm>
            <a:off x="502920" y="4718304"/>
            <a:ext cx="8229600" cy="365760"/>
          </a:xfrm>
          <a:prstGeom prst="rect">
            <a:avLst/>
          </a:prstGeom>
          <a:noFill/>
          <a:ln/>
        </p:spPr>
        <p:txBody>
          <a:bodyPr wrap="square" rtlCol="0" anchor="ctr"/>
          <a:lstStyle/>
          <a:p>
            <a:pPr indent="0" marL="0">
              <a:buNone/>
            </a:pPr>
            <a:r>
              <a:rPr lang="en-US" sz="1100" b="1" dirty="0">
                <a:solidFill>
                  <a:srgbClr val="D85A30"/>
                </a:solidFill>
              </a:rPr>
              <a:t>1 Block の流れ：</a:t>
            </a:r>
            <a:pPr indent="0" marL="0">
              <a:buNone/>
            </a:pPr>
            <a:r>
              <a:rPr lang="en-US" sz="1100" dirty="0">
                <a:solidFill>
                  <a:srgbClr val="C0C8E8"/>
                </a:solidFill>
              </a:rPr>
              <a:t xml:space="preserve">  Attention（収集）  →  Residual + LayerNorm  →  FFN（変換：W₁→ReLU→W₂）  →  Residual + LayerNorm  →  次のBlock</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15 / 28</a:t>
            </a:r>
            <a:endParaRPr lang="en-US" sz="900" dirty="0"/>
          </a:p>
        </p:txBody>
      </p:sp>
      <p:sp>
        <p:nvSpPr>
          <p:cNvPr id="3" name="Shape 1"/>
          <p:cNvSpPr/>
          <p:nvPr/>
        </p:nvSpPr>
        <p:spPr>
          <a:xfrm>
            <a:off x="347472" y="274320"/>
            <a:ext cx="54864" cy="475488"/>
          </a:xfrm>
          <a:prstGeom prst="rect">
            <a:avLst/>
          </a:prstGeom>
          <a:solidFill>
            <a:srgbClr val="534AB7"/>
          </a:solidFill>
          <a:ln w="12700">
            <a:solidFill>
              <a:srgbClr val="534AB7"/>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Transformer Block — 1トークンが辿るステップ</a:t>
            </a:r>
            <a:endParaRPr lang="en-US" sz="2000" dirty="0"/>
          </a:p>
        </p:txBody>
      </p:sp>
      <p:sp>
        <p:nvSpPr>
          <p:cNvPr id="5" name="Shape 3"/>
          <p:cNvSpPr/>
          <p:nvPr/>
        </p:nvSpPr>
        <p:spPr>
          <a:xfrm>
            <a:off x="347472" y="932688"/>
            <a:ext cx="877824" cy="1719072"/>
          </a:xfrm>
          <a:prstGeom prst="roundRect">
            <a:avLst>
              <a:gd name="adj" fmla="val 5208"/>
            </a:avLst>
          </a:prstGeom>
          <a:solidFill>
            <a:srgbClr val="6B7280"/>
          </a:solidFill>
          <a:ln w="12700">
            <a:solidFill>
              <a:srgbClr val="6B7280"/>
            </a:solidFill>
            <a:prstDash val="solid"/>
          </a:ln>
        </p:spPr>
      </p:sp>
      <p:sp>
        <p:nvSpPr>
          <p:cNvPr id="6" name="Text 4"/>
          <p:cNvSpPr/>
          <p:nvPr/>
        </p:nvSpPr>
        <p:spPr>
          <a:xfrm>
            <a:off x="347472" y="932688"/>
            <a:ext cx="877824" cy="1719072"/>
          </a:xfrm>
          <a:prstGeom prst="rect">
            <a:avLst/>
          </a:prstGeom>
          <a:noFill/>
          <a:ln/>
        </p:spPr>
        <p:txBody>
          <a:bodyPr wrap="square" lIns="25400" tIns="25400" rIns="25400" bIns="25400" rtlCol="0" anchor="ctr"/>
          <a:lstStyle/>
          <a:p>
            <a:pPr algn="ctr" indent="0" marL="0">
              <a:buNone/>
            </a:pPr>
            <a:r>
              <a:rPr lang="en-US" sz="900" b="1" dirty="0">
                <a:solidFill>
                  <a:srgbClr val="FFFFFF"/>
                </a:solidFill>
              </a:rPr>
              <a:t>Token ID</a:t>
            </a:r>
            <a:endParaRPr lang="en-US" sz="900" dirty="0"/>
          </a:p>
          <a:p>
            <a:pPr algn="ctr" indent="0" marL="0">
              <a:buNone/>
            </a:pPr>
            <a:r>
              <a:rPr lang="en-US" sz="900" b="1" dirty="0">
                <a:solidFill>
                  <a:srgbClr val="FFFFFF"/>
                </a:solidFill>
              </a:rPr>
              <a:t>整数</a:t>
            </a:r>
            <a:endParaRPr lang="en-US" sz="900" dirty="0"/>
          </a:p>
          <a:p>
            <a:pPr algn="ctr" indent="0" marL="0">
              <a:buNone/>
            </a:pPr>
            <a:r>
              <a:rPr lang="en-US" sz="900" b="1" dirty="0">
                <a:solidFill>
                  <a:srgbClr val="FFFFFF"/>
                </a:solidFill>
              </a:rPr>
              <a:t>インデックス</a:t>
            </a:r>
            <a:endParaRPr lang="en-US" sz="900" dirty="0"/>
          </a:p>
        </p:txBody>
      </p:sp>
      <p:sp>
        <p:nvSpPr>
          <p:cNvPr id="7" name="Shape 5"/>
          <p:cNvSpPr/>
          <p:nvPr/>
        </p:nvSpPr>
        <p:spPr>
          <a:xfrm>
            <a:off x="1225296" y="1792224"/>
            <a:ext cx="91440" cy="0"/>
          </a:xfrm>
          <a:prstGeom prst="line">
            <a:avLst/>
          </a:prstGeom>
          <a:noFill/>
          <a:ln w="12700">
            <a:solidFill>
              <a:srgbClr val="6B7280"/>
            </a:solidFill>
            <a:prstDash val="solid"/>
          </a:ln>
        </p:spPr>
      </p:sp>
      <p:sp>
        <p:nvSpPr>
          <p:cNvPr id="8" name="Shape 6"/>
          <p:cNvSpPr/>
          <p:nvPr/>
        </p:nvSpPr>
        <p:spPr>
          <a:xfrm>
            <a:off x="1316736" y="932688"/>
            <a:ext cx="877824" cy="1719072"/>
          </a:xfrm>
          <a:prstGeom prst="roundRect">
            <a:avLst>
              <a:gd name="adj" fmla="val 5208"/>
            </a:avLst>
          </a:prstGeom>
          <a:solidFill>
            <a:srgbClr val="534AB7"/>
          </a:solidFill>
          <a:ln w="12700">
            <a:solidFill>
              <a:srgbClr val="534AB7"/>
            </a:solidFill>
            <a:prstDash val="solid"/>
          </a:ln>
        </p:spPr>
      </p:sp>
      <p:sp>
        <p:nvSpPr>
          <p:cNvPr id="9" name="Text 7"/>
          <p:cNvSpPr/>
          <p:nvPr/>
        </p:nvSpPr>
        <p:spPr>
          <a:xfrm>
            <a:off x="1316736" y="932688"/>
            <a:ext cx="877824" cy="1719072"/>
          </a:xfrm>
          <a:prstGeom prst="rect">
            <a:avLst/>
          </a:prstGeom>
          <a:noFill/>
          <a:ln/>
        </p:spPr>
        <p:txBody>
          <a:bodyPr wrap="square" lIns="25400" tIns="25400" rIns="25400" bIns="25400" rtlCol="0" anchor="ctr"/>
          <a:lstStyle/>
          <a:p>
            <a:pPr algn="ctr" indent="0" marL="0">
              <a:buNone/>
            </a:pPr>
            <a:r>
              <a:rPr lang="en-US" sz="900" b="1" dirty="0">
                <a:solidFill>
                  <a:srgbClr val="FFFFFF"/>
                </a:solidFill>
              </a:rPr>
              <a:t>Embedding</a:t>
            </a:r>
            <a:endParaRPr lang="en-US" sz="900" dirty="0"/>
          </a:p>
          <a:p>
            <a:pPr algn="ctr" indent="0" marL="0">
              <a:buNone/>
            </a:pPr>
            <a:r>
              <a:rPr lang="en-US" sz="900" b="1" dirty="0">
                <a:solidFill>
                  <a:srgbClr val="FFFFFF"/>
                </a:solidFill>
              </a:rPr>
              <a:t>d次元</a:t>
            </a:r>
            <a:endParaRPr lang="en-US" sz="900" dirty="0"/>
          </a:p>
          <a:p>
            <a:pPr algn="ctr" indent="0" marL="0">
              <a:buNone/>
            </a:pPr>
            <a:r>
              <a:rPr lang="en-US" sz="900" b="1" dirty="0">
                <a:solidFill>
                  <a:srgbClr val="FFFFFF"/>
                </a:solidFill>
              </a:rPr>
              <a:t>ベクトルへ</a:t>
            </a:r>
            <a:endParaRPr lang="en-US" sz="900" dirty="0"/>
          </a:p>
        </p:txBody>
      </p:sp>
      <p:sp>
        <p:nvSpPr>
          <p:cNvPr id="10" name="Shape 8"/>
          <p:cNvSpPr/>
          <p:nvPr/>
        </p:nvSpPr>
        <p:spPr>
          <a:xfrm>
            <a:off x="2194560" y="1792224"/>
            <a:ext cx="91440" cy="0"/>
          </a:xfrm>
          <a:prstGeom prst="line">
            <a:avLst/>
          </a:prstGeom>
          <a:noFill/>
          <a:ln w="12700">
            <a:solidFill>
              <a:srgbClr val="6B7280"/>
            </a:solidFill>
            <a:prstDash val="solid"/>
          </a:ln>
        </p:spPr>
      </p:sp>
      <p:sp>
        <p:nvSpPr>
          <p:cNvPr id="11" name="Shape 9"/>
          <p:cNvSpPr/>
          <p:nvPr/>
        </p:nvSpPr>
        <p:spPr>
          <a:xfrm>
            <a:off x="2286000" y="932688"/>
            <a:ext cx="877824" cy="1719072"/>
          </a:xfrm>
          <a:prstGeom prst="roundRect">
            <a:avLst>
              <a:gd name="adj" fmla="val 5208"/>
            </a:avLst>
          </a:prstGeom>
          <a:solidFill>
            <a:srgbClr val="534AB7"/>
          </a:solidFill>
          <a:ln w="12700">
            <a:solidFill>
              <a:srgbClr val="534AB7"/>
            </a:solidFill>
            <a:prstDash val="solid"/>
          </a:ln>
        </p:spPr>
      </p:sp>
      <p:sp>
        <p:nvSpPr>
          <p:cNvPr id="12" name="Text 10"/>
          <p:cNvSpPr/>
          <p:nvPr/>
        </p:nvSpPr>
        <p:spPr>
          <a:xfrm>
            <a:off x="2286000" y="932688"/>
            <a:ext cx="877824" cy="1719072"/>
          </a:xfrm>
          <a:prstGeom prst="rect">
            <a:avLst/>
          </a:prstGeom>
          <a:noFill/>
          <a:ln/>
        </p:spPr>
        <p:txBody>
          <a:bodyPr wrap="square" lIns="25400" tIns="25400" rIns="25400" bIns="25400" rtlCol="0" anchor="ctr"/>
          <a:lstStyle/>
          <a:p>
            <a:pPr algn="ctr" indent="0" marL="0">
              <a:buNone/>
            </a:pPr>
            <a:r>
              <a:rPr lang="en-US" sz="900" b="1" dirty="0">
                <a:solidFill>
                  <a:srgbClr val="FFFFFF"/>
                </a:solidFill>
              </a:rPr>
              <a:t>Q/K/V 生成</a:t>
            </a:r>
            <a:endParaRPr lang="en-US" sz="900" dirty="0"/>
          </a:p>
          <a:p>
            <a:pPr algn="ctr" indent="0" marL="0">
              <a:buNone/>
            </a:pPr>
            <a:r>
              <a:rPr lang="en-US" sz="900" b="1" dirty="0">
                <a:solidFill>
                  <a:srgbClr val="FFFFFF"/>
                </a:solidFill>
              </a:rPr>
              <a:t>W_Q·W_K</a:t>
            </a:r>
            <a:endParaRPr lang="en-US" sz="900" dirty="0"/>
          </a:p>
          <a:p>
            <a:pPr algn="ctr" indent="0" marL="0">
              <a:buNone/>
            </a:pPr>
            <a:r>
              <a:rPr lang="en-US" sz="900" b="1" dirty="0">
                <a:solidFill>
                  <a:srgbClr val="FFFFFF"/>
                </a:solidFill>
              </a:rPr>
              <a:t>·W_V 変換</a:t>
            </a:r>
            <a:endParaRPr lang="en-US" sz="900" dirty="0"/>
          </a:p>
        </p:txBody>
      </p:sp>
      <p:sp>
        <p:nvSpPr>
          <p:cNvPr id="13" name="Shape 11"/>
          <p:cNvSpPr/>
          <p:nvPr/>
        </p:nvSpPr>
        <p:spPr>
          <a:xfrm>
            <a:off x="3163824" y="1792224"/>
            <a:ext cx="91440" cy="0"/>
          </a:xfrm>
          <a:prstGeom prst="line">
            <a:avLst/>
          </a:prstGeom>
          <a:noFill/>
          <a:ln w="12700">
            <a:solidFill>
              <a:srgbClr val="6B7280"/>
            </a:solidFill>
            <a:prstDash val="solid"/>
          </a:ln>
        </p:spPr>
      </p:sp>
      <p:sp>
        <p:nvSpPr>
          <p:cNvPr id="14" name="Shape 12"/>
          <p:cNvSpPr/>
          <p:nvPr/>
        </p:nvSpPr>
        <p:spPr>
          <a:xfrm>
            <a:off x="3255264" y="932688"/>
            <a:ext cx="877824" cy="1719072"/>
          </a:xfrm>
          <a:prstGeom prst="roundRect">
            <a:avLst>
              <a:gd name="adj" fmla="val 5208"/>
            </a:avLst>
          </a:prstGeom>
          <a:solidFill>
            <a:srgbClr val="534AB7"/>
          </a:solidFill>
          <a:ln w="12700">
            <a:solidFill>
              <a:srgbClr val="534AB7"/>
            </a:solidFill>
            <a:prstDash val="solid"/>
          </a:ln>
        </p:spPr>
      </p:sp>
      <p:sp>
        <p:nvSpPr>
          <p:cNvPr id="15" name="Text 13"/>
          <p:cNvSpPr/>
          <p:nvPr/>
        </p:nvSpPr>
        <p:spPr>
          <a:xfrm>
            <a:off x="3255264" y="932688"/>
            <a:ext cx="877824" cy="1719072"/>
          </a:xfrm>
          <a:prstGeom prst="rect">
            <a:avLst/>
          </a:prstGeom>
          <a:noFill/>
          <a:ln/>
        </p:spPr>
        <p:txBody>
          <a:bodyPr wrap="square" lIns="25400" tIns="25400" rIns="25400" bIns="25400" rtlCol="0" anchor="ctr"/>
          <a:lstStyle/>
          <a:p>
            <a:pPr algn="ctr" indent="0" marL="0">
              <a:buNone/>
            </a:pPr>
            <a:r>
              <a:rPr lang="en-US" sz="900" b="1" dirty="0">
                <a:solidFill>
                  <a:srgbClr val="FFFFFF"/>
                </a:solidFill>
              </a:rPr>
              <a:t>Multi-Head</a:t>
            </a:r>
            <a:endParaRPr lang="en-US" sz="900" dirty="0"/>
          </a:p>
          <a:p>
            <a:pPr algn="ctr" indent="0" marL="0">
              <a:buNone/>
            </a:pPr>
            <a:r>
              <a:rPr lang="en-US" sz="900" b="1" dirty="0">
                <a:solidFill>
                  <a:srgbClr val="FFFFFF"/>
                </a:solidFill>
              </a:rPr>
              <a:t>Attention</a:t>
            </a:r>
            <a:endParaRPr lang="en-US" sz="900" dirty="0"/>
          </a:p>
          <a:p>
            <a:pPr algn="ctr" indent="0" marL="0">
              <a:buNone/>
            </a:pPr>
            <a:r>
              <a:rPr lang="en-US" sz="900" b="1" dirty="0">
                <a:solidFill>
                  <a:srgbClr val="FFFFFF"/>
                </a:solidFill>
              </a:rPr>
              <a:t>文脈を収集</a:t>
            </a:r>
            <a:endParaRPr lang="en-US" sz="900" dirty="0"/>
          </a:p>
        </p:txBody>
      </p:sp>
      <p:sp>
        <p:nvSpPr>
          <p:cNvPr id="16" name="Shape 14"/>
          <p:cNvSpPr/>
          <p:nvPr/>
        </p:nvSpPr>
        <p:spPr>
          <a:xfrm>
            <a:off x="4133088" y="1792224"/>
            <a:ext cx="91440" cy="0"/>
          </a:xfrm>
          <a:prstGeom prst="line">
            <a:avLst/>
          </a:prstGeom>
          <a:noFill/>
          <a:ln w="12700">
            <a:solidFill>
              <a:srgbClr val="6B7280"/>
            </a:solidFill>
            <a:prstDash val="solid"/>
          </a:ln>
        </p:spPr>
      </p:sp>
      <p:sp>
        <p:nvSpPr>
          <p:cNvPr id="17" name="Shape 15"/>
          <p:cNvSpPr/>
          <p:nvPr/>
        </p:nvSpPr>
        <p:spPr>
          <a:xfrm>
            <a:off x="4224528" y="932688"/>
            <a:ext cx="877824" cy="1719072"/>
          </a:xfrm>
          <a:prstGeom prst="roundRect">
            <a:avLst>
              <a:gd name="adj" fmla="val 5208"/>
            </a:avLst>
          </a:prstGeom>
          <a:solidFill>
            <a:srgbClr val="0F6E56"/>
          </a:solidFill>
          <a:ln w="12700">
            <a:solidFill>
              <a:srgbClr val="0F6E56"/>
            </a:solidFill>
            <a:prstDash val="solid"/>
          </a:ln>
        </p:spPr>
      </p:sp>
      <p:sp>
        <p:nvSpPr>
          <p:cNvPr id="18" name="Text 16"/>
          <p:cNvSpPr/>
          <p:nvPr/>
        </p:nvSpPr>
        <p:spPr>
          <a:xfrm>
            <a:off x="4224528" y="932688"/>
            <a:ext cx="877824" cy="1719072"/>
          </a:xfrm>
          <a:prstGeom prst="rect">
            <a:avLst/>
          </a:prstGeom>
          <a:noFill/>
          <a:ln/>
        </p:spPr>
        <p:txBody>
          <a:bodyPr wrap="square" lIns="25400" tIns="25400" rIns="25400" bIns="25400" rtlCol="0" anchor="ctr"/>
          <a:lstStyle/>
          <a:p>
            <a:pPr algn="ctr" indent="0" marL="0">
              <a:buNone/>
            </a:pPr>
            <a:r>
              <a:rPr lang="en-US" sz="900" b="1" dirty="0">
                <a:solidFill>
                  <a:srgbClr val="FFFFFF"/>
                </a:solidFill>
              </a:rPr>
              <a:t>Residual</a:t>
            </a:r>
            <a:endParaRPr lang="en-US" sz="900" dirty="0"/>
          </a:p>
          <a:p>
            <a:pPr algn="ctr" indent="0" marL="0">
              <a:buNone/>
            </a:pPr>
            <a:r>
              <a:rPr lang="en-US" sz="900" b="1" dirty="0">
                <a:solidFill>
                  <a:srgbClr val="FFFFFF"/>
                </a:solidFill>
              </a:rPr>
              <a:t>( + x )</a:t>
            </a:r>
            <a:endParaRPr lang="en-US" sz="900" dirty="0"/>
          </a:p>
          <a:p>
            <a:pPr algn="ctr" indent="0" marL="0">
              <a:buNone/>
            </a:pPr>
            <a:r>
              <a:rPr lang="en-US" sz="900" b="1" dirty="0">
                <a:solidFill>
                  <a:srgbClr val="FFFFFF"/>
                </a:solidFill>
              </a:rPr>
              <a:t>元情報保持</a:t>
            </a:r>
            <a:endParaRPr lang="en-US" sz="900" dirty="0"/>
          </a:p>
        </p:txBody>
      </p:sp>
      <p:sp>
        <p:nvSpPr>
          <p:cNvPr id="19" name="Shape 17"/>
          <p:cNvSpPr/>
          <p:nvPr/>
        </p:nvSpPr>
        <p:spPr>
          <a:xfrm>
            <a:off x="5102352" y="1792224"/>
            <a:ext cx="91440" cy="0"/>
          </a:xfrm>
          <a:prstGeom prst="line">
            <a:avLst/>
          </a:prstGeom>
          <a:noFill/>
          <a:ln w="12700">
            <a:solidFill>
              <a:srgbClr val="6B7280"/>
            </a:solidFill>
            <a:prstDash val="solid"/>
          </a:ln>
        </p:spPr>
      </p:sp>
      <p:sp>
        <p:nvSpPr>
          <p:cNvPr id="20" name="Shape 18"/>
          <p:cNvSpPr/>
          <p:nvPr/>
        </p:nvSpPr>
        <p:spPr>
          <a:xfrm>
            <a:off x="5193792" y="932688"/>
            <a:ext cx="877824" cy="1719072"/>
          </a:xfrm>
          <a:prstGeom prst="roundRect">
            <a:avLst>
              <a:gd name="adj" fmla="val 5208"/>
            </a:avLst>
          </a:prstGeom>
          <a:solidFill>
            <a:srgbClr val="0F6E56"/>
          </a:solidFill>
          <a:ln w="12700">
            <a:solidFill>
              <a:srgbClr val="0F6E56"/>
            </a:solidFill>
            <a:prstDash val="solid"/>
          </a:ln>
        </p:spPr>
      </p:sp>
      <p:sp>
        <p:nvSpPr>
          <p:cNvPr id="21" name="Text 19"/>
          <p:cNvSpPr/>
          <p:nvPr/>
        </p:nvSpPr>
        <p:spPr>
          <a:xfrm>
            <a:off x="5193792" y="932688"/>
            <a:ext cx="877824" cy="1719072"/>
          </a:xfrm>
          <a:prstGeom prst="rect">
            <a:avLst/>
          </a:prstGeom>
          <a:noFill/>
          <a:ln/>
        </p:spPr>
        <p:txBody>
          <a:bodyPr wrap="square" lIns="25400" tIns="25400" rIns="25400" bIns="25400" rtlCol="0" anchor="ctr"/>
          <a:lstStyle/>
          <a:p>
            <a:pPr algn="ctr" indent="0" marL="0">
              <a:buNone/>
            </a:pPr>
            <a:r>
              <a:rPr lang="en-US" sz="900" b="1" dirty="0">
                <a:solidFill>
                  <a:srgbClr val="FFFFFF"/>
                </a:solidFill>
              </a:rPr>
              <a:t>Layer Norm</a:t>
            </a:r>
            <a:endParaRPr lang="en-US" sz="900" dirty="0"/>
          </a:p>
          <a:p>
            <a:pPr algn="ctr" indent="0" marL="0">
              <a:buNone/>
            </a:pPr>
            <a:r>
              <a:rPr lang="en-US" sz="900" b="1" dirty="0">
                <a:solidFill>
                  <a:srgbClr val="FFFFFF"/>
                </a:solidFill>
              </a:rPr>
              <a:t>出力分布を</a:t>
            </a:r>
            <a:endParaRPr lang="en-US" sz="900" dirty="0"/>
          </a:p>
          <a:p>
            <a:pPr algn="ctr" indent="0" marL="0">
              <a:buNone/>
            </a:pPr>
            <a:r>
              <a:rPr lang="en-US" sz="900" b="1" dirty="0">
                <a:solidFill>
                  <a:srgbClr val="FFFFFF"/>
                </a:solidFill>
              </a:rPr>
              <a:t>安定化</a:t>
            </a:r>
            <a:endParaRPr lang="en-US" sz="900" dirty="0"/>
          </a:p>
        </p:txBody>
      </p:sp>
      <p:sp>
        <p:nvSpPr>
          <p:cNvPr id="22" name="Shape 20"/>
          <p:cNvSpPr/>
          <p:nvPr/>
        </p:nvSpPr>
        <p:spPr>
          <a:xfrm>
            <a:off x="6071616" y="1792224"/>
            <a:ext cx="91440" cy="0"/>
          </a:xfrm>
          <a:prstGeom prst="line">
            <a:avLst/>
          </a:prstGeom>
          <a:noFill/>
          <a:ln w="12700">
            <a:solidFill>
              <a:srgbClr val="6B7280"/>
            </a:solidFill>
            <a:prstDash val="solid"/>
          </a:ln>
        </p:spPr>
      </p:sp>
      <p:sp>
        <p:nvSpPr>
          <p:cNvPr id="23" name="Shape 21"/>
          <p:cNvSpPr/>
          <p:nvPr/>
        </p:nvSpPr>
        <p:spPr>
          <a:xfrm>
            <a:off x="6163056" y="932688"/>
            <a:ext cx="877824" cy="1719072"/>
          </a:xfrm>
          <a:prstGeom prst="roundRect">
            <a:avLst>
              <a:gd name="adj" fmla="val 5208"/>
            </a:avLst>
          </a:prstGeom>
          <a:solidFill>
            <a:srgbClr val="D85A30"/>
          </a:solidFill>
          <a:ln w="12700">
            <a:solidFill>
              <a:srgbClr val="D85A30"/>
            </a:solidFill>
            <a:prstDash val="solid"/>
          </a:ln>
        </p:spPr>
      </p:sp>
      <p:sp>
        <p:nvSpPr>
          <p:cNvPr id="24" name="Text 22"/>
          <p:cNvSpPr/>
          <p:nvPr/>
        </p:nvSpPr>
        <p:spPr>
          <a:xfrm>
            <a:off x="6163056" y="932688"/>
            <a:ext cx="877824" cy="1719072"/>
          </a:xfrm>
          <a:prstGeom prst="rect">
            <a:avLst/>
          </a:prstGeom>
          <a:noFill/>
          <a:ln/>
        </p:spPr>
        <p:txBody>
          <a:bodyPr wrap="square" lIns="25400" tIns="25400" rIns="25400" bIns="25400" rtlCol="0" anchor="ctr"/>
          <a:lstStyle/>
          <a:p>
            <a:pPr algn="ctr" indent="0" marL="0">
              <a:buNone/>
            </a:pPr>
            <a:r>
              <a:rPr lang="en-US" sz="900" b="1" dirty="0">
                <a:solidFill>
                  <a:srgbClr val="FFFFFF"/>
                </a:solidFill>
              </a:rPr>
              <a:t>FFN</a:t>
            </a:r>
            <a:endParaRPr lang="en-US" sz="900" dirty="0"/>
          </a:p>
          <a:p>
            <a:pPr algn="ctr" indent="0" marL="0">
              <a:buNone/>
            </a:pPr>
            <a:r>
              <a:rPr lang="en-US" sz="900" b="1" dirty="0">
                <a:solidFill>
                  <a:srgbClr val="FFFFFF"/>
                </a:solidFill>
              </a:rPr>
              <a:t>非線形変換</a:t>
            </a:r>
            <a:endParaRPr lang="en-US" sz="900" dirty="0"/>
          </a:p>
          <a:p>
            <a:pPr algn="ctr" indent="0" marL="0">
              <a:buNone/>
            </a:pPr>
            <a:r>
              <a:rPr lang="en-US" sz="900" b="1" dirty="0">
                <a:solidFill>
                  <a:srgbClr val="FFFFFF"/>
                </a:solidFill>
              </a:rPr>
              <a:t>意味抽象化</a:t>
            </a:r>
            <a:endParaRPr lang="en-US" sz="900" dirty="0"/>
          </a:p>
        </p:txBody>
      </p:sp>
      <p:sp>
        <p:nvSpPr>
          <p:cNvPr id="25" name="Shape 23"/>
          <p:cNvSpPr/>
          <p:nvPr/>
        </p:nvSpPr>
        <p:spPr>
          <a:xfrm>
            <a:off x="7040880" y="1792224"/>
            <a:ext cx="91440" cy="0"/>
          </a:xfrm>
          <a:prstGeom prst="line">
            <a:avLst/>
          </a:prstGeom>
          <a:noFill/>
          <a:ln w="12700">
            <a:solidFill>
              <a:srgbClr val="6B7280"/>
            </a:solidFill>
            <a:prstDash val="solid"/>
          </a:ln>
        </p:spPr>
      </p:sp>
      <p:sp>
        <p:nvSpPr>
          <p:cNvPr id="26" name="Shape 24"/>
          <p:cNvSpPr/>
          <p:nvPr/>
        </p:nvSpPr>
        <p:spPr>
          <a:xfrm>
            <a:off x="7132320" y="932688"/>
            <a:ext cx="877824" cy="1719072"/>
          </a:xfrm>
          <a:prstGeom prst="roundRect">
            <a:avLst>
              <a:gd name="adj" fmla="val 5208"/>
            </a:avLst>
          </a:prstGeom>
          <a:solidFill>
            <a:srgbClr val="0F6E56"/>
          </a:solidFill>
          <a:ln w="12700">
            <a:solidFill>
              <a:srgbClr val="0F6E56"/>
            </a:solidFill>
            <a:prstDash val="solid"/>
          </a:ln>
        </p:spPr>
      </p:sp>
      <p:sp>
        <p:nvSpPr>
          <p:cNvPr id="27" name="Text 25"/>
          <p:cNvSpPr/>
          <p:nvPr/>
        </p:nvSpPr>
        <p:spPr>
          <a:xfrm>
            <a:off x="7132320" y="932688"/>
            <a:ext cx="877824" cy="1719072"/>
          </a:xfrm>
          <a:prstGeom prst="rect">
            <a:avLst/>
          </a:prstGeom>
          <a:noFill/>
          <a:ln/>
        </p:spPr>
        <p:txBody>
          <a:bodyPr wrap="square" lIns="25400" tIns="25400" rIns="25400" bIns="25400" rtlCol="0" anchor="ctr"/>
          <a:lstStyle/>
          <a:p>
            <a:pPr algn="ctr" indent="0" marL="0">
              <a:buNone/>
            </a:pPr>
            <a:r>
              <a:rPr lang="en-US" sz="900" b="1" dirty="0">
                <a:solidFill>
                  <a:srgbClr val="FFFFFF"/>
                </a:solidFill>
              </a:rPr>
              <a:t>Residual</a:t>
            </a:r>
            <a:endParaRPr lang="en-US" sz="900" dirty="0"/>
          </a:p>
          <a:p>
            <a:pPr algn="ctr" indent="0" marL="0">
              <a:buNone/>
            </a:pPr>
            <a:r>
              <a:rPr lang="en-US" sz="900" b="1" dirty="0">
                <a:solidFill>
                  <a:srgbClr val="FFFFFF"/>
                </a:solidFill>
              </a:rPr>
              <a:t>( + x )</a:t>
            </a:r>
            <a:endParaRPr lang="en-US" sz="900" dirty="0"/>
          </a:p>
          <a:p>
            <a:pPr algn="ctr" indent="0" marL="0">
              <a:buNone/>
            </a:pPr>
            <a:r>
              <a:rPr lang="en-US" sz="900" b="1" dirty="0">
                <a:solidFill>
                  <a:srgbClr val="FFFFFF"/>
                </a:solidFill>
              </a:rPr>
              <a:t>元情報保持</a:t>
            </a:r>
            <a:endParaRPr lang="en-US" sz="900" dirty="0"/>
          </a:p>
        </p:txBody>
      </p:sp>
      <p:sp>
        <p:nvSpPr>
          <p:cNvPr id="28" name="Shape 26"/>
          <p:cNvSpPr/>
          <p:nvPr/>
        </p:nvSpPr>
        <p:spPr>
          <a:xfrm>
            <a:off x="8010144" y="1792224"/>
            <a:ext cx="91440" cy="0"/>
          </a:xfrm>
          <a:prstGeom prst="line">
            <a:avLst/>
          </a:prstGeom>
          <a:noFill/>
          <a:ln w="12700">
            <a:solidFill>
              <a:srgbClr val="6B7280"/>
            </a:solidFill>
            <a:prstDash val="solid"/>
          </a:ln>
        </p:spPr>
      </p:sp>
      <p:sp>
        <p:nvSpPr>
          <p:cNvPr id="29" name="Shape 27"/>
          <p:cNvSpPr/>
          <p:nvPr/>
        </p:nvSpPr>
        <p:spPr>
          <a:xfrm>
            <a:off x="8101584" y="932688"/>
            <a:ext cx="877824" cy="1719072"/>
          </a:xfrm>
          <a:prstGeom prst="roundRect">
            <a:avLst>
              <a:gd name="adj" fmla="val 5208"/>
            </a:avLst>
          </a:prstGeom>
          <a:solidFill>
            <a:srgbClr val="1A1A2E"/>
          </a:solidFill>
          <a:ln w="12700">
            <a:solidFill>
              <a:srgbClr val="1A1A2E"/>
            </a:solidFill>
            <a:prstDash val="solid"/>
          </a:ln>
        </p:spPr>
      </p:sp>
      <p:sp>
        <p:nvSpPr>
          <p:cNvPr id="30" name="Text 28"/>
          <p:cNvSpPr/>
          <p:nvPr/>
        </p:nvSpPr>
        <p:spPr>
          <a:xfrm>
            <a:off x="8101584" y="932688"/>
            <a:ext cx="877824" cy="1719072"/>
          </a:xfrm>
          <a:prstGeom prst="rect">
            <a:avLst/>
          </a:prstGeom>
          <a:noFill/>
          <a:ln/>
        </p:spPr>
        <p:txBody>
          <a:bodyPr wrap="square" lIns="25400" tIns="25400" rIns="25400" bIns="25400" rtlCol="0" anchor="ctr"/>
          <a:lstStyle/>
          <a:p>
            <a:pPr algn="ctr" indent="0" marL="0">
              <a:buNone/>
            </a:pPr>
            <a:r>
              <a:rPr lang="en-US" sz="900" b="1" dirty="0">
                <a:solidFill>
                  <a:srgbClr val="FFFFFF"/>
                </a:solidFill>
              </a:rPr>
              <a:t>×N 層</a:t>
            </a:r>
            <a:endParaRPr lang="en-US" sz="900" dirty="0"/>
          </a:p>
          <a:p>
            <a:pPr algn="ctr" indent="0" marL="0">
              <a:buNone/>
            </a:pPr>
            <a:r>
              <a:rPr lang="en-US" sz="900" b="1" dirty="0">
                <a:solidFill>
                  <a:srgbClr val="FFFFFF"/>
                </a:solidFill>
              </a:rPr>
              <a:t>繰り返し</a:t>
            </a:r>
            <a:endParaRPr lang="en-US" sz="900" dirty="0"/>
          </a:p>
          <a:p>
            <a:pPr algn="ctr" indent="0" marL="0">
              <a:buNone/>
            </a:pPr>
            <a:r>
              <a:rPr lang="en-US" sz="900" b="1" dirty="0">
                <a:solidFill>
                  <a:srgbClr val="FFFFFF"/>
                </a:solidFill>
              </a:rPr>
              <a:t>→次単語予測</a:t>
            </a:r>
            <a:endParaRPr lang="en-US" sz="900" dirty="0"/>
          </a:p>
        </p:txBody>
      </p:sp>
      <p:sp>
        <p:nvSpPr>
          <p:cNvPr id="31" name="Text 29"/>
          <p:cNvSpPr/>
          <p:nvPr/>
        </p:nvSpPr>
        <p:spPr>
          <a:xfrm>
            <a:off x="347472" y="2798064"/>
            <a:ext cx="8430768" cy="292608"/>
          </a:xfrm>
          <a:prstGeom prst="rect">
            <a:avLst/>
          </a:prstGeom>
          <a:noFill/>
          <a:ln/>
        </p:spPr>
        <p:txBody>
          <a:bodyPr wrap="square" rtlCol="0" anchor="ctr"/>
          <a:lstStyle/>
          <a:p>
            <a:pPr indent="0" marL="0">
              <a:buNone/>
            </a:pPr>
            <a:r>
              <a:rPr lang="en-US" sz="1200" b="1" dirty="0">
                <a:solidFill>
                  <a:srgbClr val="1F2937"/>
                </a:solidFill>
              </a:rPr>
              <a:t>各層が変換すること</a:t>
            </a:r>
            <a:endParaRPr lang="en-US" sz="1200" dirty="0"/>
          </a:p>
        </p:txBody>
      </p:sp>
      <p:sp>
        <p:nvSpPr>
          <p:cNvPr id="32" name="Shape 30"/>
          <p:cNvSpPr/>
          <p:nvPr/>
        </p:nvSpPr>
        <p:spPr>
          <a:xfrm>
            <a:off x="347472" y="3145536"/>
            <a:ext cx="2029968" cy="822960"/>
          </a:xfrm>
          <a:prstGeom prst="rect">
            <a:avLst/>
          </a:prstGeom>
          <a:solidFill>
            <a:srgbClr val="F8F8FC"/>
          </a:solidFill>
          <a:ln w="6350">
            <a:solidFill>
              <a:srgbClr val="185FA5"/>
            </a:solidFill>
            <a:prstDash val="solid"/>
          </a:ln>
        </p:spPr>
      </p:sp>
      <p:sp>
        <p:nvSpPr>
          <p:cNvPr id="33" name="Shape 31"/>
          <p:cNvSpPr/>
          <p:nvPr/>
        </p:nvSpPr>
        <p:spPr>
          <a:xfrm>
            <a:off x="347472" y="3145536"/>
            <a:ext cx="2029968" cy="36576"/>
          </a:xfrm>
          <a:prstGeom prst="rect">
            <a:avLst/>
          </a:prstGeom>
          <a:solidFill>
            <a:srgbClr val="185FA5"/>
          </a:solidFill>
          <a:ln w="12700">
            <a:solidFill>
              <a:srgbClr val="185FA5"/>
            </a:solidFill>
            <a:prstDash val="solid"/>
          </a:ln>
        </p:spPr>
      </p:sp>
      <p:sp>
        <p:nvSpPr>
          <p:cNvPr id="34" name="Text 32"/>
          <p:cNvSpPr/>
          <p:nvPr/>
        </p:nvSpPr>
        <p:spPr>
          <a:xfrm>
            <a:off x="420624" y="3200400"/>
            <a:ext cx="1901952" cy="256032"/>
          </a:xfrm>
          <a:prstGeom prst="rect">
            <a:avLst/>
          </a:prstGeom>
          <a:noFill/>
          <a:ln/>
        </p:spPr>
        <p:txBody>
          <a:bodyPr wrap="square" rtlCol="0" anchor="ctr"/>
          <a:lstStyle/>
          <a:p>
            <a:pPr indent="0" marL="0">
              <a:buNone/>
            </a:pPr>
            <a:r>
              <a:rPr lang="en-US" sz="1100" b="1" dirty="0">
                <a:solidFill>
                  <a:srgbClr val="185FA5"/>
                </a:solidFill>
              </a:rPr>
              <a:t>浅い層</a:t>
            </a:r>
            <a:endParaRPr lang="en-US" sz="1100" dirty="0"/>
          </a:p>
        </p:txBody>
      </p:sp>
      <p:sp>
        <p:nvSpPr>
          <p:cNvPr id="35" name="Text 33"/>
          <p:cNvSpPr/>
          <p:nvPr/>
        </p:nvSpPr>
        <p:spPr>
          <a:xfrm>
            <a:off x="420624" y="3474720"/>
            <a:ext cx="1901952" cy="420624"/>
          </a:xfrm>
          <a:prstGeom prst="rect">
            <a:avLst/>
          </a:prstGeom>
          <a:noFill/>
          <a:ln/>
        </p:spPr>
        <p:txBody>
          <a:bodyPr wrap="square" rtlCol="0" anchor="ctr"/>
          <a:lstStyle/>
          <a:p>
            <a:pPr indent="0" marL="0">
              <a:buNone/>
            </a:pPr>
            <a:r>
              <a:rPr lang="en-US" sz="1050" dirty="0">
                <a:solidFill>
                  <a:srgbClr val="1F2937"/>
                </a:solidFill>
              </a:rPr>
              <a:t>隣接する単語の関係</a:t>
            </a:r>
            <a:endParaRPr lang="en-US" sz="1050" dirty="0"/>
          </a:p>
        </p:txBody>
      </p:sp>
      <p:sp>
        <p:nvSpPr>
          <p:cNvPr id="36" name="Shape 34"/>
          <p:cNvSpPr/>
          <p:nvPr/>
        </p:nvSpPr>
        <p:spPr>
          <a:xfrm>
            <a:off x="2523744" y="3145536"/>
            <a:ext cx="2029968" cy="822960"/>
          </a:xfrm>
          <a:prstGeom prst="rect">
            <a:avLst/>
          </a:prstGeom>
          <a:solidFill>
            <a:srgbClr val="F8F8FC"/>
          </a:solidFill>
          <a:ln w="6350">
            <a:solidFill>
              <a:srgbClr val="BA7517"/>
            </a:solidFill>
            <a:prstDash val="solid"/>
          </a:ln>
        </p:spPr>
      </p:sp>
      <p:sp>
        <p:nvSpPr>
          <p:cNvPr id="37" name="Shape 35"/>
          <p:cNvSpPr/>
          <p:nvPr/>
        </p:nvSpPr>
        <p:spPr>
          <a:xfrm>
            <a:off x="2523744" y="3145536"/>
            <a:ext cx="2029968" cy="36576"/>
          </a:xfrm>
          <a:prstGeom prst="rect">
            <a:avLst/>
          </a:prstGeom>
          <a:solidFill>
            <a:srgbClr val="BA7517"/>
          </a:solidFill>
          <a:ln w="12700">
            <a:solidFill>
              <a:srgbClr val="BA7517"/>
            </a:solidFill>
            <a:prstDash val="solid"/>
          </a:ln>
        </p:spPr>
      </p:sp>
      <p:sp>
        <p:nvSpPr>
          <p:cNvPr id="38" name="Text 36"/>
          <p:cNvSpPr/>
          <p:nvPr/>
        </p:nvSpPr>
        <p:spPr>
          <a:xfrm>
            <a:off x="2596896" y="3200400"/>
            <a:ext cx="1901952" cy="256032"/>
          </a:xfrm>
          <a:prstGeom prst="rect">
            <a:avLst/>
          </a:prstGeom>
          <a:noFill/>
          <a:ln/>
        </p:spPr>
        <p:txBody>
          <a:bodyPr wrap="square" rtlCol="0" anchor="ctr"/>
          <a:lstStyle/>
          <a:p>
            <a:pPr indent="0" marL="0">
              <a:buNone/>
            </a:pPr>
            <a:r>
              <a:rPr lang="en-US" sz="1100" b="1" dirty="0">
                <a:solidFill>
                  <a:srgbClr val="BA7517"/>
                </a:solidFill>
              </a:rPr>
              <a:t>中間層</a:t>
            </a:r>
            <a:endParaRPr lang="en-US" sz="1100" dirty="0"/>
          </a:p>
        </p:txBody>
      </p:sp>
      <p:sp>
        <p:nvSpPr>
          <p:cNvPr id="39" name="Text 37"/>
          <p:cNvSpPr/>
          <p:nvPr/>
        </p:nvSpPr>
        <p:spPr>
          <a:xfrm>
            <a:off x="2596896" y="3474720"/>
            <a:ext cx="1901952" cy="420624"/>
          </a:xfrm>
          <a:prstGeom prst="rect">
            <a:avLst/>
          </a:prstGeom>
          <a:noFill/>
          <a:ln/>
        </p:spPr>
        <p:txBody>
          <a:bodyPr wrap="square" rtlCol="0" anchor="ctr"/>
          <a:lstStyle/>
          <a:p>
            <a:pPr indent="0" marL="0">
              <a:buNone/>
            </a:pPr>
            <a:r>
              <a:rPr lang="en-US" sz="1050" dirty="0">
                <a:solidFill>
                  <a:srgbClr val="1F2937"/>
                </a:solidFill>
              </a:rPr>
              <a:t>句・文の構造</a:t>
            </a:r>
            <a:endParaRPr lang="en-US" sz="1050" dirty="0"/>
          </a:p>
        </p:txBody>
      </p:sp>
      <p:sp>
        <p:nvSpPr>
          <p:cNvPr id="40" name="Shape 38"/>
          <p:cNvSpPr/>
          <p:nvPr/>
        </p:nvSpPr>
        <p:spPr>
          <a:xfrm>
            <a:off x="4700016" y="3145536"/>
            <a:ext cx="2029968" cy="822960"/>
          </a:xfrm>
          <a:prstGeom prst="rect">
            <a:avLst/>
          </a:prstGeom>
          <a:solidFill>
            <a:srgbClr val="F8F8FC"/>
          </a:solidFill>
          <a:ln w="6350">
            <a:solidFill>
              <a:srgbClr val="D85A30"/>
            </a:solidFill>
            <a:prstDash val="solid"/>
          </a:ln>
        </p:spPr>
      </p:sp>
      <p:sp>
        <p:nvSpPr>
          <p:cNvPr id="41" name="Shape 39"/>
          <p:cNvSpPr/>
          <p:nvPr/>
        </p:nvSpPr>
        <p:spPr>
          <a:xfrm>
            <a:off x="4700016" y="3145536"/>
            <a:ext cx="2029968" cy="36576"/>
          </a:xfrm>
          <a:prstGeom prst="rect">
            <a:avLst/>
          </a:prstGeom>
          <a:solidFill>
            <a:srgbClr val="D85A30"/>
          </a:solidFill>
          <a:ln w="12700">
            <a:solidFill>
              <a:srgbClr val="D85A30"/>
            </a:solidFill>
            <a:prstDash val="solid"/>
          </a:ln>
        </p:spPr>
      </p:sp>
      <p:sp>
        <p:nvSpPr>
          <p:cNvPr id="42" name="Text 40"/>
          <p:cNvSpPr/>
          <p:nvPr/>
        </p:nvSpPr>
        <p:spPr>
          <a:xfrm>
            <a:off x="4773168" y="3200400"/>
            <a:ext cx="1901952" cy="256032"/>
          </a:xfrm>
          <a:prstGeom prst="rect">
            <a:avLst/>
          </a:prstGeom>
          <a:noFill/>
          <a:ln/>
        </p:spPr>
        <p:txBody>
          <a:bodyPr wrap="square" rtlCol="0" anchor="ctr"/>
          <a:lstStyle/>
          <a:p>
            <a:pPr indent="0" marL="0">
              <a:buNone/>
            </a:pPr>
            <a:r>
              <a:rPr lang="en-US" sz="1100" b="1" dirty="0">
                <a:solidFill>
                  <a:srgbClr val="D85A30"/>
                </a:solidFill>
              </a:rPr>
              <a:t>中深層</a:t>
            </a:r>
            <a:endParaRPr lang="en-US" sz="1100" dirty="0"/>
          </a:p>
        </p:txBody>
      </p:sp>
      <p:sp>
        <p:nvSpPr>
          <p:cNvPr id="43" name="Text 41"/>
          <p:cNvSpPr/>
          <p:nvPr/>
        </p:nvSpPr>
        <p:spPr>
          <a:xfrm>
            <a:off x="4773168" y="3474720"/>
            <a:ext cx="1901952" cy="420624"/>
          </a:xfrm>
          <a:prstGeom prst="rect">
            <a:avLst/>
          </a:prstGeom>
          <a:noFill/>
          <a:ln/>
        </p:spPr>
        <p:txBody>
          <a:bodyPr wrap="square" rtlCol="0" anchor="ctr"/>
          <a:lstStyle/>
          <a:p>
            <a:pPr indent="0" marL="0">
              <a:buNone/>
            </a:pPr>
            <a:r>
              <a:rPr lang="en-US" sz="1050" dirty="0">
                <a:solidFill>
                  <a:srgbClr val="1F2937"/>
                </a:solidFill>
              </a:rPr>
              <a:t>意味役割・時制</a:t>
            </a:r>
            <a:endParaRPr lang="en-US" sz="1050" dirty="0"/>
          </a:p>
        </p:txBody>
      </p:sp>
      <p:sp>
        <p:nvSpPr>
          <p:cNvPr id="44" name="Shape 42"/>
          <p:cNvSpPr/>
          <p:nvPr/>
        </p:nvSpPr>
        <p:spPr>
          <a:xfrm>
            <a:off x="6876288" y="3145536"/>
            <a:ext cx="2029968" cy="822960"/>
          </a:xfrm>
          <a:prstGeom prst="rect">
            <a:avLst/>
          </a:prstGeom>
          <a:solidFill>
            <a:srgbClr val="F8F8FC"/>
          </a:solidFill>
          <a:ln w="6350">
            <a:solidFill>
              <a:srgbClr val="0F6E56"/>
            </a:solidFill>
            <a:prstDash val="solid"/>
          </a:ln>
        </p:spPr>
      </p:sp>
      <p:sp>
        <p:nvSpPr>
          <p:cNvPr id="45" name="Shape 43"/>
          <p:cNvSpPr/>
          <p:nvPr/>
        </p:nvSpPr>
        <p:spPr>
          <a:xfrm>
            <a:off x="6876288" y="3145536"/>
            <a:ext cx="2029968" cy="36576"/>
          </a:xfrm>
          <a:prstGeom prst="rect">
            <a:avLst/>
          </a:prstGeom>
          <a:solidFill>
            <a:srgbClr val="0F6E56"/>
          </a:solidFill>
          <a:ln w="12700">
            <a:solidFill>
              <a:srgbClr val="0F6E56"/>
            </a:solidFill>
            <a:prstDash val="solid"/>
          </a:ln>
        </p:spPr>
      </p:sp>
      <p:sp>
        <p:nvSpPr>
          <p:cNvPr id="46" name="Text 44"/>
          <p:cNvSpPr/>
          <p:nvPr/>
        </p:nvSpPr>
        <p:spPr>
          <a:xfrm>
            <a:off x="6949440" y="3200400"/>
            <a:ext cx="1901952" cy="256032"/>
          </a:xfrm>
          <a:prstGeom prst="rect">
            <a:avLst/>
          </a:prstGeom>
          <a:noFill/>
          <a:ln/>
        </p:spPr>
        <p:txBody>
          <a:bodyPr wrap="square" rtlCol="0" anchor="ctr"/>
          <a:lstStyle/>
          <a:p>
            <a:pPr indent="0" marL="0">
              <a:buNone/>
            </a:pPr>
            <a:r>
              <a:rPr lang="en-US" sz="1100" b="1" dirty="0">
                <a:solidFill>
                  <a:srgbClr val="0F6E56"/>
                </a:solidFill>
              </a:rPr>
              <a:t>深い層</a:t>
            </a:r>
            <a:endParaRPr lang="en-US" sz="1100" dirty="0"/>
          </a:p>
        </p:txBody>
      </p:sp>
      <p:sp>
        <p:nvSpPr>
          <p:cNvPr id="47" name="Text 45"/>
          <p:cNvSpPr/>
          <p:nvPr/>
        </p:nvSpPr>
        <p:spPr>
          <a:xfrm>
            <a:off x="6949440" y="3474720"/>
            <a:ext cx="1901952" cy="420624"/>
          </a:xfrm>
          <a:prstGeom prst="rect">
            <a:avLst/>
          </a:prstGeom>
          <a:noFill/>
          <a:ln/>
        </p:spPr>
        <p:txBody>
          <a:bodyPr wrap="square" rtlCol="0" anchor="ctr"/>
          <a:lstStyle/>
          <a:p>
            <a:pPr indent="0" marL="0">
              <a:buNone/>
            </a:pPr>
            <a:r>
              <a:rPr lang="en-US" sz="1050" dirty="0">
                <a:solidFill>
                  <a:srgbClr val="1F2937"/>
                </a:solidFill>
              </a:rPr>
              <a:t>推論・世界知識（傾向）</a:t>
            </a:r>
            <a:endParaRPr lang="en-US" sz="1050" dirty="0"/>
          </a:p>
        </p:txBody>
      </p:sp>
      <p:sp>
        <p:nvSpPr>
          <p:cNvPr id="48" name="Shape 46"/>
          <p:cNvSpPr/>
          <p:nvPr/>
        </p:nvSpPr>
        <p:spPr>
          <a:xfrm>
            <a:off x="347472" y="4078224"/>
            <a:ext cx="8430768" cy="402336"/>
          </a:xfrm>
          <a:prstGeom prst="roundRect">
            <a:avLst>
              <a:gd name="adj" fmla="val 11364"/>
            </a:avLst>
          </a:prstGeom>
          <a:solidFill>
            <a:srgbClr val="1A1A2E"/>
          </a:solidFill>
          <a:ln w="12700">
            <a:solidFill>
              <a:srgbClr val="1A1A2E"/>
            </a:solidFill>
            <a:prstDash val="solid"/>
          </a:ln>
        </p:spPr>
      </p:sp>
      <p:sp>
        <p:nvSpPr>
          <p:cNvPr id="49" name="Text 47"/>
          <p:cNvSpPr/>
          <p:nvPr/>
        </p:nvSpPr>
        <p:spPr>
          <a:xfrm>
            <a:off x="347472" y="4078224"/>
            <a:ext cx="8430768" cy="402336"/>
          </a:xfrm>
          <a:prstGeom prst="rect">
            <a:avLst/>
          </a:prstGeom>
          <a:noFill/>
          <a:ln/>
        </p:spPr>
        <p:txBody>
          <a:bodyPr wrap="square" lIns="25400" tIns="25400" rIns="25400" bIns="25400" rtlCol="0" anchor="ctr"/>
          <a:lstStyle/>
          <a:p>
            <a:pPr algn="ctr" indent="0" marL="0">
              <a:buNone/>
            </a:pPr>
            <a:r>
              <a:rPr lang="en-US" sz="1150" b="1" dirty="0">
                <a:solidFill>
                  <a:srgbClr val="FFFFFF"/>
                </a:solidFill>
              </a:rPr>
              <a:t>N 回繰り返すほど抽象度が上がる — 深さが抽象化を生む</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16 / 28</a:t>
            </a:r>
            <a:endParaRPr lang="en-US" sz="900" dirty="0"/>
          </a:p>
        </p:txBody>
      </p:sp>
      <p:sp>
        <p:nvSpPr>
          <p:cNvPr id="3" name="Shape 1"/>
          <p:cNvSpPr/>
          <p:nvPr/>
        </p:nvSpPr>
        <p:spPr>
          <a:xfrm>
            <a:off x="347472" y="274320"/>
            <a:ext cx="54864" cy="475488"/>
          </a:xfrm>
          <a:prstGeom prst="rect">
            <a:avLst/>
          </a:prstGeom>
          <a:solidFill>
            <a:srgbClr val="D85A30"/>
          </a:solidFill>
          <a:ln w="12700">
            <a:solidFill>
              <a:srgbClr val="D85A30"/>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FFN = 知識の格納庫 — Attention だけでは推論できない</a:t>
            </a:r>
            <a:endParaRPr lang="en-US" sz="2000" dirty="0"/>
          </a:p>
        </p:txBody>
      </p:sp>
      <p:sp>
        <p:nvSpPr>
          <p:cNvPr id="5" name="Text 3"/>
          <p:cNvSpPr/>
          <p:nvPr/>
        </p:nvSpPr>
        <p:spPr>
          <a:xfrm>
            <a:off x="347472" y="932688"/>
            <a:ext cx="8430768" cy="402336"/>
          </a:xfrm>
          <a:prstGeom prst="rect">
            <a:avLst/>
          </a:prstGeom>
          <a:noFill/>
          <a:ln/>
        </p:spPr>
        <p:txBody>
          <a:bodyPr wrap="square" rtlCol="0" anchor="ctr"/>
          <a:lstStyle/>
          <a:p>
            <a:pPr indent="0" marL="0">
              <a:buNone/>
            </a:pPr>
            <a:r>
              <a:rPr lang="en-US" sz="1100" i="1" dirty="0">
                <a:solidFill>
                  <a:srgbClr val="4B5563"/>
                </a:solidFill>
              </a:rPr>
              <a:t>Attention が「どの情報を集めるか」を決めるのに対し、FFN は「その情報で何を表現するか」を変換する。最近の研究は FFN に事実的知識の大部分が格納されていることを示している。</a:t>
            </a:r>
            <a:endParaRPr lang="en-US" sz="1100" dirty="0"/>
          </a:p>
        </p:txBody>
      </p:sp>
      <p:sp>
        <p:nvSpPr>
          <p:cNvPr id="6" name="Shape 4"/>
          <p:cNvSpPr/>
          <p:nvPr/>
        </p:nvSpPr>
        <p:spPr>
          <a:xfrm>
            <a:off x="347472" y="1408176"/>
            <a:ext cx="2560320" cy="3108960"/>
          </a:xfrm>
          <a:prstGeom prst="roundRect">
            <a:avLst>
              <a:gd name="adj" fmla="val 2857"/>
            </a:avLst>
          </a:prstGeom>
          <a:solidFill>
            <a:srgbClr val="EEEDFE"/>
          </a:solidFill>
          <a:ln w="6350">
            <a:solidFill>
              <a:srgbClr val="534AB7"/>
            </a:solidFill>
            <a:prstDash val="solid"/>
          </a:ln>
        </p:spPr>
      </p:sp>
      <p:sp>
        <p:nvSpPr>
          <p:cNvPr id="7" name="Shape 5"/>
          <p:cNvSpPr/>
          <p:nvPr/>
        </p:nvSpPr>
        <p:spPr>
          <a:xfrm>
            <a:off x="347472" y="1408176"/>
            <a:ext cx="2560320" cy="36576"/>
          </a:xfrm>
          <a:prstGeom prst="rect">
            <a:avLst/>
          </a:prstGeom>
          <a:solidFill>
            <a:srgbClr val="534AB7"/>
          </a:solidFill>
          <a:ln w="12700">
            <a:solidFill>
              <a:srgbClr val="534AB7"/>
            </a:solidFill>
            <a:prstDash val="solid"/>
          </a:ln>
        </p:spPr>
      </p:sp>
      <p:sp>
        <p:nvSpPr>
          <p:cNvPr id="8" name="Text 6"/>
          <p:cNvSpPr/>
          <p:nvPr/>
        </p:nvSpPr>
        <p:spPr>
          <a:xfrm>
            <a:off x="347472" y="1463040"/>
            <a:ext cx="2560320" cy="347472"/>
          </a:xfrm>
          <a:prstGeom prst="rect">
            <a:avLst/>
          </a:prstGeom>
          <a:noFill/>
          <a:ln/>
        </p:spPr>
        <p:txBody>
          <a:bodyPr wrap="square" rtlCol="0" anchor="ctr"/>
          <a:lstStyle/>
          <a:p>
            <a:pPr algn="ctr" indent="0" marL="0">
              <a:buNone/>
            </a:pPr>
            <a:r>
              <a:rPr lang="en-US" sz="1400" b="1" dirty="0">
                <a:solidFill>
                  <a:srgbClr val="534AB7"/>
                </a:solidFill>
              </a:rPr>
              <a:t>Attention</a:t>
            </a:r>
            <a:endParaRPr lang="en-US" sz="1400" dirty="0"/>
          </a:p>
        </p:txBody>
      </p:sp>
      <p:sp>
        <p:nvSpPr>
          <p:cNvPr id="9" name="Text 7"/>
          <p:cNvSpPr/>
          <p:nvPr/>
        </p:nvSpPr>
        <p:spPr>
          <a:xfrm>
            <a:off x="347472" y="1792224"/>
            <a:ext cx="2560320" cy="274320"/>
          </a:xfrm>
          <a:prstGeom prst="rect">
            <a:avLst/>
          </a:prstGeom>
          <a:noFill/>
          <a:ln/>
        </p:spPr>
        <p:txBody>
          <a:bodyPr wrap="square" rtlCol="0" anchor="ctr"/>
          <a:lstStyle/>
          <a:p>
            <a:pPr algn="ctr" indent="0" marL="0">
              <a:buNone/>
            </a:pPr>
            <a:r>
              <a:rPr lang="en-US" sz="1200" b="1" dirty="0">
                <a:solidFill>
                  <a:srgbClr val="534AB7"/>
                </a:solidFill>
              </a:rPr>
              <a:t>= 検索エンジン</a:t>
            </a:r>
            <a:endParaRPr lang="en-US" sz="1200" dirty="0"/>
          </a:p>
        </p:txBody>
      </p:sp>
      <p:sp>
        <p:nvSpPr>
          <p:cNvPr id="10" name="Text 8"/>
          <p:cNvSpPr/>
          <p:nvPr/>
        </p:nvSpPr>
        <p:spPr>
          <a:xfrm>
            <a:off x="438912" y="2121408"/>
            <a:ext cx="2377440" cy="2322576"/>
          </a:xfrm>
          <a:prstGeom prst="rect">
            <a:avLst/>
          </a:prstGeom>
          <a:noFill/>
          <a:ln/>
        </p:spPr>
        <p:txBody>
          <a:bodyPr wrap="square" rtlCol="0" anchor="ctr"/>
          <a:lstStyle/>
          <a:p>
            <a:pPr algn="ctr" indent="0" marL="0">
              <a:spcAft>
                <a:spcPts val="500"/>
              </a:spcAft>
              <a:buNone/>
            </a:pPr>
            <a:r>
              <a:rPr lang="en-US" sz="1100" dirty="0">
                <a:solidFill>
                  <a:srgbClr val="1F2937"/>
                </a:solidFill>
              </a:rPr>
              <a:t>「どの単語の情報を</a:t>
            </a:r>
            <a:endParaRPr lang="en-US" sz="1100" dirty="0"/>
          </a:p>
          <a:p>
            <a:pPr algn="ctr" indent="0" marL="0">
              <a:spcAft>
                <a:spcPts val="500"/>
              </a:spcAft>
              <a:buNone/>
            </a:pPr>
            <a:r>
              <a:rPr lang="en-US" sz="1100" dirty="0">
                <a:solidFill>
                  <a:srgbClr val="1F2937"/>
                </a:solidFill>
              </a:rPr>
              <a:t>集めてくるか」を決める</a:t>
            </a:r>
            <a:endParaRPr lang="en-US" sz="1100" dirty="0"/>
          </a:p>
          <a:p>
            <a:pPr algn="ctr" indent="0" marL="0">
              <a:spcAft>
                <a:spcPts val="500"/>
              </a:spcAft>
              <a:buNone/>
            </a:pPr>
            <a:endParaRPr lang="en-US" sz="1100" dirty="0"/>
          </a:p>
          <a:p>
            <a:pPr algn="ctr" indent="0" marL="0">
              <a:spcAft>
                <a:spcPts val="500"/>
              </a:spcAft>
              <a:buNone/>
            </a:pPr>
            <a:r>
              <a:rPr lang="en-US" sz="1100" dirty="0">
                <a:solidFill>
                  <a:srgbClr val="1F2937"/>
                </a:solidFill>
              </a:rPr>
              <a:t>全トークン間の関係を</a:t>
            </a:r>
            <a:endParaRPr lang="en-US" sz="1100" dirty="0"/>
          </a:p>
          <a:p>
            <a:pPr algn="ctr" indent="0" marL="0">
              <a:spcAft>
                <a:spcPts val="500"/>
              </a:spcAft>
              <a:buNone/>
            </a:pPr>
            <a:r>
              <a:rPr lang="en-US" sz="1100" dirty="0">
                <a:solidFill>
                  <a:srgbClr val="1F2937"/>
                </a:solidFill>
              </a:rPr>
              <a:t>計算し、重要な情報を</a:t>
            </a:r>
            <a:endParaRPr lang="en-US" sz="1100" dirty="0"/>
          </a:p>
          <a:p>
            <a:pPr algn="ctr" indent="0" marL="0">
              <a:spcAft>
                <a:spcPts val="500"/>
              </a:spcAft>
              <a:buNone/>
            </a:pPr>
            <a:r>
              <a:rPr lang="en-US" sz="1100" dirty="0">
                <a:solidFill>
                  <a:srgbClr val="1F2937"/>
                </a:solidFill>
              </a:rPr>
              <a:t>引き寄せる</a:t>
            </a:r>
            <a:endParaRPr lang="en-US" sz="1100" dirty="0"/>
          </a:p>
          <a:p>
            <a:pPr algn="ctr" indent="0" marL="0">
              <a:spcAft>
                <a:spcPts val="500"/>
              </a:spcAft>
              <a:buNone/>
            </a:pPr>
            <a:endParaRPr lang="en-US" sz="1100" dirty="0"/>
          </a:p>
          <a:p>
            <a:pPr algn="ctr" indent="0" marL="0">
              <a:spcAft>
                <a:spcPts val="500"/>
              </a:spcAft>
              <a:buNone/>
            </a:pPr>
            <a:r>
              <a:rPr lang="en-US" sz="1100" dirty="0">
                <a:solidFill>
                  <a:srgbClr val="1F2937"/>
                </a:solidFill>
              </a:rPr>
              <a:t>文脈依存の情報収集</a:t>
            </a:r>
            <a:endParaRPr lang="en-US" sz="1100" dirty="0"/>
          </a:p>
        </p:txBody>
      </p:sp>
      <p:sp>
        <p:nvSpPr>
          <p:cNvPr id="11" name="Shape 9"/>
          <p:cNvSpPr/>
          <p:nvPr/>
        </p:nvSpPr>
        <p:spPr>
          <a:xfrm>
            <a:off x="2999232" y="2962656"/>
            <a:ext cx="402336" cy="0"/>
          </a:xfrm>
          <a:prstGeom prst="line">
            <a:avLst/>
          </a:prstGeom>
          <a:noFill/>
          <a:ln w="19050">
            <a:solidFill>
              <a:srgbClr val="6B7280"/>
            </a:solidFill>
            <a:prstDash val="solid"/>
          </a:ln>
        </p:spPr>
      </p:sp>
      <p:sp>
        <p:nvSpPr>
          <p:cNvPr id="12" name="Text 10"/>
          <p:cNvSpPr/>
          <p:nvPr/>
        </p:nvSpPr>
        <p:spPr>
          <a:xfrm>
            <a:off x="2999232" y="2834640"/>
            <a:ext cx="402336" cy="274320"/>
          </a:xfrm>
          <a:prstGeom prst="rect">
            <a:avLst/>
          </a:prstGeom>
          <a:noFill/>
          <a:ln/>
        </p:spPr>
        <p:txBody>
          <a:bodyPr wrap="square" rtlCol="0" anchor="ctr"/>
          <a:lstStyle/>
          <a:p>
            <a:pPr algn="ctr" indent="0" marL="0">
              <a:buNone/>
            </a:pPr>
            <a:r>
              <a:rPr lang="en-US" sz="1800" b="1" dirty="0">
                <a:solidFill>
                  <a:srgbClr val="6B7280"/>
                </a:solidFill>
              </a:rPr>
              <a:t>+</a:t>
            </a:r>
            <a:endParaRPr lang="en-US" sz="1800" dirty="0"/>
          </a:p>
        </p:txBody>
      </p:sp>
      <p:sp>
        <p:nvSpPr>
          <p:cNvPr id="13" name="Shape 11"/>
          <p:cNvSpPr/>
          <p:nvPr/>
        </p:nvSpPr>
        <p:spPr>
          <a:xfrm>
            <a:off x="3493008" y="1408176"/>
            <a:ext cx="2560320" cy="3108960"/>
          </a:xfrm>
          <a:prstGeom prst="roundRect">
            <a:avLst>
              <a:gd name="adj" fmla="val 2857"/>
            </a:avLst>
          </a:prstGeom>
          <a:solidFill>
            <a:srgbClr val="FAECE7"/>
          </a:solidFill>
          <a:ln w="6350">
            <a:solidFill>
              <a:srgbClr val="D85A30"/>
            </a:solidFill>
            <a:prstDash val="solid"/>
          </a:ln>
        </p:spPr>
      </p:sp>
      <p:sp>
        <p:nvSpPr>
          <p:cNvPr id="14" name="Shape 12"/>
          <p:cNvSpPr/>
          <p:nvPr/>
        </p:nvSpPr>
        <p:spPr>
          <a:xfrm>
            <a:off x="3493008" y="1408176"/>
            <a:ext cx="2560320" cy="36576"/>
          </a:xfrm>
          <a:prstGeom prst="rect">
            <a:avLst/>
          </a:prstGeom>
          <a:solidFill>
            <a:srgbClr val="D85A30"/>
          </a:solidFill>
          <a:ln w="12700">
            <a:solidFill>
              <a:srgbClr val="D85A30"/>
            </a:solidFill>
            <a:prstDash val="solid"/>
          </a:ln>
        </p:spPr>
      </p:sp>
      <p:sp>
        <p:nvSpPr>
          <p:cNvPr id="15" name="Text 13"/>
          <p:cNvSpPr/>
          <p:nvPr/>
        </p:nvSpPr>
        <p:spPr>
          <a:xfrm>
            <a:off x="3493008" y="1463040"/>
            <a:ext cx="2560320" cy="347472"/>
          </a:xfrm>
          <a:prstGeom prst="rect">
            <a:avLst/>
          </a:prstGeom>
          <a:noFill/>
          <a:ln/>
        </p:spPr>
        <p:txBody>
          <a:bodyPr wrap="square" rtlCol="0" anchor="ctr"/>
          <a:lstStyle/>
          <a:p>
            <a:pPr algn="ctr" indent="0" marL="0">
              <a:buNone/>
            </a:pPr>
            <a:r>
              <a:rPr lang="en-US" sz="1400" b="1" dirty="0">
                <a:solidFill>
                  <a:srgbClr val="D85A30"/>
                </a:solidFill>
              </a:rPr>
              <a:t>FFN</a:t>
            </a:r>
            <a:endParaRPr lang="en-US" sz="1400" dirty="0"/>
          </a:p>
        </p:txBody>
      </p:sp>
      <p:sp>
        <p:nvSpPr>
          <p:cNvPr id="16" name="Text 14"/>
          <p:cNvSpPr/>
          <p:nvPr/>
        </p:nvSpPr>
        <p:spPr>
          <a:xfrm>
            <a:off x="3493008" y="1792224"/>
            <a:ext cx="2560320" cy="274320"/>
          </a:xfrm>
          <a:prstGeom prst="rect">
            <a:avLst/>
          </a:prstGeom>
          <a:noFill/>
          <a:ln/>
        </p:spPr>
        <p:txBody>
          <a:bodyPr wrap="square" rtlCol="0" anchor="ctr"/>
          <a:lstStyle/>
          <a:p>
            <a:pPr algn="ctr" indent="0" marL="0">
              <a:buNone/>
            </a:pPr>
            <a:r>
              <a:rPr lang="en-US" sz="1200" b="1" dirty="0">
                <a:solidFill>
                  <a:srgbClr val="D85A30"/>
                </a:solidFill>
              </a:rPr>
              <a:t>= 知識の格納庫</a:t>
            </a:r>
            <a:endParaRPr lang="en-US" sz="1200" dirty="0"/>
          </a:p>
        </p:txBody>
      </p:sp>
      <p:sp>
        <p:nvSpPr>
          <p:cNvPr id="17" name="Text 15"/>
          <p:cNvSpPr/>
          <p:nvPr/>
        </p:nvSpPr>
        <p:spPr>
          <a:xfrm>
            <a:off x="3584448" y="2121408"/>
            <a:ext cx="2377440" cy="2322576"/>
          </a:xfrm>
          <a:prstGeom prst="rect">
            <a:avLst/>
          </a:prstGeom>
          <a:noFill/>
          <a:ln/>
        </p:spPr>
        <p:txBody>
          <a:bodyPr wrap="square" rtlCol="0" anchor="ctr"/>
          <a:lstStyle/>
          <a:p>
            <a:pPr algn="ctr" indent="0" marL="0">
              <a:spcAft>
                <a:spcPts val="500"/>
              </a:spcAft>
              <a:buNone/>
            </a:pPr>
            <a:r>
              <a:rPr lang="en-US" sz="1100" dirty="0">
                <a:solidFill>
                  <a:srgbClr val="1F2937"/>
                </a:solidFill>
              </a:rPr>
              <a:t>「集めた情報で</a:t>
            </a:r>
            <a:endParaRPr lang="en-US" sz="1100" dirty="0"/>
          </a:p>
          <a:p>
            <a:pPr algn="ctr" indent="0" marL="0">
              <a:spcAft>
                <a:spcPts val="500"/>
              </a:spcAft>
              <a:buNone/>
            </a:pPr>
            <a:r>
              <a:rPr lang="en-US" sz="1100" dirty="0">
                <a:solidFill>
                  <a:srgbClr val="1F2937"/>
                </a:solidFill>
              </a:rPr>
              <a:t>何を表現するか」を変換</a:t>
            </a:r>
            <a:endParaRPr lang="en-US" sz="1100" dirty="0"/>
          </a:p>
          <a:p>
            <a:pPr algn="ctr" indent="0" marL="0">
              <a:spcAft>
                <a:spcPts val="500"/>
              </a:spcAft>
              <a:buNone/>
            </a:pPr>
            <a:endParaRPr lang="en-US" sz="1100" dirty="0"/>
          </a:p>
          <a:p>
            <a:pPr algn="ctr" indent="0" marL="0">
              <a:spcAft>
                <a:spcPts val="500"/>
              </a:spcAft>
              <a:buNone/>
            </a:pPr>
            <a:r>
              <a:rPr lang="en-US" sz="1100" dirty="0">
                <a:solidFill>
                  <a:srgbClr val="1F2937"/>
                </a:solidFill>
              </a:rPr>
              <a:t>非線形変換（ReLU）で</a:t>
            </a:r>
            <a:endParaRPr lang="en-US" sz="1100" dirty="0"/>
          </a:p>
          <a:p>
            <a:pPr algn="ctr" indent="0" marL="0">
              <a:spcAft>
                <a:spcPts val="500"/>
              </a:spcAft>
              <a:buNone/>
            </a:pPr>
            <a:r>
              <a:rPr lang="en-US" sz="1100" dirty="0">
                <a:solidFill>
                  <a:srgbClr val="1F2937"/>
                </a:solidFill>
              </a:rPr>
              <a:t>意味を抽象化</a:t>
            </a:r>
            <a:endParaRPr lang="en-US" sz="1100" dirty="0"/>
          </a:p>
          <a:p>
            <a:pPr algn="ctr" indent="0" marL="0">
              <a:spcAft>
                <a:spcPts val="500"/>
              </a:spcAft>
              <a:buNone/>
            </a:pPr>
            <a:endParaRPr lang="en-US" sz="1100" dirty="0"/>
          </a:p>
          <a:p>
            <a:pPr algn="ctr" indent="0" marL="0">
              <a:spcAft>
                <a:spcPts val="500"/>
              </a:spcAft>
              <a:buNone/>
            </a:pPr>
            <a:r>
              <a:rPr lang="en-US" sz="1100" dirty="0">
                <a:solidFill>
                  <a:srgbClr val="1F2937"/>
                </a:solidFill>
              </a:rPr>
              <a:t>多くの事実知識はFFNに</a:t>
            </a:r>
            <a:endParaRPr lang="en-US" sz="1100" dirty="0"/>
          </a:p>
          <a:p>
            <a:pPr algn="ctr" indent="0" marL="0">
              <a:spcAft>
                <a:spcPts val="500"/>
              </a:spcAft>
              <a:buNone/>
            </a:pPr>
            <a:r>
              <a:rPr lang="en-US" sz="1100" dirty="0">
                <a:solidFill>
                  <a:srgbClr val="1F2937"/>
                </a:solidFill>
              </a:rPr>
              <a:t>格納されていると</a:t>
            </a:r>
            <a:endParaRPr lang="en-US" sz="1100" dirty="0"/>
          </a:p>
          <a:p>
            <a:pPr algn="ctr" indent="0" marL="0">
              <a:spcAft>
                <a:spcPts val="500"/>
              </a:spcAft>
              <a:buNone/>
            </a:pPr>
            <a:r>
              <a:rPr lang="en-US" sz="1100" dirty="0">
                <a:solidFill>
                  <a:srgbClr val="1F2937"/>
                </a:solidFill>
              </a:rPr>
              <a:t>考えられている</a:t>
            </a:r>
            <a:endParaRPr lang="en-US" sz="1100" dirty="0"/>
          </a:p>
        </p:txBody>
      </p:sp>
      <p:sp>
        <p:nvSpPr>
          <p:cNvPr id="18" name="Shape 16"/>
          <p:cNvSpPr/>
          <p:nvPr/>
        </p:nvSpPr>
        <p:spPr>
          <a:xfrm>
            <a:off x="6601968" y="2962656"/>
            <a:ext cx="402336" cy="0"/>
          </a:xfrm>
          <a:prstGeom prst="line">
            <a:avLst/>
          </a:prstGeom>
          <a:noFill/>
          <a:ln w="19050">
            <a:solidFill>
              <a:srgbClr val="0F6E56"/>
            </a:solidFill>
            <a:prstDash val="solid"/>
          </a:ln>
        </p:spPr>
      </p:sp>
      <p:sp>
        <p:nvSpPr>
          <p:cNvPr id="19" name="Text 17"/>
          <p:cNvSpPr/>
          <p:nvPr/>
        </p:nvSpPr>
        <p:spPr>
          <a:xfrm>
            <a:off x="6601968" y="2834640"/>
            <a:ext cx="402336" cy="274320"/>
          </a:xfrm>
          <a:prstGeom prst="rect">
            <a:avLst/>
          </a:prstGeom>
          <a:noFill/>
          <a:ln/>
        </p:spPr>
        <p:txBody>
          <a:bodyPr wrap="square" rtlCol="0" anchor="ctr"/>
          <a:lstStyle/>
          <a:p>
            <a:pPr algn="ctr" indent="0" marL="0">
              <a:buNone/>
            </a:pPr>
            <a:r>
              <a:rPr lang="en-US" sz="1800" b="1" dirty="0">
                <a:solidFill>
                  <a:srgbClr val="0F6E56"/>
                </a:solidFill>
              </a:rPr>
              <a:t>=</a:t>
            </a:r>
            <a:endParaRPr lang="en-US" sz="1800" dirty="0"/>
          </a:p>
        </p:txBody>
      </p:sp>
      <p:sp>
        <p:nvSpPr>
          <p:cNvPr id="20" name="Shape 18"/>
          <p:cNvSpPr/>
          <p:nvPr/>
        </p:nvSpPr>
        <p:spPr>
          <a:xfrm>
            <a:off x="7095744" y="1408176"/>
            <a:ext cx="1682496" cy="3108960"/>
          </a:xfrm>
          <a:prstGeom prst="roundRect">
            <a:avLst>
              <a:gd name="adj" fmla="val 4348"/>
            </a:avLst>
          </a:prstGeom>
          <a:solidFill>
            <a:srgbClr val="E1F5EE"/>
          </a:solidFill>
          <a:ln w="6350">
            <a:solidFill>
              <a:srgbClr val="0F6E56"/>
            </a:solidFill>
            <a:prstDash val="solid"/>
          </a:ln>
        </p:spPr>
      </p:sp>
      <p:sp>
        <p:nvSpPr>
          <p:cNvPr id="21" name="Shape 19"/>
          <p:cNvSpPr/>
          <p:nvPr/>
        </p:nvSpPr>
        <p:spPr>
          <a:xfrm>
            <a:off x="7095744" y="1408176"/>
            <a:ext cx="1682496" cy="36576"/>
          </a:xfrm>
          <a:prstGeom prst="rect">
            <a:avLst/>
          </a:prstGeom>
          <a:solidFill>
            <a:srgbClr val="0F6E56"/>
          </a:solidFill>
          <a:ln w="12700">
            <a:solidFill>
              <a:srgbClr val="0F6E56"/>
            </a:solidFill>
            <a:prstDash val="solid"/>
          </a:ln>
        </p:spPr>
      </p:sp>
      <p:sp>
        <p:nvSpPr>
          <p:cNvPr id="22" name="Text 20"/>
          <p:cNvSpPr/>
          <p:nvPr/>
        </p:nvSpPr>
        <p:spPr>
          <a:xfrm>
            <a:off x="7095744" y="1463040"/>
            <a:ext cx="1682496" cy="347472"/>
          </a:xfrm>
          <a:prstGeom prst="rect">
            <a:avLst/>
          </a:prstGeom>
          <a:noFill/>
          <a:ln/>
        </p:spPr>
        <p:txBody>
          <a:bodyPr wrap="square" rtlCol="0" anchor="ctr"/>
          <a:lstStyle/>
          <a:p>
            <a:pPr algn="ctr" indent="0" marL="0">
              <a:buNone/>
            </a:pPr>
            <a:r>
              <a:rPr lang="en-US" sz="1400" b="1" dirty="0">
                <a:solidFill>
                  <a:srgbClr val="0F6E56"/>
                </a:solidFill>
              </a:rPr>
              <a:t>出力</a:t>
            </a:r>
            <a:endParaRPr lang="en-US" sz="1400" dirty="0"/>
          </a:p>
        </p:txBody>
      </p:sp>
      <p:sp>
        <p:nvSpPr>
          <p:cNvPr id="23" name="Text 21"/>
          <p:cNvSpPr/>
          <p:nvPr/>
        </p:nvSpPr>
        <p:spPr>
          <a:xfrm>
            <a:off x="7095744" y="1883664"/>
            <a:ext cx="1682496" cy="640080"/>
          </a:xfrm>
          <a:prstGeom prst="rect">
            <a:avLst/>
          </a:prstGeom>
          <a:noFill/>
          <a:ln/>
        </p:spPr>
        <p:txBody>
          <a:bodyPr wrap="square" rtlCol="0" anchor="ctr"/>
          <a:lstStyle/>
          <a:p>
            <a:pPr algn="ctr" indent="0" marL="0">
              <a:buNone/>
            </a:pPr>
            <a:r>
              <a:rPr lang="en-US" sz="1100" b="1" dirty="0">
                <a:solidFill>
                  <a:srgbClr val="0F6E56"/>
                </a:solidFill>
              </a:rPr>
              <a:t>文脈化</a:t>
            </a:r>
            <a:endParaRPr lang="en-US" sz="1100" dirty="0"/>
          </a:p>
          <a:p>
            <a:pPr algn="ctr" indent="0" marL="0">
              <a:buNone/>
            </a:pPr>
            <a:r>
              <a:rPr lang="en-US" sz="1100" b="1" dirty="0">
                <a:solidFill>
                  <a:srgbClr val="0F6E56"/>
                </a:solidFill>
              </a:rPr>
              <a:t>済みの</a:t>
            </a:r>
            <a:endParaRPr lang="en-US" sz="1100" dirty="0"/>
          </a:p>
          <a:p>
            <a:pPr algn="ctr" indent="0" marL="0">
              <a:buNone/>
            </a:pPr>
            <a:r>
              <a:rPr lang="en-US" sz="1100" b="1" dirty="0">
                <a:solidFill>
                  <a:srgbClr val="0F6E56"/>
                </a:solidFill>
              </a:rPr>
              <a:t>意味表現</a:t>
            </a:r>
            <a:endParaRPr lang="en-US" sz="1100" dirty="0"/>
          </a:p>
        </p:txBody>
      </p:sp>
      <p:sp>
        <p:nvSpPr>
          <p:cNvPr id="24" name="Text 22"/>
          <p:cNvSpPr/>
          <p:nvPr/>
        </p:nvSpPr>
        <p:spPr>
          <a:xfrm>
            <a:off x="7095744" y="2633472"/>
            <a:ext cx="1682496" cy="1810512"/>
          </a:xfrm>
          <a:prstGeom prst="rect">
            <a:avLst/>
          </a:prstGeom>
          <a:noFill/>
          <a:ln/>
        </p:spPr>
        <p:txBody>
          <a:bodyPr wrap="square" rtlCol="0" anchor="ctr"/>
          <a:lstStyle/>
          <a:p>
            <a:pPr algn="ctr" indent="0" marL="0">
              <a:spcAft>
                <a:spcPts val="600"/>
              </a:spcAft>
              <a:buNone/>
            </a:pPr>
            <a:r>
              <a:rPr lang="en-US" sz="1050" dirty="0">
                <a:solidFill>
                  <a:srgbClr val="1F2937"/>
                </a:solidFill>
              </a:rPr>
              <a:t>文法も</a:t>
            </a:r>
            <a:endParaRPr lang="en-US" sz="1050" dirty="0"/>
          </a:p>
          <a:p>
            <a:pPr algn="ctr" indent="0" marL="0">
              <a:spcAft>
                <a:spcPts val="600"/>
              </a:spcAft>
              <a:buNone/>
            </a:pPr>
            <a:r>
              <a:rPr lang="en-US" sz="1050" dirty="0">
                <a:solidFill>
                  <a:srgbClr val="1F2937"/>
                </a:solidFill>
              </a:rPr>
              <a:t>知識も</a:t>
            </a:r>
            <a:endParaRPr lang="en-US" sz="1050" dirty="0"/>
          </a:p>
          <a:p>
            <a:pPr algn="ctr" indent="0" marL="0">
              <a:spcAft>
                <a:spcPts val="600"/>
              </a:spcAft>
              <a:buNone/>
            </a:pPr>
            <a:r>
              <a:rPr lang="en-US" sz="1050" dirty="0">
                <a:solidFill>
                  <a:srgbClr val="1F2937"/>
                </a:solidFill>
              </a:rPr>
              <a:t>文脈も</a:t>
            </a:r>
            <a:endParaRPr lang="en-US" sz="1050" dirty="0"/>
          </a:p>
          <a:p>
            <a:pPr algn="ctr" indent="0" marL="0">
              <a:spcAft>
                <a:spcPts val="600"/>
              </a:spcAft>
              <a:buNone/>
            </a:pPr>
            <a:r>
              <a:rPr lang="en-US" sz="1050" dirty="0">
                <a:solidFill>
                  <a:srgbClr val="1F2937"/>
                </a:solidFill>
              </a:rPr>
              <a:t>含んだ</a:t>
            </a:r>
            <a:endParaRPr lang="en-US" sz="1050" dirty="0"/>
          </a:p>
          <a:p>
            <a:pPr algn="ctr" indent="0" marL="0">
              <a:spcAft>
                <a:spcPts val="600"/>
              </a:spcAft>
              <a:buNone/>
            </a:pPr>
            <a:r>
              <a:rPr lang="en-US" sz="1050" dirty="0">
                <a:solidFill>
                  <a:srgbClr val="1F2937"/>
                </a:solidFill>
              </a:rPr>
              <a:t>ベクトル</a:t>
            </a:r>
            <a:endParaRPr lang="en-US" sz="1050" dirty="0"/>
          </a:p>
        </p:txBody>
      </p:sp>
      <p:sp>
        <p:nvSpPr>
          <p:cNvPr id="25" name="Shape 23"/>
          <p:cNvSpPr/>
          <p:nvPr/>
        </p:nvSpPr>
        <p:spPr>
          <a:xfrm>
            <a:off x="347472" y="4608576"/>
            <a:ext cx="8430768" cy="512064"/>
          </a:xfrm>
          <a:prstGeom prst="roundRect">
            <a:avLst>
              <a:gd name="adj" fmla="val 8929"/>
            </a:avLst>
          </a:prstGeom>
          <a:solidFill>
            <a:srgbClr val="1A1A2E"/>
          </a:solidFill>
          <a:ln w="6350">
            <a:solidFill>
              <a:srgbClr val="D85A30"/>
            </a:solidFill>
            <a:prstDash val="solid"/>
          </a:ln>
        </p:spPr>
      </p:sp>
      <p:sp>
        <p:nvSpPr>
          <p:cNvPr id="26" name="Text 24"/>
          <p:cNvSpPr/>
          <p:nvPr/>
        </p:nvSpPr>
        <p:spPr>
          <a:xfrm>
            <a:off x="502920" y="4645152"/>
            <a:ext cx="8229600" cy="438912"/>
          </a:xfrm>
          <a:prstGeom prst="rect">
            <a:avLst/>
          </a:prstGeom>
          <a:noFill/>
          <a:ln/>
        </p:spPr>
        <p:txBody>
          <a:bodyPr wrap="square" rtlCol="0" anchor="ctr"/>
          <a:lstStyle/>
          <a:p>
            <a:pPr indent="0" marL="0">
              <a:buNone/>
            </a:pPr>
            <a:r>
              <a:rPr lang="en-US" sz="1050" b="1" dirty="0">
                <a:solidFill>
                  <a:srgbClr val="D85A30"/>
                </a:solidFill>
              </a:rPr>
              <a:t>研究根拠：</a:t>
            </a:r>
            <a:pPr indent="0" marL="0">
              <a:buNone/>
            </a:pPr>
            <a:r>
              <a:rPr lang="en-US" sz="1050" dirty="0">
                <a:solidFill>
                  <a:srgbClr val="C0C8E8"/>
                </a:solidFill>
              </a:rPr>
              <a:t xml:space="preserve">  ROME / MEMIT / Knowledge Neurons — FFN の特定のニューロンが「パリの首都はフランス」等の事実を保持。</a:t>
            </a:r>
            <a:pPr indent="0" marL="0">
              <a:buNone/>
            </a:pPr>
            <a:r>
              <a:rPr lang="en-US" sz="1050" dirty="0">
                <a:solidFill>
                  <a:srgbClr val="A0A8C0"/>
                </a:solidFill>
              </a:rPr>
              <a:t xml:space="preserve">  FFN を書き換えるだけで特定の知識を修正できることが実証されている。</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17 / 28</a:t>
            </a:r>
            <a:endParaRPr lang="en-US" sz="900" dirty="0"/>
          </a:p>
        </p:txBody>
      </p:sp>
      <p:sp>
        <p:nvSpPr>
          <p:cNvPr id="3" name="Shape 1"/>
          <p:cNvSpPr/>
          <p:nvPr/>
        </p:nvSpPr>
        <p:spPr>
          <a:xfrm>
            <a:off x="347472" y="274320"/>
            <a:ext cx="54864" cy="475488"/>
          </a:xfrm>
          <a:prstGeom prst="rect">
            <a:avLst/>
          </a:prstGeom>
          <a:solidFill>
            <a:srgbClr val="0F6E56"/>
          </a:solidFill>
          <a:ln w="12700">
            <a:solidFill>
              <a:srgbClr val="0F6E56"/>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「bank」の Attention 可視化 — 同じ単語でも文脈で意味が変わる</a:t>
            </a:r>
            <a:endParaRPr lang="en-US" sz="2000" dirty="0"/>
          </a:p>
        </p:txBody>
      </p:sp>
      <p:sp>
        <p:nvSpPr>
          <p:cNvPr id="5" name="Text 3"/>
          <p:cNvSpPr/>
          <p:nvPr/>
        </p:nvSpPr>
        <p:spPr>
          <a:xfrm>
            <a:off x="347472" y="950976"/>
            <a:ext cx="8430768" cy="347472"/>
          </a:xfrm>
          <a:prstGeom prst="rect">
            <a:avLst/>
          </a:prstGeom>
          <a:noFill/>
          <a:ln/>
        </p:spPr>
        <p:txBody>
          <a:bodyPr wrap="square" rtlCol="0" anchor="ctr"/>
          <a:lstStyle/>
          <a:p>
            <a:pPr indent="0" marL="0">
              <a:buNone/>
            </a:pPr>
            <a:r>
              <a:rPr lang="en-US" sz="1100" i="1" dirty="0">
                <a:solidFill>
                  <a:srgbClr val="4B5563"/>
                </a:solidFill>
              </a:rPr>
              <a:t>同じ「bank」でも、周囲の文脈によってどのトークンへ注意が集中するかが変わる。これが「文脈依存の意味解決」。</a:t>
            </a:r>
            <a:endParaRPr lang="en-US" sz="1100" dirty="0"/>
          </a:p>
        </p:txBody>
      </p:sp>
      <p:sp>
        <p:nvSpPr>
          <p:cNvPr id="6" name="Shape 4"/>
          <p:cNvSpPr/>
          <p:nvPr/>
        </p:nvSpPr>
        <p:spPr>
          <a:xfrm>
            <a:off x="347472" y="1389888"/>
            <a:ext cx="4133088" cy="2834640"/>
          </a:xfrm>
          <a:prstGeom prst="rect">
            <a:avLst/>
          </a:prstGeom>
          <a:solidFill>
            <a:srgbClr val="E6F1FB"/>
          </a:solidFill>
          <a:ln w="6350">
            <a:solidFill>
              <a:srgbClr val="185FA5"/>
            </a:solidFill>
            <a:prstDash val="solid"/>
          </a:ln>
        </p:spPr>
      </p:sp>
      <p:sp>
        <p:nvSpPr>
          <p:cNvPr id="7" name="Shape 5"/>
          <p:cNvSpPr/>
          <p:nvPr/>
        </p:nvSpPr>
        <p:spPr>
          <a:xfrm>
            <a:off x="347472" y="1389888"/>
            <a:ext cx="4133088" cy="36576"/>
          </a:xfrm>
          <a:prstGeom prst="rect">
            <a:avLst/>
          </a:prstGeom>
          <a:solidFill>
            <a:srgbClr val="185FA5"/>
          </a:solidFill>
          <a:ln w="12700">
            <a:solidFill>
              <a:srgbClr val="185FA5"/>
            </a:solidFill>
            <a:prstDash val="solid"/>
          </a:ln>
        </p:spPr>
      </p:sp>
      <p:sp>
        <p:nvSpPr>
          <p:cNvPr id="8" name="Text 6"/>
          <p:cNvSpPr/>
          <p:nvPr/>
        </p:nvSpPr>
        <p:spPr>
          <a:xfrm>
            <a:off x="475488" y="1444752"/>
            <a:ext cx="3840480" cy="329184"/>
          </a:xfrm>
          <a:prstGeom prst="rect">
            <a:avLst/>
          </a:prstGeom>
          <a:noFill/>
          <a:ln/>
        </p:spPr>
        <p:txBody>
          <a:bodyPr wrap="square" rtlCol="0" anchor="ctr"/>
          <a:lstStyle/>
          <a:p>
            <a:pPr indent="0" marL="0">
              <a:buNone/>
            </a:pPr>
            <a:r>
              <a:rPr lang="en-US" sz="1300" b="1" dirty="0">
                <a:solidFill>
                  <a:srgbClr val="185FA5"/>
                </a:solidFill>
              </a:rPr>
              <a:t>例1：金融の bank</a:t>
            </a:r>
            <a:endParaRPr lang="en-US" sz="1300" dirty="0"/>
          </a:p>
        </p:txBody>
      </p:sp>
      <p:sp>
        <p:nvSpPr>
          <p:cNvPr id="9" name="Text 7"/>
          <p:cNvSpPr/>
          <p:nvPr/>
        </p:nvSpPr>
        <p:spPr>
          <a:xfrm>
            <a:off x="475488" y="1810512"/>
            <a:ext cx="3840480" cy="292608"/>
          </a:xfrm>
          <a:prstGeom prst="rect">
            <a:avLst/>
          </a:prstGeom>
          <a:noFill/>
          <a:ln/>
        </p:spPr>
        <p:txBody>
          <a:bodyPr wrap="square" rtlCol="0" anchor="ctr"/>
          <a:lstStyle/>
          <a:p>
            <a:pPr algn="ctr" indent="0" marL="0">
              <a:buNone/>
            </a:pPr>
            <a:r>
              <a:rPr lang="en-US" sz="1150" dirty="0">
                <a:solidFill>
                  <a:srgbClr val="1F2937"/>
                </a:solidFill>
                <a:latin typeface="Consolas" pitchFamily="34" charset="0"/>
                <a:ea typeface="Consolas" pitchFamily="34" charset="-122"/>
                <a:cs typeface="Consolas" pitchFamily="34" charset="-120"/>
              </a:rPr>
              <a:t>I deposited money in the bank</a:t>
            </a:r>
            <a:endParaRPr lang="en-US" sz="1150" dirty="0"/>
          </a:p>
        </p:txBody>
      </p:sp>
      <p:sp>
        <p:nvSpPr>
          <p:cNvPr id="10" name="Shape 8"/>
          <p:cNvSpPr/>
          <p:nvPr/>
        </p:nvSpPr>
        <p:spPr>
          <a:xfrm>
            <a:off x="475488" y="2212848"/>
            <a:ext cx="548640" cy="292608"/>
          </a:xfrm>
          <a:prstGeom prst="roundRect">
            <a:avLst>
              <a:gd name="adj" fmla="val 15625"/>
            </a:avLst>
          </a:prstGeom>
          <a:solidFill>
            <a:srgbClr val="6B7280"/>
          </a:solidFill>
          <a:ln w="12700">
            <a:solidFill>
              <a:srgbClr val="6B7280"/>
            </a:solidFill>
            <a:prstDash val="solid"/>
          </a:ln>
        </p:spPr>
      </p:sp>
      <p:sp>
        <p:nvSpPr>
          <p:cNvPr id="11" name="Text 9"/>
          <p:cNvSpPr/>
          <p:nvPr/>
        </p:nvSpPr>
        <p:spPr>
          <a:xfrm>
            <a:off x="475488" y="2212848"/>
            <a:ext cx="548640" cy="292608"/>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I</a:t>
            </a:r>
            <a:endParaRPr lang="en-US" sz="950" dirty="0"/>
          </a:p>
        </p:txBody>
      </p:sp>
      <p:sp>
        <p:nvSpPr>
          <p:cNvPr id="12" name="Shape 10"/>
          <p:cNvSpPr/>
          <p:nvPr/>
        </p:nvSpPr>
        <p:spPr>
          <a:xfrm>
            <a:off x="1106424" y="2212848"/>
            <a:ext cx="548640" cy="292608"/>
          </a:xfrm>
          <a:prstGeom prst="roundRect">
            <a:avLst>
              <a:gd name="adj" fmla="val 15625"/>
            </a:avLst>
          </a:prstGeom>
          <a:solidFill>
            <a:srgbClr val="6B7280"/>
          </a:solidFill>
          <a:ln w="12700">
            <a:solidFill>
              <a:srgbClr val="6B7280"/>
            </a:solidFill>
            <a:prstDash val="solid"/>
          </a:ln>
        </p:spPr>
      </p:sp>
      <p:sp>
        <p:nvSpPr>
          <p:cNvPr id="13" name="Text 11"/>
          <p:cNvSpPr/>
          <p:nvPr/>
        </p:nvSpPr>
        <p:spPr>
          <a:xfrm>
            <a:off x="1106424" y="2212848"/>
            <a:ext cx="548640" cy="292608"/>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dep.</a:t>
            </a:r>
            <a:endParaRPr lang="en-US" sz="950" dirty="0"/>
          </a:p>
        </p:txBody>
      </p:sp>
      <p:sp>
        <p:nvSpPr>
          <p:cNvPr id="14" name="Shape 12"/>
          <p:cNvSpPr/>
          <p:nvPr/>
        </p:nvSpPr>
        <p:spPr>
          <a:xfrm>
            <a:off x="1737360" y="2212848"/>
            <a:ext cx="548640" cy="292608"/>
          </a:xfrm>
          <a:prstGeom prst="roundRect">
            <a:avLst>
              <a:gd name="adj" fmla="val 15625"/>
            </a:avLst>
          </a:prstGeom>
          <a:solidFill>
            <a:srgbClr val="0F6E56"/>
          </a:solidFill>
          <a:ln w="12700">
            <a:solidFill>
              <a:srgbClr val="0F6E56"/>
            </a:solidFill>
            <a:prstDash val="solid"/>
          </a:ln>
        </p:spPr>
      </p:sp>
      <p:sp>
        <p:nvSpPr>
          <p:cNvPr id="15" name="Text 13"/>
          <p:cNvSpPr/>
          <p:nvPr/>
        </p:nvSpPr>
        <p:spPr>
          <a:xfrm>
            <a:off x="1737360" y="2212848"/>
            <a:ext cx="548640" cy="292608"/>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money</a:t>
            </a:r>
            <a:endParaRPr lang="en-US" sz="950" dirty="0"/>
          </a:p>
        </p:txBody>
      </p:sp>
      <p:sp>
        <p:nvSpPr>
          <p:cNvPr id="16" name="Shape 14"/>
          <p:cNvSpPr/>
          <p:nvPr/>
        </p:nvSpPr>
        <p:spPr>
          <a:xfrm>
            <a:off x="2368296" y="2212848"/>
            <a:ext cx="548640" cy="292608"/>
          </a:xfrm>
          <a:prstGeom prst="roundRect">
            <a:avLst>
              <a:gd name="adj" fmla="val 15625"/>
            </a:avLst>
          </a:prstGeom>
          <a:solidFill>
            <a:srgbClr val="6B7280"/>
          </a:solidFill>
          <a:ln w="12700">
            <a:solidFill>
              <a:srgbClr val="6B7280"/>
            </a:solidFill>
            <a:prstDash val="solid"/>
          </a:ln>
        </p:spPr>
      </p:sp>
      <p:sp>
        <p:nvSpPr>
          <p:cNvPr id="17" name="Text 15"/>
          <p:cNvSpPr/>
          <p:nvPr/>
        </p:nvSpPr>
        <p:spPr>
          <a:xfrm>
            <a:off x="2368296" y="2212848"/>
            <a:ext cx="548640" cy="292608"/>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in</a:t>
            </a:r>
            <a:endParaRPr lang="en-US" sz="950" dirty="0"/>
          </a:p>
        </p:txBody>
      </p:sp>
      <p:sp>
        <p:nvSpPr>
          <p:cNvPr id="18" name="Shape 16"/>
          <p:cNvSpPr/>
          <p:nvPr/>
        </p:nvSpPr>
        <p:spPr>
          <a:xfrm>
            <a:off x="2999232" y="2212848"/>
            <a:ext cx="548640" cy="292608"/>
          </a:xfrm>
          <a:prstGeom prst="roundRect">
            <a:avLst>
              <a:gd name="adj" fmla="val 15625"/>
            </a:avLst>
          </a:prstGeom>
          <a:solidFill>
            <a:srgbClr val="6B7280"/>
          </a:solidFill>
          <a:ln w="12700">
            <a:solidFill>
              <a:srgbClr val="6B7280"/>
            </a:solidFill>
            <a:prstDash val="solid"/>
          </a:ln>
        </p:spPr>
      </p:sp>
      <p:sp>
        <p:nvSpPr>
          <p:cNvPr id="19" name="Text 17"/>
          <p:cNvSpPr/>
          <p:nvPr/>
        </p:nvSpPr>
        <p:spPr>
          <a:xfrm>
            <a:off x="2999232" y="2212848"/>
            <a:ext cx="548640" cy="292608"/>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the</a:t>
            </a:r>
            <a:endParaRPr lang="en-US" sz="950" dirty="0"/>
          </a:p>
        </p:txBody>
      </p:sp>
      <p:sp>
        <p:nvSpPr>
          <p:cNvPr id="20" name="Shape 18"/>
          <p:cNvSpPr/>
          <p:nvPr/>
        </p:nvSpPr>
        <p:spPr>
          <a:xfrm>
            <a:off x="3630168" y="2212848"/>
            <a:ext cx="548640" cy="292608"/>
          </a:xfrm>
          <a:prstGeom prst="roundRect">
            <a:avLst>
              <a:gd name="adj" fmla="val 15625"/>
            </a:avLst>
          </a:prstGeom>
          <a:solidFill>
            <a:srgbClr val="185FA5"/>
          </a:solidFill>
          <a:ln w="12700">
            <a:solidFill>
              <a:srgbClr val="185FA5"/>
            </a:solidFill>
            <a:prstDash val="solid"/>
          </a:ln>
        </p:spPr>
      </p:sp>
      <p:sp>
        <p:nvSpPr>
          <p:cNvPr id="21" name="Text 19"/>
          <p:cNvSpPr/>
          <p:nvPr/>
        </p:nvSpPr>
        <p:spPr>
          <a:xfrm>
            <a:off x="3630168" y="2212848"/>
            <a:ext cx="548640" cy="292608"/>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bank</a:t>
            </a:r>
            <a:endParaRPr lang="en-US" sz="950" dirty="0"/>
          </a:p>
        </p:txBody>
      </p:sp>
      <p:sp>
        <p:nvSpPr>
          <p:cNvPr id="22" name="Shape 20"/>
          <p:cNvSpPr/>
          <p:nvPr/>
        </p:nvSpPr>
        <p:spPr>
          <a:xfrm>
            <a:off x="2011680" y="2542032"/>
            <a:ext cx="1892808" cy="0"/>
          </a:xfrm>
          <a:prstGeom prst="line">
            <a:avLst/>
          </a:prstGeom>
          <a:noFill/>
          <a:ln w="25400">
            <a:solidFill>
              <a:srgbClr val="0F6E56"/>
            </a:solidFill>
            <a:prstDash val="solid"/>
          </a:ln>
        </p:spPr>
      </p:sp>
      <p:sp>
        <p:nvSpPr>
          <p:cNvPr id="23" name="Shape 21"/>
          <p:cNvSpPr/>
          <p:nvPr/>
        </p:nvSpPr>
        <p:spPr>
          <a:xfrm>
            <a:off x="2011680" y="2542032"/>
            <a:ext cx="0" cy="201168"/>
          </a:xfrm>
          <a:prstGeom prst="line">
            <a:avLst/>
          </a:prstGeom>
          <a:noFill/>
          <a:ln w="25400">
            <a:solidFill>
              <a:srgbClr val="0F6E56"/>
            </a:solidFill>
            <a:prstDash val="solid"/>
          </a:ln>
        </p:spPr>
      </p:sp>
      <p:sp>
        <p:nvSpPr>
          <p:cNvPr id="24" name="Shape 22"/>
          <p:cNvSpPr/>
          <p:nvPr/>
        </p:nvSpPr>
        <p:spPr>
          <a:xfrm>
            <a:off x="3904488" y="2542032"/>
            <a:ext cx="0" cy="201168"/>
          </a:xfrm>
          <a:prstGeom prst="line">
            <a:avLst/>
          </a:prstGeom>
          <a:noFill/>
          <a:ln w="25400">
            <a:solidFill>
              <a:srgbClr val="0F6E56"/>
            </a:solidFill>
            <a:prstDash val="solid"/>
          </a:ln>
        </p:spPr>
      </p:sp>
      <p:sp>
        <p:nvSpPr>
          <p:cNvPr id="25" name="Text 23"/>
          <p:cNvSpPr/>
          <p:nvPr/>
        </p:nvSpPr>
        <p:spPr>
          <a:xfrm>
            <a:off x="475488" y="2743200"/>
            <a:ext cx="3840480" cy="237744"/>
          </a:xfrm>
          <a:prstGeom prst="rect">
            <a:avLst/>
          </a:prstGeom>
          <a:noFill/>
          <a:ln/>
        </p:spPr>
        <p:txBody>
          <a:bodyPr wrap="square" rtlCol="0" anchor="ctr"/>
          <a:lstStyle/>
          <a:p>
            <a:pPr indent="0" marL="0">
              <a:buNone/>
            </a:pPr>
            <a:r>
              <a:rPr lang="en-US" sz="950" dirty="0">
                <a:solidFill>
                  <a:srgbClr val="4B5563"/>
                </a:solidFill>
              </a:rPr>
              <a:t>Attention 重み（bank が参照）</a:t>
            </a:r>
            <a:endParaRPr lang="en-US" sz="950" dirty="0"/>
          </a:p>
        </p:txBody>
      </p:sp>
      <p:sp>
        <p:nvSpPr>
          <p:cNvPr id="26" name="Shape 24"/>
          <p:cNvSpPr/>
          <p:nvPr/>
        </p:nvSpPr>
        <p:spPr>
          <a:xfrm>
            <a:off x="512064" y="3469234"/>
            <a:ext cx="475488" cy="23774"/>
          </a:xfrm>
          <a:prstGeom prst="rect">
            <a:avLst/>
          </a:prstGeom>
          <a:solidFill>
            <a:srgbClr val="E5E7EB"/>
          </a:solidFill>
          <a:ln w="12700">
            <a:solidFill>
              <a:srgbClr val="E5E7EB"/>
            </a:solidFill>
            <a:prstDash val="solid"/>
          </a:ln>
        </p:spPr>
      </p:sp>
      <p:sp>
        <p:nvSpPr>
          <p:cNvPr id="27" name="Text 25"/>
          <p:cNvSpPr/>
          <p:nvPr/>
        </p:nvSpPr>
        <p:spPr>
          <a:xfrm>
            <a:off x="475488" y="3268066"/>
            <a:ext cx="548640" cy="201168"/>
          </a:xfrm>
          <a:prstGeom prst="rect">
            <a:avLst/>
          </a:prstGeom>
          <a:noFill/>
          <a:ln/>
        </p:spPr>
        <p:txBody>
          <a:bodyPr wrap="square" rtlCol="0" anchor="ctr"/>
          <a:lstStyle/>
          <a:p>
            <a:pPr algn="ctr" indent="0" marL="0">
              <a:buNone/>
            </a:pPr>
            <a:r>
              <a:rPr lang="en-US" sz="850" dirty="0">
                <a:solidFill>
                  <a:srgbClr val="E5E7EB"/>
                </a:solidFill>
              </a:rPr>
              <a:t>4%</a:t>
            </a:r>
            <a:endParaRPr lang="en-US" sz="850" dirty="0"/>
          </a:p>
        </p:txBody>
      </p:sp>
      <p:sp>
        <p:nvSpPr>
          <p:cNvPr id="28" name="Text 26"/>
          <p:cNvSpPr/>
          <p:nvPr/>
        </p:nvSpPr>
        <p:spPr>
          <a:xfrm>
            <a:off x="475488" y="3511296"/>
            <a:ext cx="548640" cy="201168"/>
          </a:xfrm>
          <a:prstGeom prst="rect">
            <a:avLst/>
          </a:prstGeom>
          <a:noFill/>
          <a:ln/>
        </p:spPr>
        <p:txBody>
          <a:bodyPr wrap="square" rtlCol="0" anchor="ctr"/>
          <a:lstStyle/>
          <a:p>
            <a:pPr algn="ctr" indent="0" marL="0">
              <a:buNone/>
            </a:pPr>
            <a:r>
              <a:rPr lang="en-US" sz="850" dirty="0">
                <a:solidFill>
                  <a:srgbClr val="4B5563"/>
                </a:solidFill>
              </a:rPr>
              <a:t>I</a:t>
            </a:r>
            <a:endParaRPr lang="en-US" sz="850" dirty="0"/>
          </a:p>
        </p:txBody>
      </p:sp>
      <p:sp>
        <p:nvSpPr>
          <p:cNvPr id="29" name="Shape 27"/>
          <p:cNvSpPr/>
          <p:nvPr/>
        </p:nvSpPr>
        <p:spPr>
          <a:xfrm>
            <a:off x="1143000" y="3433572"/>
            <a:ext cx="475488" cy="59436"/>
          </a:xfrm>
          <a:prstGeom prst="rect">
            <a:avLst/>
          </a:prstGeom>
          <a:solidFill>
            <a:srgbClr val="E5E7EB"/>
          </a:solidFill>
          <a:ln w="12700">
            <a:solidFill>
              <a:srgbClr val="E5E7EB"/>
            </a:solidFill>
            <a:prstDash val="solid"/>
          </a:ln>
        </p:spPr>
      </p:sp>
      <p:sp>
        <p:nvSpPr>
          <p:cNvPr id="30" name="Text 28"/>
          <p:cNvSpPr/>
          <p:nvPr/>
        </p:nvSpPr>
        <p:spPr>
          <a:xfrm>
            <a:off x="1106424" y="3232404"/>
            <a:ext cx="548640" cy="201168"/>
          </a:xfrm>
          <a:prstGeom prst="rect">
            <a:avLst/>
          </a:prstGeom>
          <a:noFill/>
          <a:ln/>
        </p:spPr>
        <p:txBody>
          <a:bodyPr wrap="square" rtlCol="0" anchor="ctr"/>
          <a:lstStyle/>
          <a:p>
            <a:pPr algn="ctr" indent="0" marL="0">
              <a:buNone/>
            </a:pPr>
            <a:r>
              <a:rPr lang="en-US" sz="850" dirty="0">
                <a:solidFill>
                  <a:srgbClr val="E5E7EB"/>
                </a:solidFill>
              </a:rPr>
              <a:t>10%</a:t>
            </a:r>
            <a:endParaRPr lang="en-US" sz="850" dirty="0"/>
          </a:p>
        </p:txBody>
      </p:sp>
      <p:sp>
        <p:nvSpPr>
          <p:cNvPr id="31" name="Text 29"/>
          <p:cNvSpPr/>
          <p:nvPr/>
        </p:nvSpPr>
        <p:spPr>
          <a:xfrm>
            <a:off x="1106424" y="3511296"/>
            <a:ext cx="548640" cy="201168"/>
          </a:xfrm>
          <a:prstGeom prst="rect">
            <a:avLst/>
          </a:prstGeom>
          <a:noFill/>
          <a:ln/>
        </p:spPr>
        <p:txBody>
          <a:bodyPr wrap="square" rtlCol="0" anchor="ctr"/>
          <a:lstStyle/>
          <a:p>
            <a:pPr algn="ctr" indent="0" marL="0">
              <a:buNone/>
            </a:pPr>
            <a:r>
              <a:rPr lang="en-US" sz="850" dirty="0">
                <a:solidFill>
                  <a:srgbClr val="4B5563"/>
                </a:solidFill>
              </a:rPr>
              <a:t>dep.</a:t>
            </a:r>
            <a:endParaRPr lang="en-US" sz="850" dirty="0"/>
          </a:p>
        </p:txBody>
      </p:sp>
      <p:sp>
        <p:nvSpPr>
          <p:cNvPr id="32" name="Shape 30"/>
          <p:cNvSpPr/>
          <p:nvPr/>
        </p:nvSpPr>
        <p:spPr>
          <a:xfrm>
            <a:off x="1773936" y="3088843"/>
            <a:ext cx="475488" cy="404165"/>
          </a:xfrm>
          <a:prstGeom prst="rect">
            <a:avLst/>
          </a:prstGeom>
          <a:solidFill>
            <a:srgbClr val="0F6E56"/>
          </a:solidFill>
          <a:ln w="12700">
            <a:solidFill>
              <a:srgbClr val="0F6E56"/>
            </a:solidFill>
            <a:prstDash val="solid"/>
          </a:ln>
        </p:spPr>
      </p:sp>
      <p:sp>
        <p:nvSpPr>
          <p:cNvPr id="33" name="Text 31"/>
          <p:cNvSpPr/>
          <p:nvPr/>
        </p:nvSpPr>
        <p:spPr>
          <a:xfrm>
            <a:off x="1737360" y="2887675"/>
            <a:ext cx="548640" cy="201168"/>
          </a:xfrm>
          <a:prstGeom prst="rect">
            <a:avLst/>
          </a:prstGeom>
          <a:noFill/>
          <a:ln/>
        </p:spPr>
        <p:txBody>
          <a:bodyPr wrap="square" rtlCol="0" anchor="ctr"/>
          <a:lstStyle/>
          <a:p>
            <a:pPr algn="ctr" indent="0" marL="0">
              <a:buNone/>
            </a:pPr>
            <a:r>
              <a:rPr lang="en-US" sz="850" b="1" dirty="0">
                <a:solidFill>
                  <a:srgbClr val="0F6E56"/>
                </a:solidFill>
              </a:rPr>
              <a:t>68%</a:t>
            </a:r>
            <a:endParaRPr lang="en-US" sz="850" dirty="0"/>
          </a:p>
        </p:txBody>
      </p:sp>
      <p:sp>
        <p:nvSpPr>
          <p:cNvPr id="34" name="Text 32"/>
          <p:cNvSpPr/>
          <p:nvPr/>
        </p:nvSpPr>
        <p:spPr>
          <a:xfrm>
            <a:off x="1737360" y="3511296"/>
            <a:ext cx="548640" cy="201168"/>
          </a:xfrm>
          <a:prstGeom prst="rect">
            <a:avLst/>
          </a:prstGeom>
          <a:noFill/>
          <a:ln/>
        </p:spPr>
        <p:txBody>
          <a:bodyPr wrap="square" rtlCol="0" anchor="ctr"/>
          <a:lstStyle/>
          <a:p>
            <a:pPr algn="ctr" indent="0" marL="0">
              <a:buNone/>
            </a:pPr>
            <a:r>
              <a:rPr lang="en-US" sz="850" dirty="0">
                <a:solidFill>
                  <a:srgbClr val="4B5563"/>
                </a:solidFill>
              </a:rPr>
              <a:t>money</a:t>
            </a:r>
            <a:endParaRPr lang="en-US" sz="850" dirty="0"/>
          </a:p>
        </p:txBody>
      </p:sp>
      <p:sp>
        <p:nvSpPr>
          <p:cNvPr id="35" name="Shape 33"/>
          <p:cNvSpPr/>
          <p:nvPr/>
        </p:nvSpPr>
        <p:spPr>
          <a:xfrm>
            <a:off x="2404872" y="3463290"/>
            <a:ext cx="475488" cy="29718"/>
          </a:xfrm>
          <a:prstGeom prst="rect">
            <a:avLst/>
          </a:prstGeom>
          <a:solidFill>
            <a:srgbClr val="E5E7EB"/>
          </a:solidFill>
          <a:ln w="12700">
            <a:solidFill>
              <a:srgbClr val="E5E7EB"/>
            </a:solidFill>
            <a:prstDash val="solid"/>
          </a:ln>
        </p:spPr>
      </p:sp>
      <p:sp>
        <p:nvSpPr>
          <p:cNvPr id="36" name="Text 34"/>
          <p:cNvSpPr/>
          <p:nvPr/>
        </p:nvSpPr>
        <p:spPr>
          <a:xfrm>
            <a:off x="2368296" y="3262122"/>
            <a:ext cx="548640" cy="201168"/>
          </a:xfrm>
          <a:prstGeom prst="rect">
            <a:avLst/>
          </a:prstGeom>
          <a:noFill/>
          <a:ln/>
        </p:spPr>
        <p:txBody>
          <a:bodyPr wrap="square" rtlCol="0" anchor="ctr"/>
          <a:lstStyle/>
          <a:p>
            <a:pPr algn="ctr" indent="0" marL="0">
              <a:buNone/>
            </a:pPr>
            <a:r>
              <a:rPr lang="en-US" sz="850" dirty="0">
                <a:solidFill>
                  <a:srgbClr val="E5E7EB"/>
                </a:solidFill>
              </a:rPr>
              <a:t>5%</a:t>
            </a:r>
            <a:endParaRPr lang="en-US" sz="850" dirty="0"/>
          </a:p>
        </p:txBody>
      </p:sp>
      <p:sp>
        <p:nvSpPr>
          <p:cNvPr id="37" name="Text 35"/>
          <p:cNvSpPr/>
          <p:nvPr/>
        </p:nvSpPr>
        <p:spPr>
          <a:xfrm>
            <a:off x="2368296" y="3511296"/>
            <a:ext cx="548640" cy="201168"/>
          </a:xfrm>
          <a:prstGeom prst="rect">
            <a:avLst/>
          </a:prstGeom>
          <a:noFill/>
          <a:ln/>
        </p:spPr>
        <p:txBody>
          <a:bodyPr wrap="square" rtlCol="0" anchor="ctr"/>
          <a:lstStyle/>
          <a:p>
            <a:pPr algn="ctr" indent="0" marL="0">
              <a:buNone/>
            </a:pPr>
            <a:r>
              <a:rPr lang="en-US" sz="850" dirty="0">
                <a:solidFill>
                  <a:srgbClr val="4B5563"/>
                </a:solidFill>
              </a:rPr>
              <a:t>in</a:t>
            </a:r>
            <a:endParaRPr lang="en-US" sz="850" dirty="0"/>
          </a:p>
        </p:txBody>
      </p:sp>
      <p:sp>
        <p:nvSpPr>
          <p:cNvPr id="38" name="Shape 36"/>
          <p:cNvSpPr/>
          <p:nvPr/>
        </p:nvSpPr>
        <p:spPr>
          <a:xfrm>
            <a:off x="3035808" y="3463290"/>
            <a:ext cx="475488" cy="29718"/>
          </a:xfrm>
          <a:prstGeom prst="rect">
            <a:avLst/>
          </a:prstGeom>
          <a:solidFill>
            <a:srgbClr val="E5E7EB"/>
          </a:solidFill>
          <a:ln w="12700">
            <a:solidFill>
              <a:srgbClr val="E5E7EB"/>
            </a:solidFill>
            <a:prstDash val="solid"/>
          </a:ln>
        </p:spPr>
      </p:sp>
      <p:sp>
        <p:nvSpPr>
          <p:cNvPr id="39" name="Text 37"/>
          <p:cNvSpPr/>
          <p:nvPr/>
        </p:nvSpPr>
        <p:spPr>
          <a:xfrm>
            <a:off x="2999232" y="3262122"/>
            <a:ext cx="548640" cy="201168"/>
          </a:xfrm>
          <a:prstGeom prst="rect">
            <a:avLst/>
          </a:prstGeom>
          <a:noFill/>
          <a:ln/>
        </p:spPr>
        <p:txBody>
          <a:bodyPr wrap="square" rtlCol="0" anchor="ctr"/>
          <a:lstStyle/>
          <a:p>
            <a:pPr algn="ctr" indent="0" marL="0">
              <a:buNone/>
            </a:pPr>
            <a:r>
              <a:rPr lang="en-US" sz="850" dirty="0">
                <a:solidFill>
                  <a:srgbClr val="E5E7EB"/>
                </a:solidFill>
              </a:rPr>
              <a:t>5%</a:t>
            </a:r>
            <a:endParaRPr lang="en-US" sz="850" dirty="0"/>
          </a:p>
        </p:txBody>
      </p:sp>
      <p:sp>
        <p:nvSpPr>
          <p:cNvPr id="40" name="Text 38"/>
          <p:cNvSpPr/>
          <p:nvPr/>
        </p:nvSpPr>
        <p:spPr>
          <a:xfrm>
            <a:off x="2999232" y="3511296"/>
            <a:ext cx="548640" cy="201168"/>
          </a:xfrm>
          <a:prstGeom prst="rect">
            <a:avLst/>
          </a:prstGeom>
          <a:noFill/>
          <a:ln/>
        </p:spPr>
        <p:txBody>
          <a:bodyPr wrap="square" rtlCol="0" anchor="ctr"/>
          <a:lstStyle/>
          <a:p>
            <a:pPr algn="ctr" indent="0" marL="0">
              <a:buNone/>
            </a:pPr>
            <a:r>
              <a:rPr lang="en-US" sz="850" dirty="0">
                <a:solidFill>
                  <a:srgbClr val="4B5563"/>
                </a:solidFill>
              </a:rPr>
              <a:t>the</a:t>
            </a:r>
            <a:endParaRPr lang="en-US" sz="850" dirty="0"/>
          </a:p>
        </p:txBody>
      </p:sp>
      <p:sp>
        <p:nvSpPr>
          <p:cNvPr id="41" name="Shape 39"/>
          <p:cNvSpPr/>
          <p:nvPr/>
        </p:nvSpPr>
        <p:spPr>
          <a:xfrm>
            <a:off x="3666744" y="3445459"/>
            <a:ext cx="475488" cy="47549"/>
          </a:xfrm>
          <a:prstGeom prst="rect">
            <a:avLst/>
          </a:prstGeom>
          <a:solidFill>
            <a:srgbClr val="185FA5"/>
          </a:solidFill>
          <a:ln w="12700">
            <a:solidFill>
              <a:srgbClr val="185FA5"/>
            </a:solidFill>
            <a:prstDash val="solid"/>
          </a:ln>
        </p:spPr>
      </p:sp>
      <p:sp>
        <p:nvSpPr>
          <p:cNvPr id="42" name="Text 40"/>
          <p:cNvSpPr/>
          <p:nvPr/>
        </p:nvSpPr>
        <p:spPr>
          <a:xfrm>
            <a:off x="3630168" y="3244291"/>
            <a:ext cx="548640" cy="201168"/>
          </a:xfrm>
          <a:prstGeom prst="rect">
            <a:avLst/>
          </a:prstGeom>
          <a:noFill/>
          <a:ln/>
        </p:spPr>
        <p:txBody>
          <a:bodyPr wrap="square" rtlCol="0" anchor="ctr"/>
          <a:lstStyle/>
          <a:p>
            <a:pPr algn="ctr" indent="0" marL="0">
              <a:buNone/>
            </a:pPr>
            <a:r>
              <a:rPr lang="en-US" sz="850" dirty="0">
                <a:solidFill>
                  <a:srgbClr val="185FA5"/>
                </a:solidFill>
              </a:rPr>
              <a:t>8%</a:t>
            </a:r>
            <a:endParaRPr lang="en-US" sz="850" dirty="0"/>
          </a:p>
        </p:txBody>
      </p:sp>
      <p:sp>
        <p:nvSpPr>
          <p:cNvPr id="43" name="Text 41"/>
          <p:cNvSpPr/>
          <p:nvPr/>
        </p:nvSpPr>
        <p:spPr>
          <a:xfrm>
            <a:off x="3630168" y="3511296"/>
            <a:ext cx="548640" cy="201168"/>
          </a:xfrm>
          <a:prstGeom prst="rect">
            <a:avLst/>
          </a:prstGeom>
          <a:noFill/>
          <a:ln/>
        </p:spPr>
        <p:txBody>
          <a:bodyPr wrap="square" rtlCol="0" anchor="ctr"/>
          <a:lstStyle/>
          <a:p>
            <a:pPr algn="ctr" indent="0" marL="0">
              <a:buNone/>
            </a:pPr>
            <a:r>
              <a:rPr lang="en-US" sz="850" dirty="0">
                <a:solidFill>
                  <a:srgbClr val="4B5563"/>
                </a:solidFill>
              </a:rPr>
              <a:t>bank</a:t>
            </a:r>
            <a:endParaRPr lang="en-US" sz="850" dirty="0"/>
          </a:p>
        </p:txBody>
      </p:sp>
      <p:sp>
        <p:nvSpPr>
          <p:cNvPr id="44" name="Shape 42"/>
          <p:cNvSpPr/>
          <p:nvPr/>
        </p:nvSpPr>
        <p:spPr>
          <a:xfrm>
            <a:off x="475488" y="3803904"/>
            <a:ext cx="3840480" cy="274320"/>
          </a:xfrm>
          <a:prstGeom prst="roundRect">
            <a:avLst>
              <a:gd name="adj" fmla="val 16667"/>
            </a:avLst>
          </a:prstGeom>
          <a:solidFill>
            <a:srgbClr val="0F6E56"/>
          </a:solidFill>
          <a:ln w="12700">
            <a:solidFill>
              <a:srgbClr val="0F6E56"/>
            </a:solidFill>
            <a:prstDash val="solid"/>
          </a:ln>
        </p:spPr>
      </p:sp>
      <p:sp>
        <p:nvSpPr>
          <p:cNvPr id="45" name="Text 43"/>
          <p:cNvSpPr/>
          <p:nvPr/>
        </p:nvSpPr>
        <p:spPr>
          <a:xfrm>
            <a:off x="475488" y="3803904"/>
            <a:ext cx="3840480" cy="274320"/>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bank → money へ 68% 集中 → 「銀行」の意味に収束</a:t>
            </a:r>
            <a:endParaRPr lang="en-US" sz="950" dirty="0"/>
          </a:p>
        </p:txBody>
      </p:sp>
      <p:sp>
        <p:nvSpPr>
          <p:cNvPr id="46" name="Shape 44"/>
          <p:cNvSpPr/>
          <p:nvPr/>
        </p:nvSpPr>
        <p:spPr>
          <a:xfrm>
            <a:off x="4663440" y="1389888"/>
            <a:ext cx="4114800" cy="2834640"/>
          </a:xfrm>
          <a:prstGeom prst="rect">
            <a:avLst/>
          </a:prstGeom>
          <a:solidFill>
            <a:srgbClr val="E1F5EE"/>
          </a:solidFill>
          <a:ln w="6350">
            <a:solidFill>
              <a:srgbClr val="0F6E56"/>
            </a:solidFill>
            <a:prstDash val="solid"/>
          </a:ln>
        </p:spPr>
      </p:sp>
      <p:sp>
        <p:nvSpPr>
          <p:cNvPr id="47" name="Shape 45"/>
          <p:cNvSpPr/>
          <p:nvPr/>
        </p:nvSpPr>
        <p:spPr>
          <a:xfrm>
            <a:off x="4663440" y="1389888"/>
            <a:ext cx="4114800" cy="36576"/>
          </a:xfrm>
          <a:prstGeom prst="rect">
            <a:avLst/>
          </a:prstGeom>
          <a:solidFill>
            <a:srgbClr val="0F6E56"/>
          </a:solidFill>
          <a:ln w="12700">
            <a:solidFill>
              <a:srgbClr val="0F6E56"/>
            </a:solidFill>
            <a:prstDash val="solid"/>
          </a:ln>
        </p:spPr>
      </p:sp>
      <p:sp>
        <p:nvSpPr>
          <p:cNvPr id="48" name="Text 46"/>
          <p:cNvSpPr/>
          <p:nvPr/>
        </p:nvSpPr>
        <p:spPr>
          <a:xfrm>
            <a:off x="4791456" y="1444752"/>
            <a:ext cx="3840480" cy="329184"/>
          </a:xfrm>
          <a:prstGeom prst="rect">
            <a:avLst/>
          </a:prstGeom>
          <a:noFill/>
          <a:ln/>
        </p:spPr>
        <p:txBody>
          <a:bodyPr wrap="square" rtlCol="0" anchor="ctr"/>
          <a:lstStyle/>
          <a:p>
            <a:pPr indent="0" marL="0">
              <a:buNone/>
            </a:pPr>
            <a:r>
              <a:rPr lang="en-US" sz="1300" b="1" dirty="0">
                <a:solidFill>
                  <a:srgbClr val="0F6E56"/>
                </a:solidFill>
              </a:rPr>
              <a:t>例2：川の bank</a:t>
            </a:r>
            <a:endParaRPr lang="en-US" sz="1300" dirty="0"/>
          </a:p>
        </p:txBody>
      </p:sp>
      <p:sp>
        <p:nvSpPr>
          <p:cNvPr id="49" name="Text 47"/>
          <p:cNvSpPr/>
          <p:nvPr/>
        </p:nvSpPr>
        <p:spPr>
          <a:xfrm>
            <a:off x="4791456" y="1810512"/>
            <a:ext cx="3840480" cy="292608"/>
          </a:xfrm>
          <a:prstGeom prst="rect">
            <a:avLst/>
          </a:prstGeom>
          <a:noFill/>
          <a:ln/>
        </p:spPr>
        <p:txBody>
          <a:bodyPr wrap="square" rtlCol="0" anchor="ctr"/>
          <a:lstStyle/>
          <a:p>
            <a:pPr algn="ctr" indent="0" marL="0">
              <a:buNone/>
            </a:pPr>
            <a:r>
              <a:rPr lang="en-US" sz="1150" dirty="0">
                <a:solidFill>
                  <a:srgbClr val="1F2937"/>
                </a:solidFill>
                <a:latin typeface="Consolas" pitchFamily="34" charset="0"/>
                <a:ea typeface="Consolas" pitchFamily="34" charset="-122"/>
                <a:cs typeface="Consolas" pitchFamily="34" charset="-120"/>
              </a:rPr>
              <a:t>I sat near the river bank</a:t>
            </a:r>
            <a:endParaRPr lang="en-US" sz="1150" dirty="0"/>
          </a:p>
        </p:txBody>
      </p:sp>
      <p:sp>
        <p:nvSpPr>
          <p:cNvPr id="50" name="Shape 48"/>
          <p:cNvSpPr/>
          <p:nvPr/>
        </p:nvSpPr>
        <p:spPr>
          <a:xfrm>
            <a:off x="4791456" y="2212848"/>
            <a:ext cx="548640" cy="292608"/>
          </a:xfrm>
          <a:prstGeom prst="roundRect">
            <a:avLst>
              <a:gd name="adj" fmla="val 15625"/>
            </a:avLst>
          </a:prstGeom>
          <a:solidFill>
            <a:srgbClr val="6B7280"/>
          </a:solidFill>
          <a:ln w="12700">
            <a:solidFill>
              <a:srgbClr val="6B7280"/>
            </a:solidFill>
            <a:prstDash val="solid"/>
          </a:ln>
        </p:spPr>
      </p:sp>
      <p:sp>
        <p:nvSpPr>
          <p:cNvPr id="51" name="Text 49"/>
          <p:cNvSpPr/>
          <p:nvPr/>
        </p:nvSpPr>
        <p:spPr>
          <a:xfrm>
            <a:off x="4791456" y="2212848"/>
            <a:ext cx="548640" cy="292608"/>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I</a:t>
            </a:r>
            <a:endParaRPr lang="en-US" sz="950" dirty="0"/>
          </a:p>
        </p:txBody>
      </p:sp>
      <p:sp>
        <p:nvSpPr>
          <p:cNvPr id="52" name="Shape 50"/>
          <p:cNvSpPr/>
          <p:nvPr/>
        </p:nvSpPr>
        <p:spPr>
          <a:xfrm>
            <a:off x="5422392" y="2212848"/>
            <a:ext cx="548640" cy="292608"/>
          </a:xfrm>
          <a:prstGeom prst="roundRect">
            <a:avLst>
              <a:gd name="adj" fmla="val 15625"/>
            </a:avLst>
          </a:prstGeom>
          <a:solidFill>
            <a:srgbClr val="6B7280"/>
          </a:solidFill>
          <a:ln w="12700">
            <a:solidFill>
              <a:srgbClr val="6B7280"/>
            </a:solidFill>
            <a:prstDash val="solid"/>
          </a:ln>
        </p:spPr>
      </p:sp>
      <p:sp>
        <p:nvSpPr>
          <p:cNvPr id="53" name="Text 51"/>
          <p:cNvSpPr/>
          <p:nvPr/>
        </p:nvSpPr>
        <p:spPr>
          <a:xfrm>
            <a:off x="5422392" y="2212848"/>
            <a:ext cx="548640" cy="292608"/>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sat</a:t>
            </a:r>
            <a:endParaRPr lang="en-US" sz="950" dirty="0"/>
          </a:p>
        </p:txBody>
      </p:sp>
      <p:sp>
        <p:nvSpPr>
          <p:cNvPr id="54" name="Shape 52"/>
          <p:cNvSpPr/>
          <p:nvPr/>
        </p:nvSpPr>
        <p:spPr>
          <a:xfrm>
            <a:off x="6053328" y="2212848"/>
            <a:ext cx="548640" cy="292608"/>
          </a:xfrm>
          <a:prstGeom prst="roundRect">
            <a:avLst>
              <a:gd name="adj" fmla="val 15625"/>
            </a:avLst>
          </a:prstGeom>
          <a:solidFill>
            <a:srgbClr val="6B7280"/>
          </a:solidFill>
          <a:ln w="12700">
            <a:solidFill>
              <a:srgbClr val="6B7280"/>
            </a:solidFill>
            <a:prstDash val="solid"/>
          </a:ln>
        </p:spPr>
      </p:sp>
      <p:sp>
        <p:nvSpPr>
          <p:cNvPr id="55" name="Text 53"/>
          <p:cNvSpPr/>
          <p:nvPr/>
        </p:nvSpPr>
        <p:spPr>
          <a:xfrm>
            <a:off x="6053328" y="2212848"/>
            <a:ext cx="548640" cy="292608"/>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near</a:t>
            </a:r>
            <a:endParaRPr lang="en-US" sz="950" dirty="0"/>
          </a:p>
        </p:txBody>
      </p:sp>
      <p:sp>
        <p:nvSpPr>
          <p:cNvPr id="56" name="Shape 54"/>
          <p:cNvSpPr/>
          <p:nvPr/>
        </p:nvSpPr>
        <p:spPr>
          <a:xfrm>
            <a:off x="6684264" y="2212848"/>
            <a:ext cx="548640" cy="292608"/>
          </a:xfrm>
          <a:prstGeom prst="roundRect">
            <a:avLst>
              <a:gd name="adj" fmla="val 15625"/>
            </a:avLst>
          </a:prstGeom>
          <a:solidFill>
            <a:srgbClr val="6B7280"/>
          </a:solidFill>
          <a:ln w="12700">
            <a:solidFill>
              <a:srgbClr val="6B7280"/>
            </a:solidFill>
            <a:prstDash val="solid"/>
          </a:ln>
        </p:spPr>
      </p:sp>
      <p:sp>
        <p:nvSpPr>
          <p:cNvPr id="57" name="Text 55"/>
          <p:cNvSpPr/>
          <p:nvPr/>
        </p:nvSpPr>
        <p:spPr>
          <a:xfrm>
            <a:off x="6684264" y="2212848"/>
            <a:ext cx="548640" cy="292608"/>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the</a:t>
            </a:r>
            <a:endParaRPr lang="en-US" sz="950" dirty="0"/>
          </a:p>
        </p:txBody>
      </p:sp>
      <p:sp>
        <p:nvSpPr>
          <p:cNvPr id="58" name="Shape 56"/>
          <p:cNvSpPr/>
          <p:nvPr/>
        </p:nvSpPr>
        <p:spPr>
          <a:xfrm>
            <a:off x="7315200" y="2212848"/>
            <a:ext cx="548640" cy="292608"/>
          </a:xfrm>
          <a:prstGeom prst="roundRect">
            <a:avLst>
              <a:gd name="adj" fmla="val 15625"/>
            </a:avLst>
          </a:prstGeom>
          <a:solidFill>
            <a:srgbClr val="0F6E56"/>
          </a:solidFill>
          <a:ln w="12700">
            <a:solidFill>
              <a:srgbClr val="0F6E56"/>
            </a:solidFill>
            <a:prstDash val="solid"/>
          </a:ln>
        </p:spPr>
      </p:sp>
      <p:sp>
        <p:nvSpPr>
          <p:cNvPr id="59" name="Text 57"/>
          <p:cNvSpPr/>
          <p:nvPr/>
        </p:nvSpPr>
        <p:spPr>
          <a:xfrm>
            <a:off x="7315200" y="2212848"/>
            <a:ext cx="548640" cy="292608"/>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river</a:t>
            </a:r>
            <a:endParaRPr lang="en-US" sz="950" dirty="0"/>
          </a:p>
        </p:txBody>
      </p:sp>
      <p:sp>
        <p:nvSpPr>
          <p:cNvPr id="60" name="Shape 58"/>
          <p:cNvSpPr/>
          <p:nvPr/>
        </p:nvSpPr>
        <p:spPr>
          <a:xfrm>
            <a:off x="7946136" y="2212848"/>
            <a:ext cx="548640" cy="292608"/>
          </a:xfrm>
          <a:prstGeom prst="roundRect">
            <a:avLst>
              <a:gd name="adj" fmla="val 15625"/>
            </a:avLst>
          </a:prstGeom>
          <a:solidFill>
            <a:srgbClr val="185FA5"/>
          </a:solidFill>
          <a:ln w="12700">
            <a:solidFill>
              <a:srgbClr val="185FA5"/>
            </a:solidFill>
            <a:prstDash val="solid"/>
          </a:ln>
        </p:spPr>
      </p:sp>
      <p:sp>
        <p:nvSpPr>
          <p:cNvPr id="61" name="Text 59"/>
          <p:cNvSpPr/>
          <p:nvPr/>
        </p:nvSpPr>
        <p:spPr>
          <a:xfrm>
            <a:off x="7946136" y="2212848"/>
            <a:ext cx="548640" cy="292608"/>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bank</a:t>
            </a:r>
            <a:endParaRPr lang="en-US" sz="950" dirty="0"/>
          </a:p>
        </p:txBody>
      </p:sp>
      <p:sp>
        <p:nvSpPr>
          <p:cNvPr id="62" name="Shape 60"/>
          <p:cNvSpPr/>
          <p:nvPr/>
        </p:nvSpPr>
        <p:spPr>
          <a:xfrm>
            <a:off x="7589520" y="2542032"/>
            <a:ext cx="630936" cy="0"/>
          </a:xfrm>
          <a:prstGeom prst="line">
            <a:avLst/>
          </a:prstGeom>
          <a:noFill/>
          <a:ln w="25400">
            <a:solidFill>
              <a:srgbClr val="0F6E56"/>
            </a:solidFill>
            <a:prstDash val="solid"/>
          </a:ln>
        </p:spPr>
      </p:sp>
      <p:sp>
        <p:nvSpPr>
          <p:cNvPr id="63" name="Shape 61"/>
          <p:cNvSpPr/>
          <p:nvPr/>
        </p:nvSpPr>
        <p:spPr>
          <a:xfrm>
            <a:off x="7589520" y="2542032"/>
            <a:ext cx="0" cy="201168"/>
          </a:xfrm>
          <a:prstGeom prst="line">
            <a:avLst/>
          </a:prstGeom>
          <a:noFill/>
          <a:ln w="25400">
            <a:solidFill>
              <a:srgbClr val="0F6E56"/>
            </a:solidFill>
            <a:prstDash val="solid"/>
          </a:ln>
        </p:spPr>
      </p:sp>
      <p:sp>
        <p:nvSpPr>
          <p:cNvPr id="64" name="Shape 62"/>
          <p:cNvSpPr/>
          <p:nvPr/>
        </p:nvSpPr>
        <p:spPr>
          <a:xfrm>
            <a:off x="8220456" y="2542032"/>
            <a:ext cx="0" cy="201168"/>
          </a:xfrm>
          <a:prstGeom prst="line">
            <a:avLst/>
          </a:prstGeom>
          <a:noFill/>
          <a:ln w="25400">
            <a:solidFill>
              <a:srgbClr val="0F6E56"/>
            </a:solidFill>
            <a:prstDash val="solid"/>
          </a:ln>
        </p:spPr>
      </p:sp>
      <p:sp>
        <p:nvSpPr>
          <p:cNvPr id="65" name="Shape 63"/>
          <p:cNvSpPr/>
          <p:nvPr/>
        </p:nvSpPr>
        <p:spPr>
          <a:xfrm>
            <a:off x="4828032" y="3475177"/>
            <a:ext cx="475488" cy="17831"/>
          </a:xfrm>
          <a:prstGeom prst="rect">
            <a:avLst/>
          </a:prstGeom>
          <a:solidFill>
            <a:srgbClr val="E5E7EB"/>
          </a:solidFill>
          <a:ln w="12700">
            <a:solidFill>
              <a:srgbClr val="E5E7EB"/>
            </a:solidFill>
            <a:prstDash val="solid"/>
          </a:ln>
        </p:spPr>
      </p:sp>
      <p:sp>
        <p:nvSpPr>
          <p:cNvPr id="66" name="Text 64"/>
          <p:cNvSpPr/>
          <p:nvPr/>
        </p:nvSpPr>
        <p:spPr>
          <a:xfrm>
            <a:off x="4791456" y="3274009"/>
            <a:ext cx="548640" cy="201168"/>
          </a:xfrm>
          <a:prstGeom prst="rect">
            <a:avLst/>
          </a:prstGeom>
          <a:noFill/>
          <a:ln/>
        </p:spPr>
        <p:txBody>
          <a:bodyPr wrap="square" rtlCol="0" anchor="ctr"/>
          <a:lstStyle/>
          <a:p>
            <a:pPr algn="ctr" indent="0" marL="0">
              <a:buNone/>
            </a:pPr>
            <a:r>
              <a:rPr lang="en-US" sz="850" dirty="0">
                <a:solidFill>
                  <a:srgbClr val="E5E7EB"/>
                </a:solidFill>
              </a:rPr>
              <a:t>3%</a:t>
            </a:r>
            <a:endParaRPr lang="en-US" sz="850" dirty="0"/>
          </a:p>
        </p:txBody>
      </p:sp>
      <p:sp>
        <p:nvSpPr>
          <p:cNvPr id="67" name="Text 65"/>
          <p:cNvSpPr/>
          <p:nvPr/>
        </p:nvSpPr>
        <p:spPr>
          <a:xfrm>
            <a:off x="4791456" y="3511296"/>
            <a:ext cx="548640" cy="201168"/>
          </a:xfrm>
          <a:prstGeom prst="rect">
            <a:avLst/>
          </a:prstGeom>
          <a:noFill/>
          <a:ln/>
        </p:spPr>
        <p:txBody>
          <a:bodyPr wrap="square" rtlCol="0" anchor="ctr"/>
          <a:lstStyle/>
          <a:p>
            <a:pPr algn="ctr" indent="0" marL="0">
              <a:buNone/>
            </a:pPr>
            <a:r>
              <a:rPr lang="en-US" sz="850" dirty="0">
                <a:solidFill>
                  <a:srgbClr val="4B5563"/>
                </a:solidFill>
              </a:rPr>
              <a:t>I</a:t>
            </a:r>
            <a:endParaRPr lang="en-US" sz="850" dirty="0"/>
          </a:p>
        </p:txBody>
      </p:sp>
      <p:sp>
        <p:nvSpPr>
          <p:cNvPr id="68" name="Shape 66"/>
          <p:cNvSpPr/>
          <p:nvPr/>
        </p:nvSpPr>
        <p:spPr>
          <a:xfrm>
            <a:off x="5458968" y="3457346"/>
            <a:ext cx="475488" cy="35662"/>
          </a:xfrm>
          <a:prstGeom prst="rect">
            <a:avLst/>
          </a:prstGeom>
          <a:solidFill>
            <a:srgbClr val="E5E7EB"/>
          </a:solidFill>
          <a:ln w="12700">
            <a:solidFill>
              <a:srgbClr val="E5E7EB"/>
            </a:solidFill>
            <a:prstDash val="solid"/>
          </a:ln>
        </p:spPr>
      </p:sp>
      <p:sp>
        <p:nvSpPr>
          <p:cNvPr id="69" name="Text 67"/>
          <p:cNvSpPr/>
          <p:nvPr/>
        </p:nvSpPr>
        <p:spPr>
          <a:xfrm>
            <a:off x="5422392" y="3256178"/>
            <a:ext cx="548640" cy="201168"/>
          </a:xfrm>
          <a:prstGeom prst="rect">
            <a:avLst/>
          </a:prstGeom>
          <a:noFill/>
          <a:ln/>
        </p:spPr>
        <p:txBody>
          <a:bodyPr wrap="square" rtlCol="0" anchor="ctr"/>
          <a:lstStyle/>
          <a:p>
            <a:pPr algn="ctr" indent="0" marL="0">
              <a:buNone/>
            </a:pPr>
            <a:r>
              <a:rPr lang="en-US" sz="850" dirty="0">
                <a:solidFill>
                  <a:srgbClr val="E5E7EB"/>
                </a:solidFill>
              </a:rPr>
              <a:t>6%</a:t>
            </a:r>
            <a:endParaRPr lang="en-US" sz="850" dirty="0"/>
          </a:p>
        </p:txBody>
      </p:sp>
      <p:sp>
        <p:nvSpPr>
          <p:cNvPr id="70" name="Text 68"/>
          <p:cNvSpPr/>
          <p:nvPr/>
        </p:nvSpPr>
        <p:spPr>
          <a:xfrm>
            <a:off x="5422392" y="3511296"/>
            <a:ext cx="548640" cy="201168"/>
          </a:xfrm>
          <a:prstGeom prst="rect">
            <a:avLst/>
          </a:prstGeom>
          <a:noFill/>
          <a:ln/>
        </p:spPr>
        <p:txBody>
          <a:bodyPr wrap="square" rtlCol="0" anchor="ctr"/>
          <a:lstStyle/>
          <a:p>
            <a:pPr algn="ctr" indent="0" marL="0">
              <a:buNone/>
            </a:pPr>
            <a:r>
              <a:rPr lang="en-US" sz="850" dirty="0">
                <a:solidFill>
                  <a:srgbClr val="4B5563"/>
                </a:solidFill>
              </a:rPr>
              <a:t>sat</a:t>
            </a:r>
            <a:endParaRPr lang="en-US" sz="850" dirty="0"/>
          </a:p>
        </p:txBody>
      </p:sp>
      <p:sp>
        <p:nvSpPr>
          <p:cNvPr id="71" name="Shape 69"/>
          <p:cNvSpPr/>
          <p:nvPr/>
        </p:nvSpPr>
        <p:spPr>
          <a:xfrm>
            <a:off x="6089904" y="3457346"/>
            <a:ext cx="475488" cy="35662"/>
          </a:xfrm>
          <a:prstGeom prst="rect">
            <a:avLst/>
          </a:prstGeom>
          <a:solidFill>
            <a:srgbClr val="E5E7EB"/>
          </a:solidFill>
          <a:ln w="12700">
            <a:solidFill>
              <a:srgbClr val="E5E7EB"/>
            </a:solidFill>
            <a:prstDash val="solid"/>
          </a:ln>
        </p:spPr>
      </p:sp>
      <p:sp>
        <p:nvSpPr>
          <p:cNvPr id="72" name="Text 70"/>
          <p:cNvSpPr/>
          <p:nvPr/>
        </p:nvSpPr>
        <p:spPr>
          <a:xfrm>
            <a:off x="6053328" y="3256178"/>
            <a:ext cx="548640" cy="201168"/>
          </a:xfrm>
          <a:prstGeom prst="rect">
            <a:avLst/>
          </a:prstGeom>
          <a:noFill/>
          <a:ln/>
        </p:spPr>
        <p:txBody>
          <a:bodyPr wrap="square" rtlCol="0" anchor="ctr"/>
          <a:lstStyle/>
          <a:p>
            <a:pPr algn="ctr" indent="0" marL="0">
              <a:buNone/>
            </a:pPr>
            <a:r>
              <a:rPr lang="en-US" sz="850" dirty="0">
                <a:solidFill>
                  <a:srgbClr val="E5E7EB"/>
                </a:solidFill>
              </a:rPr>
              <a:t>6%</a:t>
            </a:r>
            <a:endParaRPr lang="en-US" sz="850" dirty="0"/>
          </a:p>
        </p:txBody>
      </p:sp>
      <p:sp>
        <p:nvSpPr>
          <p:cNvPr id="73" name="Text 71"/>
          <p:cNvSpPr/>
          <p:nvPr/>
        </p:nvSpPr>
        <p:spPr>
          <a:xfrm>
            <a:off x="6053328" y="3511296"/>
            <a:ext cx="548640" cy="201168"/>
          </a:xfrm>
          <a:prstGeom prst="rect">
            <a:avLst/>
          </a:prstGeom>
          <a:noFill/>
          <a:ln/>
        </p:spPr>
        <p:txBody>
          <a:bodyPr wrap="square" rtlCol="0" anchor="ctr"/>
          <a:lstStyle/>
          <a:p>
            <a:pPr algn="ctr" indent="0" marL="0">
              <a:buNone/>
            </a:pPr>
            <a:r>
              <a:rPr lang="en-US" sz="850" dirty="0">
                <a:solidFill>
                  <a:srgbClr val="4B5563"/>
                </a:solidFill>
              </a:rPr>
              <a:t>near</a:t>
            </a:r>
            <a:endParaRPr lang="en-US" sz="850" dirty="0"/>
          </a:p>
        </p:txBody>
      </p:sp>
      <p:sp>
        <p:nvSpPr>
          <p:cNvPr id="74" name="Shape 72"/>
          <p:cNvSpPr/>
          <p:nvPr/>
        </p:nvSpPr>
        <p:spPr>
          <a:xfrm>
            <a:off x="6720840" y="3469234"/>
            <a:ext cx="475488" cy="23774"/>
          </a:xfrm>
          <a:prstGeom prst="rect">
            <a:avLst/>
          </a:prstGeom>
          <a:solidFill>
            <a:srgbClr val="E5E7EB"/>
          </a:solidFill>
          <a:ln w="12700">
            <a:solidFill>
              <a:srgbClr val="E5E7EB"/>
            </a:solidFill>
            <a:prstDash val="solid"/>
          </a:ln>
        </p:spPr>
      </p:sp>
      <p:sp>
        <p:nvSpPr>
          <p:cNvPr id="75" name="Text 73"/>
          <p:cNvSpPr/>
          <p:nvPr/>
        </p:nvSpPr>
        <p:spPr>
          <a:xfrm>
            <a:off x="6684264" y="3268066"/>
            <a:ext cx="548640" cy="201168"/>
          </a:xfrm>
          <a:prstGeom prst="rect">
            <a:avLst/>
          </a:prstGeom>
          <a:noFill/>
          <a:ln/>
        </p:spPr>
        <p:txBody>
          <a:bodyPr wrap="square" rtlCol="0" anchor="ctr"/>
          <a:lstStyle/>
          <a:p>
            <a:pPr algn="ctr" indent="0" marL="0">
              <a:buNone/>
            </a:pPr>
            <a:r>
              <a:rPr lang="en-US" sz="850" dirty="0">
                <a:solidFill>
                  <a:srgbClr val="E5E7EB"/>
                </a:solidFill>
              </a:rPr>
              <a:t>4%</a:t>
            </a:r>
            <a:endParaRPr lang="en-US" sz="850" dirty="0"/>
          </a:p>
        </p:txBody>
      </p:sp>
      <p:sp>
        <p:nvSpPr>
          <p:cNvPr id="76" name="Text 74"/>
          <p:cNvSpPr/>
          <p:nvPr/>
        </p:nvSpPr>
        <p:spPr>
          <a:xfrm>
            <a:off x="6684264" y="3511296"/>
            <a:ext cx="548640" cy="201168"/>
          </a:xfrm>
          <a:prstGeom prst="rect">
            <a:avLst/>
          </a:prstGeom>
          <a:noFill/>
          <a:ln/>
        </p:spPr>
        <p:txBody>
          <a:bodyPr wrap="square" rtlCol="0" anchor="ctr"/>
          <a:lstStyle/>
          <a:p>
            <a:pPr algn="ctr" indent="0" marL="0">
              <a:buNone/>
            </a:pPr>
            <a:r>
              <a:rPr lang="en-US" sz="850" dirty="0">
                <a:solidFill>
                  <a:srgbClr val="4B5563"/>
                </a:solidFill>
              </a:rPr>
              <a:t>the</a:t>
            </a:r>
            <a:endParaRPr lang="en-US" sz="850" dirty="0"/>
          </a:p>
        </p:txBody>
      </p:sp>
      <p:sp>
        <p:nvSpPr>
          <p:cNvPr id="77" name="Shape 75"/>
          <p:cNvSpPr/>
          <p:nvPr/>
        </p:nvSpPr>
        <p:spPr>
          <a:xfrm>
            <a:off x="7351776" y="3053182"/>
            <a:ext cx="475488" cy="439826"/>
          </a:xfrm>
          <a:prstGeom prst="rect">
            <a:avLst/>
          </a:prstGeom>
          <a:solidFill>
            <a:srgbClr val="0F6E56"/>
          </a:solidFill>
          <a:ln w="12700">
            <a:solidFill>
              <a:srgbClr val="0F6E56"/>
            </a:solidFill>
            <a:prstDash val="solid"/>
          </a:ln>
        </p:spPr>
      </p:sp>
      <p:sp>
        <p:nvSpPr>
          <p:cNvPr id="78" name="Text 76"/>
          <p:cNvSpPr/>
          <p:nvPr/>
        </p:nvSpPr>
        <p:spPr>
          <a:xfrm>
            <a:off x="7315200" y="2852014"/>
            <a:ext cx="548640" cy="201168"/>
          </a:xfrm>
          <a:prstGeom prst="rect">
            <a:avLst/>
          </a:prstGeom>
          <a:noFill/>
          <a:ln/>
        </p:spPr>
        <p:txBody>
          <a:bodyPr wrap="square" rtlCol="0" anchor="ctr"/>
          <a:lstStyle/>
          <a:p>
            <a:pPr algn="ctr" indent="0" marL="0">
              <a:buNone/>
            </a:pPr>
            <a:r>
              <a:rPr lang="en-US" sz="850" b="1" dirty="0">
                <a:solidFill>
                  <a:srgbClr val="0F6E56"/>
                </a:solidFill>
              </a:rPr>
              <a:t>74%</a:t>
            </a:r>
            <a:endParaRPr lang="en-US" sz="850" dirty="0"/>
          </a:p>
        </p:txBody>
      </p:sp>
      <p:sp>
        <p:nvSpPr>
          <p:cNvPr id="79" name="Text 77"/>
          <p:cNvSpPr/>
          <p:nvPr/>
        </p:nvSpPr>
        <p:spPr>
          <a:xfrm>
            <a:off x="7315200" y="3511296"/>
            <a:ext cx="548640" cy="201168"/>
          </a:xfrm>
          <a:prstGeom prst="rect">
            <a:avLst/>
          </a:prstGeom>
          <a:noFill/>
          <a:ln/>
        </p:spPr>
        <p:txBody>
          <a:bodyPr wrap="square" rtlCol="0" anchor="ctr"/>
          <a:lstStyle/>
          <a:p>
            <a:pPr algn="ctr" indent="0" marL="0">
              <a:buNone/>
            </a:pPr>
            <a:r>
              <a:rPr lang="en-US" sz="850" dirty="0">
                <a:solidFill>
                  <a:srgbClr val="4B5563"/>
                </a:solidFill>
              </a:rPr>
              <a:t>river</a:t>
            </a:r>
            <a:endParaRPr lang="en-US" sz="850" dirty="0"/>
          </a:p>
        </p:txBody>
      </p:sp>
      <p:sp>
        <p:nvSpPr>
          <p:cNvPr id="80" name="Shape 78"/>
          <p:cNvSpPr/>
          <p:nvPr/>
        </p:nvSpPr>
        <p:spPr>
          <a:xfrm>
            <a:off x="7982712" y="3451403"/>
            <a:ext cx="475488" cy="41605"/>
          </a:xfrm>
          <a:prstGeom prst="rect">
            <a:avLst/>
          </a:prstGeom>
          <a:solidFill>
            <a:srgbClr val="185FA5"/>
          </a:solidFill>
          <a:ln w="12700">
            <a:solidFill>
              <a:srgbClr val="185FA5"/>
            </a:solidFill>
            <a:prstDash val="solid"/>
          </a:ln>
        </p:spPr>
      </p:sp>
      <p:sp>
        <p:nvSpPr>
          <p:cNvPr id="81" name="Text 79"/>
          <p:cNvSpPr/>
          <p:nvPr/>
        </p:nvSpPr>
        <p:spPr>
          <a:xfrm>
            <a:off x="7946136" y="3250235"/>
            <a:ext cx="548640" cy="201168"/>
          </a:xfrm>
          <a:prstGeom prst="rect">
            <a:avLst/>
          </a:prstGeom>
          <a:noFill/>
          <a:ln/>
        </p:spPr>
        <p:txBody>
          <a:bodyPr wrap="square" rtlCol="0" anchor="ctr"/>
          <a:lstStyle/>
          <a:p>
            <a:pPr algn="ctr" indent="0" marL="0">
              <a:buNone/>
            </a:pPr>
            <a:r>
              <a:rPr lang="en-US" sz="850" dirty="0">
                <a:solidFill>
                  <a:srgbClr val="185FA5"/>
                </a:solidFill>
              </a:rPr>
              <a:t>7%</a:t>
            </a:r>
            <a:endParaRPr lang="en-US" sz="850" dirty="0"/>
          </a:p>
        </p:txBody>
      </p:sp>
      <p:sp>
        <p:nvSpPr>
          <p:cNvPr id="82" name="Text 80"/>
          <p:cNvSpPr/>
          <p:nvPr/>
        </p:nvSpPr>
        <p:spPr>
          <a:xfrm>
            <a:off x="7946136" y="3511296"/>
            <a:ext cx="548640" cy="201168"/>
          </a:xfrm>
          <a:prstGeom prst="rect">
            <a:avLst/>
          </a:prstGeom>
          <a:noFill/>
          <a:ln/>
        </p:spPr>
        <p:txBody>
          <a:bodyPr wrap="square" rtlCol="0" anchor="ctr"/>
          <a:lstStyle/>
          <a:p>
            <a:pPr algn="ctr" indent="0" marL="0">
              <a:buNone/>
            </a:pPr>
            <a:r>
              <a:rPr lang="en-US" sz="850" dirty="0">
                <a:solidFill>
                  <a:srgbClr val="4B5563"/>
                </a:solidFill>
              </a:rPr>
              <a:t>bank</a:t>
            </a:r>
            <a:endParaRPr lang="en-US" sz="850" dirty="0"/>
          </a:p>
        </p:txBody>
      </p:sp>
      <p:sp>
        <p:nvSpPr>
          <p:cNvPr id="83" name="Shape 81"/>
          <p:cNvSpPr/>
          <p:nvPr/>
        </p:nvSpPr>
        <p:spPr>
          <a:xfrm>
            <a:off x="4791456" y="3803904"/>
            <a:ext cx="3840480" cy="274320"/>
          </a:xfrm>
          <a:prstGeom prst="roundRect">
            <a:avLst>
              <a:gd name="adj" fmla="val 16667"/>
            </a:avLst>
          </a:prstGeom>
          <a:solidFill>
            <a:srgbClr val="0F6E56"/>
          </a:solidFill>
          <a:ln w="12700">
            <a:solidFill>
              <a:srgbClr val="0F6E56"/>
            </a:solidFill>
            <a:prstDash val="solid"/>
          </a:ln>
        </p:spPr>
      </p:sp>
      <p:sp>
        <p:nvSpPr>
          <p:cNvPr id="84" name="Text 82"/>
          <p:cNvSpPr/>
          <p:nvPr/>
        </p:nvSpPr>
        <p:spPr>
          <a:xfrm>
            <a:off x="4791456" y="3803904"/>
            <a:ext cx="3840480" cy="274320"/>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bank → river へ 74% 集中 → 「川岸」の意味に収束</a:t>
            </a:r>
            <a:endParaRPr lang="en-US" sz="950" dirty="0"/>
          </a:p>
        </p:txBody>
      </p:sp>
      <p:sp>
        <p:nvSpPr>
          <p:cNvPr id="85" name="Shape 83"/>
          <p:cNvSpPr/>
          <p:nvPr/>
        </p:nvSpPr>
        <p:spPr>
          <a:xfrm>
            <a:off x="347472" y="4169664"/>
            <a:ext cx="8430768" cy="530352"/>
          </a:xfrm>
          <a:prstGeom prst="roundRect">
            <a:avLst>
              <a:gd name="adj" fmla="val 10345"/>
            </a:avLst>
          </a:prstGeom>
          <a:solidFill>
            <a:srgbClr val="1A1A2E"/>
          </a:solidFill>
          <a:ln w="6350">
            <a:solidFill>
              <a:srgbClr val="534AB7"/>
            </a:solidFill>
            <a:prstDash val="solid"/>
          </a:ln>
        </p:spPr>
      </p:sp>
      <p:sp>
        <p:nvSpPr>
          <p:cNvPr id="86" name="Text 84"/>
          <p:cNvSpPr/>
          <p:nvPr/>
        </p:nvSpPr>
        <p:spPr>
          <a:xfrm>
            <a:off x="502920" y="4206240"/>
            <a:ext cx="8229600" cy="457200"/>
          </a:xfrm>
          <a:prstGeom prst="rect">
            <a:avLst/>
          </a:prstGeom>
          <a:noFill/>
          <a:ln/>
        </p:spPr>
        <p:txBody>
          <a:bodyPr wrap="square" rtlCol="0" anchor="ctr"/>
          <a:lstStyle/>
          <a:p>
            <a:pPr algn="ctr" indent="0" marL="0">
              <a:buNone/>
            </a:pPr>
            <a:r>
              <a:rPr lang="en-US" sz="1100" dirty="0">
                <a:solidFill>
                  <a:srgbClr val="A0A8C0"/>
                </a:solidFill>
              </a:rPr>
              <a:t xml:space="preserve">同じ「bank」でも </a:t>
            </a:r>
            <a:pPr algn="ctr" indent="0" marL="0">
              <a:buNone/>
            </a:pPr>
            <a:r>
              <a:rPr lang="en-US" sz="1100" b="1" dirty="0">
                <a:solidFill>
                  <a:srgbClr val="FFFFFF"/>
                </a:solidFill>
              </a:rPr>
              <a:t>参照する Key が変わる → 加重平均する Value が変わる → 出力ベクトルの意味が変わる</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18 / 28</a:t>
            </a:r>
            <a:endParaRPr lang="en-US" sz="900" dirty="0"/>
          </a:p>
        </p:txBody>
      </p:sp>
      <p:sp>
        <p:nvSpPr>
          <p:cNvPr id="3" name="Shape 1"/>
          <p:cNvSpPr/>
          <p:nvPr/>
        </p:nvSpPr>
        <p:spPr>
          <a:xfrm>
            <a:off x="347472" y="274320"/>
            <a:ext cx="54864" cy="475488"/>
          </a:xfrm>
          <a:prstGeom prst="rect">
            <a:avLst/>
          </a:prstGeom>
          <a:solidFill>
            <a:srgbClr val="D85A30"/>
          </a:solidFill>
          <a:ln w="12700">
            <a:solidFill>
              <a:srgbClr val="D85A30"/>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層を重ねると何が起きるか（一般的な傾向）</a:t>
            </a:r>
            <a:endParaRPr lang="en-US" sz="2000" dirty="0"/>
          </a:p>
        </p:txBody>
      </p:sp>
      <p:sp>
        <p:nvSpPr>
          <p:cNvPr id="5" name="Text 3"/>
          <p:cNvSpPr/>
          <p:nvPr/>
        </p:nvSpPr>
        <p:spPr>
          <a:xfrm>
            <a:off x="347472" y="932688"/>
            <a:ext cx="8430768" cy="310896"/>
          </a:xfrm>
          <a:prstGeom prst="rect">
            <a:avLst/>
          </a:prstGeom>
          <a:noFill/>
          <a:ln/>
        </p:spPr>
        <p:txBody>
          <a:bodyPr wrap="square" rtlCol="0" anchor="ctr"/>
          <a:lstStyle/>
          <a:p>
            <a:pPr indent="0" marL="0">
              <a:buNone/>
            </a:pPr>
            <a:r>
              <a:rPr lang="en-US" sz="1000" i="1" dirty="0">
                <a:solidFill>
                  <a:srgbClr val="4B5563"/>
                </a:solidFill>
              </a:rPr>
              <a:t>※ 以下は研究知見に基づく一般的な傾向。モデルサイズ・アーキテクチャ（GPT-2、Llama-3 70B、Gemma3 等）によって層ごとの役割は異なる。</a:t>
            </a:r>
            <a:endParaRPr lang="en-US" sz="1000" dirty="0"/>
          </a:p>
        </p:txBody>
      </p:sp>
      <p:sp>
        <p:nvSpPr>
          <p:cNvPr id="6" name="Shape 4"/>
          <p:cNvSpPr/>
          <p:nvPr/>
        </p:nvSpPr>
        <p:spPr>
          <a:xfrm>
            <a:off x="347472" y="1316736"/>
            <a:ext cx="4133088" cy="1865376"/>
          </a:xfrm>
          <a:prstGeom prst="rect">
            <a:avLst/>
          </a:prstGeom>
          <a:solidFill>
            <a:srgbClr val="E6F1FB"/>
          </a:solidFill>
          <a:ln w="6350">
            <a:solidFill>
              <a:srgbClr val="185FA5"/>
            </a:solidFill>
            <a:prstDash val="solid"/>
          </a:ln>
        </p:spPr>
      </p:sp>
      <p:sp>
        <p:nvSpPr>
          <p:cNvPr id="7" name="Shape 5"/>
          <p:cNvSpPr/>
          <p:nvPr/>
        </p:nvSpPr>
        <p:spPr>
          <a:xfrm>
            <a:off x="347472" y="1316736"/>
            <a:ext cx="4133088" cy="36576"/>
          </a:xfrm>
          <a:prstGeom prst="rect">
            <a:avLst/>
          </a:prstGeom>
          <a:solidFill>
            <a:srgbClr val="185FA5"/>
          </a:solidFill>
          <a:ln w="12700">
            <a:solidFill>
              <a:srgbClr val="185FA5"/>
            </a:solidFill>
            <a:prstDash val="solid"/>
          </a:ln>
        </p:spPr>
      </p:sp>
      <p:sp>
        <p:nvSpPr>
          <p:cNvPr id="8" name="Text 6"/>
          <p:cNvSpPr/>
          <p:nvPr/>
        </p:nvSpPr>
        <p:spPr>
          <a:xfrm>
            <a:off x="438912" y="1389888"/>
            <a:ext cx="3913632" cy="256032"/>
          </a:xfrm>
          <a:prstGeom prst="rect">
            <a:avLst/>
          </a:prstGeom>
          <a:noFill/>
          <a:ln/>
        </p:spPr>
        <p:txBody>
          <a:bodyPr wrap="square" rtlCol="0" anchor="ctr"/>
          <a:lstStyle/>
          <a:p>
            <a:pPr indent="0" marL="0">
              <a:buNone/>
            </a:pPr>
            <a:r>
              <a:rPr lang="en-US" sz="1000" b="1" dirty="0">
                <a:solidFill>
                  <a:srgbClr val="185FA5"/>
                </a:solidFill>
              </a:rPr>
              <a:t>浅い層（L1〜2）</a:t>
            </a:r>
            <a:endParaRPr lang="en-US" sz="1000" dirty="0"/>
          </a:p>
        </p:txBody>
      </p:sp>
      <p:sp>
        <p:nvSpPr>
          <p:cNvPr id="9" name="Text 7"/>
          <p:cNvSpPr/>
          <p:nvPr/>
        </p:nvSpPr>
        <p:spPr>
          <a:xfrm>
            <a:off x="438912" y="1664208"/>
            <a:ext cx="3913632" cy="329184"/>
          </a:xfrm>
          <a:prstGeom prst="rect">
            <a:avLst/>
          </a:prstGeom>
          <a:noFill/>
          <a:ln/>
        </p:spPr>
        <p:txBody>
          <a:bodyPr wrap="square" rtlCol="0" anchor="ctr"/>
          <a:lstStyle/>
          <a:p>
            <a:pPr indent="0" marL="0">
              <a:buNone/>
            </a:pPr>
            <a:r>
              <a:rPr lang="en-US" sz="1300" b="1" dirty="0">
                <a:solidFill>
                  <a:srgbClr val="1F2937"/>
                </a:solidFill>
              </a:rPr>
              <a:t>局所的な依存関係</a:t>
            </a:r>
            <a:endParaRPr lang="en-US" sz="1300" dirty="0"/>
          </a:p>
        </p:txBody>
      </p:sp>
      <p:sp>
        <p:nvSpPr>
          <p:cNvPr id="10" name="Text 8"/>
          <p:cNvSpPr/>
          <p:nvPr/>
        </p:nvSpPr>
        <p:spPr>
          <a:xfrm>
            <a:off x="438912" y="2011680"/>
            <a:ext cx="3913632" cy="621792"/>
          </a:xfrm>
          <a:prstGeom prst="rect">
            <a:avLst/>
          </a:prstGeom>
          <a:noFill/>
          <a:ln/>
        </p:spPr>
        <p:txBody>
          <a:bodyPr wrap="square" rtlCol="0" anchor="ctr"/>
          <a:lstStyle/>
          <a:p>
            <a:pPr indent="0" marL="0">
              <a:buNone/>
            </a:pPr>
            <a:r>
              <a:rPr lang="en-US" sz="1050" dirty="0">
                <a:solidFill>
                  <a:srgbClr val="4B5563"/>
                </a:solidFill>
              </a:rPr>
              <a:t>隣接する1〜2語の依存関係を捉える。CNNの「エッジ検出」に相当する初期特徴抽出。</a:t>
            </a:r>
            <a:endParaRPr lang="en-US" sz="1050" dirty="0"/>
          </a:p>
        </p:txBody>
      </p:sp>
      <p:sp>
        <p:nvSpPr>
          <p:cNvPr id="11" name="Shape 9"/>
          <p:cNvSpPr/>
          <p:nvPr/>
        </p:nvSpPr>
        <p:spPr>
          <a:xfrm>
            <a:off x="438912" y="2688336"/>
            <a:ext cx="713232" cy="237744"/>
          </a:xfrm>
          <a:prstGeom prst="roundRect">
            <a:avLst>
              <a:gd name="adj" fmla="val 15385"/>
            </a:avLst>
          </a:prstGeom>
          <a:solidFill>
            <a:srgbClr val="185FA5"/>
          </a:solidFill>
          <a:ln w="12700">
            <a:solidFill>
              <a:srgbClr val="185FA5"/>
            </a:solidFill>
            <a:prstDash val="solid"/>
          </a:ln>
        </p:spPr>
      </p:sp>
      <p:sp>
        <p:nvSpPr>
          <p:cNvPr id="12" name="Text 10"/>
          <p:cNvSpPr/>
          <p:nvPr/>
        </p:nvSpPr>
        <p:spPr>
          <a:xfrm>
            <a:off x="438912" y="2688336"/>
            <a:ext cx="713232" cy="237744"/>
          </a:xfrm>
          <a:prstGeom prst="rect">
            <a:avLst/>
          </a:prstGeom>
          <a:noFill/>
          <a:ln/>
        </p:spPr>
        <p:txBody>
          <a:bodyPr wrap="square" lIns="0" tIns="0" rIns="0" bIns="0" rtlCol="0" anchor="ctr"/>
          <a:lstStyle/>
          <a:p>
            <a:pPr algn="ctr" indent="0" marL="0">
              <a:buNone/>
            </a:pPr>
            <a:r>
              <a:rPr lang="en-US" sz="900" b="1" dirty="0">
                <a:solidFill>
                  <a:srgbClr val="FFFFFF"/>
                </a:solidFill>
              </a:rPr>
              <a:t>主語−動詞</a:t>
            </a:r>
            <a:endParaRPr lang="en-US" sz="900" dirty="0"/>
          </a:p>
        </p:txBody>
      </p:sp>
      <p:sp>
        <p:nvSpPr>
          <p:cNvPr id="13" name="Shape 11"/>
          <p:cNvSpPr/>
          <p:nvPr/>
        </p:nvSpPr>
        <p:spPr>
          <a:xfrm>
            <a:off x="1225296" y="2688336"/>
            <a:ext cx="713232" cy="237744"/>
          </a:xfrm>
          <a:prstGeom prst="roundRect">
            <a:avLst>
              <a:gd name="adj" fmla="val 15385"/>
            </a:avLst>
          </a:prstGeom>
          <a:solidFill>
            <a:srgbClr val="185FA5"/>
          </a:solidFill>
          <a:ln w="12700">
            <a:solidFill>
              <a:srgbClr val="185FA5"/>
            </a:solidFill>
            <a:prstDash val="solid"/>
          </a:ln>
        </p:spPr>
      </p:sp>
      <p:sp>
        <p:nvSpPr>
          <p:cNvPr id="14" name="Text 12"/>
          <p:cNvSpPr/>
          <p:nvPr/>
        </p:nvSpPr>
        <p:spPr>
          <a:xfrm>
            <a:off x="1225296" y="2688336"/>
            <a:ext cx="713232" cy="237744"/>
          </a:xfrm>
          <a:prstGeom prst="rect">
            <a:avLst/>
          </a:prstGeom>
          <a:noFill/>
          <a:ln/>
        </p:spPr>
        <p:txBody>
          <a:bodyPr wrap="square" lIns="0" tIns="0" rIns="0" bIns="0" rtlCol="0" anchor="ctr"/>
          <a:lstStyle/>
          <a:p>
            <a:pPr algn="ctr" indent="0" marL="0">
              <a:buNone/>
            </a:pPr>
            <a:r>
              <a:rPr lang="en-US" sz="900" b="1" dirty="0">
                <a:solidFill>
                  <a:srgbClr val="FFFFFF"/>
                </a:solidFill>
              </a:rPr>
              <a:t>助詞−名詞</a:t>
            </a:r>
            <a:endParaRPr lang="en-US" sz="900" dirty="0"/>
          </a:p>
        </p:txBody>
      </p:sp>
      <p:sp>
        <p:nvSpPr>
          <p:cNvPr id="15" name="Shape 13"/>
          <p:cNvSpPr/>
          <p:nvPr/>
        </p:nvSpPr>
        <p:spPr>
          <a:xfrm>
            <a:off x="2011680" y="2688336"/>
            <a:ext cx="658368" cy="237744"/>
          </a:xfrm>
          <a:prstGeom prst="roundRect">
            <a:avLst>
              <a:gd name="adj" fmla="val 15385"/>
            </a:avLst>
          </a:prstGeom>
          <a:solidFill>
            <a:srgbClr val="185FA5"/>
          </a:solidFill>
          <a:ln w="12700">
            <a:solidFill>
              <a:srgbClr val="185FA5"/>
            </a:solidFill>
            <a:prstDash val="solid"/>
          </a:ln>
        </p:spPr>
      </p:sp>
      <p:sp>
        <p:nvSpPr>
          <p:cNvPr id="16" name="Text 14"/>
          <p:cNvSpPr/>
          <p:nvPr/>
        </p:nvSpPr>
        <p:spPr>
          <a:xfrm>
            <a:off x="2011680" y="2688336"/>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rPr>
              <a:t>隣接修飾</a:t>
            </a:r>
            <a:endParaRPr lang="en-US" sz="900" dirty="0"/>
          </a:p>
        </p:txBody>
      </p:sp>
      <p:sp>
        <p:nvSpPr>
          <p:cNvPr id="17" name="Shape 15"/>
          <p:cNvSpPr/>
          <p:nvPr/>
        </p:nvSpPr>
        <p:spPr>
          <a:xfrm>
            <a:off x="4700016" y="1316736"/>
            <a:ext cx="4133088" cy="1865376"/>
          </a:xfrm>
          <a:prstGeom prst="rect">
            <a:avLst/>
          </a:prstGeom>
          <a:solidFill>
            <a:srgbClr val="EEEDFE"/>
          </a:solidFill>
          <a:ln w="6350">
            <a:solidFill>
              <a:srgbClr val="534AB7"/>
            </a:solidFill>
            <a:prstDash val="solid"/>
          </a:ln>
        </p:spPr>
      </p:sp>
      <p:sp>
        <p:nvSpPr>
          <p:cNvPr id="18" name="Shape 16"/>
          <p:cNvSpPr/>
          <p:nvPr/>
        </p:nvSpPr>
        <p:spPr>
          <a:xfrm>
            <a:off x="4700016" y="1316736"/>
            <a:ext cx="4133088" cy="36576"/>
          </a:xfrm>
          <a:prstGeom prst="rect">
            <a:avLst/>
          </a:prstGeom>
          <a:solidFill>
            <a:srgbClr val="534AB7"/>
          </a:solidFill>
          <a:ln w="12700">
            <a:solidFill>
              <a:srgbClr val="534AB7"/>
            </a:solidFill>
            <a:prstDash val="solid"/>
          </a:ln>
        </p:spPr>
      </p:sp>
      <p:sp>
        <p:nvSpPr>
          <p:cNvPr id="19" name="Text 17"/>
          <p:cNvSpPr/>
          <p:nvPr/>
        </p:nvSpPr>
        <p:spPr>
          <a:xfrm>
            <a:off x="4791456" y="1389888"/>
            <a:ext cx="3913632" cy="256032"/>
          </a:xfrm>
          <a:prstGeom prst="rect">
            <a:avLst/>
          </a:prstGeom>
          <a:noFill/>
          <a:ln/>
        </p:spPr>
        <p:txBody>
          <a:bodyPr wrap="square" rtlCol="0" anchor="ctr"/>
          <a:lstStyle/>
          <a:p>
            <a:pPr indent="0" marL="0">
              <a:buNone/>
            </a:pPr>
            <a:r>
              <a:rPr lang="en-US" sz="1000" b="1" dirty="0">
                <a:solidFill>
                  <a:srgbClr val="534AB7"/>
                </a:solidFill>
              </a:rPr>
              <a:t>中間層（L3〜6）</a:t>
            </a:r>
            <a:endParaRPr lang="en-US" sz="1000" dirty="0"/>
          </a:p>
        </p:txBody>
      </p:sp>
      <p:sp>
        <p:nvSpPr>
          <p:cNvPr id="20" name="Text 18"/>
          <p:cNvSpPr/>
          <p:nvPr/>
        </p:nvSpPr>
        <p:spPr>
          <a:xfrm>
            <a:off x="4791456" y="1664208"/>
            <a:ext cx="3913632" cy="329184"/>
          </a:xfrm>
          <a:prstGeom prst="rect">
            <a:avLst/>
          </a:prstGeom>
          <a:noFill/>
          <a:ln/>
        </p:spPr>
        <p:txBody>
          <a:bodyPr wrap="square" rtlCol="0" anchor="ctr"/>
          <a:lstStyle/>
          <a:p>
            <a:pPr indent="0" marL="0">
              <a:buNone/>
            </a:pPr>
            <a:r>
              <a:rPr lang="en-US" sz="1300" b="1" dirty="0">
                <a:solidFill>
                  <a:srgbClr val="1F2937"/>
                </a:solidFill>
              </a:rPr>
              <a:t>句・文構造</a:t>
            </a:r>
            <a:endParaRPr lang="en-US" sz="1300" dirty="0"/>
          </a:p>
        </p:txBody>
      </p:sp>
      <p:sp>
        <p:nvSpPr>
          <p:cNvPr id="21" name="Text 19"/>
          <p:cNvSpPr/>
          <p:nvPr/>
        </p:nvSpPr>
        <p:spPr>
          <a:xfrm>
            <a:off x="4791456" y="2011680"/>
            <a:ext cx="3913632" cy="621792"/>
          </a:xfrm>
          <a:prstGeom prst="rect">
            <a:avLst/>
          </a:prstGeom>
          <a:noFill/>
          <a:ln/>
        </p:spPr>
        <p:txBody>
          <a:bodyPr wrap="square" rtlCol="0" anchor="ctr"/>
          <a:lstStyle/>
          <a:p>
            <a:pPr indent="0" marL="0">
              <a:buNone/>
            </a:pPr>
            <a:r>
              <a:rPr lang="en-US" sz="1050" dirty="0">
                <a:solidFill>
                  <a:srgbClr val="4B5563"/>
                </a:solidFill>
              </a:rPr>
              <a:t>主語句・動詞句など句レベルの塊を認識。文全体の統語構造が形成される。</a:t>
            </a:r>
            <a:endParaRPr lang="en-US" sz="1050" dirty="0"/>
          </a:p>
        </p:txBody>
      </p:sp>
      <p:sp>
        <p:nvSpPr>
          <p:cNvPr id="22" name="Shape 20"/>
          <p:cNvSpPr/>
          <p:nvPr/>
        </p:nvSpPr>
        <p:spPr>
          <a:xfrm>
            <a:off x="4791456" y="2688336"/>
            <a:ext cx="658368" cy="237744"/>
          </a:xfrm>
          <a:prstGeom prst="roundRect">
            <a:avLst>
              <a:gd name="adj" fmla="val 15385"/>
            </a:avLst>
          </a:prstGeom>
          <a:solidFill>
            <a:srgbClr val="534AB7"/>
          </a:solidFill>
          <a:ln w="12700">
            <a:solidFill>
              <a:srgbClr val="534AB7"/>
            </a:solidFill>
            <a:prstDash val="solid"/>
          </a:ln>
        </p:spPr>
      </p:sp>
      <p:sp>
        <p:nvSpPr>
          <p:cNvPr id="23" name="Text 21"/>
          <p:cNvSpPr/>
          <p:nvPr/>
        </p:nvSpPr>
        <p:spPr>
          <a:xfrm>
            <a:off x="4791456" y="2688336"/>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rPr>
              <a:t>因果関係</a:t>
            </a:r>
            <a:endParaRPr lang="en-US" sz="900" dirty="0"/>
          </a:p>
        </p:txBody>
      </p:sp>
      <p:sp>
        <p:nvSpPr>
          <p:cNvPr id="24" name="Shape 22"/>
          <p:cNvSpPr/>
          <p:nvPr/>
        </p:nvSpPr>
        <p:spPr>
          <a:xfrm>
            <a:off x="5522976" y="2688336"/>
            <a:ext cx="658368" cy="237744"/>
          </a:xfrm>
          <a:prstGeom prst="roundRect">
            <a:avLst>
              <a:gd name="adj" fmla="val 15385"/>
            </a:avLst>
          </a:prstGeom>
          <a:solidFill>
            <a:srgbClr val="534AB7"/>
          </a:solidFill>
          <a:ln w="12700">
            <a:solidFill>
              <a:srgbClr val="534AB7"/>
            </a:solidFill>
            <a:prstDash val="solid"/>
          </a:ln>
        </p:spPr>
      </p:sp>
      <p:sp>
        <p:nvSpPr>
          <p:cNvPr id="25" name="Text 23"/>
          <p:cNvSpPr/>
          <p:nvPr/>
        </p:nvSpPr>
        <p:spPr>
          <a:xfrm>
            <a:off x="5522976" y="2688336"/>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rPr>
              <a:t>時系列</a:t>
            </a:r>
            <a:endParaRPr lang="en-US" sz="900" dirty="0"/>
          </a:p>
        </p:txBody>
      </p:sp>
      <p:sp>
        <p:nvSpPr>
          <p:cNvPr id="26" name="Shape 24"/>
          <p:cNvSpPr/>
          <p:nvPr/>
        </p:nvSpPr>
        <p:spPr>
          <a:xfrm>
            <a:off x="6254496" y="2688336"/>
            <a:ext cx="658368" cy="237744"/>
          </a:xfrm>
          <a:prstGeom prst="roundRect">
            <a:avLst>
              <a:gd name="adj" fmla="val 15385"/>
            </a:avLst>
          </a:prstGeom>
          <a:solidFill>
            <a:srgbClr val="534AB7"/>
          </a:solidFill>
          <a:ln w="12700">
            <a:solidFill>
              <a:srgbClr val="534AB7"/>
            </a:solidFill>
            <a:prstDash val="solid"/>
          </a:ln>
        </p:spPr>
      </p:sp>
      <p:sp>
        <p:nvSpPr>
          <p:cNvPr id="27" name="Text 25"/>
          <p:cNvSpPr/>
          <p:nvPr/>
        </p:nvSpPr>
        <p:spPr>
          <a:xfrm>
            <a:off x="6254496" y="2688336"/>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rPr>
              <a:t>比較構造</a:t>
            </a:r>
            <a:endParaRPr lang="en-US" sz="900" dirty="0"/>
          </a:p>
        </p:txBody>
      </p:sp>
      <p:sp>
        <p:nvSpPr>
          <p:cNvPr id="28" name="Shape 26"/>
          <p:cNvSpPr/>
          <p:nvPr/>
        </p:nvSpPr>
        <p:spPr>
          <a:xfrm>
            <a:off x="347472" y="3218688"/>
            <a:ext cx="4133088" cy="1865376"/>
          </a:xfrm>
          <a:prstGeom prst="rect">
            <a:avLst/>
          </a:prstGeom>
          <a:solidFill>
            <a:srgbClr val="FAEEDA"/>
          </a:solidFill>
          <a:ln w="6350">
            <a:solidFill>
              <a:srgbClr val="BA7517"/>
            </a:solidFill>
            <a:prstDash val="solid"/>
          </a:ln>
        </p:spPr>
      </p:sp>
      <p:sp>
        <p:nvSpPr>
          <p:cNvPr id="29" name="Shape 27"/>
          <p:cNvSpPr/>
          <p:nvPr/>
        </p:nvSpPr>
        <p:spPr>
          <a:xfrm>
            <a:off x="347472" y="3218688"/>
            <a:ext cx="4133088" cy="36576"/>
          </a:xfrm>
          <a:prstGeom prst="rect">
            <a:avLst/>
          </a:prstGeom>
          <a:solidFill>
            <a:srgbClr val="BA7517"/>
          </a:solidFill>
          <a:ln w="12700">
            <a:solidFill>
              <a:srgbClr val="BA7517"/>
            </a:solidFill>
            <a:prstDash val="solid"/>
          </a:ln>
        </p:spPr>
      </p:sp>
      <p:sp>
        <p:nvSpPr>
          <p:cNvPr id="30" name="Text 28"/>
          <p:cNvSpPr/>
          <p:nvPr/>
        </p:nvSpPr>
        <p:spPr>
          <a:xfrm>
            <a:off x="438912" y="3291840"/>
            <a:ext cx="3913632" cy="256032"/>
          </a:xfrm>
          <a:prstGeom prst="rect">
            <a:avLst/>
          </a:prstGeom>
          <a:noFill/>
          <a:ln/>
        </p:spPr>
        <p:txBody>
          <a:bodyPr wrap="square" rtlCol="0" anchor="ctr"/>
          <a:lstStyle/>
          <a:p>
            <a:pPr indent="0" marL="0">
              <a:buNone/>
            </a:pPr>
            <a:r>
              <a:rPr lang="en-US" sz="1000" b="1" dirty="0">
                <a:solidFill>
                  <a:srgbClr val="BA7517"/>
                </a:solidFill>
              </a:rPr>
              <a:t>中深層（L7〜16）</a:t>
            </a:r>
            <a:endParaRPr lang="en-US" sz="1000" dirty="0"/>
          </a:p>
        </p:txBody>
      </p:sp>
      <p:sp>
        <p:nvSpPr>
          <p:cNvPr id="31" name="Text 29"/>
          <p:cNvSpPr/>
          <p:nvPr/>
        </p:nvSpPr>
        <p:spPr>
          <a:xfrm>
            <a:off x="438912" y="3566160"/>
            <a:ext cx="3913632" cy="329184"/>
          </a:xfrm>
          <a:prstGeom prst="rect">
            <a:avLst/>
          </a:prstGeom>
          <a:noFill/>
          <a:ln/>
        </p:spPr>
        <p:txBody>
          <a:bodyPr wrap="square" rtlCol="0" anchor="ctr"/>
          <a:lstStyle/>
          <a:p>
            <a:pPr indent="0" marL="0">
              <a:buNone/>
            </a:pPr>
            <a:r>
              <a:rPr lang="en-US" sz="1300" b="1" dirty="0">
                <a:solidFill>
                  <a:srgbClr val="1F2937"/>
                </a:solidFill>
              </a:rPr>
              <a:t>意味役割・状況推論</a:t>
            </a:r>
            <a:endParaRPr lang="en-US" sz="1300" dirty="0"/>
          </a:p>
        </p:txBody>
      </p:sp>
      <p:sp>
        <p:nvSpPr>
          <p:cNvPr id="32" name="Text 30"/>
          <p:cNvSpPr/>
          <p:nvPr/>
        </p:nvSpPr>
        <p:spPr>
          <a:xfrm>
            <a:off x="438912" y="3913632"/>
            <a:ext cx="3913632" cy="621792"/>
          </a:xfrm>
          <a:prstGeom prst="rect">
            <a:avLst/>
          </a:prstGeom>
          <a:noFill/>
          <a:ln/>
        </p:spPr>
        <p:txBody>
          <a:bodyPr wrap="square" rtlCol="0" anchor="ctr"/>
          <a:lstStyle/>
          <a:p>
            <a:pPr indent="0" marL="0">
              <a:buNone/>
            </a:pPr>
            <a:r>
              <a:rPr lang="en-US" sz="1050" dirty="0">
                <a:solidFill>
                  <a:srgbClr val="4B5563"/>
                </a:solidFill>
              </a:rPr>
              <a:t>単語の意味的役割（誰が・何を・どこで）が確立。過去形・場所格が文全体に反映される。</a:t>
            </a:r>
            <a:endParaRPr lang="en-US" sz="1050" dirty="0"/>
          </a:p>
        </p:txBody>
      </p:sp>
      <p:sp>
        <p:nvSpPr>
          <p:cNvPr id="33" name="Shape 31"/>
          <p:cNvSpPr/>
          <p:nvPr/>
        </p:nvSpPr>
        <p:spPr>
          <a:xfrm>
            <a:off x="438912" y="4590288"/>
            <a:ext cx="658368" cy="237744"/>
          </a:xfrm>
          <a:prstGeom prst="roundRect">
            <a:avLst>
              <a:gd name="adj" fmla="val 15385"/>
            </a:avLst>
          </a:prstGeom>
          <a:solidFill>
            <a:srgbClr val="BA7517"/>
          </a:solidFill>
          <a:ln w="12700">
            <a:solidFill>
              <a:srgbClr val="BA7517"/>
            </a:solidFill>
            <a:prstDash val="solid"/>
          </a:ln>
        </p:spPr>
      </p:sp>
      <p:sp>
        <p:nvSpPr>
          <p:cNvPr id="34" name="Text 32"/>
          <p:cNvSpPr/>
          <p:nvPr/>
        </p:nvSpPr>
        <p:spPr>
          <a:xfrm>
            <a:off x="438912" y="4590288"/>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rPr>
              <a:t>動作主</a:t>
            </a:r>
            <a:endParaRPr lang="en-US" sz="900" dirty="0"/>
          </a:p>
        </p:txBody>
      </p:sp>
      <p:sp>
        <p:nvSpPr>
          <p:cNvPr id="35" name="Shape 33"/>
          <p:cNvSpPr/>
          <p:nvPr/>
        </p:nvSpPr>
        <p:spPr>
          <a:xfrm>
            <a:off x="1170432" y="4590288"/>
            <a:ext cx="658368" cy="237744"/>
          </a:xfrm>
          <a:prstGeom prst="roundRect">
            <a:avLst>
              <a:gd name="adj" fmla="val 15385"/>
            </a:avLst>
          </a:prstGeom>
          <a:solidFill>
            <a:srgbClr val="BA7517"/>
          </a:solidFill>
          <a:ln w="12700">
            <a:solidFill>
              <a:srgbClr val="BA7517"/>
            </a:solidFill>
            <a:prstDash val="solid"/>
          </a:ln>
        </p:spPr>
      </p:sp>
      <p:sp>
        <p:nvSpPr>
          <p:cNvPr id="36" name="Text 34"/>
          <p:cNvSpPr/>
          <p:nvPr/>
        </p:nvSpPr>
        <p:spPr>
          <a:xfrm>
            <a:off x="1170432" y="4590288"/>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rPr>
              <a:t>場所格</a:t>
            </a:r>
            <a:endParaRPr lang="en-US" sz="900" dirty="0"/>
          </a:p>
        </p:txBody>
      </p:sp>
      <p:sp>
        <p:nvSpPr>
          <p:cNvPr id="37" name="Shape 35"/>
          <p:cNvSpPr/>
          <p:nvPr/>
        </p:nvSpPr>
        <p:spPr>
          <a:xfrm>
            <a:off x="1901952" y="4590288"/>
            <a:ext cx="658368" cy="237744"/>
          </a:xfrm>
          <a:prstGeom prst="roundRect">
            <a:avLst>
              <a:gd name="adj" fmla="val 15385"/>
            </a:avLst>
          </a:prstGeom>
          <a:solidFill>
            <a:srgbClr val="BA7517"/>
          </a:solidFill>
          <a:ln w="12700">
            <a:solidFill>
              <a:srgbClr val="BA7517"/>
            </a:solidFill>
            <a:prstDash val="solid"/>
          </a:ln>
        </p:spPr>
      </p:sp>
      <p:sp>
        <p:nvSpPr>
          <p:cNvPr id="38" name="Text 36"/>
          <p:cNvSpPr/>
          <p:nvPr/>
        </p:nvSpPr>
        <p:spPr>
          <a:xfrm>
            <a:off x="1901952" y="4590288"/>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rPr>
              <a:t>時制情報</a:t>
            </a:r>
            <a:endParaRPr lang="en-US" sz="900" dirty="0"/>
          </a:p>
        </p:txBody>
      </p:sp>
      <p:sp>
        <p:nvSpPr>
          <p:cNvPr id="39" name="Shape 37"/>
          <p:cNvSpPr/>
          <p:nvPr/>
        </p:nvSpPr>
        <p:spPr>
          <a:xfrm>
            <a:off x="4700016" y="3218688"/>
            <a:ext cx="4133088" cy="1865376"/>
          </a:xfrm>
          <a:prstGeom prst="rect">
            <a:avLst/>
          </a:prstGeom>
          <a:solidFill>
            <a:srgbClr val="FAECE7"/>
          </a:solidFill>
          <a:ln w="6350">
            <a:solidFill>
              <a:srgbClr val="D85A30"/>
            </a:solidFill>
            <a:prstDash val="solid"/>
          </a:ln>
        </p:spPr>
      </p:sp>
      <p:sp>
        <p:nvSpPr>
          <p:cNvPr id="40" name="Shape 38"/>
          <p:cNvSpPr/>
          <p:nvPr/>
        </p:nvSpPr>
        <p:spPr>
          <a:xfrm>
            <a:off x="4700016" y="3218688"/>
            <a:ext cx="4133088" cy="36576"/>
          </a:xfrm>
          <a:prstGeom prst="rect">
            <a:avLst/>
          </a:prstGeom>
          <a:solidFill>
            <a:srgbClr val="D85A30"/>
          </a:solidFill>
          <a:ln w="12700">
            <a:solidFill>
              <a:srgbClr val="D85A30"/>
            </a:solidFill>
            <a:prstDash val="solid"/>
          </a:ln>
        </p:spPr>
      </p:sp>
      <p:sp>
        <p:nvSpPr>
          <p:cNvPr id="41" name="Text 39"/>
          <p:cNvSpPr/>
          <p:nvPr/>
        </p:nvSpPr>
        <p:spPr>
          <a:xfrm>
            <a:off x="4791456" y="3291840"/>
            <a:ext cx="3913632" cy="256032"/>
          </a:xfrm>
          <a:prstGeom prst="rect">
            <a:avLst/>
          </a:prstGeom>
          <a:noFill/>
          <a:ln/>
        </p:spPr>
        <p:txBody>
          <a:bodyPr wrap="square" rtlCol="0" anchor="ctr"/>
          <a:lstStyle/>
          <a:p>
            <a:pPr indent="0" marL="0">
              <a:buNone/>
            </a:pPr>
            <a:r>
              <a:rPr lang="en-US" sz="1000" b="1" dirty="0">
                <a:solidFill>
                  <a:srgbClr val="D85A30"/>
                </a:solidFill>
              </a:rPr>
              <a:t>深い層（L17〜）</a:t>
            </a:r>
            <a:endParaRPr lang="en-US" sz="1000" dirty="0"/>
          </a:p>
        </p:txBody>
      </p:sp>
      <p:sp>
        <p:nvSpPr>
          <p:cNvPr id="42" name="Text 40"/>
          <p:cNvSpPr/>
          <p:nvPr/>
        </p:nvSpPr>
        <p:spPr>
          <a:xfrm>
            <a:off x="4791456" y="3566160"/>
            <a:ext cx="3913632" cy="329184"/>
          </a:xfrm>
          <a:prstGeom prst="rect">
            <a:avLst/>
          </a:prstGeom>
          <a:noFill/>
          <a:ln/>
        </p:spPr>
        <p:txBody>
          <a:bodyPr wrap="square" rtlCol="0" anchor="ctr"/>
          <a:lstStyle/>
          <a:p>
            <a:pPr indent="0" marL="0">
              <a:buNone/>
            </a:pPr>
            <a:r>
              <a:rPr lang="en-US" sz="1300" b="1" dirty="0">
                <a:solidFill>
                  <a:srgbClr val="1F2937"/>
                </a:solidFill>
              </a:rPr>
              <a:t>推論・世界知識（傾向）</a:t>
            </a:r>
            <a:endParaRPr lang="en-US" sz="1300" dirty="0"/>
          </a:p>
        </p:txBody>
      </p:sp>
      <p:sp>
        <p:nvSpPr>
          <p:cNvPr id="43" name="Text 41"/>
          <p:cNvSpPr/>
          <p:nvPr/>
        </p:nvSpPr>
        <p:spPr>
          <a:xfrm>
            <a:off x="4791456" y="3913632"/>
            <a:ext cx="3913632" cy="621792"/>
          </a:xfrm>
          <a:prstGeom prst="rect">
            <a:avLst/>
          </a:prstGeom>
          <a:noFill/>
          <a:ln/>
        </p:spPr>
        <p:txBody>
          <a:bodyPr wrap="square" rtlCol="0" anchor="ctr"/>
          <a:lstStyle/>
          <a:p>
            <a:pPr indent="0" marL="0">
              <a:buNone/>
            </a:pPr>
            <a:r>
              <a:rPr lang="en-US" sz="1050" dirty="0">
                <a:solidFill>
                  <a:srgbClr val="4B5563"/>
                </a:solidFill>
              </a:rPr>
              <a:t>深い層では推論や世界知識に関連する表現が観測されることが多い。ただしモデル・アーキテクチャにより異なる。</a:t>
            </a:r>
            <a:endParaRPr lang="en-US" sz="1050" dirty="0"/>
          </a:p>
        </p:txBody>
      </p:sp>
      <p:sp>
        <p:nvSpPr>
          <p:cNvPr id="44" name="Shape 42"/>
          <p:cNvSpPr/>
          <p:nvPr/>
        </p:nvSpPr>
        <p:spPr>
          <a:xfrm>
            <a:off x="4791456" y="4590288"/>
            <a:ext cx="658368" cy="237744"/>
          </a:xfrm>
          <a:prstGeom prst="roundRect">
            <a:avLst>
              <a:gd name="adj" fmla="val 15385"/>
            </a:avLst>
          </a:prstGeom>
          <a:solidFill>
            <a:srgbClr val="D85A30"/>
          </a:solidFill>
          <a:ln w="12700">
            <a:solidFill>
              <a:srgbClr val="D85A30"/>
            </a:solidFill>
            <a:prstDash val="solid"/>
          </a:ln>
        </p:spPr>
      </p:sp>
      <p:sp>
        <p:nvSpPr>
          <p:cNvPr id="45" name="Text 43"/>
          <p:cNvSpPr/>
          <p:nvPr/>
        </p:nvSpPr>
        <p:spPr>
          <a:xfrm>
            <a:off x="4791456" y="4590288"/>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rPr>
              <a:t>意図推論</a:t>
            </a:r>
            <a:endParaRPr lang="en-US" sz="900" dirty="0"/>
          </a:p>
        </p:txBody>
      </p:sp>
      <p:sp>
        <p:nvSpPr>
          <p:cNvPr id="46" name="Shape 44"/>
          <p:cNvSpPr/>
          <p:nvPr/>
        </p:nvSpPr>
        <p:spPr>
          <a:xfrm>
            <a:off x="5522976" y="4590288"/>
            <a:ext cx="658368" cy="237744"/>
          </a:xfrm>
          <a:prstGeom prst="roundRect">
            <a:avLst>
              <a:gd name="adj" fmla="val 15385"/>
            </a:avLst>
          </a:prstGeom>
          <a:solidFill>
            <a:srgbClr val="D85A30"/>
          </a:solidFill>
          <a:ln w="12700">
            <a:solidFill>
              <a:srgbClr val="D85A30"/>
            </a:solidFill>
            <a:prstDash val="solid"/>
          </a:ln>
        </p:spPr>
      </p:sp>
      <p:sp>
        <p:nvSpPr>
          <p:cNvPr id="47" name="Text 45"/>
          <p:cNvSpPr/>
          <p:nvPr/>
        </p:nvSpPr>
        <p:spPr>
          <a:xfrm>
            <a:off x="5522976" y="4590288"/>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rPr>
              <a:t>世界知識</a:t>
            </a:r>
            <a:endParaRPr lang="en-US" sz="900" dirty="0"/>
          </a:p>
        </p:txBody>
      </p:sp>
      <p:sp>
        <p:nvSpPr>
          <p:cNvPr id="48" name="Shape 46"/>
          <p:cNvSpPr/>
          <p:nvPr/>
        </p:nvSpPr>
        <p:spPr>
          <a:xfrm>
            <a:off x="6254496" y="4590288"/>
            <a:ext cx="658368" cy="237744"/>
          </a:xfrm>
          <a:prstGeom prst="roundRect">
            <a:avLst>
              <a:gd name="adj" fmla="val 15385"/>
            </a:avLst>
          </a:prstGeom>
          <a:solidFill>
            <a:srgbClr val="D85A30"/>
          </a:solidFill>
          <a:ln w="12700">
            <a:solidFill>
              <a:srgbClr val="D85A30"/>
            </a:solidFill>
            <a:prstDash val="solid"/>
          </a:ln>
        </p:spPr>
      </p:sp>
      <p:sp>
        <p:nvSpPr>
          <p:cNvPr id="49" name="Text 47"/>
          <p:cNvSpPr/>
          <p:nvPr/>
        </p:nvSpPr>
        <p:spPr>
          <a:xfrm>
            <a:off x="6254496" y="4590288"/>
            <a:ext cx="658368" cy="237744"/>
          </a:xfrm>
          <a:prstGeom prst="rect">
            <a:avLst/>
          </a:prstGeom>
          <a:noFill/>
          <a:ln/>
        </p:spPr>
        <p:txBody>
          <a:bodyPr wrap="square" lIns="0" tIns="0" rIns="0" bIns="0" rtlCol="0" anchor="ctr"/>
          <a:lstStyle/>
          <a:p>
            <a:pPr algn="ctr" indent="0" marL="0">
              <a:buNone/>
            </a:pPr>
            <a:r>
              <a:rPr lang="en-US" sz="900" b="1" dirty="0">
                <a:solidFill>
                  <a:srgbClr val="FFFFFF"/>
                </a:solidFill>
              </a:rPr>
              <a:t>論理構造</a:t>
            </a:r>
            <a:endParaRPr lang="en-US" sz="900" dirty="0"/>
          </a:p>
        </p:txBody>
      </p:sp>
      <p:sp>
        <p:nvSpPr>
          <p:cNvPr id="50" name="Shape 48"/>
          <p:cNvSpPr/>
          <p:nvPr/>
        </p:nvSpPr>
        <p:spPr>
          <a:xfrm>
            <a:off x="347472" y="5193792"/>
            <a:ext cx="8430768" cy="292608"/>
          </a:xfrm>
          <a:prstGeom prst="roundRect">
            <a:avLst>
              <a:gd name="adj" fmla="val 12500"/>
            </a:avLst>
          </a:prstGeom>
          <a:solidFill>
            <a:srgbClr val="F0FDF4"/>
          </a:solidFill>
          <a:ln w="6350">
            <a:solidFill>
              <a:srgbClr val="0F6E56"/>
            </a:solidFill>
            <a:prstDash val="solid"/>
          </a:ln>
        </p:spPr>
      </p:sp>
      <p:sp>
        <p:nvSpPr>
          <p:cNvPr id="51" name="Text 49"/>
          <p:cNvSpPr/>
          <p:nvPr/>
        </p:nvSpPr>
        <p:spPr>
          <a:xfrm>
            <a:off x="502920" y="4937760"/>
            <a:ext cx="8229600" cy="292608"/>
          </a:xfrm>
          <a:prstGeom prst="rect">
            <a:avLst/>
          </a:prstGeom>
          <a:noFill/>
          <a:ln/>
        </p:spPr>
        <p:txBody>
          <a:bodyPr wrap="square" rtlCol="0" anchor="ctr"/>
          <a:lstStyle/>
          <a:p>
            <a:pPr indent="0" marL="0">
              <a:buNone/>
            </a:pPr>
            <a:r>
              <a:rPr lang="en-US" sz="1050" b="1" dirty="0">
                <a:solidFill>
                  <a:srgbClr val="0F6E56"/>
                </a:solidFill>
              </a:rPr>
              <a:t>CNN との類比：</a:t>
            </a:r>
            <a:pPr indent="0" marL="0">
              <a:buNone/>
            </a:pPr>
            <a:r>
              <a:rPr lang="en-US" sz="1050" dirty="0">
                <a:solidFill>
                  <a:srgbClr val="1F2937"/>
                </a:solidFill>
              </a:rPr>
              <a:t>エッジ → 形 → 部品 → 顔　／　Transformer: 単語 → 句 → 文意味 → 推論・意図　（同じ「局所→大域」の原理）</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19 / 28</a:t>
            </a:r>
            <a:endParaRPr lang="en-US" sz="900" dirty="0"/>
          </a:p>
        </p:txBody>
      </p:sp>
      <p:sp>
        <p:nvSpPr>
          <p:cNvPr id="3" name="Shape 1"/>
          <p:cNvSpPr/>
          <p:nvPr/>
        </p:nvSpPr>
        <p:spPr>
          <a:xfrm>
            <a:off x="347472" y="274320"/>
            <a:ext cx="54864" cy="475488"/>
          </a:xfrm>
          <a:prstGeom prst="rect">
            <a:avLst/>
          </a:prstGeom>
          <a:solidFill>
            <a:srgbClr val="BA7517"/>
          </a:solidFill>
          <a:ln w="12700">
            <a:solidFill>
              <a:srgbClr val="BA7517"/>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抽象化のメカニズム — Attention・FFN・Residual・深さの連携</a:t>
            </a:r>
            <a:endParaRPr lang="en-US" sz="2000" dirty="0"/>
          </a:p>
        </p:txBody>
      </p:sp>
      <p:sp>
        <p:nvSpPr>
          <p:cNvPr id="5" name="Shape 3"/>
          <p:cNvSpPr/>
          <p:nvPr/>
        </p:nvSpPr>
        <p:spPr>
          <a:xfrm>
            <a:off x="347472" y="932688"/>
            <a:ext cx="8430768" cy="621792"/>
          </a:xfrm>
          <a:prstGeom prst="roundRect">
            <a:avLst>
              <a:gd name="adj" fmla="val 8824"/>
            </a:avLst>
          </a:prstGeom>
          <a:solidFill>
            <a:srgbClr val="FFF8EA"/>
          </a:solidFill>
          <a:ln w="6350">
            <a:solidFill>
              <a:srgbClr val="BA7517"/>
            </a:solidFill>
            <a:prstDash val="solid"/>
          </a:ln>
        </p:spPr>
      </p:sp>
      <p:sp>
        <p:nvSpPr>
          <p:cNvPr id="6" name="Text 4"/>
          <p:cNvSpPr/>
          <p:nvPr/>
        </p:nvSpPr>
        <p:spPr>
          <a:xfrm>
            <a:off x="502920" y="969264"/>
            <a:ext cx="8229600" cy="548640"/>
          </a:xfrm>
          <a:prstGeom prst="rect">
            <a:avLst/>
          </a:prstGeom>
          <a:noFill/>
          <a:ln/>
        </p:spPr>
        <p:txBody>
          <a:bodyPr wrap="square" rtlCol="0" anchor="ctr"/>
          <a:lstStyle/>
          <a:p>
            <a:pPr indent="0" marL="0">
              <a:buNone/>
            </a:pPr>
            <a:r>
              <a:rPr lang="en-US" sz="1150" b="1" dirty="0">
                <a:solidFill>
                  <a:srgbClr val="BA7517"/>
                </a:solidFill>
              </a:rPr>
              <a:t>抽象化を生む主因は4つの組み合わせ：</a:t>
            </a:r>
            <a:pPr indent="0" marL="0">
              <a:buNone/>
            </a:pPr>
            <a:r>
              <a:rPr lang="en-US" sz="1150" dirty="0">
                <a:solidFill>
                  <a:srgbClr val="1F2937"/>
                </a:solidFill>
              </a:rPr>
              <a:t xml:space="preserve">  Multi-Head Attention  ＋  FFN  ＋  Residual Connection  ＋  Depth（深さ）
</a:t>
            </a:r>
            <a:pPr indent="0" marL="0">
              <a:buNone/>
            </a:pPr>
            <a:r>
              <a:rPr lang="en-US" sz="1150" dirty="0">
                <a:solidFill>
                  <a:srgbClr val="4B5563"/>
                </a:solidFill>
              </a:rPr>
              <a:t>Softmax は「重要な関係を強調する」役割を担うが、それ単独で抽象化が起きるわけではない。</a:t>
            </a:r>
            <a:endParaRPr lang="en-US" sz="1150" dirty="0"/>
          </a:p>
        </p:txBody>
      </p:sp>
      <p:sp>
        <p:nvSpPr>
          <p:cNvPr id="7" name="Shape 5"/>
          <p:cNvSpPr/>
          <p:nvPr/>
        </p:nvSpPr>
        <p:spPr>
          <a:xfrm>
            <a:off x="347472" y="1664208"/>
            <a:ext cx="4133088" cy="135331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8" name="Shape 6"/>
          <p:cNvSpPr/>
          <p:nvPr/>
        </p:nvSpPr>
        <p:spPr>
          <a:xfrm>
            <a:off x="347472" y="1664208"/>
            <a:ext cx="45720" cy="1353312"/>
          </a:xfrm>
          <a:prstGeom prst="rect">
            <a:avLst/>
          </a:prstGeom>
          <a:solidFill>
            <a:srgbClr val="534AB7"/>
          </a:solidFill>
          <a:ln w="12700">
            <a:solidFill>
              <a:srgbClr val="534AB7"/>
            </a:solidFill>
            <a:prstDash val="solid"/>
          </a:ln>
        </p:spPr>
      </p:sp>
      <p:sp>
        <p:nvSpPr>
          <p:cNvPr id="9" name="Text 7"/>
          <p:cNvSpPr/>
          <p:nvPr/>
        </p:nvSpPr>
        <p:spPr>
          <a:xfrm>
            <a:off x="457200" y="1737360"/>
            <a:ext cx="3913632" cy="329184"/>
          </a:xfrm>
          <a:prstGeom prst="rect">
            <a:avLst/>
          </a:prstGeom>
          <a:noFill/>
          <a:ln/>
        </p:spPr>
        <p:txBody>
          <a:bodyPr wrap="square" rtlCol="0" anchor="ctr"/>
          <a:lstStyle/>
          <a:p>
            <a:pPr indent="0" marL="0">
              <a:buNone/>
            </a:pPr>
            <a:r>
              <a:rPr lang="en-US" sz="1200" b="1" dirty="0">
                <a:solidFill>
                  <a:srgbClr val="534AB7"/>
                </a:solidFill>
              </a:rPr>
              <a:t>① Multi-Head Attention</a:t>
            </a:r>
            <a:endParaRPr lang="en-US" sz="1200" dirty="0"/>
          </a:p>
        </p:txBody>
      </p:sp>
      <p:sp>
        <p:nvSpPr>
          <p:cNvPr id="10" name="Text 8"/>
          <p:cNvSpPr/>
          <p:nvPr/>
        </p:nvSpPr>
        <p:spPr>
          <a:xfrm>
            <a:off x="457200" y="2103120"/>
            <a:ext cx="3913632" cy="841248"/>
          </a:xfrm>
          <a:prstGeom prst="rect">
            <a:avLst/>
          </a:prstGeom>
          <a:noFill/>
          <a:ln/>
        </p:spPr>
        <p:txBody>
          <a:bodyPr wrap="square" rtlCol="0" anchor="ctr"/>
          <a:lstStyle/>
          <a:p>
            <a:pPr indent="0" marL="0">
              <a:spcAft>
                <a:spcPts val="300"/>
              </a:spcAft>
              <a:buNone/>
            </a:pPr>
            <a:r>
              <a:rPr lang="en-US" sz="1050" dirty="0">
                <a:solidFill>
                  <a:srgbClr val="1F2937"/>
                </a:solidFill>
              </a:rPr>
              <a:t>複数の視点（文法・意味役割・時系列・感情）で同時に関係性を収集。1 Head では捉えられない多面的な文脈を並列処理。</a:t>
            </a:r>
            <a:endParaRPr lang="en-US" sz="1050" dirty="0"/>
          </a:p>
        </p:txBody>
      </p:sp>
      <p:sp>
        <p:nvSpPr>
          <p:cNvPr id="11" name="Shape 9"/>
          <p:cNvSpPr/>
          <p:nvPr/>
        </p:nvSpPr>
        <p:spPr>
          <a:xfrm>
            <a:off x="4700016" y="1664208"/>
            <a:ext cx="4133088" cy="135331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12" name="Shape 10"/>
          <p:cNvSpPr/>
          <p:nvPr/>
        </p:nvSpPr>
        <p:spPr>
          <a:xfrm>
            <a:off x="4700016" y="1664208"/>
            <a:ext cx="45720" cy="1353312"/>
          </a:xfrm>
          <a:prstGeom prst="rect">
            <a:avLst/>
          </a:prstGeom>
          <a:solidFill>
            <a:srgbClr val="D85A30"/>
          </a:solidFill>
          <a:ln w="12700">
            <a:solidFill>
              <a:srgbClr val="D85A30"/>
            </a:solidFill>
            <a:prstDash val="solid"/>
          </a:ln>
        </p:spPr>
      </p:sp>
      <p:sp>
        <p:nvSpPr>
          <p:cNvPr id="13" name="Text 11"/>
          <p:cNvSpPr/>
          <p:nvPr/>
        </p:nvSpPr>
        <p:spPr>
          <a:xfrm>
            <a:off x="4809744" y="1737360"/>
            <a:ext cx="3913632" cy="329184"/>
          </a:xfrm>
          <a:prstGeom prst="rect">
            <a:avLst/>
          </a:prstGeom>
          <a:noFill/>
          <a:ln/>
        </p:spPr>
        <p:txBody>
          <a:bodyPr wrap="square" rtlCol="0" anchor="ctr"/>
          <a:lstStyle/>
          <a:p>
            <a:pPr indent="0" marL="0">
              <a:buNone/>
            </a:pPr>
            <a:r>
              <a:rPr lang="en-US" sz="1200" b="1" dirty="0">
                <a:solidFill>
                  <a:srgbClr val="D85A30"/>
                </a:solidFill>
              </a:rPr>
              <a:t>② FFN（非線形変換）</a:t>
            </a:r>
            <a:endParaRPr lang="en-US" sz="1200" dirty="0"/>
          </a:p>
        </p:txBody>
      </p:sp>
      <p:sp>
        <p:nvSpPr>
          <p:cNvPr id="14" name="Text 12"/>
          <p:cNvSpPr/>
          <p:nvPr/>
        </p:nvSpPr>
        <p:spPr>
          <a:xfrm>
            <a:off x="4809744" y="2103120"/>
            <a:ext cx="3913632" cy="841248"/>
          </a:xfrm>
          <a:prstGeom prst="rect">
            <a:avLst/>
          </a:prstGeom>
          <a:noFill/>
          <a:ln/>
        </p:spPr>
        <p:txBody>
          <a:bodyPr wrap="square" rtlCol="0" anchor="ctr"/>
          <a:lstStyle/>
          <a:p>
            <a:pPr indent="0" marL="0">
              <a:spcAft>
                <a:spcPts val="300"/>
              </a:spcAft>
              <a:buNone/>
            </a:pPr>
            <a:r>
              <a:rPr lang="en-US" sz="1050" dirty="0">
                <a:solidFill>
                  <a:srgbClr val="1F2937"/>
                </a:solidFill>
              </a:rPr>
              <a:t>Attention が収集した情報を非線形変換して意味を抽象化。「事実的知識の倉庫」として機能し、複雑な特徴変換を担う。</a:t>
            </a:r>
            <a:endParaRPr lang="en-US" sz="1050" dirty="0"/>
          </a:p>
        </p:txBody>
      </p:sp>
      <p:sp>
        <p:nvSpPr>
          <p:cNvPr id="15" name="Shape 13"/>
          <p:cNvSpPr/>
          <p:nvPr/>
        </p:nvSpPr>
        <p:spPr>
          <a:xfrm>
            <a:off x="347472" y="3145536"/>
            <a:ext cx="4133088" cy="135331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16" name="Shape 14"/>
          <p:cNvSpPr/>
          <p:nvPr/>
        </p:nvSpPr>
        <p:spPr>
          <a:xfrm>
            <a:off x="347472" y="3145536"/>
            <a:ext cx="45720" cy="1353312"/>
          </a:xfrm>
          <a:prstGeom prst="rect">
            <a:avLst/>
          </a:prstGeom>
          <a:solidFill>
            <a:srgbClr val="0F6E56"/>
          </a:solidFill>
          <a:ln w="12700">
            <a:solidFill>
              <a:srgbClr val="0F6E56"/>
            </a:solidFill>
            <a:prstDash val="solid"/>
          </a:ln>
        </p:spPr>
      </p:sp>
      <p:sp>
        <p:nvSpPr>
          <p:cNvPr id="17" name="Text 15"/>
          <p:cNvSpPr/>
          <p:nvPr/>
        </p:nvSpPr>
        <p:spPr>
          <a:xfrm>
            <a:off x="457200" y="3218688"/>
            <a:ext cx="3913632" cy="329184"/>
          </a:xfrm>
          <a:prstGeom prst="rect">
            <a:avLst/>
          </a:prstGeom>
          <a:noFill/>
          <a:ln/>
        </p:spPr>
        <p:txBody>
          <a:bodyPr wrap="square" rtlCol="0" anchor="ctr"/>
          <a:lstStyle/>
          <a:p>
            <a:pPr indent="0" marL="0">
              <a:buNone/>
            </a:pPr>
            <a:r>
              <a:rPr lang="en-US" sz="1200" b="1" dirty="0">
                <a:solidFill>
                  <a:srgbClr val="0F6E56"/>
                </a:solidFill>
              </a:rPr>
              <a:t>③ Residual Connection</a:t>
            </a:r>
            <a:endParaRPr lang="en-US" sz="1200" dirty="0"/>
          </a:p>
        </p:txBody>
      </p:sp>
      <p:sp>
        <p:nvSpPr>
          <p:cNvPr id="18" name="Text 16"/>
          <p:cNvSpPr/>
          <p:nvPr/>
        </p:nvSpPr>
        <p:spPr>
          <a:xfrm>
            <a:off x="457200" y="3584448"/>
            <a:ext cx="3913632" cy="841248"/>
          </a:xfrm>
          <a:prstGeom prst="rect">
            <a:avLst/>
          </a:prstGeom>
          <a:noFill/>
          <a:ln/>
        </p:spPr>
        <p:txBody>
          <a:bodyPr wrap="square" rtlCol="0" anchor="ctr"/>
          <a:lstStyle/>
          <a:p>
            <a:pPr indent="0" marL="0">
              <a:spcAft>
                <a:spcPts val="300"/>
              </a:spcAft>
              <a:buNone/>
            </a:pPr>
            <a:r>
              <a:rPr lang="en-US" sz="1050" dirty="0">
                <a:solidFill>
                  <a:srgbClr val="1F2937"/>
                </a:solidFill>
              </a:rPr>
              <a:t>各層に入力をそのまま加算し「変化分だけ学習する」構造。深いネットワークでも勾配消失を防ぎ、情報を壊さずに積み上げる。</a:t>
            </a:r>
            <a:endParaRPr lang="en-US" sz="1050" dirty="0"/>
          </a:p>
        </p:txBody>
      </p:sp>
      <p:sp>
        <p:nvSpPr>
          <p:cNvPr id="19" name="Shape 17"/>
          <p:cNvSpPr/>
          <p:nvPr/>
        </p:nvSpPr>
        <p:spPr>
          <a:xfrm>
            <a:off x="4700016" y="3145536"/>
            <a:ext cx="4133088" cy="135331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20" name="Shape 18"/>
          <p:cNvSpPr/>
          <p:nvPr/>
        </p:nvSpPr>
        <p:spPr>
          <a:xfrm>
            <a:off x="4700016" y="3145536"/>
            <a:ext cx="45720" cy="1353312"/>
          </a:xfrm>
          <a:prstGeom prst="rect">
            <a:avLst/>
          </a:prstGeom>
          <a:solidFill>
            <a:srgbClr val="BA7517"/>
          </a:solidFill>
          <a:ln w="12700">
            <a:solidFill>
              <a:srgbClr val="BA7517"/>
            </a:solidFill>
            <a:prstDash val="solid"/>
          </a:ln>
        </p:spPr>
      </p:sp>
      <p:sp>
        <p:nvSpPr>
          <p:cNvPr id="21" name="Text 19"/>
          <p:cNvSpPr/>
          <p:nvPr/>
        </p:nvSpPr>
        <p:spPr>
          <a:xfrm>
            <a:off x="4809744" y="3218688"/>
            <a:ext cx="3913632" cy="329184"/>
          </a:xfrm>
          <a:prstGeom prst="rect">
            <a:avLst/>
          </a:prstGeom>
          <a:noFill/>
          <a:ln/>
        </p:spPr>
        <p:txBody>
          <a:bodyPr wrap="square" rtlCol="0" anchor="ctr"/>
          <a:lstStyle/>
          <a:p>
            <a:pPr indent="0" marL="0">
              <a:buNone/>
            </a:pPr>
            <a:r>
              <a:rPr lang="en-US" sz="1200" b="1" dirty="0">
                <a:solidFill>
                  <a:srgbClr val="BA7517"/>
                </a:solidFill>
              </a:rPr>
              <a:t>④ Depth（深さ・層の数）</a:t>
            </a:r>
            <a:endParaRPr lang="en-US" sz="1200" dirty="0"/>
          </a:p>
        </p:txBody>
      </p:sp>
      <p:sp>
        <p:nvSpPr>
          <p:cNvPr id="22" name="Text 20"/>
          <p:cNvSpPr/>
          <p:nvPr/>
        </p:nvSpPr>
        <p:spPr>
          <a:xfrm>
            <a:off x="4809744" y="3584448"/>
            <a:ext cx="3913632" cy="841248"/>
          </a:xfrm>
          <a:prstGeom prst="rect">
            <a:avLst/>
          </a:prstGeom>
          <a:noFill/>
          <a:ln/>
        </p:spPr>
        <p:txBody>
          <a:bodyPr wrap="square" rtlCol="0" anchor="ctr"/>
          <a:lstStyle/>
          <a:p>
            <a:pPr indent="0" marL="0">
              <a:spcAft>
                <a:spcPts val="300"/>
              </a:spcAft>
              <a:buNone/>
            </a:pPr>
            <a:r>
              <a:rPr lang="en-US" sz="1050" dirty="0">
                <a:solidFill>
                  <a:srgbClr val="1F2937"/>
                </a:solidFill>
              </a:rPr>
              <a:t>浅い層：隣接依存関係</a:t>
            </a:r>
            <a:endParaRPr lang="en-US" sz="1050" dirty="0"/>
          </a:p>
          <a:p>
            <a:pPr indent="0" marL="0">
              <a:spcAft>
                <a:spcPts val="300"/>
              </a:spcAft>
              <a:buNone/>
            </a:pPr>
            <a:r>
              <a:rPr lang="en-US" sz="1050" dirty="0">
                <a:solidFill>
                  <a:srgbClr val="1F2937"/>
                </a:solidFill>
              </a:rPr>
              <a:t>中間層：句・文構造</a:t>
            </a:r>
            <a:endParaRPr lang="en-US" sz="1050" dirty="0"/>
          </a:p>
          <a:p>
            <a:pPr indent="0" marL="0">
              <a:spcAft>
                <a:spcPts val="300"/>
              </a:spcAft>
              <a:buNone/>
            </a:pPr>
            <a:r>
              <a:rPr lang="en-US" sz="1050" dirty="0">
                <a:solidFill>
                  <a:srgbClr val="1F2937"/>
                </a:solidFill>
              </a:rPr>
              <a:t>深い層：推論・世界知識に関連した表現が観測されやすい（傾向）</a:t>
            </a:r>
            <a:endParaRPr lang="en-US" sz="1050" dirty="0"/>
          </a:p>
          <a:p>
            <a:pPr indent="0" marL="0">
              <a:spcAft>
                <a:spcPts val="300"/>
              </a:spcAft>
              <a:buNone/>
            </a:pPr>
            <a:r>
              <a:rPr lang="en-US" sz="1050" dirty="0">
                <a:solidFill>
                  <a:srgbClr val="1F2937"/>
                </a:solidFill>
              </a:rPr>
              <a:t>層を重ねるほど抽象度が段階的に上昇する。</a:t>
            </a:r>
            <a:endParaRPr lang="en-US" sz="1050" dirty="0"/>
          </a:p>
        </p:txBody>
      </p:sp>
      <p:sp>
        <p:nvSpPr>
          <p:cNvPr id="23" name="Shape 21"/>
          <p:cNvSpPr/>
          <p:nvPr/>
        </p:nvSpPr>
        <p:spPr>
          <a:xfrm>
            <a:off x="347472" y="4663440"/>
            <a:ext cx="8430768" cy="402336"/>
          </a:xfrm>
          <a:prstGeom prst="roundRect">
            <a:avLst>
              <a:gd name="adj" fmla="val 9091"/>
            </a:avLst>
          </a:prstGeom>
          <a:solidFill>
            <a:srgbClr val="1A1A2E"/>
          </a:solidFill>
          <a:ln w="6350">
            <a:solidFill>
              <a:srgbClr val="534AB7"/>
            </a:solidFill>
            <a:prstDash val="solid"/>
          </a:ln>
        </p:spPr>
      </p:sp>
      <p:sp>
        <p:nvSpPr>
          <p:cNvPr id="24" name="Text 22"/>
          <p:cNvSpPr/>
          <p:nvPr/>
        </p:nvSpPr>
        <p:spPr>
          <a:xfrm>
            <a:off x="502920" y="4700016"/>
            <a:ext cx="8229600" cy="329184"/>
          </a:xfrm>
          <a:prstGeom prst="rect">
            <a:avLst/>
          </a:prstGeom>
          <a:noFill/>
          <a:ln/>
        </p:spPr>
        <p:txBody>
          <a:bodyPr wrap="square" rtlCol="0" anchor="ctr"/>
          <a:lstStyle/>
          <a:p>
            <a:pPr algn="ctr" indent="0" marL="0">
              <a:buNone/>
            </a:pPr>
            <a:r>
              <a:rPr lang="en-US" sz="1050" dirty="0">
                <a:solidFill>
                  <a:srgbClr val="A0A8C0"/>
                </a:solidFill>
              </a:rPr>
              <a:t>Softmax は重要な関係を強調する　→　</a:t>
            </a:r>
            <a:pPr algn="ctr" indent="0" marL="0">
              <a:buNone/>
            </a:pPr>
            <a:r>
              <a:rPr lang="en-US" sz="1050" b="1" dirty="0">
                <a:solidFill>
                  <a:srgbClr val="FFFFFF"/>
                </a:solidFill>
              </a:rPr>
              <a:t>Attention で収集　→　FFN で変換　→　Residual で保存　→　多層で繰り返す　→　抽象化</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20 / 28</a:t>
            </a:r>
            <a:endParaRPr lang="en-US" sz="900" dirty="0"/>
          </a:p>
        </p:txBody>
      </p:sp>
      <p:sp>
        <p:nvSpPr>
          <p:cNvPr id="3" name="Shape 1"/>
          <p:cNvSpPr/>
          <p:nvPr/>
        </p:nvSpPr>
        <p:spPr>
          <a:xfrm>
            <a:off x="347472" y="274320"/>
            <a:ext cx="54864" cy="475488"/>
          </a:xfrm>
          <a:prstGeom prst="rect">
            <a:avLst/>
          </a:prstGeom>
          <a:solidFill>
            <a:srgbClr val="D85A30"/>
          </a:solidFill>
          <a:ln w="12700">
            <a:solidFill>
              <a:srgbClr val="D85A30"/>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なぜ「次単語予測」だけで推論能力が生まれるのか</a:t>
            </a:r>
            <a:endParaRPr lang="en-US" sz="2000" dirty="0"/>
          </a:p>
        </p:txBody>
      </p:sp>
      <p:sp>
        <p:nvSpPr>
          <p:cNvPr id="5" name="Text 3"/>
          <p:cNvSpPr/>
          <p:nvPr/>
        </p:nvSpPr>
        <p:spPr>
          <a:xfrm>
            <a:off x="347472" y="932688"/>
            <a:ext cx="8430768" cy="384048"/>
          </a:xfrm>
          <a:prstGeom prst="rect">
            <a:avLst/>
          </a:prstGeom>
          <a:noFill/>
          <a:ln/>
        </p:spPr>
        <p:txBody>
          <a:bodyPr wrap="square" rtlCol="0" anchor="ctr"/>
          <a:lstStyle/>
          <a:p>
            <a:pPr indent="0" marL="0">
              <a:buNone/>
            </a:pPr>
            <a:r>
              <a:rPr lang="en-US" sz="1100" i="1" dirty="0">
                <a:solidFill>
                  <a:srgbClr val="4B5563"/>
                </a:solidFill>
              </a:rPr>
              <a:t>Transformer がやっていることは「次の単語を予測すること」だけ。なぜそれで数学・論理・コードの推論が生まれるのか？ タイトルへの直接回答。</a:t>
            </a:r>
            <a:endParaRPr lang="en-US" sz="1100" dirty="0"/>
          </a:p>
        </p:txBody>
      </p:sp>
      <p:sp>
        <p:nvSpPr>
          <p:cNvPr id="6" name="Shape 4"/>
          <p:cNvSpPr/>
          <p:nvPr/>
        </p:nvSpPr>
        <p:spPr>
          <a:xfrm>
            <a:off x="347472" y="1408176"/>
            <a:ext cx="2651760" cy="321868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7" name="Shape 5"/>
          <p:cNvSpPr/>
          <p:nvPr/>
        </p:nvSpPr>
        <p:spPr>
          <a:xfrm>
            <a:off x="347472" y="1408176"/>
            <a:ext cx="45720" cy="3218688"/>
          </a:xfrm>
          <a:prstGeom prst="rect">
            <a:avLst/>
          </a:prstGeom>
          <a:solidFill>
            <a:srgbClr val="534AB7"/>
          </a:solidFill>
          <a:ln w="12700">
            <a:solidFill>
              <a:srgbClr val="534AB7"/>
            </a:solidFill>
            <a:prstDash val="solid"/>
          </a:ln>
        </p:spPr>
      </p:sp>
      <p:sp>
        <p:nvSpPr>
          <p:cNvPr id="8" name="Text 6"/>
          <p:cNvSpPr/>
          <p:nvPr/>
        </p:nvSpPr>
        <p:spPr>
          <a:xfrm>
            <a:off x="484632" y="1463040"/>
            <a:ext cx="2377440" cy="475488"/>
          </a:xfrm>
          <a:prstGeom prst="rect">
            <a:avLst/>
          </a:prstGeom>
          <a:noFill/>
          <a:ln/>
        </p:spPr>
        <p:txBody>
          <a:bodyPr wrap="square" rtlCol="0" anchor="ctr"/>
          <a:lstStyle/>
          <a:p>
            <a:pPr indent="0" marL="0">
              <a:buNone/>
            </a:pPr>
            <a:r>
              <a:rPr lang="en-US" sz="1200" b="1" dirty="0">
                <a:solidFill>
                  <a:srgbClr val="534AB7"/>
                </a:solidFill>
              </a:rPr>
              <a:t>訓練データに含まれる</a:t>
            </a:r>
            <a:endParaRPr lang="en-US" sz="1200" dirty="0"/>
          </a:p>
          <a:p>
            <a:pPr indent="0" marL="0">
              <a:buNone/>
            </a:pPr>
            <a:r>
              <a:rPr lang="en-US" sz="1200" b="1" dirty="0">
                <a:solidFill>
                  <a:srgbClr val="534AB7"/>
                </a:solidFill>
              </a:rPr>
              <a:t>推論パターン</a:t>
            </a:r>
            <a:endParaRPr lang="en-US" sz="1200" dirty="0"/>
          </a:p>
        </p:txBody>
      </p:sp>
      <p:sp>
        <p:nvSpPr>
          <p:cNvPr id="9" name="Shape 7"/>
          <p:cNvSpPr/>
          <p:nvPr/>
        </p:nvSpPr>
        <p:spPr>
          <a:xfrm>
            <a:off x="484632" y="2011680"/>
            <a:ext cx="2377440" cy="402336"/>
          </a:xfrm>
          <a:prstGeom prst="roundRect">
            <a:avLst>
              <a:gd name="adj" fmla="val 9091"/>
            </a:avLst>
          </a:prstGeom>
          <a:solidFill>
            <a:srgbClr val="EEEDFE"/>
          </a:solidFill>
          <a:ln w="5080">
            <a:solidFill>
              <a:srgbClr val="534AB7"/>
            </a:solidFill>
            <a:prstDash val="solid"/>
          </a:ln>
        </p:spPr>
      </p:sp>
      <p:sp>
        <p:nvSpPr>
          <p:cNvPr id="10" name="Text 8"/>
          <p:cNvSpPr/>
          <p:nvPr/>
        </p:nvSpPr>
        <p:spPr>
          <a:xfrm>
            <a:off x="548640" y="2048256"/>
            <a:ext cx="2249424" cy="329184"/>
          </a:xfrm>
          <a:prstGeom prst="rect">
            <a:avLst/>
          </a:prstGeom>
          <a:noFill/>
          <a:ln/>
        </p:spPr>
        <p:txBody>
          <a:bodyPr wrap="square" rtlCol="0" anchor="ctr"/>
          <a:lstStyle/>
          <a:p>
            <a:pPr indent="0" marL="0">
              <a:buNone/>
            </a:pPr>
            <a:r>
              <a:rPr lang="en-US" sz="1000" b="1" dirty="0">
                <a:solidFill>
                  <a:srgbClr val="534AB7"/>
                </a:solidFill>
              </a:rPr>
              <a:t xml:space="preserve">数学 </a:t>
            </a:r>
            <a:pPr indent="0" marL="0">
              <a:buNone/>
            </a:pPr>
            <a:r>
              <a:rPr lang="en-US" sz="950" dirty="0">
                <a:solidFill>
                  <a:srgbClr val="4B5563"/>
                </a:solidFill>
              </a:rPr>
              <a:t>AならB → 証明パターン</a:t>
            </a:r>
            <a:endParaRPr lang="en-US" sz="1000" dirty="0"/>
          </a:p>
        </p:txBody>
      </p:sp>
      <p:sp>
        <p:nvSpPr>
          <p:cNvPr id="11" name="Shape 9"/>
          <p:cNvSpPr/>
          <p:nvPr/>
        </p:nvSpPr>
        <p:spPr>
          <a:xfrm>
            <a:off x="484632" y="2523744"/>
            <a:ext cx="2377440" cy="402336"/>
          </a:xfrm>
          <a:prstGeom prst="roundRect">
            <a:avLst>
              <a:gd name="adj" fmla="val 9091"/>
            </a:avLst>
          </a:prstGeom>
          <a:solidFill>
            <a:srgbClr val="EEEDFE"/>
          </a:solidFill>
          <a:ln w="5080">
            <a:solidFill>
              <a:srgbClr val="534AB7"/>
            </a:solidFill>
            <a:prstDash val="solid"/>
          </a:ln>
        </p:spPr>
      </p:sp>
      <p:sp>
        <p:nvSpPr>
          <p:cNvPr id="12" name="Text 10"/>
          <p:cNvSpPr/>
          <p:nvPr/>
        </p:nvSpPr>
        <p:spPr>
          <a:xfrm>
            <a:off x="548640" y="2560320"/>
            <a:ext cx="2249424" cy="329184"/>
          </a:xfrm>
          <a:prstGeom prst="rect">
            <a:avLst/>
          </a:prstGeom>
          <a:noFill/>
          <a:ln/>
        </p:spPr>
        <p:txBody>
          <a:bodyPr wrap="square" rtlCol="0" anchor="ctr"/>
          <a:lstStyle/>
          <a:p>
            <a:pPr indent="0" marL="0">
              <a:buNone/>
            </a:pPr>
            <a:r>
              <a:rPr lang="en-US" sz="1000" b="1" dirty="0">
                <a:solidFill>
                  <a:srgbClr val="534AB7"/>
                </a:solidFill>
              </a:rPr>
              <a:t xml:space="preserve">コード </a:t>
            </a:r>
            <a:pPr indent="0" marL="0">
              <a:buNone/>
            </a:pPr>
            <a:r>
              <a:rPr lang="en-US" sz="950" dirty="0">
                <a:solidFill>
                  <a:srgbClr val="4B5563"/>
                </a:solidFill>
              </a:rPr>
              <a:t>入力→処理→出力</a:t>
            </a:r>
            <a:endParaRPr lang="en-US" sz="1000" dirty="0"/>
          </a:p>
        </p:txBody>
      </p:sp>
      <p:sp>
        <p:nvSpPr>
          <p:cNvPr id="13" name="Shape 11"/>
          <p:cNvSpPr/>
          <p:nvPr/>
        </p:nvSpPr>
        <p:spPr>
          <a:xfrm>
            <a:off x="484632" y="3035808"/>
            <a:ext cx="2377440" cy="402336"/>
          </a:xfrm>
          <a:prstGeom prst="roundRect">
            <a:avLst>
              <a:gd name="adj" fmla="val 9091"/>
            </a:avLst>
          </a:prstGeom>
          <a:solidFill>
            <a:srgbClr val="EEEDFE"/>
          </a:solidFill>
          <a:ln w="5080">
            <a:solidFill>
              <a:srgbClr val="534AB7"/>
            </a:solidFill>
            <a:prstDash val="solid"/>
          </a:ln>
        </p:spPr>
      </p:sp>
      <p:sp>
        <p:nvSpPr>
          <p:cNvPr id="14" name="Text 12"/>
          <p:cNvSpPr/>
          <p:nvPr/>
        </p:nvSpPr>
        <p:spPr>
          <a:xfrm>
            <a:off x="548640" y="3072384"/>
            <a:ext cx="2249424" cy="329184"/>
          </a:xfrm>
          <a:prstGeom prst="rect">
            <a:avLst/>
          </a:prstGeom>
          <a:noFill/>
          <a:ln/>
        </p:spPr>
        <p:txBody>
          <a:bodyPr wrap="square" rtlCol="0" anchor="ctr"/>
          <a:lstStyle/>
          <a:p>
            <a:pPr indent="0" marL="0">
              <a:buNone/>
            </a:pPr>
            <a:r>
              <a:rPr lang="en-US" sz="1000" b="1" dirty="0">
                <a:solidFill>
                  <a:srgbClr val="534AB7"/>
                </a:solidFill>
              </a:rPr>
              <a:t xml:space="preserve">議論 </a:t>
            </a:r>
            <a:pPr indent="0" marL="0">
              <a:buNone/>
            </a:pPr>
            <a:r>
              <a:rPr lang="en-US" sz="950" dirty="0">
                <a:solidFill>
                  <a:srgbClr val="4B5563"/>
                </a:solidFill>
              </a:rPr>
              <a:t>前提→根拠→結論</a:t>
            </a:r>
            <a:endParaRPr lang="en-US" sz="1000" dirty="0"/>
          </a:p>
        </p:txBody>
      </p:sp>
      <p:sp>
        <p:nvSpPr>
          <p:cNvPr id="15" name="Shape 13"/>
          <p:cNvSpPr/>
          <p:nvPr/>
        </p:nvSpPr>
        <p:spPr>
          <a:xfrm>
            <a:off x="484632" y="3547872"/>
            <a:ext cx="2377440" cy="402336"/>
          </a:xfrm>
          <a:prstGeom prst="roundRect">
            <a:avLst>
              <a:gd name="adj" fmla="val 9091"/>
            </a:avLst>
          </a:prstGeom>
          <a:solidFill>
            <a:srgbClr val="EEEDFE"/>
          </a:solidFill>
          <a:ln w="5080">
            <a:solidFill>
              <a:srgbClr val="534AB7"/>
            </a:solidFill>
            <a:prstDash val="solid"/>
          </a:ln>
        </p:spPr>
      </p:sp>
      <p:sp>
        <p:nvSpPr>
          <p:cNvPr id="16" name="Text 14"/>
          <p:cNvSpPr/>
          <p:nvPr/>
        </p:nvSpPr>
        <p:spPr>
          <a:xfrm>
            <a:off x="548640" y="3584448"/>
            <a:ext cx="2249424" cy="329184"/>
          </a:xfrm>
          <a:prstGeom prst="rect">
            <a:avLst/>
          </a:prstGeom>
          <a:noFill/>
          <a:ln/>
        </p:spPr>
        <p:txBody>
          <a:bodyPr wrap="square" rtlCol="0" anchor="ctr"/>
          <a:lstStyle/>
          <a:p>
            <a:pPr indent="0" marL="0">
              <a:buNone/>
            </a:pPr>
            <a:r>
              <a:rPr lang="en-US" sz="1000" b="1" dirty="0">
                <a:solidFill>
                  <a:srgbClr val="534AB7"/>
                </a:solidFill>
              </a:rPr>
              <a:t xml:space="preserve">因果 </a:t>
            </a:r>
            <a:pPr indent="0" marL="0">
              <a:buNone/>
            </a:pPr>
            <a:r>
              <a:rPr lang="en-US" sz="950" dirty="0">
                <a:solidFill>
                  <a:srgbClr val="4B5563"/>
                </a:solidFill>
              </a:rPr>
              <a:t>原因→結果</a:t>
            </a:r>
            <a:endParaRPr lang="en-US" sz="1000" dirty="0"/>
          </a:p>
        </p:txBody>
      </p:sp>
      <p:sp>
        <p:nvSpPr>
          <p:cNvPr id="17" name="Shape 15"/>
          <p:cNvSpPr/>
          <p:nvPr/>
        </p:nvSpPr>
        <p:spPr>
          <a:xfrm>
            <a:off x="484632" y="4059936"/>
            <a:ext cx="2377440" cy="402336"/>
          </a:xfrm>
          <a:prstGeom prst="roundRect">
            <a:avLst>
              <a:gd name="adj" fmla="val 9091"/>
            </a:avLst>
          </a:prstGeom>
          <a:solidFill>
            <a:srgbClr val="EEEDFE"/>
          </a:solidFill>
          <a:ln w="5080">
            <a:solidFill>
              <a:srgbClr val="534AB7"/>
            </a:solidFill>
            <a:prstDash val="solid"/>
          </a:ln>
        </p:spPr>
      </p:sp>
      <p:sp>
        <p:nvSpPr>
          <p:cNvPr id="18" name="Text 16"/>
          <p:cNvSpPr/>
          <p:nvPr/>
        </p:nvSpPr>
        <p:spPr>
          <a:xfrm>
            <a:off x="548640" y="4096512"/>
            <a:ext cx="2249424" cy="329184"/>
          </a:xfrm>
          <a:prstGeom prst="rect">
            <a:avLst/>
          </a:prstGeom>
          <a:noFill/>
          <a:ln/>
        </p:spPr>
        <p:txBody>
          <a:bodyPr wrap="square" rtlCol="0" anchor="ctr"/>
          <a:lstStyle/>
          <a:p>
            <a:pPr indent="0" marL="0">
              <a:buNone/>
            </a:pPr>
            <a:r>
              <a:rPr lang="en-US" sz="1000" b="1" dirty="0">
                <a:solidFill>
                  <a:srgbClr val="534AB7"/>
                </a:solidFill>
              </a:rPr>
              <a:t xml:space="preserve">QA </a:t>
            </a:r>
            <a:pPr indent="0" marL="0">
              <a:buNone/>
            </a:pPr>
            <a:r>
              <a:rPr lang="en-US" sz="950" dirty="0">
                <a:solidFill>
                  <a:srgbClr val="4B5563"/>
                </a:solidFill>
              </a:rPr>
              <a:t>問題→解答</a:t>
            </a:r>
            <a:endParaRPr lang="en-US" sz="1000" dirty="0"/>
          </a:p>
        </p:txBody>
      </p:sp>
      <p:sp>
        <p:nvSpPr>
          <p:cNvPr id="19" name="Shape 17"/>
          <p:cNvSpPr/>
          <p:nvPr/>
        </p:nvSpPr>
        <p:spPr>
          <a:xfrm>
            <a:off x="3145536" y="1408176"/>
            <a:ext cx="2651760" cy="321868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20" name="Shape 18"/>
          <p:cNvSpPr/>
          <p:nvPr/>
        </p:nvSpPr>
        <p:spPr>
          <a:xfrm>
            <a:off x="3145536" y="1408176"/>
            <a:ext cx="45720" cy="3218688"/>
          </a:xfrm>
          <a:prstGeom prst="rect">
            <a:avLst/>
          </a:prstGeom>
          <a:solidFill>
            <a:srgbClr val="BA7517"/>
          </a:solidFill>
          <a:ln w="12700">
            <a:solidFill>
              <a:srgbClr val="BA7517"/>
            </a:solidFill>
            <a:prstDash val="solid"/>
          </a:ln>
        </p:spPr>
      </p:sp>
      <p:sp>
        <p:nvSpPr>
          <p:cNvPr id="21" name="Text 19"/>
          <p:cNvSpPr/>
          <p:nvPr/>
        </p:nvSpPr>
        <p:spPr>
          <a:xfrm>
            <a:off x="3282696" y="1463040"/>
            <a:ext cx="2377440" cy="475488"/>
          </a:xfrm>
          <a:prstGeom prst="rect">
            <a:avLst/>
          </a:prstGeom>
          <a:noFill/>
          <a:ln/>
        </p:spPr>
        <p:txBody>
          <a:bodyPr wrap="square" rtlCol="0" anchor="ctr"/>
          <a:lstStyle/>
          <a:p>
            <a:pPr indent="0" marL="0">
              <a:buNone/>
            </a:pPr>
            <a:r>
              <a:rPr lang="en-US" sz="1200" b="1" dirty="0">
                <a:solidFill>
                  <a:srgbClr val="BA7517"/>
                </a:solidFill>
              </a:rPr>
              <a:t>次単語予測で</a:t>
            </a:r>
            <a:endParaRPr lang="en-US" sz="1200" dirty="0"/>
          </a:p>
          <a:p>
            <a:pPr indent="0" marL="0">
              <a:buNone/>
            </a:pPr>
            <a:r>
              <a:rPr lang="en-US" sz="1200" b="1" dirty="0">
                <a:solidFill>
                  <a:srgbClr val="BA7517"/>
                </a:solidFill>
              </a:rPr>
              <a:t>損失を最小化</a:t>
            </a:r>
            <a:endParaRPr lang="en-US" sz="1200" dirty="0"/>
          </a:p>
        </p:txBody>
      </p:sp>
      <p:sp>
        <p:nvSpPr>
          <p:cNvPr id="22" name="Text 20"/>
          <p:cNvSpPr/>
          <p:nvPr/>
        </p:nvSpPr>
        <p:spPr>
          <a:xfrm>
            <a:off x="3282696" y="2029968"/>
            <a:ext cx="2395728" cy="2505456"/>
          </a:xfrm>
          <a:prstGeom prst="rect">
            <a:avLst/>
          </a:prstGeom>
          <a:noFill/>
          <a:ln/>
        </p:spPr>
        <p:txBody>
          <a:bodyPr wrap="square" rtlCol="0" anchor="ctr"/>
          <a:lstStyle/>
          <a:p>
            <a:pPr indent="0" marL="0">
              <a:spcAft>
                <a:spcPts val="400"/>
              </a:spcAft>
              <a:buNone/>
            </a:pPr>
            <a:r>
              <a:rPr lang="en-US" sz="1050" dirty="0">
                <a:solidFill>
                  <a:srgbClr val="1F2937"/>
                </a:solidFill>
              </a:rPr>
              <a:t>「AならB」という文章の
次単語を予測するには
</a:t>
            </a:r>
            <a:pPr indent="0" marL="0">
              <a:spcAft>
                <a:spcPts val="400"/>
              </a:spcAft>
              <a:buNone/>
            </a:pPr>
            <a:r>
              <a:rPr lang="en-US" sz="1050" b="1" dirty="0">
                <a:solidFill>
                  <a:srgbClr val="BA7517"/>
                </a:solidFill>
              </a:rPr>
              <a:t>論理展開そのものを</a:t>
            </a:r>
            <a:endParaRPr lang="en-US" sz="1050" dirty="0"/>
          </a:p>
          <a:p>
            <a:pPr indent="0" marL="0">
              <a:spcAft>
                <a:spcPts val="400"/>
              </a:spcAft>
              <a:buNone/>
            </a:pPr>
            <a:r>
              <a:rPr lang="en-US" sz="1050" b="1" dirty="0">
                <a:solidFill>
                  <a:srgbClr val="BA7517"/>
                </a:solidFill>
              </a:rPr>
              <a:t>内部で模倣する必要がある</a:t>
            </a:r>
            <a:endParaRPr lang="en-US" sz="1050" dirty="0"/>
          </a:p>
          <a:p>
            <a:pPr indent="0" marL="0">
              <a:spcAft>
                <a:spcPts val="400"/>
              </a:spcAft>
              <a:buNone/>
            </a:pPr>
            <a:r>
              <a:rPr lang="en-US" sz="1050" dirty="0">
                <a:solidFill>
                  <a:srgbClr val="1F2937"/>
                </a:solidFill>
              </a:rPr>
              <a:t>
モデルは明示的に
「論理を学べ」と
言われていない。
しかし損失を最小化する
唯一の方法が
</a:t>
            </a:r>
            <a:pPr indent="0" marL="0">
              <a:spcAft>
                <a:spcPts val="400"/>
              </a:spcAft>
              <a:buNone/>
            </a:pPr>
            <a:r>
              <a:rPr lang="en-US" sz="1050" b="1" dirty="0">
                <a:solidFill>
                  <a:srgbClr val="BA7517"/>
                </a:solidFill>
              </a:rPr>
              <a:t>推論パターンの圧縮</a:t>
            </a:r>
            <a:pPr indent="0" marL="0">
              <a:spcAft>
                <a:spcPts val="400"/>
              </a:spcAft>
              <a:buNone/>
            </a:pPr>
            <a:endParaRPr lang="en-US" sz="1050" dirty="0"/>
          </a:p>
          <a:p>
            <a:pPr indent="0" marL="0">
              <a:spcAft>
                <a:spcPts val="400"/>
              </a:spcAft>
              <a:buNone/>
            </a:pPr>
            <a:r>
              <a:rPr lang="en-US" sz="1050" dirty="0">
                <a:solidFill>
                  <a:srgbClr val="1F2937"/>
                </a:solidFill>
              </a:rPr>
              <a:t>だった。</a:t>
            </a:r>
            <a:endParaRPr lang="en-US" sz="1050" dirty="0"/>
          </a:p>
        </p:txBody>
      </p:sp>
      <p:sp>
        <p:nvSpPr>
          <p:cNvPr id="23" name="Shape 21"/>
          <p:cNvSpPr/>
          <p:nvPr/>
        </p:nvSpPr>
        <p:spPr>
          <a:xfrm>
            <a:off x="3054096" y="3017520"/>
            <a:ext cx="91440" cy="0"/>
          </a:xfrm>
          <a:prstGeom prst="line">
            <a:avLst/>
          </a:prstGeom>
          <a:noFill/>
          <a:ln w="19050">
            <a:solidFill>
              <a:srgbClr val="6B7280"/>
            </a:solidFill>
            <a:prstDash val="solid"/>
          </a:ln>
        </p:spPr>
      </p:sp>
      <p:sp>
        <p:nvSpPr>
          <p:cNvPr id="24" name="Text 22"/>
          <p:cNvSpPr/>
          <p:nvPr/>
        </p:nvSpPr>
        <p:spPr>
          <a:xfrm>
            <a:off x="2999232" y="2907792"/>
            <a:ext cx="201168" cy="219456"/>
          </a:xfrm>
          <a:prstGeom prst="rect">
            <a:avLst/>
          </a:prstGeom>
          <a:noFill/>
          <a:ln/>
        </p:spPr>
        <p:txBody>
          <a:bodyPr wrap="square" rtlCol="0" anchor="ctr"/>
          <a:lstStyle/>
          <a:p>
            <a:pPr algn="ctr" indent="0" marL="0">
              <a:buNone/>
            </a:pPr>
            <a:r>
              <a:rPr lang="en-US" sz="1600" b="1" dirty="0">
                <a:solidFill>
                  <a:srgbClr val="6B7280"/>
                </a:solidFill>
              </a:rPr>
              <a:t>→</a:t>
            </a:r>
            <a:endParaRPr lang="en-US" sz="1600" dirty="0"/>
          </a:p>
        </p:txBody>
      </p:sp>
      <p:sp>
        <p:nvSpPr>
          <p:cNvPr id="25" name="Shape 23"/>
          <p:cNvSpPr/>
          <p:nvPr/>
        </p:nvSpPr>
        <p:spPr>
          <a:xfrm>
            <a:off x="5943600" y="1408176"/>
            <a:ext cx="2834640" cy="321868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26" name="Shape 24"/>
          <p:cNvSpPr/>
          <p:nvPr/>
        </p:nvSpPr>
        <p:spPr>
          <a:xfrm>
            <a:off x="5943600" y="1408176"/>
            <a:ext cx="45720" cy="3218688"/>
          </a:xfrm>
          <a:prstGeom prst="rect">
            <a:avLst/>
          </a:prstGeom>
          <a:solidFill>
            <a:srgbClr val="0F6E56"/>
          </a:solidFill>
          <a:ln w="12700">
            <a:solidFill>
              <a:srgbClr val="0F6E56"/>
            </a:solidFill>
            <a:prstDash val="solid"/>
          </a:ln>
        </p:spPr>
      </p:sp>
      <p:sp>
        <p:nvSpPr>
          <p:cNvPr id="27" name="Text 25"/>
          <p:cNvSpPr/>
          <p:nvPr/>
        </p:nvSpPr>
        <p:spPr>
          <a:xfrm>
            <a:off x="6080760" y="1463040"/>
            <a:ext cx="2578608" cy="475488"/>
          </a:xfrm>
          <a:prstGeom prst="rect">
            <a:avLst/>
          </a:prstGeom>
          <a:noFill/>
          <a:ln/>
        </p:spPr>
        <p:txBody>
          <a:bodyPr wrap="square" rtlCol="0" anchor="ctr"/>
          <a:lstStyle/>
          <a:p>
            <a:pPr indent="0" marL="0">
              <a:buNone/>
            </a:pPr>
            <a:r>
              <a:rPr lang="en-US" sz="1200" b="1" dirty="0">
                <a:solidFill>
                  <a:srgbClr val="0F6E56"/>
                </a:solidFill>
              </a:rPr>
              <a:t>結果として</a:t>
            </a:r>
            <a:endParaRPr lang="en-US" sz="1200" dirty="0"/>
          </a:p>
          <a:p>
            <a:pPr indent="0" marL="0">
              <a:buNone/>
            </a:pPr>
            <a:r>
              <a:rPr lang="en-US" sz="1200" b="1" dirty="0">
                <a:solidFill>
                  <a:srgbClr val="0F6E56"/>
                </a:solidFill>
              </a:rPr>
              <a:t>生まれた振る舞い</a:t>
            </a:r>
            <a:endParaRPr lang="en-US" sz="1200" dirty="0"/>
          </a:p>
        </p:txBody>
      </p:sp>
      <p:sp>
        <p:nvSpPr>
          <p:cNvPr id="28" name="Shape 26"/>
          <p:cNvSpPr/>
          <p:nvPr/>
        </p:nvSpPr>
        <p:spPr>
          <a:xfrm>
            <a:off x="6080760" y="2011680"/>
            <a:ext cx="2578608" cy="402336"/>
          </a:xfrm>
          <a:prstGeom prst="roundRect">
            <a:avLst>
              <a:gd name="adj" fmla="val 9091"/>
            </a:avLst>
          </a:prstGeom>
          <a:solidFill>
            <a:srgbClr val="E1F5EE"/>
          </a:solidFill>
          <a:ln w="5080">
            <a:solidFill>
              <a:srgbClr val="0F6E56"/>
            </a:solidFill>
            <a:prstDash val="solid"/>
          </a:ln>
        </p:spPr>
      </p:sp>
      <p:sp>
        <p:nvSpPr>
          <p:cNvPr id="29" name="Text 27"/>
          <p:cNvSpPr/>
          <p:nvPr/>
        </p:nvSpPr>
        <p:spPr>
          <a:xfrm>
            <a:off x="6144768" y="2048256"/>
            <a:ext cx="2450592" cy="329184"/>
          </a:xfrm>
          <a:prstGeom prst="rect">
            <a:avLst/>
          </a:prstGeom>
          <a:noFill/>
          <a:ln/>
        </p:spPr>
        <p:txBody>
          <a:bodyPr wrap="square" rtlCol="0" anchor="ctr"/>
          <a:lstStyle/>
          <a:p>
            <a:pPr indent="0" marL="0">
              <a:buNone/>
            </a:pPr>
            <a:r>
              <a:rPr lang="en-US" sz="1000" b="1" dirty="0">
                <a:solidFill>
                  <a:srgbClr val="0F6E56"/>
                </a:solidFill>
              </a:rPr>
              <a:t xml:space="preserve">論理的推論 </a:t>
            </a:r>
            <a:pPr indent="0" marL="0">
              <a:buNone/>
            </a:pPr>
            <a:r>
              <a:rPr lang="en-US" sz="950" dirty="0">
                <a:solidFill>
                  <a:srgbClr val="4B5563"/>
                </a:solidFill>
              </a:rPr>
              <a:t>前提から結論を導く</a:t>
            </a:r>
            <a:endParaRPr lang="en-US" sz="1000" dirty="0"/>
          </a:p>
        </p:txBody>
      </p:sp>
      <p:sp>
        <p:nvSpPr>
          <p:cNvPr id="30" name="Shape 28"/>
          <p:cNvSpPr/>
          <p:nvPr/>
        </p:nvSpPr>
        <p:spPr>
          <a:xfrm>
            <a:off x="6080760" y="2523744"/>
            <a:ext cx="2578608" cy="402336"/>
          </a:xfrm>
          <a:prstGeom prst="roundRect">
            <a:avLst>
              <a:gd name="adj" fmla="val 9091"/>
            </a:avLst>
          </a:prstGeom>
          <a:solidFill>
            <a:srgbClr val="E1F5EE"/>
          </a:solidFill>
          <a:ln w="5080">
            <a:solidFill>
              <a:srgbClr val="0F6E56"/>
            </a:solidFill>
            <a:prstDash val="solid"/>
          </a:ln>
        </p:spPr>
      </p:sp>
      <p:sp>
        <p:nvSpPr>
          <p:cNvPr id="31" name="Text 29"/>
          <p:cNvSpPr/>
          <p:nvPr/>
        </p:nvSpPr>
        <p:spPr>
          <a:xfrm>
            <a:off x="6144768" y="2560320"/>
            <a:ext cx="2450592" cy="329184"/>
          </a:xfrm>
          <a:prstGeom prst="rect">
            <a:avLst/>
          </a:prstGeom>
          <a:noFill/>
          <a:ln/>
        </p:spPr>
        <p:txBody>
          <a:bodyPr wrap="square" rtlCol="0" anchor="ctr"/>
          <a:lstStyle/>
          <a:p>
            <a:pPr indent="0" marL="0">
              <a:buNone/>
            </a:pPr>
            <a:r>
              <a:rPr lang="en-US" sz="1000" b="1" dirty="0">
                <a:solidFill>
                  <a:srgbClr val="0F6E56"/>
                </a:solidFill>
              </a:rPr>
              <a:t xml:space="preserve">数学的解法 </a:t>
            </a:r>
            <a:pPr indent="0" marL="0">
              <a:buNone/>
            </a:pPr>
            <a:r>
              <a:rPr lang="en-US" sz="950" dirty="0">
                <a:solidFill>
                  <a:srgbClr val="4B5563"/>
                </a:solidFill>
              </a:rPr>
              <a:t>ステップごとに展開</a:t>
            </a:r>
            <a:endParaRPr lang="en-US" sz="1000" dirty="0"/>
          </a:p>
        </p:txBody>
      </p:sp>
      <p:sp>
        <p:nvSpPr>
          <p:cNvPr id="32" name="Shape 30"/>
          <p:cNvSpPr/>
          <p:nvPr/>
        </p:nvSpPr>
        <p:spPr>
          <a:xfrm>
            <a:off x="6080760" y="3035808"/>
            <a:ext cx="2578608" cy="402336"/>
          </a:xfrm>
          <a:prstGeom prst="roundRect">
            <a:avLst>
              <a:gd name="adj" fmla="val 9091"/>
            </a:avLst>
          </a:prstGeom>
          <a:solidFill>
            <a:srgbClr val="E1F5EE"/>
          </a:solidFill>
          <a:ln w="5080">
            <a:solidFill>
              <a:srgbClr val="0F6E56"/>
            </a:solidFill>
            <a:prstDash val="solid"/>
          </a:ln>
        </p:spPr>
      </p:sp>
      <p:sp>
        <p:nvSpPr>
          <p:cNvPr id="33" name="Text 31"/>
          <p:cNvSpPr/>
          <p:nvPr/>
        </p:nvSpPr>
        <p:spPr>
          <a:xfrm>
            <a:off x="6144768" y="3072384"/>
            <a:ext cx="2450592" cy="329184"/>
          </a:xfrm>
          <a:prstGeom prst="rect">
            <a:avLst/>
          </a:prstGeom>
          <a:noFill/>
          <a:ln/>
        </p:spPr>
        <p:txBody>
          <a:bodyPr wrap="square" rtlCol="0" anchor="ctr"/>
          <a:lstStyle/>
          <a:p>
            <a:pPr indent="0" marL="0">
              <a:buNone/>
            </a:pPr>
            <a:r>
              <a:rPr lang="en-US" sz="1000" b="1" dirty="0">
                <a:solidFill>
                  <a:srgbClr val="0F6E56"/>
                </a:solidFill>
              </a:rPr>
              <a:t xml:space="preserve">コード生成 </a:t>
            </a:r>
            <a:pPr indent="0" marL="0">
              <a:buNone/>
            </a:pPr>
            <a:r>
              <a:rPr lang="en-US" sz="950" dirty="0">
                <a:solidFill>
                  <a:srgbClr val="4B5563"/>
                </a:solidFill>
              </a:rPr>
              <a:t>仕様を実装に変換</a:t>
            </a:r>
            <a:endParaRPr lang="en-US" sz="1000" dirty="0"/>
          </a:p>
        </p:txBody>
      </p:sp>
      <p:sp>
        <p:nvSpPr>
          <p:cNvPr id="34" name="Shape 32"/>
          <p:cNvSpPr/>
          <p:nvPr/>
        </p:nvSpPr>
        <p:spPr>
          <a:xfrm>
            <a:off x="6080760" y="3547872"/>
            <a:ext cx="2578608" cy="402336"/>
          </a:xfrm>
          <a:prstGeom prst="roundRect">
            <a:avLst>
              <a:gd name="adj" fmla="val 9091"/>
            </a:avLst>
          </a:prstGeom>
          <a:solidFill>
            <a:srgbClr val="E1F5EE"/>
          </a:solidFill>
          <a:ln w="5080">
            <a:solidFill>
              <a:srgbClr val="0F6E56"/>
            </a:solidFill>
            <a:prstDash val="solid"/>
          </a:ln>
        </p:spPr>
      </p:sp>
      <p:sp>
        <p:nvSpPr>
          <p:cNvPr id="35" name="Text 33"/>
          <p:cNvSpPr/>
          <p:nvPr/>
        </p:nvSpPr>
        <p:spPr>
          <a:xfrm>
            <a:off x="6144768" y="3584448"/>
            <a:ext cx="2450592" cy="329184"/>
          </a:xfrm>
          <a:prstGeom prst="rect">
            <a:avLst/>
          </a:prstGeom>
          <a:noFill/>
          <a:ln/>
        </p:spPr>
        <p:txBody>
          <a:bodyPr wrap="square" rtlCol="0" anchor="ctr"/>
          <a:lstStyle/>
          <a:p>
            <a:pPr indent="0" marL="0">
              <a:buNone/>
            </a:pPr>
            <a:r>
              <a:rPr lang="en-US" sz="1000" b="1" dirty="0">
                <a:solidFill>
                  <a:srgbClr val="0F6E56"/>
                </a:solidFill>
              </a:rPr>
              <a:t xml:space="preserve">類推・比較 </a:t>
            </a:r>
            <a:pPr indent="0" marL="0">
              <a:buNone/>
            </a:pPr>
            <a:r>
              <a:rPr lang="en-US" sz="950" dirty="0">
                <a:solidFill>
                  <a:srgbClr val="4B5563"/>
                </a:solidFill>
              </a:rPr>
              <a:t>概念間の関係を活用</a:t>
            </a:r>
            <a:endParaRPr lang="en-US" sz="1000" dirty="0"/>
          </a:p>
        </p:txBody>
      </p:sp>
      <p:sp>
        <p:nvSpPr>
          <p:cNvPr id="36" name="Shape 34"/>
          <p:cNvSpPr/>
          <p:nvPr/>
        </p:nvSpPr>
        <p:spPr>
          <a:xfrm>
            <a:off x="6080760" y="4059936"/>
            <a:ext cx="2578608" cy="402336"/>
          </a:xfrm>
          <a:prstGeom prst="roundRect">
            <a:avLst>
              <a:gd name="adj" fmla="val 9091"/>
            </a:avLst>
          </a:prstGeom>
          <a:solidFill>
            <a:srgbClr val="E1F5EE"/>
          </a:solidFill>
          <a:ln w="5080">
            <a:solidFill>
              <a:srgbClr val="0F6E56"/>
            </a:solidFill>
            <a:prstDash val="solid"/>
          </a:ln>
        </p:spPr>
      </p:sp>
      <p:sp>
        <p:nvSpPr>
          <p:cNvPr id="37" name="Text 35"/>
          <p:cNvSpPr/>
          <p:nvPr/>
        </p:nvSpPr>
        <p:spPr>
          <a:xfrm>
            <a:off x="6144768" y="4096512"/>
            <a:ext cx="2450592" cy="329184"/>
          </a:xfrm>
          <a:prstGeom prst="rect">
            <a:avLst/>
          </a:prstGeom>
          <a:noFill/>
          <a:ln/>
        </p:spPr>
        <p:txBody>
          <a:bodyPr wrap="square" rtlCol="0" anchor="ctr"/>
          <a:lstStyle/>
          <a:p>
            <a:pPr indent="0" marL="0">
              <a:buNone/>
            </a:pPr>
            <a:r>
              <a:rPr lang="en-US" sz="1000" b="1" dirty="0">
                <a:solidFill>
                  <a:srgbClr val="0F6E56"/>
                </a:solidFill>
              </a:rPr>
              <a:t xml:space="preserve">説明生成 </a:t>
            </a:r>
            <a:pPr indent="0" marL="0">
              <a:buNone/>
            </a:pPr>
            <a:r>
              <a:rPr lang="en-US" sz="950" dirty="0">
                <a:solidFill>
                  <a:srgbClr val="4B5563"/>
                </a:solidFill>
              </a:rPr>
              <a:t>原因と結果を接続</a:t>
            </a:r>
            <a:endParaRPr lang="en-US" sz="1000" dirty="0"/>
          </a:p>
        </p:txBody>
      </p:sp>
      <p:sp>
        <p:nvSpPr>
          <p:cNvPr id="38" name="Text 36"/>
          <p:cNvSpPr/>
          <p:nvPr/>
        </p:nvSpPr>
        <p:spPr>
          <a:xfrm>
            <a:off x="5833872" y="2907792"/>
            <a:ext cx="201168" cy="219456"/>
          </a:xfrm>
          <a:prstGeom prst="rect">
            <a:avLst/>
          </a:prstGeom>
          <a:noFill/>
          <a:ln/>
        </p:spPr>
        <p:txBody>
          <a:bodyPr wrap="square" rtlCol="0" anchor="ctr"/>
          <a:lstStyle/>
          <a:p>
            <a:pPr algn="ctr" indent="0" marL="0">
              <a:buNone/>
            </a:pPr>
            <a:r>
              <a:rPr lang="en-US" sz="1600" b="1" dirty="0">
                <a:solidFill>
                  <a:srgbClr val="6B7280"/>
                </a:solidFill>
              </a:rPr>
              <a:t>→</a:t>
            </a:r>
            <a:endParaRPr lang="en-US" sz="1600" dirty="0"/>
          </a:p>
        </p:txBody>
      </p:sp>
      <p:sp>
        <p:nvSpPr>
          <p:cNvPr id="39" name="Shape 37"/>
          <p:cNvSpPr/>
          <p:nvPr/>
        </p:nvSpPr>
        <p:spPr>
          <a:xfrm>
            <a:off x="347472" y="4718304"/>
            <a:ext cx="8430768" cy="438912"/>
          </a:xfrm>
          <a:prstGeom prst="roundRect">
            <a:avLst>
              <a:gd name="adj" fmla="val 10417"/>
            </a:avLst>
          </a:prstGeom>
          <a:solidFill>
            <a:srgbClr val="1A1A2E"/>
          </a:solidFill>
          <a:ln w="6350">
            <a:solidFill>
              <a:srgbClr val="D85A30"/>
            </a:solidFill>
            <a:prstDash val="solid"/>
          </a:ln>
        </p:spPr>
      </p:sp>
      <p:sp>
        <p:nvSpPr>
          <p:cNvPr id="40" name="Text 38"/>
          <p:cNvSpPr/>
          <p:nvPr/>
        </p:nvSpPr>
        <p:spPr>
          <a:xfrm>
            <a:off x="502920" y="4754880"/>
            <a:ext cx="8229600" cy="365760"/>
          </a:xfrm>
          <a:prstGeom prst="rect">
            <a:avLst/>
          </a:prstGeom>
          <a:noFill/>
          <a:ln/>
        </p:spPr>
        <p:txBody>
          <a:bodyPr wrap="square" rtlCol="0" anchor="ctr"/>
          <a:lstStyle/>
          <a:p>
            <a:pPr indent="0" marL="0">
              <a:buNone/>
            </a:pPr>
            <a:r>
              <a:rPr lang="en-US" sz="1100" b="1" dirty="0">
                <a:solidFill>
                  <a:srgbClr val="D85A30"/>
                </a:solidFill>
              </a:rPr>
              <a:t>結論：</a:t>
            </a:r>
            <a:pPr indent="0" marL="0">
              <a:buNone/>
            </a:pPr>
            <a:r>
              <a:rPr lang="en-US" sz="1100" dirty="0">
                <a:solidFill>
                  <a:srgbClr val="C0C8E8"/>
                </a:solidFill>
              </a:rPr>
              <a:t>「次単語予測」という目標が、訓練データ中の論理・因果・証明のパターンを重みに圧縮させた。</a:t>
            </a:r>
            <a:pPr indent="0" marL="0">
              <a:buNone/>
            </a:pPr>
            <a:r>
              <a:rPr lang="en-US" sz="1100" b="1" dirty="0">
                <a:solidFill>
                  <a:srgbClr val="FFFFFF"/>
                </a:solidFill>
              </a:rPr>
              <a:t xml:space="preserve">  これが「推論しているように見える」メカニズムの正体。</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21 / 28</a:t>
            </a:r>
            <a:endParaRPr lang="en-US" sz="900" dirty="0"/>
          </a:p>
        </p:txBody>
      </p:sp>
      <p:sp>
        <p:nvSpPr>
          <p:cNvPr id="3" name="Shape 1"/>
          <p:cNvSpPr/>
          <p:nvPr/>
        </p:nvSpPr>
        <p:spPr>
          <a:xfrm>
            <a:off x="347472" y="274320"/>
            <a:ext cx="54864" cy="475488"/>
          </a:xfrm>
          <a:prstGeom prst="rect">
            <a:avLst/>
          </a:prstGeom>
          <a:solidFill>
            <a:srgbClr val="D85A30"/>
          </a:solidFill>
          <a:ln w="12700">
            <a:solidFill>
              <a:srgbClr val="D85A30"/>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なぜ「推論しているように見える」のか</a:t>
            </a:r>
            <a:endParaRPr lang="en-US" sz="2000" dirty="0"/>
          </a:p>
        </p:txBody>
      </p:sp>
      <p:sp>
        <p:nvSpPr>
          <p:cNvPr id="5" name="Shape 3"/>
          <p:cNvSpPr/>
          <p:nvPr/>
        </p:nvSpPr>
        <p:spPr>
          <a:xfrm>
            <a:off x="347472" y="932688"/>
            <a:ext cx="8430768" cy="71323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6" name="Shape 4"/>
          <p:cNvSpPr/>
          <p:nvPr/>
        </p:nvSpPr>
        <p:spPr>
          <a:xfrm>
            <a:off x="347472" y="932688"/>
            <a:ext cx="45720" cy="713232"/>
          </a:xfrm>
          <a:prstGeom prst="rect">
            <a:avLst/>
          </a:prstGeom>
          <a:solidFill>
            <a:srgbClr val="D85A30"/>
          </a:solidFill>
          <a:ln w="12700">
            <a:solidFill>
              <a:srgbClr val="D85A30"/>
            </a:solidFill>
            <a:prstDash val="solid"/>
          </a:ln>
        </p:spPr>
      </p:sp>
      <p:sp>
        <p:nvSpPr>
          <p:cNvPr id="7" name="Text 5"/>
          <p:cNvSpPr/>
          <p:nvPr/>
        </p:nvSpPr>
        <p:spPr>
          <a:xfrm>
            <a:off x="502920" y="987552"/>
            <a:ext cx="8229600" cy="585216"/>
          </a:xfrm>
          <a:prstGeom prst="rect">
            <a:avLst/>
          </a:prstGeom>
          <a:noFill/>
          <a:ln/>
        </p:spPr>
        <p:txBody>
          <a:bodyPr wrap="square" rtlCol="0" anchor="ctr"/>
          <a:lstStyle/>
          <a:p>
            <a:pPr indent="0" marL="0">
              <a:buNone/>
            </a:pPr>
            <a:r>
              <a:rPr lang="en-US" sz="1200" b="1" dirty="0">
                <a:solidFill>
                  <a:srgbClr val="D85A30"/>
                </a:solidFill>
              </a:rPr>
              <a:t>Transformer がやっていること：</a:t>
            </a:r>
            <a:pPr indent="0" marL="0">
              <a:buNone/>
            </a:pPr>
            <a:r>
              <a:rPr lang="en-US" sz="1200" dirty="0">
                <a:solidFill>
                  <a:srgbClr val="1F2937"/>
                </a:solidFill>
              </a:rPr>
              <a:t xml:space="preserve">次の単語を予測する </a:t>
            </a:r>
            <a:pPr indent="0" marL="0">
              <a:buNone/>
            </a:pPr>
            <a:r>
              <a:rPr lang="en-US" sz="1200" b="1" dirty="0">
                <a:solidFill>
                  <a:srgbClr val="D85A30"/>
                </a:solidFill>
              </a:rPr>
              <a:t>これだけ</a:t>
            </a:r>
            <a:pPr indent="0" marL="0">
              <a:buNone/>
            </a:pPr>
            <a:r>
              <a:rPr lang="en-US" sz="1200" dirty="0">
                <a:solidFill>
                  <a:srgbClr val="1F2937"/>
                </a:solidFill>
              </a:rPr>
              <a:t>。しかし訓練データに含まれる数学・コード・議論などの大量の推論例を模倣した結果、</a:t>
            </a:r>
            <a:pPr indent="0" marL="0">
              <a:buNone/>
            </a:pPr>
            <a:r>
              <a:rPr lang="en-US" sz="1200" b="1" dirty="0">
                <a:solidFill>
                  <a:srgbClr val="D85A30"/>
                </a:solidFill>
              </a:rPr>
              <a:t>思考軌道が重みに圧縮</a:t>
            </a:r>
            <a:pPr indent="0" marL="0">
              <a:buNone/>
            </a:pPr>
            <a:r>
              <a:rPr lang="en-US" sz="1200" dirty="0">
                <a:solidFill>
                  <a:srgbClr val="1F2937"/>
                </a:solidFill>
              </a:rPr>
              <a:t>される。</a:t>
            </a:r>
            <a:endParaRPr lang="en-US" sz="1200" dirty="0"/>
          </a:p>
        </p:txBody>
      </p:sp>
      <p:sp>
        <p:nvSpPr>
          <p:cNvPr id="8" name="Shape 6"/>
          <p:cNvSpPr/>
          <p:nvPr/>
        </p:nvSpPr>
        <p:spPr>
          <a:xfrm>
            <a:off x="347472" y="1773936"/>
            <a:ext cx="4041648" cy="1828800"/>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9" name="Shape 7"/>
          <p:cNvSpPr/>
          <p:nvPr/>
        </p:nvSpPr>
        <p:spPr>
          <a:xfrm>
            <a:off x="347472" y="1773936"/>
            <a:ext cx="45720" cy="1828800"/>
          </a:xfrm>
          <a:prstGeom prst="rect">
            <a:avLst/>
          </a:prstGeom>
          <a:solidFill>
            <a:srgbClr val="0F6E56"/>
          </a:solidFill>
          <a:ln w="12700">
            <a:solidFill>
              <a:srgbClr val="0F6E56"/>
            </a:solidFill>
            <a:prstDash val="solid"/>
          </a:ln>
        </p:spPr>
      </p:sp>
      <p:sp>
        <p:nvSpPr>
          <p:cNvPr id="10" name="Text 8"/>
          <p:cNvSpPr/>
          <p:nvPr/>
        </p:nvSpPr>
        <p:spPr>
          <a:xfrm>
            <a:off x="484632" y="1828800"/>
            <a:ext cx="3767328" cy="329184"/>
          </a:xfrm>
          <a:prstGeom prst="rect">
            <a:avLst/>
          </a:prstGeom>
          <a:noFill/>
          <a:ln/>
        </p:spPr>
        <p:txBody>
          <a:bodyPr wrap="square" rtlCol="0" anchor="ctr"/>
          <a:lstStyle/>
          <a:p>
            <a:pPr indent="0" marL="0">
              <a:buNone/>
            </a:pPr>
            <a:r>
              <a:rPr lang="en-US" sz="1200" b="1" dirty="0">
                <a:solidFill>
                  <a:srgbClr val="0F6E56"/>
                </a:solidFill>
              </a:rPr>
              <a:t>圧縮されているパターン</a:t>
            </a:r>
            <a:endParaRPr lang="en-US" sz="1200" dirty="0"/>
          </a:p>
        </p:txBody>
      </p:sp>
      <p:sp>
        <p:nvSpPr>
          <p:cNvPr id="11" name="Text 9"/>
          <p:cNvSpPr/>
          <p:nvPr/>
        </p:nvSpPr>
        <p:spPr>
          <a:xfrm>
            <a:off x="484632" y="2194560"/>
            <a:ext cx="3767328" cy="246888"/>
          </a:xfrm>
          <a:prstGeom prst="rect">
            <a:avLst/>
          </a:prstGeom>
          <a:noFill/>
          <a:ln/>
        </p:spPr>
        <p:txBody>
          <a:bodyPr wrap="square" rtlCol="0" anchor="ctr"/>
          <a:lstStyle/>
          <a:p>
            <a:pPr indent="0" marL="0">
              <a:buNone/>
            </a:pPr>
            <a:r>
              <a:rPr lang="en-US" sz="1100" dirty="0">
                <a:solidFill>
                  <a:srgbClr val="1F2937"/>
                </a:solidFill>
              </a:rPr>
              <a:t>・  数学的証明（前提 → 結論）</a:t>
            </a:r>
            <a:endParaRPr lang="en-US" sz="1100" dirty="0"/>
          </a:p>
        </p:txBody>
      </p:sp>
      <p:sp>
        <p:nvSpPr>
          <p:cNvPr id="12" name="Text 10"/>
          <p:cNvSpPr/>
          <p:nvPr/>
        </p:nvSpPr>
        <p:spPr>
          <a:xfrm>
            <a:off x="484632" y="2450592"/>
            <a:ext cx="3767328" cy="246888"/>
          </a:xfrm>
          <a:prstGeom prst="rect">
            <a:avLst/>
          </a:prstGeom>
          <a:noFill/>
          <a:ln/>
        </p:spPr>
        <p:txBody>
          <a:bodyPr wrap="square" rtlCol="0" anchor="ctr"/>
          <a:lstStyle/>
          <a:p>
            <a:pPr indent="0" marL="0">
              <a:buNone/>
            </a:pPr>
            <a:r>
              <a:rPr lang="en-US" sz="1100" dirty="0">
                <a:solidFill>
                  <a:srgbClr val="1F2937"/>
                </a:solidFill>
              </a:rPr>
              <a:t>・  プログラムの構造（if → else）</a:t>
            </a:r>
            <a:endParaRPr lang="en-US" sz="1100" dirty="0"/>
          </a:p>
        </p:txBody>
      </p:sp>
      <p:sp>
        <p:nvSpPr>
          <p:cNvPr id="13" name="Text 11"/>
          <p:cNvSpPr/>
          <p:nvPr/>
        </p:nvSpPr>
        <p:spPr>
          <a:xfrm>
            <a:off x="484632" y="2706624"/>
            <a:ext cx="3767328" cy="246888"/>
          </a:xfrm>
          <a:prstGeom prst="rect">
            <a:avLst/>
          </a:prstGeom>
          <a:noFill/>
          <a:ln/>
        </p:spPr>
        <p:txBody>
          <a:bodyPr wrap="square" rtlCol="0" anchor="ctr"/>
          <a:lstStyle/>
          <a:p>
            <a:pPr indent="0" marL="0">
              <a:buNone/>
            </a:pPr>
            <a:r>
              <a:rPr lang="en-US" sz="1100" dirty="0">
                <a:solidFill>
                  <a:srgbClr val="1F2937"/>
                </a:solidFill>
              </a:rPr>
              <a:t>・  論理的議論（根拠 → 主張）</a:t>
            </a:r>
            <a:endParaRPr lang="en-US" sz="1100" dirty="0"/>
          </a:p>
        </p:txBody>
      </p:sp>
      <p:sp>
        <p:nvSpPr>
          <p:cNvPr id="14" name="Text 12"/>
          <p:cNvSpPr/>
          <p:nvPr/>
        </p:nvSpPr>
        <p:spPr>
          <a:xfrm>
            <a:off x="484632" y="2962656"/>
            <a:ext cx="3767328" cy="246888"/>
          </a:xfrm>
          <a:prstGeom prst="rect">
            <a:avLst/>
          </a:prstGeom>
          <a:noFill/>
          <a:ln/>
        </p:spPr>
        <p:txBody>
          <a:bodyPr wrap="square" rtlCol="0" anchor="ctr"/>
          <a:lstStyle/>
          <a:p>
            <a:pPr indent="0" marL="0">
              <a:buNone/>
            </a:pPr>
            <a:r>
              <a:rPr lang="en-US" sz="1100" dirty="0">
                <a:solidFill>
                  <a:srgbClr val="1F2937"/>
                </a:solidFill>
              </a:rPr>
              <a:t>・  因果関係（原因 → 結果）</a:t>
            </a:r>
            <a:endParaRPr lang="en-US" sz="1100" dirty="0"/>
          </a:p>
        </p:txBody>
      </p:sp>
      <p:sp>
        <p:nvSpPr>
          <p:cNvPr id="15" name="Text 13"/>
          <p:cNvSpPr/>
          <p:nvPr/>
        </p:nvSpPr>
        <p:spPr>
          <a:xfrm>
            <a:off x="484632" y="3218688"/>
            <a:ext cx="3767328" cy="246888"/>
          </a:xfrm>
          <a:prstGeom prst="rect">
            <a:avLst/>
          </a:prstGeom>
          <a:noFill/>
          <a:ln/>
        </p:spPr>
        <p:txBody>
          <a:bodyPr wrap="square" rtlCol="0" anchor="ctr"/>
          <a:lstStyle/>
          <a:p>
            <a:pPr indent="0" marL="0">
              <a:buNone/>
            </a:pPr>
            <a:r>
              <a:rPr lang="en-US" sz="1100" dirty="0">
                <a:solidFill>
                  <a:srgbClr val="1F2937"/>
                </a:solidFill>
              </a:rPr>
              <a:t>・  対話の構造（質問 → 回答）</a:t>
            </a:r>
            <a:endParaRPr lang="en-US" sz="1100" dirty="0"/>
          </a:p>
        </p:txBody>
      </p:sp>
      <p:sp>
        <p:nvSpPr>
          <p:cNvPr id="16" name="Shape 14"/>
          <p:cNvSpPr/>
          <p:nvPr/>
        </p:nvSpPr>
        <p:spPr>
          <a:xfrm>
            <a:off x="4526280" y="1773936"/>
            <a:ext cx="4251960" cy="1828800"/>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17" name="Shape 15"/>
          <p:cNvSpPr/>
          <p:nvPr/>
        </p:nvSpPr>
        <p:spPr>
          <a:xfrm>
            <a:off x="4526280" y="1773936"/>
            <a:ext cx="45720" cy="1828800"/>
          </a:xfrm>
          <a:prstGeom prst="rect">
            <a:avLst/>
          </a:prstGeom>
          <a:solidFill>
            <a:srgbClr val="D85A30"/>
          </a:solidFill>
          <a:ln w="12700">
            <a:solidFill>
              <a:srgbClr val="D85A30"/>
            </a:solidFill>
            <a:prstDash val="solid"/>
          </a:ln>
        </p:spPr>
      </p:sp>
      <p:sp>
        <p:nvSpPr>
          <p:cNvPr id="18" name="Text 16"/>
          <p:cNvSpPr/>
          <p:nvPr/>
        </p:nvSpPr>
        <p:spPr>
          <a:xfrm>
            <a:off x="4663440" y="1828800"/>
            <a:ext cx="3977640" cy="329184"/>
          </a:xfrm>
          <a:prstGeom prst="rect">
            <a:avLst/>
          </a:prstGeom>
          <a:noFill/>
          <a:ln/>
        </p:spPr>
        <p:txBody>
          <a:bodyPr wrap="square" rtlCol="0" anchor="ctr"/>
          <a:lstStyle/>
          <a:p>
            <a:pPr indent="0" marL="0">
              <a:buNone/>
            </a:pPr>
            <a:r>
              <a:rPr lang="en-US" sz="1200" b="1" dirty="0">
                <a:solidFill>
                  <a:srgbClr val="D85A30"/>
                </a:solidFill>
              </a:rPr>
              <a:t>幻覚（Hallucination）の理由</a:t>
            </a:r>
            <a:endParaRPr lang="en-US" sz="1200" dirty="0"/>
          </a:p>
        </p:txBody>
      </p:sp>
      <p:sp>
        <p:nvSpPr>
          <p:cNvPr id="19" name="Text 17"/>
          <p:cNvSpPr/>
          <p:nvPr/>
        </p:nvSpPr>
        <p:spPr>
          <a:xfrm>
            <a:off x="4663440" y="2194560"/>
            <a:ext cx="3977640" cy="1335024"/>
          </a:xfrm>
          <a:prstGeom prst="rect">
            <a:avLst/>
          </a:prstGeom>
          <a:noFill/>
          <a:ln/>
        </p:spPr>
        <p:txBody>
          <a:bodyPr wrap="square" rtlCol="0" anchor="ctr"/>
          <a:lstStyle/>
          <a:p>
            <a:pPr indent="0" marL="0">
              <a:spcAft>
                <a:spcPts val="400"/>
              </a:spcAft>
              <a:buNone/>
            </a:pPr>
            <a:r>
              <a:rPr lang="en-US" sz="1100" dirty="0">
                <a:solidFill>
                  <a:srgbClr val="1F2937"/>
                </a:solidFill>
              </a:rPr>
              <a:t>モデルは「正しいことを言う」のではなく</a:t>
            </a:r>
            <a:endParaRPr lang="en-US" sz="1100" dirty="0"/>
          </a:p>
          <a:p>
            <a:pPr indent="0" marL="0">
              <a:spcAft>
                <a:spcPts val="400"/>
              </a:spcAft>
              <a:buNone/>
            </a:pPr>
            <a:r>
              <a:rPr lang="en-US" sz="1100" dirty="0">
                <a:solidFill>
                  <a:srgbClr val="1F2937"/>
                </a:solidFill>
              </a:rPr>
              <a:t>「</a:t>
            </a:r>
            <a:endParaRPr lang="en-US" sz="1100" dirty="0"/>
          </a:p>
          <a:p>
            <a:pPr indent="0" marL="0">
              <a:spcAft>
                <a:spcPts val="400"/>
              </a:spcAft>
              <a:buNone/>
            </a:pPr>
            <a:r>
              <a:rPr lang="en-US" sz="1100" b="1" dirty="0">
                <a:solidFill>
                  <a:srgbClr val="D85A30"/>
                </a:solidFill>
              </a:rPr>
              <a:t>続きとして自然なトークン</a:t>
            </a:r>
            <a:pPr indent="0" marL="0">
              <a:spcAft>
                <a:spcPts val="400"/>
              </a:spcAft>
              <a:buNone/>
            </a:pPr>
            <a:r>
              <a:rPr lang="en-US" sz="1100" dirty="0">
                <a:solidFill>
                  <a:srgbClr val="1F2937"/>
                </a:solidFill>
              </a:rPr>
              <a:t>」を生成する。
訓練データにない事実を問われると、
</a:t>
            </a:r>
            <a:pPr indent="0" marL="0">
              <a:spcAft>
                <a:spcPts val="400"/>
              </a:spcAft>
              <a:buNone/>
            </a:pPr>
            <a:r>
              <a:rPr lang="en-US" sz="1100" b="1" dirty="0">
                <a:solidFill>
                  <a:srgbClr val="1F2937"/>
                </a:solidFill>
              </a:rPr>
              <a:t>統計的に「もっともらしい」内容</a:t>
            </a:r>
            <a:pPr indent="0" marL="0">
              <a:spcAft>
                <a:spcPts val="400"/>
              </a:spcAft>
              <a:buNone/>
            </a:pPr>
            <a:r>
              <a:rPr lang="en-US" sz="1100" dirty="0">
                <a:solidFill>
                  <a:srgbClr val="1F2937"/>
                </a:solidFill>
              </a:rPr>
              <a:t>が</a:t>
            </a:r>
            <a:endParaRPr lang="en-US" sz="1100" dirty="0"/>
          </a:p>
          <a:p>
            <a:pPr indent="0" marL="0">
              <a:spcAft>
                <a:spcPts val="400"/>
              </a:spcAft>
              <a:buNone/>
            </a:pPr>
            <a:r>
              <a:rPr lang="en-US" sz="1100" dirty="0">
                <a:solidFill>
                  <a:srgbClr val="1F2937"/>
                </a:solidFill>
              </a:rPr>
              <a:t>事実に反することがある。</a:t>
            </a:r>
            <a:endParaRPr lang="en-US" sz="1100" dirty="0"/>
          </a:p>
        </p:txBody>
      </p:sp>
      <p:sp>
        <p:nvSpPr>
          <p:cNvPr id="20" name="Shape 18"/>
          <p:cNvSpPr/>
          <p:nvPr/>
        </p:nvSpPr>
        <p:spPr>
          <a:xfrm>
            <a:off x="347472" y="3730752"/>
            <a:ext cx="2029968" cy="566928"/>
          </a:xfrm>
          <a:prstGeom prst="roundRect">
            <a:avLst>
              <a:gd name="adj" fmla="val 8065"/>
            </a:avLst>
          </a:prstGeom>
          <a:solidFill>
            <a:srgbClr val="6B7280"/>
          </a:solidFill>
          <a:ln w="12700">
            <a:solidFill>
              <a:srgbClr val="6B7280"/>
            </a:solidFill>
            <a:prstDash val="solid"/>
          </a:ln>
        </p:spPr>
      </p:sp>
      <p:sp>
        <p:nvSpPr>
          <p:cNvPr id="21" name="Text 19"/>
          <p:cNvSpPr/>
          <p:nvPr/>
        </p:nvSpPr>
        <p:spPr>
          <a:xfrm>
            <a:off x="347472" y="3730752"/>
            <a:ext cx="2029968" cy="566928"/>
          </a:xfrm>
          <a:prstGeom prst="rect">
            <a:avLst/>
          </a:prstGeom>
          <a:noFill/>
          <a:ln/>
        </p:spPr>
        <p:txBody>
          <a:bodyPr wrap="square" lIns="25400" tIns="25400" rIns="25400" bIns="25400" rtlCol="0" anchor="ctr"/>
          <a:lstStyle/>
          <a:p>
            <a:pPr algn="ctr" indent="0" marL="0">
              <a:buNone/>
            </a:pPr>
            <a:r>
              <a:rPr lang="en-US" sz="1000" b="1" dirty="0">
                <a:solidFill>
                  <a:srgbClr val="FFFFFF"/>
                </a:solidFill>
              </a:rPr>
              <a:t>大量テキスト</a:t>
            </a:r>
            <a:endParaRPr lang="en-US" sz="1000" dirty="0"/>
          </a:p>
          <a:p>
            <a:pPr algn="ctr" indent="0" marL="0">
              <a:buNone/>
            </a:pPr>
            <a:r>
              <a:rPr lang="en-US" sz="1000" b="1" dirty="0">
                <a:solidFill>
                  <a:srgbClr val="FFFFFF"/>
                </a:solidFill>
              </a:rPr>
              <a:t>（論理・証明・議論）</a:t>
            </a:r>
            <a:endParaRPr lang="en-US" sz="1000" dirty="0"/>
          </a:p>
        </p:txBody>
      </p:sp>
      <p:sp>
        <p:nvSpPr>
          <p:cNvPr id="22" name="Shape 20"/>
          <p:cNvSpPr/>
          <p:nvPr/>
        </p:nvSpPr>
        <p:spPr>
          <a:xfrm>
            <a:off x="2377440" y="4014216"/>
            <a:ext cx="118872" cy="0"/>
          </a:xfrm>
          <a:prstGeom prst="line">
            <a:avLst/>
          </a:prstGeom>
          <a:noFill/>
          <a:ln w="12700">
            <a:solidFill>
              <a:srgbClr val="6B7280"/>
            </a:solidFill>
            <a:prstDash val="solid"/>
          </a:ln>
        </p:spPr>
      </p:sp>
      <p:sp>
        <p:nvSpPr>
          <p:cNvPr id="23" name="Shape 21"/>
          <p:cNvSpPr/>
          <p:nvPr/>
        </p:nvSpPr>
        <p:spPr>
          <a:xfrm>
            <a:off x="2496312" y="3730752"/>
            <a:ext cx="2029968" cy="566928"/>
          </a:xfrm>
          <a:prstGeom prst="roundRect">
            <a:avLst>
              <a:gd name="adj" fmla="val 8065"/>
            </a:avLst>
          </a:prstGeom>
          <a:solidFill>
            <a:srgbClr val="534AB7"/>
          </a:solidFill>
          <a:ln w="12700">
            <a:solidFill>
              <a:srgbClr val="534AB7"/>
            </a:solidFill>
            <a:prstDash val="solid"/>
          </a:ln>
        </p:spPr>
      </p:sp>
      <p:sp>
        <p:nvSpPr>
          <p:cNvPr id="24" name="Text 22"/>
          <p:cNvSpPr/>
          <p:nvPr/>
        </p:nvSpPr>
        <p:spPr>
          <a:xfrm>
            <a:off x="2496312" y="3730752"/>
            <a:ext cx="2029968" cy="566928"/>
          </a:xfrm>
          <a:prstGeom prst="rect">
            <a:avLst/>
          </a:prstGeom>
          <a:noFill/>
          <a:ln/>
        </p:spPr>
        <p:txBody>
          <a:bodyPr wrap="square" lIns="25400" tIns="25400" rIns="25400" bIns="25400" rtlCol="0" anchor="ctr"/>
          <a:lstStyle/>
          <a:p>
            <a:pPr algn="ctr" indent="0" marL="0">
              <a:buNone/>
            </a:pPr>
            <a:r>
              <a:rPr lang="en-US" sz="1000" b="1" dirty="0">
                <a:solidFill>
                  <a:srgbClr val="FFFFFF"/>
                </a:solidFill>
              </a:rPr>
              <a:t>次単語予測で</a:t>
            </a:r>
            <a:endParaRPr lang="en-US" sz="1000" dirty="0"/>
          </a:p>
          <a:p>
            <a:pPr algn="ctr" indent="0" marL="0">
              <a:buNone/>
            </a:pPr>
            <a:r>
              <a:rPr lang="en-US" sz="1000" b="1" dirty="0">
                <a:solidFill>
                  <a:srgbClr val="FFFFFF"/>
                </a:solidFill>
              </a:rPr>
              <a:t>損失を最小化</a:t>
            </a:r>
            <a:endParaRPr lang="en-US" sz="1000" dirty="0"/>
          </a:p>
        </p:txBody>
      </p:sp>
      <p:sp>
        <p:nvSpPr>
          <p:cNvPr id="25" name="Shape 23"/>
          <p:cNvSpPr/>
          <p:nvPr/>
        </p:nvSpPr>
        <p:spPr>
          <a:xfrm>
            <a:off x="4526280" y="4014216"/>
            <a:ext cx="118872" cy="0"/>
          </a:xfrm>
          <a:prstGeom prst="line">
            <a:avLst/>
          </a:prstGeom>
          <a:noFill/>
          <a:ln w="12700">
            <a:solidFill>
              <a:srgbClr val="6B7280"/>
            </a:solidFill>
            <a:prstDash val="solid"/>
          </a:ln>
        </p:spPr>
      </p:sp>
      <p:sp>
        <p:nvSpPr>
          <p:cNvPr id="26" name="Shape 24"/>
          <p:cNvSpPr/>
          <p:nvPr/>
        </p:nvSpPr>
        <p:spPr>
          <a:xfrm>
            <a:off x="4645152" y="3730752"/>
            <a:ext cx="2029968" cy="566928"/>
          </a:xfrm>
          <a:prstGeom prst="roundRect">
            <a:avLst>
              <a:gd name="adj" fmla="val 8065"/>
            </a:avLst>
          </a:prstGeom>
          <a:solidFill>
            <a:srgbClr val="BA7517"/>
          </a:solidFill>
          <a:ln w="12700">
            <a:solidFill>
              <a:srgbClr val="BA7517"/>
            </a:solidFill>
            <a:prstDash val="solid"/>
          </a:ln>
        </p:spPr>
      </p:sp>
      <p:sp>
        <p:nvSpPr>
          <p:cNvPr id="27" name="Text 25"/>
          <p:cNvSpPr/>
          <p:nvPr/>
        </p:nvSpPr>
        <p:spPr>
          <a:xfrm>
            <a:off x="4645152" y="3730752"/>
            <a:ext cx="2029968" cy="566928"/>
          </a:xfrm>
          <a:prstGeom prst="rect">
            <a:avLst/>
          </a:prstGeom>
          <a:noFill/>
          <a:ln/>
        </p:spPr>
        <p:txBody>
          <a:bodyPr wrap="square" lIns="25400" tIns="25400" rIns="25400" bIns="25400" rtlCol="0" anchor="ctr"/>
          <a:lstStyle/>
          <a:p>
            <a:pPr algn="ctr" indent="0" marL="0">
              <a:buNone/>
            </a:pPr>
            <a:r>
              <a:rPr lang="en-US" sz="1000" b="1" dirty="0">
                <a:solidFill>
                  <a:srgbClr val="FFFFFF"/>
                </a:solidFill>
              </a:rPr>
              <a:t>大量の推論例を模倣</a:t>
            </a:r>
            <a:endParaRPr lang="en-US" sz="1000" dirty="0"/>
          </a:p>
          <a:p>
            <a:pPr algn="ctr" indent="0" marL="0">
              <a:buNone/>
            </a:pPr>
            <a:r>
              <a:rPr lang="en-US" sz="1000" b="1" dirty="0">
                <a:solidFill>
                  <a:srgbClr val="FFFFFF"/>
                </a:solidFill>
              </a:rPr>
              <a:t>→パターンが重みに圧縮</a:t>
            </a:r>
            <a:endParaRPr lang="en-US" sz="1000" dirty="0"/>
          </a:p>
        </p:txBody>
      </p:sp>
      <p:sp>
        <p:nvSpPr>
          <p:cNvPr id="28" name="Shape 26"/>
          <p:cNvSpPr/>
          <p:nvPr/>
        </p:nvSpPr>
        <p:spPr>
          <a:xfrm>
            <a:off x="6675120" y="4014216"/>
            <a:ext cx="118872" cy="0"/>
          </a:xfrm>
          <a:prstGeom prst="line">
            <a:avLst/>
          </a:prstGeom>
          <a:noFill/>
          <a:ln w="12700">
            <a:solidFill>
              <a:srgbClr val="6B7280"/>
            </a:solidFill>
            <a:prstDash val="solid"/>
          </a:ln>
        </p:spPr>
      </p:sp>
      <p:sp>
        <p:nvSpPr>
          <p:cNvPr id="29" name="Shape 27"/>
          <p:cNvSpPr/>
          <p:nvPr/>
        </p:nvSpPr>
        <p:spPr>
          <a:xfrm>
            <a:off x="6793992" y="3730752"/>
            <a:ext cx="2029968" cy="566928"/>
          </a:xfrm>
          <a:prstGeom prst="roundRect">
            <a:avLst>
              <a:gd name="adj" fmla="val 8065"/>
            </a:avLst>
          </a:prstGeom>
          <a:solidFill>
            <a:srgbClr val="0F6E56"/>
          </a:solidFill>
          <a:ln w="12700">
            <a:solidFill>
              <a:srgbClr val="0F6E56"/>
            </a:solidFill>
            <a:prstDash val="solid"/>
          </a:ln>
        </p:spPr>
      </p:sp>
      <p:sp>
        <p:nvSpPr>
          <p:cNvPr id="30" name="Text 28"/>
          <p:cNvSpPr/>
          <p:nvPr/>
        </p:nvSpPr>
        <p:spPr>
          <a:xfrm>
            <a:off x="6793992" y="3730752"/>
            <a:ext cx="2029968" cy="566928"/>
          </a:xfrm>
          <a:prstGeom prst="rect">
            <a:avLst/>
          </a:prstGeom>
          <a:noFill/>
          <a:ln/>
        </p:spPr>
        <p:txBody>
          <a:bodyPr wrap="square" lIns="25400" tIns="25400" rIns="25400" bIns="25400" rtlCol="0" anchor="ctr"/>
          <a:lstStyle/>
          <a:p>
            <a:pPr algn="ctr" indent="0" marL="0">
              <a:buNone/>
            </a:pPr>
            <a:r>
              <a:rPr lang="en-US" sz="1000" b="1" dirty="0">
                <a:solidFill>
                  <a:srgbClr val="FFFFFF"/>
                </a:solidFill>
              </a:rPr>
              <a:t>推論しているように</a:t>
            </a:r>
            <a:endParaRPr lang="en-US" sz="1000" dirty="0"/>
          </a:p>
          <a:p>
            <a:pPr algn="ctr" indent="0" marL="0">
              <a:buNone/>
            </a:pPr>
            <a:r>
              <a:rPr lang="en-US" sz="1000" b="1" dirty="0">
                <a:solidFill>
                  <a:srgbClr val="FFFFFF"/>
                </a:solidFill>
              </a:rPr>
              <a:t>見える出力</a:t>
            </a:r>
            <a:endParaRPr lang="en-US" sz="1000" dirty="0"/>
          </a:p>
        </p:txBody>
      </p:sp>
      <p:sp>
        <p:nvSpPr>
          <p:cNvPr id="31" name="Shape 29"/>
          <p:cNvSpPr/>
          <p:nvPr/>
        </p:nvSpPr>
        <p:spPr>
          <a:xfrm>
            <a:off x="347472" y="4407408"/>
            <a:ext cx="8430768" cy="438912"/>
          </a:xfrm>
          <a:prstGeom prst="roundRect">
            <a:avLst>
              <a:gd name="adj" fmla="val 10417"/>
            </a:avLst>
          </a:prstGeom>
          <a:solidFill>
            <a:srgbClr val="1A1A2E"/>
          </a:solidFill>
          <a:ln w="6350">
            <a:solidFill>
              <a:srgbClr val="534AB7"/>
            </a:solidFill>
            <a:prstDash val="solid"/>
          </a:ln>
        </p:spPr>
      </p:sp>
      <p:sp>
        <p:nvSpPr>
          <p:cNvPr id="32" name="Text 30"/>
          <p:cNvSpPr/>
          <p:nvPr/>
        </p:nvSpPr>
        <p:spPr>
          <a:xfrm>
            <a:off x="502920" y="4443984"/>
            <a:ext cx="8229600" cy="365760"/>
          </a:xfrm>
          <a:prstGeom prst="rect">
            <a:avLst/>
          </a:prstGeom>
          <a:noFill/>
          <a:ln/>
        </p:spPr>
        <p:txBody>
          <a:bodyPr wrap="square" rtlCol="0" anchor="ctr"/>
          <a:lstStyle/>
          <a:p>
            <a:pPr algn="ctr" indent="0" marL="0">
              <a:buNone/>
            </a:pPr>
            <a:r>
              <a:rPr lang="en-US" sz="1200" dirty="0">
                <a:solidFill>
                  <a:srgbClr val="A0A8C0"/>
                </a:solidFill>
              </a:rPr>
              <a:t>「知識を持っている」のではなく　</a:t>
            </a:r>
            <a:pPr algn="ctr" indent="0" marL="0">
              <a:buNone/>
            </a:pPr>
            <a:r>
              <a:rPr lang="en-US" sz="1200" b="1" dirty="0">
                <a:solidFill>
                  <a:srgbClr val="FFFFFF"/>
                </a:solidFill>
              </a:rPr>
              <a:t>「関係性の構造を圧縮し、思考軌道を模倣している」</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22 / 28</a:t>
            </a:r>
            <a:endParaRPr lang="en-US" sz="900" dirty="0"/>
          </a:p>
        </p:txBody>
      </p:sp>
      <p:sp>
        <p:nvSpPr>
          <p:cNvPr id="3" name="Shape 1"/>
          <p:cNvSpPr/>
          <p:nvPr/>
        </p:nvSpPr>
        <p:spPr>
          <a:xfrm>
            <a:off x="347472" y="274320"/>
            <a:ext cx="54864" cy="475488"/>
          </a:xfrm>
          <a:prstGeom prst="rect">
            <a:avLst/>
          </a:prstGeom>
          <a:solidFill>
            <a:srgbClr val="BA7517"/>
          </a:solidFill>
          <a:ln w="12700">
            <a:solidFill>
              <a:srgbClr val="BA7517"/>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次元数と表現力 — 高次元で概念を「別方向へ逃がす」</a:t>
            </a:r>
            <a:endParaRPr lang="en-US" sz="2000" dirty="0"/>
          </a:p>
        </p:txBody>
      </p:sp>
      <p:sp>
        <p:nvSpPr>
          <p:cNvPr id="5" name="Shape 3"/>
          <p:cNvSpPr/>
          <p:nvPr/>
        </p:nvSpPr>
        <p:spPr>
          <a:xfrm>
            <a:off x="347472" y="932688"/>
            <a:ext cx="2724912" cy="1298448"/>
          </a:xfrm>
          <a:prstGeom prst="rect">
            <a:avLst/>
          </a:prstGeom>
          <a:solidFill>
            <a:srgbClr val="F3F4F6"/>
          </a:solidFill>
          <a:ln w="6350">
            <a:solidFill>
              <a:srgbClr val="6B7280"/>
            </a:solidFill>
            <a:prstDash val="solid"/>
          </a:ln>
        </p:spPr>
      </p:sp>
      <p:sp>
        <p:nvSpPr>
          <p:cNvPr id="6" name="Shape 4"/>
          <p:cNvSpPr/>
          <p:nvPr/>
        </p:nvSpPr>
        <p:spPr>
          <a:xfrm>
            <a:off x="347472" y="932688"/>
            <a:ext cx="2724912" cy="36576"/>
          </a:xfrm>
          <a:prstGeom prst="rect">
            <a:avLst/>
          </a:prstGeom>
          <a:solidFill>
            <a:srgbClr val="6B7280"/>
          </a:solidFill>
          <a:ln w="12700">
            <a:solidFill>
              <a:srgbClr val="6B7280"/>
            </a:solidFill>
            <a:prstDash val="solid"/>
          </a:ln>
        </p:spPr>
      </p:sp>
      <p:sp>
        <p:nvSpPr>
          <p:cNvPr id="7" name="Text 5"/>
          <p:cNvSpPr/>
          <p:nvPr/>
        </p:nvSpPr>
        <p:spPr>
          <a:xfrm>
            <a:off x="420624" y="1005840"/>
            <a:ext cx="2560320" cy="347472"/>
          </a:xfrm>
          <a:prstGeom prst="rect">
            <a:avLst/>
          </a:prstGeom>
          <a:noFill/>
          <a:ln/>
        </p:spPr>
        <p:txBody>
          <a:bodyPr wrap="square" rtlCol="0" anchor="ctr"/>
          <a:lstStyle/>
          <a:p>
            <a:pPr algn="ctr" indent="0" marL="0">
              <a:buNone/>
            </a:pPr>
            <a:r>
              <a:rPr lang="en-US" sz="1400" b="1" dirty="0">
                <a:solidFill>
                  <a:srgbClr val="6B7280"/>
                </a:solidFill>
              </a:rPr>
              <a:t>1次元</a:t>
            </a:r>
            <a:endParaRPr lang="en-US" sz="1400" dirty="0"/>
          </a:p>
        </p:txBody>
      </p:sp>
      <p:sp>
        <p:nvSpPr>
          <p:cNvPr id="8" name="Text 6"/>
          <p:cNvSpPr/>
          <p:nvPr/>
        </p:nvSpPr>
        <p:spPr>
          <a:xfrm>
            <a:off x="420624" y="1389888"/>
            <a:ext cx="2560320" cy="749808"/>
          </a:xfrm>
          <a:prstGeom prst="rect">
            <a:avLst/>
          </a:prstGeom>
          <a:noFill/>
          <a:ln/>
        </p:spPr>
        <p:txBody>
          <a:bodyPr wrap="square" rtlCol="0" anchor="ctr"/>
          <a:lstStyle/>
          <a:p>
            <a:pPr algn="ctr" indent="0" marL="0">
              <a:buNone/>
            </a:pPr>
            <a:r>
              <a:rPr lang="en-US" sz="1100" dirty="0">
                <a:solidFill>
                  <a:srgbClr val="1F2937"/>
                </a:solidFill>
              </a:rPr>
              <a:t>直線上に全部並ぶ</a:t>
            </a:r>
            <a:endParaRPr lang="en-US" sz="1100" dirty="0"/>
          </a:p>
          <a:p>
            <a:pPr algn="ctr" indent="0" marL="0">
              <a:buNone/>
            </a:pPr>
            <a:r>
              <a:rPr lang="en-US" sz="1100" dirty="0">
                <a:solidFill>
                  <a:srgbClr val="1F2937"/>
                </a:solidFill>
              </a:rPr>
              <a:t>近い概念が重なる</a:t>
            </a:r>
            <a:endParaRPr lang="en-US" sz="1100" dirty="0"/>
          </a:p>
        </p:txBody>
      </p:sp>
      <p:sp>
        <p:nvSpPr>
          <p:cNvPr id="9" name="Shape 7"/>
          <p:cNvSpPr/>
          <p:nvPr/>
        </p:nvSpPr>
        <p:spPr>
          <a:xfrm>
            <a:off x="3218688" y="932688"/>
            <a:ext cx="2724912" cy="1298448"/>
          </a:xfrm>
          <a:prstGeom prst="rect">
            <a:avLst/>
          </a:prstGeom>
          <a:solidFill>
            <a:srgbClr val="E6F1FB"/>
          </a:solidFill>
          <a:ln w="6350">
            <a:solidFill>
              <a:srgbClr val="185FA5"/>
            </a:solidFill>
            <a:prstDash val="solid"/>
          </a:ln>
        </p:spPr>
      </p:sp>
      <p:sp>
        <p:nvSpPr>
          <p:cNvPr id="10" name="Shape 8"/>
          <p:cNvSpPr/>
          <p:nvPr/>
        </p:nvSpPr>
        <p:spPr>
          <a:xfrm>
            <a:off x="3218688" y="932688"/>
            <a:ext cx="2724912" cy="36576"/>
          </a:xfrm>
          <a:prstGeom prst="rect">
            <a:avLst/>
          </a:prstGeom>
          <a:solidFill>
            <a:srgbClr val="185FA5"/>
          </a:solidFill>
          <a:ln w="12700">
            <a:solidFill>
              <a:srgbClr val="185FA5"/>
            </a:solidFill>
            <a:prstDash val="solid"/>
          </a:ln>
        </p:spPr>
      </p:sp>
      <p:sp>
        <p:nvSpPr>
          <p:cNvPr id="11" name="Text 9"/>
          <p:cNvSpPr/>
          <p:nvPr/>
        </p:nvSpPr>
        <p:spPr>
          <a:xfrm>
            <a:off x="3291840" y="1005840"/>
            <a:ext cx="2560320" cy="347472"/>
          </a:xfrm>
          <a:prstGeom prst="rect">
            <a:avLst/>
          </a:prstGeom>
          <a:noFill/>
          <a:ln/>
        </p:spPr>
        <p:txBody>
          <a:bodyPr wrap="square" rtlCol="0" anchor="ctr"/>
          <a:lstStyle/>
          <a:p>
            <a:pPr algn="ctr" indent="0" marL="0">
              <a:buNone/>
            </a:pPr>
            <a:r>
              <a:rPr lang="en-US" sz="1400" b="1" dirty="0">
                <a:solidFill>
                  <a:srgbClr val="185FA5"/>
                </a:solidFill>
              </a:rPr>
              <a:t>2次元</a:t>
            </a:r>
            <a:endParaRPr lang="en-US" sz="1400" dirty="0"/>
          </a:p>
        </p:txBody>
      </p:sp>
      <p:sp>
        <p:nvSpPr>
          <p:cNvPr id="12" name="Text 10"/>
          <p:cNvSpPr/>
          <p:nvPr/>
        </p:nvSpPr>
        <p:spPr>
          <a:xfrm>
            <a:off x="3291840" y="1389888"/>
            <a:ext cx="2560320" cy="749808"/>
          </a:xfrm>
          <a:prstGeom prst="rect">
            <a:avLst/>
          </a:prstGeom>
          <a:noFill/>
          <a:ln/>
        </p:spPr>
        <p:txBody>
          <a:bodyPr wrap="square" rtlCol="0" anchor="ctr"/>
          <a:lstStyle/>
          <a:p>
            <a:pPr algn="ctr" indent="0" marL="0">
              <a:buNone/>
            </a:pPr>
            <a:r>
              <a:rPr lang="en-US" sz="1100" dirty="0">
                <a:solidFill>
                  <a:srgbClr val="1F2937"/>
                </a:solidFill>
              </a:rPr>
              <a:t>平面で配置</a:t>
            </a:r>
            <a:endParaRPr lang="en-US" sz="1100" dirty="0"/>
          </a:p>
          <a:p>
            <a:pPr algn="ctr" indent="0" marL="0">
              <a:buNone/>
            </a:pPr>
            <a:r>
              <a:rPr lang="en-US" sz="1100" dirty="0">
                <a:solidFill>
                  <a:srgbClr val="1F2937"/>
                </a:solidFill>
              </a:rPr>
              <a:t>近い概念が重なりやすい</a:t>
            </a:r>
            <a:endParaRPr lang="en-US" sz="1100" dirty="0"/>
          </a:p>
        </p:txBody>
      </p:sp>
      <p:sp>
        <p:nvSpPr>
          <p:cNvPr id="13" name="Shape 11"/>
          <p:cNvSpPr/>
          <p:nvPr/>
        </p:nvSpPr>
        <p:spPr>
          <a:xfrm>
            <a:off x="6089904" y="932688"/>
            <a:ext cx="2724912" cy="1298448"/>
          </a:xfrm>
          <a:prstGeom prst="rect">
            <a:avLst/>
          </a:prstGeom>
          <a:solidFill>
            <a:srgbClr val="E1F5EE"/>
          </a:solidFill>
          <a:ln w="6350">
            <a:solidFill>
              <a:srgbClr val="0F6E56"/>
            </a:solidFill>
            <a:prstDash val="solid"/>
          </a:ln>
        </p:spPr>
      </p:sp>
      <p:sp>
        <p:nvSpPr>
          <p:cNvPr id="14" name="Shape 12"/>
          <p:cNvSpPr/>
          <p:nvPr/>
        </p:nvSpPr>
        <p:spPr>
          <a:xfrm>
            <a:off x="6089904" y="932688"/>
            <a:ext cx="2724912" cy="36576"/>
          </a:xfrm>
          <a:prstGeom prst="rect">
            <a:avLst/>
          </a:prstGeom>
          <a:solidFill>
            <a:srgbClr val="0F6E56"/>
          </a:solidFill>
          <a:ln w="12700">
            <a:solidFill>
              <a:srgbClr val="0F6E56"/>
            </a:solidFill>
            <a:prstDash val="solid"/>
          </a:ln>
        </p:spPr>
      </p:sp>
      <p:sp>
        <p:nvSpPr>
          <p:cNvPr id="15" name="Text 13"/>
          <p:cNvSpPr/>
          <p:nvPr/>
        </p:nvSpPr>
        <p:spPr>
          <a:xfrm>
            <a:off x="6163056" y="1005840"/>
            <a:ext cx="2560320" cy="347472"/>
          </a:xfrm>
          <a:prstGeom prst="rect">
            <a:avLst/>
          </a:prstGeom>
          <a:noFill/>
          <a:ln/>
        </p:spPr>
        <p:txBody>
          <a:bodyPr wrap="square" rtlCol="0" anchor="ctr"/>
          <a:lstStyle/>
          <a:p>
            <a:pPr algn="ctr" indent="0" marL="0">
              <a:buNone/>
            </a:pPr>
            <a:r>
              <a:rPr lang="en-US" sz="1400" b="1" dirty="0">
                <a:solidFill>
                  <a:srgbClr val="0F6E56"/>
                </a:solidFill>
              </a:rPr>
              <a:t>高次元</a:t>
            </a:r>
            <a:endParaRPr lang="en-US" sz="1400" dirty="0"/>
          </a:p>
        </p:txBody>
      </p:sp>
      <p:sp>
        <p:nvSpPr>
          <p:cNvPr id="16" name="Text 14"/>
          <p:cNvSpPr/>
          <p:nvPr/>
        </p:nvSpPr>
        <p:spPr>
          <a:xfrm>
            <a:off x="6163056" y="1389888"/>
            <a:ext cx="2560320" cy="749808"/>
          </a:xfrm>
          <a:prstGeom prst="rect">
            <a:avLst/>
          </a:prstGeom>
          <a:noFill/>
          <a:ln/>
        </p:spPr>
        <p:txBody>
          <a:bodyPr wrap="square" rtlCol="0" anchor="ctr"/>
          <a:lstStyle/>
          <a:p>
            <a:pPr algn="ctr" indent="0" marL="0">
              <a:buNone/>
            </a:pPr>
            <a:r>
              <a:rPr lang="en-US" sz="1100" dirty="0">
                <a:solidFill>
                  <a:srgbClr val="1F2937"/>
                </a:solidFill>
              </a:rPr>
              <a:t>別方向に逃がせる</a:t>
            </a:r>
            <a:endParaRPr lang="en-US" sz="1100" dirty="0"/>
          </a:p>
          <a:p>
            <a:pPr algn="ctr" indent="0" marL="0">
              <a:buNone/>
            </a:pPr>
            <a:r>
              <a:rPr lang="en-US" sz="1100" dirty="0">
                <a:solidFill>
                  <a:srgbClr val="1F2937"/>
                </a:solidFill>
              </a:rPr>
              <a:t>概念が指数的に分離可能</a:t>
            </a:r>
            <a:endParaRPr lang="en-US" sz="1100" dirty="0"/>
          </a:p>
        </p:txBody>
      </p:sp>
      <p:sp>
        <p:nvSpPr>
          <p:cNvPr id="17" name="Shape 15"/>
          <p:cNvSpPr/>
          <p:nvPr/>
        </p:nvSpPr>
        <p:spPr>
          <a:xfrm>
            <a:off x="347472" y="2340864"/>
            <a:ext cx="8430768" cy="1316736"/>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18" name="Shape 16"/>
          <p:cNvSpPr/>
          <p:nvPr/>
        </p:nvSpPr>
        <p:spPr>
          <a:xfrm>
            <a:off x="347472" y="2340864"/>
            <a:ext cx="45720" cy="1316736"/>
          </a:xfrm>
          <a:prstGeom prst="rect">
            <a:avLst/>
          </a:prstGeom>
          <a:solidFill>
            <a:srgbClr val="0F6E56"/>
          </a:solidFill>
          <a:ln w="12700">
            <a:solidFill>
              <a:srgbClr val="0F6E56"/>
            </a:solidFill>
            <a:prstDash val="solid"/>
          </a:ln>
        </p:spPr>
      </p:sp>
      <p:sp>
        <p:nvSpPr>
          <p:cNvPr id="19" name="Text 17"/>
          <p:cNvSpPr/>
          <p:nvPr/>
        </p:nvSpPr>
        <p:spPr>
          <a:xfrm>
            <a:off x="484632" y="2395728"/>
            <a:ext cx="8229600" cy="292608"/>
          </a:xfrm>
          <a:prstGeom prst="rect">
            <a:avLst/>
          </a:prstGeom>
          <a:noFill/>
          <a:ln/>
        </p:spPr>
        <p:txBody>
          <a:bodyPr wrap="square" rtlCol="0" anchor="ctr"/>
          <a:lstStyle/>
          <a:p>
            <a:pPr indent="0" marL="0">
              <a:buNone/>
            </a:pPr>
            <a:r>
              <a:rPr lang="en-US" sz="1200" b="1" dirty="0">
                <a:solidFill>
                  <a:srgbClr val="0F6E56"/>
                </a:solidFill>
              </a:rPr>
              <a:t>高次元ベクトル空間での概念配置</a:t>
            </a:r>
            <a:endParaRPr lang="en-US" sz="1200" dirty="0"/>
          </a:p>
        </p:txBody>
      </p:sp>
      <p:sp>
        <p:nvSpPr>
          <p:cNvPr id="20" name="Shape 18"/>
          <p:cNvSpPr/>
          <p:nvPr/>
        </p:nvSpPr>
        <p:spPr>
          <a:xfrm>
            <a:off x="1005840" y="2761488"/>
            <a:ext cx="658368" cy="310896"/>
          </a:xfrm>
          <a:prstGeom prst="ellipse">
            <a:avLst/>
          </a:prstGeom>
          <a:solidFill>
            <a:srgbClr val="534AB7"/>
          </a:solidFill>
          <a:ln w="12700">
            <a:solidFill>
              <a:srgbClr val="534AB7"/>
            </a:solidFill>
            <a:prstDash val="solid"/>
          </a:ln>
        </p:spPr>
      </p:sp>
      <p:sp>
        <p:nvSpPr>
          <p:cNvPr id="21" name="Text 19"/>
          <p:cNvSpPr/>
          <p:nvPr/>
        </p:nvSpPr>
        <p:spPr>
          <a:xfrm>
            <a:off x="1005840" y="2761488"/>
            <a:ext cx="658368" cy="310896"/>
          </a:xfrm>
          <a:prstGeom prst="rect">
            <a:avLst/>
          </a:prstGeom>
          <a:noFill/>
          <a:ln/>
        </p:spPr>
        <p:txBody>
          <a:bodyPr wrap="square" lIns="0" tIns="0" rIns="0" bIns="0" rtlCol="0" anchor="ctr"/>
          <a:lstStyle/>
          <a:p>
            <a:pPr algn="ctr" indent="0" marL="0">
              <a:buNone/>
            </a:pPr>
            <a:r>
              <a:rPr lang="en-US" sz="1100" b="1" dirty="0">
                <a:solidFill>
                  <a:srgbClr val="FFFFFF"/>
                </a:solidFill>
              </a:rPr>
              <a:t>猫</a:t>
            </a:r>
            <a:endParaRPr lang="en-US" sz="1100" dirty="0"/>
          </a:p>
        </p:txBody>
      </p:sp>
      <p:sp>
        <p:nvSpPr>
          <p:cNvPr id="22" name="Shape 20"/>
          <p:cNvSpPr/>
          <p:nvPr/>
        </p:nvSpPr>
        <p:spPr>
          <a:xfrm>
            <a:off x="1828800" y="2798064"/>
            <a:ext cx="658368" cy="310896"/>
          </a:xfrm>
          <a:prstGeom prst="ellipse">
            <a:avLst/>
          </a:prstGeom>
          <a:solidFill>
            <a:srgbClr val="185FA5"/>
          </a:solidFill>
          <a:ln w="12700">
            <a:solidFill>
              <a:srgbClr val="185FA5"/>
            </a:solidFill>
            <a:prstDash val="solid"/>
          </a:ln>
        </p:spPr>
      </p:sp>
      <p:sp>
        <p:nvSpPr>
          <p:cNvPr id="23" name="Text 21"/>
          <p:cNvSpPr/>
          <p:nvPr/>
        </p:nvSpPr>
        <p:spPr>
          <a:xfrm>
            <a:off x="1828800" y="2798064"/>
            <a:ext cx="658368" cy="310896"/>
          </a:xfrm>
          <a:prstGeom prst="rect">
            <a:avLst/>
          </a:prstGeom>
          <a:noFill/>
          <a:ln/>
        </p:spPr>
        <p:txBody>
          <a:bodyPr wrap="square" lIns="0" tIns="0" rIns="0" bIns="0" rtlCol="0" anchor="ctr"/>
          <a:lstStyle/>
          <a:p>
            <a:pPr algn="ctr" indent="0" marL="0">
              <a:buNone/>
            </a:pPr>
            <a:r>
              <a:rPr lang="en-US" sz="1100" b="1" dirty="0">
                <a:solidFill>
                  <a:srgbClr val="FFFFFF"/>
                </a:solidFill>
              </a:rPr>
              <a:t>犬</a:t>
            </a:r>
            <a:endParaRPr lang="en-US" sz="1100" dirty="0"/>
          </a:p>
        </p:txBody>
      </p:sp>
      <p:sp>
        <p:nvSpPr>
          <p:cNvPr id="24" name="Shape 22"/>
          <p:cNvSpPr/>
          <p:nvPr/>
        </p:nvSpPr>
        <p:spPr>
          <a:xfrm>
            <a:off x="3017520" y="2688336"/>
            <a:ext cx="658368" cy="310896"/>
          </a:xfrm>
          <a:prstGeom prst="ellipse">
            <a:avLst/>
          </a:prstGeom>
          <a:solidFill>
            <a:srgbClr val="BA7517"/>
          </a:solidFill>
          <a:ln w="12700">
            <a:solidFill>
              <a:srgbClr val="BA7517"/>
            </a:solidFill>
            <a:prstDash val="solid"/>
          </a:ln>
        </p:spPr>
      </p:sp>
      <p:sp>
        <p:nvSpPr>
          <p:cNvPr id="25" name="Text 23"/>
          <p:cNvSpPr/>
          <p:nvPr/>
        </p:nvSpPr>
        <p:spPr>
          <a:xfrm>
            <a:off x="3017520" y="2688336"/>
            <a:ext cx="658368" cy="310896"/>
          </a:xfrm>
          <a:prstGeom prst="rect">
            <a:avLst/>
          </a:prstGeom>
          <a:noFill/>
          <a:ln/>
        </p:spPr>
        <p:txBody>
          <a:bodyPr wrap="square" lIns="0" tIns="0" rIns="0" bIns="0" rtlCol="0" anchor="ctr"/>
          <a:lstStyle/>
          <a:p>
            <a:pPr algn="ctr" indent="0" marL="0">
              <a:buNone/>
            </a:pPr>
            <a:r>
              <a:rPr lang="en-US" sz="1100" b="1" dirty="0">
                <a:solidFill>
                  <a:srgbClr val="FFFFFF"/>
                </a:solidFill>
              </a:rPr>
              <a:t>自動車</a:t>
            </a:r>
            <a:endParaRPr lang="en-US" sz="1100" dirty="0"/>
          </a:p>
        </p:txBody>
      </p:sp>
      <p:sp>
        <p:nvSpPr>
          <p:cNvPr id="26" name="Shape 24"/>
          <p:cNvSpPr/>
          <p:nvPr/>
        </p:nvSpPr>
        <p:spPr>
          <a:xfrm>
            <a:off x="4572000" y="2834640"/>
            <a:ext cx="658368" cy="310896"/>
          </a:xfrm>
          <a:prstGeom prst="ellipse">
            <a:avLst/>
          </a:prstGeom>
          <a:solidFill>
            <a:srgbClr val="D85A30"/>
          </a:solidFill>
          <a:ln w="12700">
            <a:solidFill>
              <a:srgbClr val="D85A30"/>
            </a:solidFill>
            <a:prstDash val="solid"/>
          </a:ln>
        </p:spPr>
      </p:sp>
      <p:sp>
        <p:nvSpPr>
          <p:cNvPr id="27" name="Text 25"/>
          <p:cNvSpPr/>
          <p:nvPr/>
        </p:nvSpPr>
        <p:spPr>
          <a:xfrm>
            <a:off x="4572000" y="2834640"/>
            <a:ext cx="658368" cy="310896"/>
          </a:xfrm>
          <a:prstGeom prst="rect">
            <a:avLst/>
          </a:prstGeom>
          <a:noFill/>
          <a:ln/>
        </p:spPr>
        <p:txBody>
          <a:bodyPr wrap="square" lIns="0" tIns="0" rIns="0" bIns="0" rtlCol="0" anchor="ctr"/>
          <a:lstStyle/>
          <a:p>
            <a:pPr algn="ctr" indent="0" marL="0">
              <a:buNone/>
            </a:pPr>
            <a:r>
              <a:rPr lang="en-US" sz="1100" b="1" dirty="0">
                <a:solidFill>
                  <a:srgbClr val="FFFFFF"/>
                </a:solidFill>
              </a:rPr>
              <a:t>感情</a:t>
            </a:r>
            <a:endParaRPr lang="en-US" sz="1100" dirty="0"/>
          </a:p>
        </p:txBody>
      </p:sp>
      <p:sp>
        <p:nvSpPr>
          <p:cNvPr id="28" name="Shape 26"/>
          <p:cNvSpPr/>
          <p:nvPr/>
        </p:nvSpPr>
        <p:spPr>
          <a:xfrm>
            <a:off x="6035040" y="2706624"/>
            <a:ext cx="658368" cy="310896"/>
          </a:xfrm>
          <a:prstGeom prst="ellipse">
            <a:avLst/>
          </a:prstGeom>
          <a:solidFill>
            <a:srgbClr val="0F6E56"/>
          </a:solidFill>
          <a:ln w="12700">
            <a:solidFill>
              <a:srgbClr val="0F6E56"/>
            </a:solidFill>
            <a:prstDash val="solid"/>
          </a:ln>
        </p:spPr>
      </p:sp>
      <p:sp>
        <p:nvSpPr>
          <p:cNvPr id="29" name="Text 27"/>
          <p:cNvSpPr/>
          <p:nvPr/>
        </p:nvSpPr>
        <p:spPr>
          <a:xfrm>
            <a:off x="6035040" y="2706624"/>
            <a:ext cx="658368" cy="310896"/>
          </a:xfrm>
          <a:prstGeom prst="rect">
            <a:avLst/>
          </a:prstGeom>
          <a:noFill/>
          <a:ln/>
        </p:spPr>
        <p:txBody>
          <a:bodyPr wrap="square" lIns="0" tIns="0" rIns="0" bIns="0" rtlCol="0" anchor="ctr"/>
          <a:lstStyle/>
          <a:p>
            <a:pPr algn="ctr" indent="0" marL="0">
              <a:buNone/>
            </a:pPr>
            <a:r>
              <a:rPr lang="en-US" sz="1100" b="1" dirty="0">
                <a:solidFill>
                  <a:srgbClr val="FFFFFF"/>
                </a:solidFill>
              </a:rPr>
              <a:t>数学</a:t>
            </a:r>
            <a:endParaRPr lang="en-US" sz="1100" dirty="0"/>
          </a:p>
        </p:txBody>
      </p:sp>
      <p:sp>
        <p:nvSpPr>
          <p:cNvPr id="30" name="Shape 28"/>
          <p:cNvSpPr/>
          <p:nvPr/>
        </p:nvSpPr>
        <p:spPr>
          <a:xfrm>
            <a:off x="7132320" y="2816352"/>
            <a:ext cx="658368" cy="310896"/>
          </a:xfrm>
          <a:prstGeom prst="ellipse">
            <a:avLst/>
          </a:prstGeom>
          <a:solidFill>
            <a:srgbClr val="993C1D"/>
          </a:solidFill>
          <a:ln w="12700">
            <a:solidFill>
              <a:srgbClr val="993C1D"/>
            </a:solidFill>
            <a:prstDash val="solid"/>
          </a:ln>
        </p:spPr>
      </p:sp>
      <p:sp>
        <p:nvSpPr>
          <p:cNvPr id="31" name="Text 29"/>
          <p:cNvSpPr/>
          <p:nvPr/>
        </p:nvSpPr>
        <p:spPr>
          <a:xfrm>
            <a:off x="7132320" y="2816352"/>
            <a:ext cx="658368" cy="310896"/>
          </a:xfrm>
          <a:prstGeom prst="rect">
            <a:avLst/>
          </a:prstGeom>
          <a:noFill/>
          <a:ln/>
        </p:spPr>
        <p:txBody>
          <a:bodyPr wrap="square" lIns="0" tIns="0" rIns="0" bIns="0" rtlCol="0" anchor="ctr"/>
          <a:lstStyle/>
          <a:p>
            <a:pPr algn="ctr" indent="0" marL="0">
              <a:buNone/>
            </a:pPr>
            <a:r>
              <a:rPr lang="en-US" sz="1100" b="1" dirty="0">
                <a:solidFill>
                  <a:srgbClr val="FFFFFF"/>
                </a:solidFill>
              </a:rPr>
              <a:t>音楽</a:t>
            </a:r>
            <a:endParaRPr lang="en-US" sz="1100" dirty="0"/>
          </a:p>
        </p:txBody>
      </p:sp>
      <p:sp>
        <p:nvSpPr>
          <p:cNvPr id="32" name="Text 30"/>
          <p:cNvSpPr/>
          <p:nvPr/>
        </p:nvSpPr>
        <p:spPr>
          <a:xfrm>
            <a:off x="484632" y="3200400"/>
            <a:ext cx="8229600" cy="237744"/>
          </a:xfrm>
          <a:prstGeom prst="rect">
            <a:avLst/>
          </a:prstGeom>
          <a:noFill/>
          <a:ln/>
        </p:spPr>
        <p:txBody>
          <a:bodyPr wrap="square" rtlCol="0" anchor="ctr"/>
          <a:lstStyle/>
          <a:p>
            <a:pPr algn="ctr" indent="0" marL="0">
              <a:buNone/>
            </a:pPr>
            <a:r>
              <a:rPr lang="en-US" sz="1050" i="1" dirty="0">
                <a:solidFill>
                  <a:srgbClr val="4B5563"/>
                </a:solidFill>
              </a:rPr>
              <a:t>それぞれが「別方向」に配置 → コサイン距離が遠い → 区別できる</a:t>
            </a:r>
            <a:endParaRPr lang="en-US" sz="1050" dirty="0"/>
          </a:p>
        </p:txBody>
      </p:sp>
      <p:sp>
        <p:nvSpPr>
          <p:cNvPr id="33" name="Shape 31"/>
          <p:cNvSpPr/>
          <p:nvPr/>
        </p:nvSpPr>
        <p:spPr>
          <a:xfrm>
            <a:off x="347472" y="3749040"/>
            <a:ext cx="8430768" cy="932688"/>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34" name="Shape 32"/>
          <p:cNvSpPr/>
          <p:nvPr/>
        </p:nvSpPr>
        <p:spPr>
          <a:xfrm>
            <a:off x="347472" y="3749040"/>
            <a:ext cx="45720" cy="932688"/>
          </a:xfrm>
          <a:prstGeom prst="rect">
            <a:avLst/>
          </a:prstGeom>
          <a:solidFill>
            <a:srgbClr val="534AB7"/>
          </a:solidFill>
          <a:ln w="12700">
            <a:solidFill>
              <a:srgbClr val="534AB7"/>
            </a:solidFill>
            <a:prstDash val="solid"/>
          </a:ln>
        </p:spPr>
      </p:sp>
      <p:sp>
        <p:nvSpPr>
          <p:cNvPr id="35" name="Text 33"/>
          <p:cNvSpPr/>
          <p:nvPr/>
        </p:nvSpPr>
        <p:spPr>
          <a:xfrm>
            <a:off x="484632" y="3803904"/>
            <a:ext cx="4114800" cy="256032"/>
          </a:xfrm>
          <a:prstGeom prst="rect">
            <a:avLst/>
          </a:prstGeom>
          <a:noFill/>
          <a:ln/>
        </p:spPr>
        <p:txBody>
          <a:bodyPr wrap="square" rtlCol="0" anchor="ctr"/>
          <a:lstStyle/>
          <a:p>
            <a:pPr indent="0" marL="0">
              <a:buNone/>
            </a:pPr>
            <a:r>
              <a:rPr lang="en-US" sz="1100" b="1" dirty="0">
                <a:solidFill>
                  <a:srgbClr val="534AB7"/>
                </a:solidFill>
              </a:rPr>
              <a:t>実際の次元数（公開情報のみ）</a:t>
            </a:r>
            <a:endParaRPr lang="en-US" sz="1100" dirty="0"/>
          </a:p>
        </p:txBody>
      </p:sp>
      <p:sp>
        <p:nvSpPr>
          <p:cNvPr id="36" name="Shape 34"/>
          <p:cNvSpPr/>
          <p:nvPr/>
        </p:nvSpPr>
        <p:spPr>
          <a:xfrm>
            <a:off x="438912" y="4114800"/>
            <a:ext cx="1993392" cy="475488"/>
          </a:xfrm>
          <a:prstGeom prst="roundRect">
            <a:avLst>
              <a:gd name="adj" fmla="val 9615"/>
            </a:avLst>
          </a:prstGeom>
          <a:solidFill>
            <a:srgbClr val="6B7280"/>
          </a:solidFill>
          <a:ln w="12700">
            <a:solidFill>
              <a:srgbClr val="6B7280"/>
            </a:solidFill>
            <a:prstDash val="solid"/>
          </a:ln>
        </p:spPr>
      </p:sp>
      <p:sp>
        <p:nvSpPr>
          <p:cNvPr id="37" name="Text 35"/>
          <p:cNvSpPr/>
          <p:nvPr/>
        </p:nvSpPr>
        <p:spPr>
          <a:xfrm>
            <a:off x="438912" y="4114800"/>
            <a:ext cx="1993392" cy="475488"/>
          </a:xfrm>
          <a:prstGeom prst="rect">
            <a:avLst/>
          </a:prstGeom>
          <a:noFill/>
          <a:ln/>
        </p:spPr>
        <p:txBody>
          <a:bodyPr wrap="square" lIns="25400" tIns="25400" rIns="25400" bIns="25400" rtlCol="0" anchor="ctr"/>
          <a:lstStyle/>
          <a:p>
            <a:pPr algn="ctr" indent="0" marL="0">
              <a:buNone/>
            </a:pPr>
            <a:r>
              <a:rPr lang="en-US" sz="1000" b="1" dirty="0">
                <a:solidFill>
                  <a:srgbClr val="FFFFFF"/>
                </a:solidFill>
              </a:rPr>
              <a:t>GPT-2</a:t>
            </a:r>
            <a:endParaRPr lang="en-US" sz="1000" dirty="0"/>
          </a:p>
          <a:p>
            <a:pPr algn="ctr" indent="0" marL="0">
              <a:buNone/>
            </a:pPr>
            <a:r>
              <a:rPr lang="en-US" sz="1000" b="1" dirty="0">
                <a:solidFill>
                  <a:srgbClr val="FFFFFF"/>
                </a:solidFill>
              </a:rPr>
              <a:t>768 次元</a:t>
            </a:r>
            <a:endParaRPr lang="en-US" sz="1000" dirty="0"/>
          </a:p>
        </p:txBody>
      </p:sp>
      <p:sp>
        <p:nvSpPr>
          <p:cNvPr id="38" name="Shape 36"/>
          <p:cNvSpPr/>
          <p:nvPr/>
        </p:nvSpPr>
        <p:spPr>
          <a:xfrm>
            <a:off x="2542032" y="4114800"/>
            <a:ext cx="1993392" cy="475488"/>
          </a:xfrm>
          <a:prstGeom prst="roundRect">
            <a:avLst>
              <a:gd name="adj" fmla="val 9615"/>
            </a:avLst>
          </a:prstGeom>
          <a:solidFill>
            <a:srgbClr val="185FA5"/>
          </a:solidFill>
          <a:ln w="12700">
            <a:solidFill>
              <a:srgbClr val="185FA5"/>
            </a:solidFill>
            <a:prstDash val="solid"/>
          </a:ln>
        </p:spPr>
      </p:sp>
      <p:sp>
        <p:nvSpPr>
          <p:cNvPr id="39" name="Text 37"/>
          <p:cNvSpPr/>
          <p:nvPr/>
        </p:nvSpPr>
        <p:spPr>
          <a:xfrm>
            <a:off x="2542032" y="4114800"/>
            <a:ext cx="1993392" cy="475488"/>
          </a:xfrm>
          <a:prstGeom prst="rect">
            <a:avLst/>
          </a:prstGeom>
          <a:noFill/>
          <a:ln/>
        </p:spPr>
        <p:txBody>
          <a:bodyPr wrap="square" lIns="25400" tIns="25400" rIns="25400" bIns="25400" rtlCol="0" anchor="ctr"/>
          <a:lstStyle/>
          <a:p>
            <a:pPr algn="ctr" indent="0" marL="0">
              <a:buNone/>
            </a:pPr>
            <a:r>
              <a:rPr lang="en-US" sz="1000" b="1" dirty="0">
                <a:solidFill>
                  <a:srgbClr val="FFFFFF"/>
                </a:solidFill>
              </a:rPr>
              <a:t>GPT-3</a:t>
            </a:r>
            <a:endParaRPr lang="en-US" sz="1000" dirty="0"/>
          </a:p>
          <a:p>
            <a:pPr algn="ctr" indent="0" marL="0">
              <a:buNone/>
            </a:pPr>
            <a:r>
              <a:rPr lang="en-US" sz="1000" b="1" dirty="0">
                <a:solidFill>
                  <a:srgbClr val="FFFFFF"/>
                </a:solidFill>
              </a:rPr>
              <a:t>12,288 次元</a:t>
            </a:r>
            <a:endParaRPr lang="en-US" sz="1000" dirty="0"/>
          </a:p>
          <a:p>
            <a:pPr algn="ctr" indent="0" marL="0">
              <a:buNone/>
            </a:pPr>
            <a:r>
              <a:rPr lang="en-US" sz="1000" b="1" dirty="0">
                <a:solidFill>
                  <a:srgbClr val="FFFFFF"/>
                </a:solidFill>
              </a:rPr>
              <a:t>※175B の hidden dim</a:t>
            </a:r>
            <a:endParaRPr lang="en-US" sz="1000" dirty="0"/>
          </a:p>
        </p:txBody>
      </p:sp>
      <p:sp>
        <p:nvSpPr>
          <p:cNvPr id="40" name="Shape 38"/>
          <p:cNvSpPr/>
          <p:nvPr/>
        </p:nvSpPr>
        <p:spPr>
          <a:xfrm>
            <a:off x="4645152" y="4114800"/>
            <a:ext cx="1993392" cy="475488"/>
          </a:xfrm>
          <a:prstGeom prst="roundRect">
            <a:avLst>
              <a:gd name="adj" fmla="val 9615"/>
            </a:avLst>
          </a:prstGeom>
          <a:solidFill>
            <a:srgbClr val="D85A30"/>
          </a:solidFill>
          <a:ln w="12700">
            <a:solidFill>
              <a:srgbClr val="D85A30"/>
            </a:solidFill>
            <a:prstDash val="solid"/>
          </a:ln>
        </p:spPr>
      </p:sp>
      <p:sp>
        <p:nvSpPr>
          <p:cNvPr id="41" name="Text 39"/>
          <p:cNvSpPr/>
          <p:nvPr/>
        </p:nvSpPr>
        <p:spPr>
          <a:xfrm>
            <a:off x="4645152" y="4114800"/>
            <a:ext cx="1993392" cy="475488"/>
          </a:xfrm>
          <a:prstGeom prst="rect">
            <a:avLst/>
          </a:prstGeom>
          <a:noFill/>
          <a:ln/>
        </p:spPr>
        <p:txBody>
          <a:bodyPr wrap="square" lIns="25400" tIns="25400" rIns="25400" bIns="25400" rtlCol="0" anchor="ctr"/>
          <a:lstStyle/>
          <a:p>
            <a:pPr algn="ctr" indent="0" marL="0">
              <a:buNone/>
            </a:pPr>
            <a:r>
              <a:rPr lang="en-US" sz="850" b="1" dirty="0">
                <a:solidFill>
                  <a:srgbClr val="FFFFFF"/>
                </a:solidFill>
              </a:rPr>
              <a:t>GPT-4</a:t>
            </a:r>
            <a:endParaRPr lang="en-US" sz="850" dirty="0"/>
          </a:p>
          <a:p>
            <a:pPr algn="ctr" indent="0" marL="0">
              <a:buNone/>
            </a:pPr>
            <a:r>
              <a:rPr lang="en-US" sz="850" b="1" dirty="0">
                <a:solidFill>
                  <a:srgbClr val="FFFFFF"/>
                </a:solidFill>
              </a:rPr>
              <a:t>非公開（内部仕様は未発表）</a:t>
            </a:r>
            <a:endParaRPr lang="en-US" sz="850" dirty="0"/>
          </a:p>
        </p:txBody>
      </p:sp>
      <p:sp>
        <p:nvSpPr>
          <p:cNvPr id="42" name="Shape 40"/>
          <p:cNvSpPr/>
          <p:nvPr/>
        </p:nvSpPr>
        <p:spPr>
          <a:xfrm>
            <a:off x="6748272" y="4114800"/>
            <a:ext cx="1993392" cy="475488"/>
          </a:xfrm>
          <a:prstGeom prst="roundRect">
            <a:avLst>
              <a:gd name="adj" fmla="val 9615"/>
            </a:avLst>
          </a:prstGeom>
          <a:solidFill>
            <a:srgbClr val="0F6E56"/>
          </a:solidFill>
          <a:ln w="12700">
            <a:solidFill>
              <a:srgbClr val="0F6E56"/>
            </a:solidFill>
            <a:prstDash val="solid"/>
          </a:ln>
        </p:spPr>
      </p:sp>
      <p:sp>
        <p:nvSpPr>
          <p:cNvPr id="43" name="Text 41"/>
          <p:cNvSpPr/>
          <p:nvPr/>
        </p:nvSpPr>
        <p:spPr>
          <a:xfrm>
            <a:off x="6748272" y="4114800"/>
            <a:ext cx="1993392" cy="475488"/>
          </a:xfrm>
          <a:prstGeom prst="rect">
            <a:avLst/>
          </a:prstGeom>
          <a:noFill/>
          <a:ln/>
        </p:spPr>
        <p:txBody>
          <a:bodyPr wrap="square" lIns="25400" tIns="25400" rIns="25400" bIns="25400" rtlCol="0" anchor="ctr"/>
          <a:lstStyle/>
          <a:p>
            <a:pPr algn="ctr" indent="0" marL="0">
              <a:buNone/>
            </a:pPr>
            <a:r>
              <a:rPr lang="en-US" sz="1000" b="1" dirty="0">
                <a:solidFill>
                  <a:srgbClr val="FFFFFF"/>
                </a:solidFill>
              </a:rPr>
              <a:t>BERT-base</a:t>
            </a:r>
            <a:endParaRPr lang="en-US" sz="1000" dirty="0"/>
          </a:p>
          <a:p>
            <a:pPr algn="ctr" indent="0" marL="0">
              <a:buNone/>
            </a:pPr>
            <a:r>
              <a:rPr lang="en-US" sz="1000" b="1" dirty="0">
                <a:solidFill>
                  <a:srgbClr val="FFFFFF"/>
                </a:solidFill>
              </a:rPr>
              <a:t>768 次元</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23 / 28</a:t>
            </a:r>
            <a:endParaRPr lang="en-US" sz="900" dirty="0"/>
          </a:p>
        </p:txBody>
      </p:sp>
      <p:sp>
        <p:nvSpPr>
          <p:cNvPr id="3" name="Shape 1"/>
          <p:cNvSpPr/>
          <p:nvPr/>
        </p:nvSpPr>
        <p:spPr>
          <a:xfrm>
            <a:off x="347472" y="274320"/>
            <a:ext cx="54864" cy="475488"/>
          </a:xfrm>
          <a:prstGeom prst="rect">
            <a:avLst/>
          </a:prstGeom>
          <a:solidFill>
            <a:srgbClr val="D85A30"/>
          </a:solidFill>
          <a:ln w="12700">
            <a:solidFill>
              <a:srgbClr val="D85A30"/>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FFN 出力 → Logits → Softmax → Loss — 一本のストーリー</a:t>
            </a:r>
            <a:endParaRPr lang="en-US" sz="2000" dirty="0"/>
          </a:p>
        </p:txBody>
      </p:sp>
      <p:sp>
        <p:nvSpPr>
          <p:cNvPr id="5" name="Text 3"/>
          <p:cNvSpPr/>
          <p:nvPr/>
        </p:nvSpPr>
        <p:spPr>
          <a:xfrm>
            <a:off x="347472" y="932688"/>
            <a:ext cx="8430768" cy="347472"/>
          </a:xfrm>
          <a:prstGeom prst="rect">
            <a:avLst/>
          </a:prstGeom>
          <a:noFill/>
          <a:ln/>
        </p:spPr>
        <p:txBody>
          <a:bodyPr wrap="square" rtlCol="0" anchor="ctr"/>
          <a:lstStyle/>
          <a:p>
            <a:pPr indent="0" marL="0">
              <a:buNone/>
            </a:pPr>
            <a:r>
              <a:rPr lang="en-US" sz="1100" i="1" dirty="0">
                <a:solidFill>
                  <a:srgbClr val="4B5563"/>
                </a:solidFill>
              </a:rPr>
              <a:t>FFN でベクトルが変換された後、どうやって「次の単語の予測確率」になり、どうやって Loss が計算されるのか？</a:t>
            </a:r>
            <a:endParaRPr lang="en-US" sz="1100" dirty="0"/>
          </a:p>
        </p:txBody>
      </p:sp>
      <p:sp>
        <p:nvSpPr>
          <p:cNvPr id="6" name="Shape 4"/>
          <p:cNvSpPr/>
          <p:nvPr/>
        </p:nvSpPr>
        <p:spPr>
          <a:xfrm>
            <a:off x="347472" y="1389888"/>
            <a:ext cx="1316736" cy="1664208"/>
          </a:xfrm>
          <a:prstGeom prst="roundRect">
            <a:avLst>
              <a:gd name="adj" fmla="val 4167"/>
            </a:avLst>
          </a:prstGeom>
          <a:solidFill>
            <a:srgbClr val="0F6E56"/>
          </a:solidFill>
          <a:ln w="12700">
            <a:solidFill>
              <a:srgbClr val="0F6E56"/>
            </a:solidFill>
            <a:prstDash val="solid"/>
          </a:ln>
        </p:spPr>
      </p:sp>
      <p:sp>
        <p:nvSpPr>
          <p:cNvPr id="7" name="Text 5"/>
          <p:cNvSpPr/>
          <p:nvPr/>
        </p:nvSpPr>
        <p:spPr>
          <a:xfrm>
            <a:off x="347472" y="1389888"/>
            <a:ext cx="1316736" cy="1664208"/>
          </a:xfrm>
          <a:prstGeom prst="rect">
            <a:avLst/>
          </a:prstGeom>
          <a:noFill/>
          <a:ln/>
        </p:spPr>
        <p:txBody>
          <a:bodyPr wrap="square" lIns="38100" tIns="38100" rIns="38100" bIns="38100" rtlCol="0" anchor="ctr"/>
          <a:lstStyle/>
          <a:p>
            <a:pPr algn="ctr" indent="0" marL="0">
              <a:buNone/>
            </a:pPr>
            <a:r>
              <a:rPr lang="en-US" sz="950" b="1" dirty="0">
                <a:solidFill>
                  <a:srgbClr val="FFFFFF"/>
                </a:solidFill>
              </a:rPr>
              <a:t>FFN Output</a:t>
            </a:r>
            <a:endParaRPr lang="en-US" sz="950" dirty="0"/>
          </a:p>
          <a:p>
            <a:pPr algn="ctr" indent="0" marL="0">
              <a:buNone/>
            </a:pPr>
            <a:r>
              <a:rPr lang="en-US" sz="950" b="1" dirty="0">
                <a:solidFill>
                  <a:srgbClr val="FFFFFF"/>
                </a:solidFill>
              </a:rPr>
              <a:t>文脈化された</a:t>
            </a:r>
            <a:endParaRPr lang="en-US" sz="950" dirty="0"/>
          </a:p>
          <a:p>
            <a:pPr algn="ctr" indent="0" marL="0">
              <a:buNone/>
            </a:pPr>
            <a:r>
              <a:rPr lang="en-US" sz="950" b="1" dirty="0">
                <a:solidFill>
                  <a:srgbClr val="FFFFFF"/>
                </a:solidFill>
              </a:rPr>
              <a:t>意味ベクトル</a:t>
            </a:r>
            <a:endParaRPr lang="en-US" sz="950" dirty="0"/>
          </a:p>
          <a:p>
            <a:pPr algn="ctr" indent="0" marL="0">
              <a:buNone/>
            </a:pPr>
            <a:r>
              <a:rPr lang="en-US" sz="950" b="1" dirty="0">
                <a:solidFill>
                  <a:srgbClr val="FFFFFF"/>
                </a:solidFill>
              </a:rPr>
              <a:t>[768次元]</a:t>
            </a:r>
            <a:endParaRPr lang="en-US" sz="950" dirty="0"/>
          </a:p>
        </p:txBody>
      </p:sp>
      <p:sp>
        <p:nvSpPr>
          <p:cNvPr id="8" name="Text 6"/>
          <p:cNvSpPr/>
          <p:nvPr/>
        </p:nvSpPr>
        <p:spPr>
          <a:xfrm>
            <a:off x="347472" y="3090672"/>
            <a:ext cx="1316736" cy="347472"/>
          </a:xfrm>
          <a:prstGeom prst="rect">
            <a:avLst/>
          </a:prstGeom>
          <a:noFill/>
          <a:ln/>
        </p:spPr>
        <p:txBody>
          <a:bodyPr wrap="square" rtlCol="0" anchor="ctr"/>
          <a:lstStyle/>
          <a:p>
            <a:pPr algn="ctr" indent="0" marL="0">
              <a:buNone/>
            </a:pPr>
            <a:r>
              <a:rPr lang="en-US" sz="900" i="1" dirty="0">
                <a:solidFill>
                  <a:srgbClr val="4B5563"/>
                </a:solidFill>
              </a:rPr>
              <a:t>各トークンの</a:t>
            </a:r>
            <a:endParaRPr lang="en-US" sz="900" dirty="0"/>
          </a:p>
          <a:p>
            <a:pPr algn="ctr" indent="0" marL="0">
              <a:buNone/>
            </a:pPr>
            <a:r>
              <a:rPr lang="en-US" sz="900" i="1" dirty="0">
                <a:solidFill>
                  <a:srgbClr val="4B5563"/>
                </a:solidFill>
              </a:rPr>
              <a:t>最終表現</a:t>
            </a:r>
            <a:endParaRPr lang="en-US" sz="900" dirty="0"/>
          </a:p>
        </p:txBody>
      </p:sp>
      <p:sp>
        <p:nvSpPr>
          <p:cNvPr id="9" name="Shape 7"/>
          <p:cNvSpPr/>
          <p:nvPr/>
        </p:nvSpPr>
        <p:spPr>
          <a:xfrm>
            <a:off x="1664208" y="2221992"/>
            <a:ext cx="109728" cy="0"/>
          </a:xfrm>
          <a:prstGeom prst="line">
            <a:avLst/>
          </a:prstGeom>
          <a:noFill/>
          <a:ln w="19050">
            <a:solidFill>
              <a:srgbClr val="6B7280"/>
            </a:solidFill>
            <a:prstDash val="solid"/>
          </a:ln>
        </p:spPr>
      </p:sp>
      <p:sp>
        <p:nvSpPr>
          <p:cNvPr id="10" name="Shape 8"/>
          <p:cNvSpPr/>
          <p:nvPr/>
        </p:nvSpPr>
        <p:spPr>
          <a:xfrm>
            <a:off x="1773936" y="1389888"/>
            <a:ext cx="1316736" cy="1664208"/>
          </a:xfrm>
          <a:prstGeom prst="roundRect">
            <a:avLst>
              <a:gd name="adj" fmla="val 4167"/>
            </a:avLst>
          </a:prstGeom>
          <a:solidFill>
            <a:srgbClr val="534AB7"/>
          </a:solidFill>
          <a:ln w="12700">
            <a:solidFill>
              <a:srgbClr val="534AB7"/>
            </a:solidFill>
            <a:prstDash val="solid"/>
          </a:ln>
        </p:spPr>
      </p:sp>
      <p:sp>
        <p:nvSpPr>
          <p:cNvPr id="11" name="Text 9"/>
          <p:cNvSpPr/>
          <p:nvPr/>
        </p:nvSpPr>
        <p:spPr>
          <a:xfrm>
            <a:off x="1773936" y="1389888"/>
            <a:ext cx="1316736" cy="1664208"/>
          </a:xfrm>
          <a:prstGeom prst="rect">
            <a:avLst/>
          </a:prstGeom>
          <a:noFill/>
          <a:ln/>
        </p:spPr>
        <p:txBody>
          <a:bodyPr wrap="square" lIns="38100" tIns="38100" rIns="38100" bIns="38100" rtlCol="0" anchor="ctr"/>
          <a:lstStyle/>
          <a:p>
            <a:pPr algn="ctr" indent="0" marL="0">
              <a:buNone/>
            </a:pPr>
            <a:r>
              <a:rPr lang="en-US" sz="950" b="1" dirty="0">
                <a:solidFill>
                  <a:srgbClr val="FFFFFF"/>
                </a:solidFill>
              </a:rPr>
              <a:t>Linear 変換</a:t>
            </a:r>
            <a:endParaRPr lang="en-US" sz="950" dirty="0"/>
          </a:p>
          <a:p>
            <a:pPr algn="ctr" indent="0" marL="0">
              <a:buNone/>
            </a:pPr>
            <a:r>
              <a:rPr lang="en-US" sz="950" b="1" dirty="0">
                <a:solidFill>
                  <a:srgbClr val="FFFFFF"/>
                </a:solidFill>
              </a:rPr>
              <a:t>(出力ヘッド)</a:t>
            </a:r>
            <a:endParaRPr lang="en-US" sz="950" dirty="0"/>
          </a:p>
          <a:p>
            <a:pPr algn="ctr" indent="0" marL="0">
              <a:buNone/>
            </a:pPr>
            <a:r>
              <a:rPr lang="en-US" sz="950" b="1" dirty="0">
                <a:solidFill>
                  <a:srgbClr val="FFFFFF"/>
                </a:solidFill>
              </a:rPr>
              <a:t>768次元→</a:t>
            </a:r>
            <a:endParaRPr lang="en-US" sz="950" dirty="0"/>
          </a:p>
          <a:p>
            <a:pPr algn="ctr" indent="0" marL="0">
              <a:buNone/>
            </a:pPr>
            <a:r>
              <a:rPr lang="en-US" sz="950" b="1" dirty="0">
                <a:solidFill>
                  <a:srgbClr val="FFFFFF"/>
                </a:solidFill>
              </a:rPr>
              <a:t>語彙数次元</a:t>
            </a:r>
            <a:endParaRPr lang="en-US" sz="950" dirty="0"/>
          </a:p>
        </p:txBody>
      </p:sp>
      <p:sp>
        <p:nvSpPr>
          <p:cNvPr id="12" name="Text 10"/>
          <p:cNvSpPr/>
          <p:nvPr/>
        </p:nvSpPr>
        <p:spPr>
          <a:xfrm>
            <a:off x="1773936" y="3090672"/>
            <a:ext cx="1316736" cy="347472"/>
          </a:xfrm>
          <a:prstGeom prst="rect">
            <a:avLst/>
          </a:prstGeom>
          <a:noFill/>
          <a:ln/>
        </p:spPr>
        <p:txBody>
          <a:bodyPr wrap="square" rtlCol="0" anchor="ctr"/>
          <a:lstStyle/>
          <a:p>
            <a:pPr algn="ctr" indent="0" marL="0">
              <a:buNone/>
            </a:pPr>
            <a:r>
              <a:rPr lang="en-US" sz="900" i="1" dirty="0">
                <a:solidFill>
                  <a:srgbClr val="4B5563"/>
                </a:solidFill>
              </a:rPr>
              <a:t>語彙全体への</a:t>
            </a:r>
            <a:endParaRPr lang="en-US" sz="900" dirty="0"/>
          </a:p>
          <a:p>
            <a:pPr algn="ctr" indent="0" marL="0">
              <a:buNone/>
            </a:pPr>
            <a:r>
              <a:rPr lang="en-US" sz="900" i="1" dirty="0">
                <a:solidFill>
                  <a:srgbClr val="4B5563"/>
                </a:solidFill>
              </a:rPr>
              <a:t>スコアに変換</a:t>
            </a:r>
            <a:endParaRPr lang="en-US" sz="900" dirty="0"/>
          </a:p>
        </p:txBody>
      </p:sp>
      <p:sp>
        <p:nvSpPr>
          <p:cNvPr id="13" name="Shape 11"/>
          <p:cNvSpPr/>
          <p:nvPr/>
        </p:nvSpPr>
        <p:spPr>
          <a:xfrm>
            <a:off x="3090672" y="2221992"/>
            <a:ext cx="109728" cy="0"/>
          </a:xfrm>
          <a:prstGeom prst="line">
            <a:avLst/>
          </a:prstGeom>
          <a:noFill/>
          <a:ln w="19050">
            <a:solidFill>
              <a:srgbClr val="6B7280"/>
            </a:solidFill>
            <a:prstDash val="solid"/>
          </a:ln>
        </p:spPr>
      </p:sp>
      <p:sp>
        <p:nvSpPr>
          <p:cNvPr id="14" name="Shape 12"/>
          <p:cNvSpPr/>
          <p:nvPr/>
        </p:nvSpPr>
        <p:spPr>
          <a:xfrm>
            <a:off x="3200400" y="1389888"/>
            <a:ext cx="1316736" cy="1664208"/>
          </a:xfrm>
          <a:prstGeom prst="roundRect">
            <a:avLst>
              <a:gd name="adj" fmla="val 4167"/>
            </a:avLst>
          </a:prstGeom>
          <a:solidFill>
            <a:srgbClr val="BA7517"/>
          </a:solidFill>
          <a:ln w="12700">
            <a:solidFill>
              <a:srgbClr val="BA7517"/>
            </a:solidFill>
            <a:prstDash val="solid"/>
          </a:ln>
        </p:spPr>
      </p:sp>
      <p:sp>
        <p:nvSpPr>
          <p:cNvPr id="15" name="Text 13"/>
          <p:cNvSpPr/>
          <p:nvPr/>
        </p:nvSpPr>
        <p:spPr>
          <a:xfrm>
            <a:off x="3200400" y="1389888"/>
            <a:ext cx="1316736" cy="1664208"/>
          </a:xfrm>
          <a:prstGeom prst="rect">
            <a:avLst/>
          </a:prstGeom>
          <a:noFill/>
          <a:ln/>
        </p:spPr>
        <p:txBody>
          <a:bodyPr wrap="square" lIns="38100" tIns="38100" rIns="38100" bIns="38100" rtlCol="0" anchor="ctr"/>
          <a:lstStyle/>
          <a:p>
            <a:pPr algn="ctr" indent="0" marL="0">
              <a:buNone/>
            </a:pPr>
            <a:r>
              <a:rPr lang="en-US" sz="950" b="1" dirty="0">
                <a:solidFill>
                  <a:srgbClr val="FFFFFF"/>
                </a:solidFill>
              </a:rPr>
              <a:t>Logits</a:t>
            </a:r>
            <a:endParaRPr lang="en-US" sz="950" dirty="0"/>
          </a:p>
          <a:p>
            <a:pPr algn="ctr" indent="0" marL="0">
              <a:buNone/>
            </a:pPr>
            <a:r>
              <a:rPr lang="en-US" sz="950" b="1" dirty="0">
                <a:solidFill>
                  <a:srgbClr val="FFFFFF"/>
                </a:solidFill>
              </a:rPr>
              <a:t>[猫:1.2</a:t>
            </a:r>
            <a:endParaRPr lang="en-US" sz="950" dirty="0"/>
          </a:p>
          <a:p>
            <a:pPr algn="ctr" indent="0" marL="0">
              <a:buNone/>
            </a:pPr>
            <a:r>
              <a:rPr lang="en-US" sz="950" b="1" dirty="0">
                <a:solidFill>
                  <a:srgbClr val="FFFFFF"/>
                </a:solidFill>
              </a:rPr>
              <a:t>走:5.8</a:t>
            </a:r>
            <a:endParaRPr lang="en-US" sz="950" dirty="0"/>
          </a:p>
          <a:p>
            <a:pPr algn="ctr" indent="0" marL="0">
              <a:buNone/>
            </a:pPr>
            <a:r>
              <a:rPr lang="en-US" sz="950" b="1" dirty="0">
                <a:solidFill>
                  <a:srgbClr val="FFFFFF"/>
                </a:solidFill>
              </a:rPr>
              <a:t>公:0.3</a:t>
            </a:r>
            <a:endParaRPr lang="en-US" sz="950" dirty="0"/>
          </a:p>
          <a:p>
            <a:pPr algn="ctr" indent="0" marL="0">
              <a:buNone/>
            </a:pPr>
            <a:r>
              <a:rPr lang="en-US" sz="950" b="1" dirty="0">
                <a:solidFill>
                  <a:srgbClr val="FFFFFF"/>
                </a:solidFill>
              </a:rPr>
              <a:t>…]</a:t>
            </a:r>
            <a:endParaRPr lang="en-US" sz="950" dirty="0"/>
          </a:p>
        </p:txBody>
      </p:sp>
      <p:sp>
        <p:nvSpPr>
          <p:cNvPr id="16" name="Text 14"/>
          <p:cNvSpPr/>
          <p:nvPr/>
        </p:nvSpPr>
        <p:spPr>
          <a:xfrm>
            <a:off x="3200400" y="3090672"/>
            <a:ext cx="1316736" cy="347472"/>
          </a:xfrm>
          <a:prstGeom prst="rect">
            <a:avLst/>
          </a:prstGeom>
          <a:noFill/>
          <a:ln/>
        </p:spPr>
        <p:txBody>
          <a:bodyPr wrap="square" rtlCol="0" anchor="ctr"/>
          <a:lstStyle/>
          <a:p>
            <a:pPr algn="ctr" indent="0" marL="0">
              <a:buNone/>
            </a:pPr>
            <a:r>
              <a:rPr lang="en-US" sz="900" i="1" dirty="0">
                <a:solidFill>
                  <a:srgbClr val="4B5563"/>
                </a:solidFill>
              </a:rPr>
              <a:t>生のスコア</a:t>
            </a:r>
            <a:endParaRPr lang="en-US" sz="900" dirty="0"/>
          </a:p>
          <a:p>
            <a:pPr algn="ctr" indent="0" marL="0">
              <a:buNone/>
            </a:pPr>
            <a:r>
              <a:rPr lang="en-US" sz="900" i="1" dirty="0">
                <a:solidFill>
                  <a:srgbClr val="4B5563"/>
                </a:solidFill>
              </a:rPr>
              <a:t>(正規化前)</a:t>
            </a:r>
            <a:endParaRPr lang="en-US" sz="900" dirty="0"/>
          </a:p>
        </p:txBody>
      </p:sp>
      <p:sp>
        <p:nvSpPr>
          <p:cNvPr id="17" name="Shape 15"/>
          <p:cNvSpPr/>
          <p:nvPr/>
        </p:nvSpPr>
        <p:spPr>
          <a:xfrm>
            <a:off x="4517136" y="2221992"/>
            <a:ext cx="109728" cy="0"/>
          </a:xfrm>
          <a:prstGeom prst="line">
            <a:avLst/>
          </a:prstGeom>
          <a:noFill/>
          <a:ln w="19050">
            <a:solidFill>
              <a:srgbClr val="6B7280"/>
            </a:solidFill>
            <a:prstDash val="solid"/>
          </a:ln>
        </p:spPr>
      </p:sp>
      <p:sp>
        <p:nvSpPr>
          <p:cNvPr id="18" name="Shape 16"/>
          <p:cNvSpPr/>
          <p:nvPr/>
        </p:nvSpPr>
        <p:spPr>
          <a:xfrm>
            <a:off x="4626864" y="1389888"/>
            <a:ext cx="1316736" cy="1664208"/>
          </a:xfrm>
          <a:prstGeom prst="roundRect">
            <a:avLst>
              <a:gd name="adj" fmla="val 4167"/>
            </a:avLst>
          </a:prstGeom>
          <a:solidFill>
            <a:srgbClr val="BA7517"/>
          </a:solidFill>
          <a:ln w="12700">
            <a:solidFill>
              <a:srgbClr val="BA7517"/>
            </a:solidFill>
            <a:prstDash val="solid"/>
          </a:ln>
        </p:spPr>
      </p:sp>
      <p:sp>
        <p:nvSpPr>
          <p:cNvPr id="19" name="Text 17"/>
          <p:cNvSpPr/>
          <p:nvPr/>
        </p:nvSpPr>
        <p:spPr>
          <a:xfrm>
            <a:off x="4626864" y="1389888"/>
            <a:ext cx="1316736" cy="1664208"/>
          </a:xfrm>
          <a:prstGeom prst="rect">
            <a:avLst/>
          </a:prstGeom>
          <a:noFill/>
          <a:ln/>
        </p:spPr>
        <p:txBody>
          <a:bodyPr wrap="square" lIns="38100" tIns="38100" rIns="38100" bIns="38100" rtlCol="0" anchor="ctr"/>
          <a:lstStyle/>
          <a:p>
            <a:pPr algn="ctr" indent="0" marL="0">
              <a:buNone/>
            </a:pPr>
            <a:r>
              <a:rPr lang="en-US" sz="950" b="1" dirty="0">
                <a:solidFill>
                  <a:srgbClr val="FFFFFF"/>
                </a:solidFill>
              </a:rPr>
              <a:t>Softmax</a:t>
            </a:r>
            <a:endParaRPr lang="en-US" sz="950" dirty="0"/>
          </a:p>
          <a:p>
            <a:pPr algn="ctr" indent="0" marL="0">
              <a:buNone/>
            </a:pPr>
            <a:r>
              <a:rPr lang="en-US" sz="950" b="1" dirty="0">
                <a:solidFill>
                  <a:srgbClr val="FFFFFF"/>
                </a:solidFill>
              </a:rPr>
              <a:t>各スコアを</a:t>
            </a:r>
            <a:endParaRPr lang="en-US" sz="950" dirty="0"/>
          </a:p>
          <a:p>
            <a:pPr algn="ctr" indent="0" marL="0">
              <a:buNone/>
            </a:pPr>
            <a:r>
              <a:rPr lang="en-US" sz="950" b="1" dirty="0">
                <a:solidFill>
                  <a:srgbClr val="FFFFFF"/>
                </a:solidFill>
              </a:rPr>
              <a:t>確率に変換</a:t>
            </a:r>
            <a:endParaRPr lang="en-US" sz="950" dirty="0"/>
          </a:p>
          <a:p>
            <a:pPr algn="ctr" indent="0" marL="0">
              <a:buNone/>
            </a:pPr>
            <a:r>
              <a:rPr lang="en-US" sz="950" b="1" dirty="0">
                <a:solidFill>
                  <a:srgbClr val="FFFFFF"/>
                </a:solidFill>
              </a:rPr>
              <a:t>合計=1.0</a:t>
            </a:r>
            <a:endParaRPr lang="en-US" sz="950" dirty="0"/>
          </a:p>
        </p:txBody>
      </p:sp>
      <p:sp>
        <p:nvSpPr>
          <p:cNvPr id="20" name="Text 18"/>
          <p:cNvSpPr/>
          <p:nvPr/>
        </p:nvSpPr>
        <p:spPr>
          <a:xfrm>
            <a:off x="4626864" y="3090672"/>
            <a:ext cx="1316736" cy="347472"/>
          </a:xfrm>
          <a:prstGeom prst="rect">
            <a:avLst/>
          </a:prstGeom>
          <a:noFill/>
          <a:ln/>
        </p:spPr>
        <p:txBody>
          <a:bodyPr wrap="square" rtlCol="0" anchor="ctr"/>
          <a:lstStyle/>
          <a:p>
            <a:pPr algn="ctr" indent="0" marL="0">
              <a:buNone/>
            </a:pPr>
            <a:r>
              <a:rPr lang="en-US" sz="900" i="1" dirty="0">
                <a:solidFill>
                  <a:srgbClr val="4B5563"/>
                </a:solidFill>
              </a:rPr>
              <a:t>予測確率</a:t>
            </a:r>
            <a:endParaRPr lang="en-US" sz="900" dirty="0"/>
          </a:p>
          <a:p>
            <a:pPr algn="ctr" indent="0" marL="0">
              <a:buNone/>
            </a:pPr>
            <a:r>
              <a:rPr lang="en-US" sz="900" i="1" dirty="0">
                <a:solidFill>
                  <a:srgbClr val="4B5563"/>
                </a:solidFill>
              </a:rPr>
              <a:t>分布</a:t>
            </a:r>
            <a:endParaRPr lang="en-US" sz="900" dirty="0"/>
          </a:p>
        </p:txBody>
      </p:sp>
      <p:sp>
        <p:nvSpPr>
          <p:cNvPr id="21" name="Shape 19"/>
          <p:cNvSpPr/>
          <p:nvPr/>
        </p:nvSpPr>
        <p:spPr>
          <a:xfrm>
            <a:off x="5943600" y="2221992"/>
            <a:ext cx="109728" cy="0"/>
          </a:xfrm>
          <a:prstGeom prst="line">
            <a:avLst/>
          </a:prstGeom>
          <a:noFill/>
          <a:ln w="19050">
            <a:solidFill>
              <a:srgbClr val="6B7280"/>
            </a:solidFill>
            <a:prstDash val="solid"/>
          </a:ln>
        </p:spPr>
      </p:sp>
      <p:sp>
        <p:nvSpPr>
          <p:cNvPr id="22" name="Shape 20"/>
          <p:cNvSpPr/>
          <p:nvPr/>
        </p:nvSpPr>
        <p:spPr>
          <a:xfrm>
            <a:off x="6053328" y="1389888"/>
            <a:ext cx="1316736" cy="1664208"/>
          </a:xfrm>
          <a:prstGeom prst="roundRect">
            <a:avLst>
              <a:gd name="adj" fmla="val 4167"/>
            </a:avLst>
          </a:prstGeom>
          <a:solidFill>
            <a:srgbClr val="0F6E56"/>
          </a:solidFill>
          <a:ln w="12700">
            <a:solidFill>
              <a:srgbClr val="0F6E56"/>
            </a:solidFill>
            <a:prstDash val="solid"/>
          </a:ln>
        </p:spPr>
      </p:sp>
      <p:sp>
        <p:nvSpPr>
          <p:cNvPr id="23" name="Text 21"/>
          <p:cNvSpPr/>
          <p:nvPr/>
        </p:nvSpPr>
        <p:spPr>
          <a:xfrm>
            <a:off x="6053328" y="1389888"/>
            <a:ext cx="1316736" cy="1664208"/>
          </a:xfrm>
          <a:prstGeom prst="rect">
            <a:avLst/>
          </a:prstGeom>
          <a:noFill/>
          <a:ln/>
        </p:spPr>
        <p:txBody>
          <a:bodyPr wrap="square" lIns="38100" tIns="38100" rIns="38100" bIns="38100" rtlCol="0" anchor="ctr"/>
          <a:lstStyle/>
          <a:p>
            <a:pPr algn="ctr" indent="0" marL="0">
              <a:buNone/>
            </a:pPr>
            <a:r>
              <a:rPr lang="en-US" sz="950" b="1" dirty="0">
                <a:solidFill>
                  <a:srgbClr val="FFFFFF"/>
                </a:solidFill>
              </a:rPr>
              <a:t>予測確率</a:t>
            </a:r>
            <a:endParaRPr lang="en-US" sz="950" dirty="0"/>
          </a:p>
          <a:p>
            <a:pPr algn="ctr" indent="0" marL="0">
              <a:buNone/>
            </a:pPr>
            <a:r>
              <a:rPr lang="en-US" sz="950" b="1" dirty="0">
                <a:solidFill>
                  <a:srgbClr val="FFFFFF"/>
                </a:solidFill>
              </a:rPr>
              <a:t>走る: 72%</a:t>
            </a:r>
            <a:endParaRPr lang="en-US" sz="950" dirty="0"/>
          </a:p>
          <a:p>
            <a:pPr algn="ctr" indent="0" marL="0">
              <a:buNone/>
            </a:pPr>
            <a:r>
              <a:rPr lang="en-US" sz="950" b="1" dirty="0">
                <a:solidFill>
                  <a:srgbClr val="FFFFFF"/>
                </a:solidFill>
              </a:rPr>
              <a:t>跳ぶ: 18%</a:t>
            </a:r>
            <a:endParaRPr lang="en-US" sz="950" dirty="0"/>
          </a:p>
          <a:p>
            <a:pPr algn="ctr" indent="0" marL="0">
              <a:buNone/>
            </a:pPr>
            <a:r>
              <a:rPr lang="en-US" sz="950" b="1" dirty="0">
                <a:solidFill>
                  <a:srgbClr val="FFFFFF"/>
                </a:solidFill>
              </a:rPr>
              <a:t>その他: 10%</a:t>
            </a:r>
            <a:endParaRPr lang="en-US" sz="950" dirty="0"/>
          </a:p>
        </p:txBody>
      </p:sp>
      <p:sp>
        <p:nvSpPr>
          <p:cNvPr id="24" name="Text 22"/>
          <p:cNvSpPr/>
          <p:nvPr/>
        </p:nvSpPr>
        <p:spPr>
          <a:xfrm>
            <a:off x="6053328" y="3090672"/>
            <a:ext cx="1316736" cy="347472"/>
          </a:xfrm>
          <a:prstGeom prst="rect">
            <a:avLst/>
          </a:prstGeom>
          <a:noFill/>
          <a:ln/>
        </p:spPr>
        <p:txBody>
          <a:bodyPr wrap="square" rtlCol="0" anchor="ctr"/>
          <a:lstStyle/>
          <a:p>
            <a:pPr algn="ctr" indent="0" marL="0">
              <a:buNone/>
            </a:pPr>
            <a:r>
              <a:rPr lang="en-US" sz="900" i="1" dirty="0">
                <a:solidFill>
                  <a:srgbClr val="4B5563"/>
                </a:solidFill>
              </a:rPr>
              <a:t>モデルの答え</a:t>
            </a:r>
            <a:endParaRPr lang="en-US" sz="900" dirty="0"/>
          </a:p>
        </p:txBody>
      </p:sp>
      <p:sp>
        <p:nvSpPr>
          <p:cNvPr id="25" name="Shape 23"/>
          <p:cNvSpPr/>
          <p:nvPr/>
        </p:nvSpPr>
        <p:spPr>
          <a:xfrm>
            <a:off x="7370064" y="2221992"/>
            <a:ext cx="109728" cy="0"/>
          </a:xfrm>
          <a:prstGeom prst="line">
            <a:avLst/>
          </a:prstGeom>
          <a:noFill/>
          <a:ln w="19050">
            <a:solidFill>
              <a:srgbClr val="6B7280"/>
            </a:solidFill>
            <a:prstDash val="solid"/>
          </a:ln>
        </p:spPr>
      </p:sp>
      <p:sp>
        <p:nvSpPr>
          <p:cNvPr id="26" name="Shape 24"/>
          <p:cNvSpPr/>
          <p:nvPr/>
        </p:nvSpPr>
        <p:spPr>
          <a:xfrm>
            <a:off x="7479792" y="1389888"/>
            <a:ext cx="1316736" cy="1664208"/>
          </a:xfrm>
          <a:prstGeom prst="roundRect">
            <a:avLst>
              <a:gd name="adj" fmla="val 4167"/>
            </a:avLst>
          </a:prstGeom>
          <a:solidFill>
            <a:srgbClr val="D85A30"/>
          </a:solidFill>
          <a:ln w="12700">
            <a:solidFill>
              <a:srgbClr val="D85A30"/>
            </a:solidFill>
            <a:prstDash val="solid"/>
          </a:ln>
        </p:spPr>
      </p:sp>
      <p:sp>
        <p:nvSpPr>
          <p:cNvPr id="27" name="Text 25"/>
          <p:cNvSpPr/>
          <p:nvPr/>
        </p:nvSpPr>
        <p:spPr>
          <a:xfrm>
            <a:off x="7479792" y="1389888"/>
            <a:ext cx="1316736" cy="1664208"/>
          </a:xfrm>
          <a:prstGeom prst="rect">
            <a:avLst/>
          </a:prstGeom>
          <a:noFill/>
          <a:ln/>
        </p:spPr>
        <p:txBody>
          <a:bodyPr wrap="square" lIns="38100" tIns="38100" rIns="38100" bIns="38100" rtlCol="0" anchor="ctr"/>
          <a:lstStyle/>
          <a:p>
            <a:pPr algn="ctr" indent="0" marL="0">
              <a:buNone/>
            </a:pPr>
            <a:r>
              <a:rPr lang="en-US" sz="950" b="1" dirty="0">
                <a:solidFill>
                  <a:srgbClr val="FFFFFF"/>
                </a:solidFill>
              </a:rPr>
              <a:t>Cross-</a:t>
            </a:r>
            <a:endParaRPr lang="en-US" sz="950" dirty="0"/>
          </a:p>
          <a:p>
            <a:pPr algn="ctr" indent="0" marL="0">
              <a:buNone/>
            </a:pPr>
            <a:r>
              <a:rPr lang="en-US" sz="950" b="1" dirty="0">
                <a:solidFill>
                  <a:srgbClr val="FFFFFF"/>
                </a:solidFill>
              </a:rPr>
              <a:t>Entropy Loss</a:t>
            </a:r>
            <a:endParaRPr lang="en-US" sz="950" dirty="0"/>
          </a:p>
          <a:p>
            <a:pPr algn="ctr" indent="0" marL="0">
              <a:buNone/>
            </a:pPr>
            <a:r>
              <a:rPr lang="en-US" sz="950" b="1" dirty="0">
                <a:solidFill>
                  <a:srgbClr val="FFFFFF"/>
                </a:solidFill>
              </a:rPr>
              <a:t>正解との差</a:t>
            </a:r>
            <a:endParaRPr lang="en-US" sz="950" dirty="0"/>
          </a:p>
          <a:p>
            <a:pPr algn="ctr" indent="0" marL="0">
              <a:buNone/>
            </a:pPr>
            <a:r>
              <a:rPr lang="en-US" sz="950" b="1" dirty="0">
                <a:solidFill>
                  <a:srgbClr val="FFFFFF"/>
                </a:solidFill>
              </a:rPr>
              <a:t>を計算</a:t>
            </a:r>
            <a:endParaRPr lang="en-US" sz="950" dirty="0"/>
          </a:p>
        </p:txBody>
      </p:sp>
      <p:sp>
        <p:nvSpPr>
          <p:cNvPr id="28" name="Text 26"/>
          <p:cNvSpPr/>
          <p:nvPr/>
        </p:nvSpPr>
        <p:spPr>
          <a:xfrm>
            <a:off x="7479792" y="3090672"/>
            <a:ext cx="1316736" cy="347472"/>
          </a:xfrm>
          <a:prstGeom prst="rect">
            <a:avLst/>
          </a:prstGeom>
          <a:noFill/>
          <a:ln/>
        </p:spPr>
        <p:txBody>
          <a:bodyPr wrap="square" rtlCol="0" anchor="ctr"/>
          <a:lstStyle/>
          <a:p>
            <a:pPr algn="ctr" indent="0" marL="0">
              <a:buNone/>
            </a:pPr>
            <a:r>
              <a:rPr lang="en-US" sz="900" i="1" dirty="0">
                <a:solidFill>
                  <a:srgbClr val="4B5563"/>
                </a:solidFill>
              </a:rPr>
              <a:t>ズレの大きさ</a:t>
            </a:r>
            <a:endParaRPr lang="en-US" sz="900" dirty="0"/>
          </a:p>
          <a:p>
            <a:pPr algn="ctr" indent="0" marL="0">
              <a:buNone/>
            </a:pPr>
            <a:r>
              <a:rPr lang="en-US" sz="900" i="1" dirty="0">
                <a:solidFill>
                  <a:srgbClr val="4B5563"/>
                </a:solidFill>
              </a:rPr>
              <a:t>= 改善幅</a:t>
            </a:r>
            <a:endParaRPr lang="en-US" sz="900" dirty="0"/>
          </a:p>
        </p:txBody>
      </p:sp>
      <p:sp>
        <p:nvSpPr>
          <p:cNvPr id="29" name="Shape 27"/>
          <p:cNvSpPr/>
          <p:nvPr/>
        </p:nvSpPr>
        <p:spPr>
          <a:xfrm>
            <a:off x="347472" y="3529584"/>
            <a:ext cx="8430768" cy="126187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30" name="Shape 28"/>
          <p:cNvSpPr/>
          <p:nvPr/>
        </p:nvSpPr>
        <p:spPr>
          <a:xfrm>
            <a:off x="347472" y="3529584"/>
            <a:ext cx="45720" cy="1261872"/>
          </a:xfrm>
          <a:prstGeom prst="rect">
            <a:avLst/>
          </a:prstGeom>
          <a:solidFill>
            <a:srgbClr val="534AB7"/>
          </a:solidFill>
          <a:ln w="12700">
            <a:solidFill>
              <a:srgbClr val="534AB7"/>
            </a:solidFill>
            <a:prstDash val="solid"/>
          </a:ln>
        </p:spPr>
      </p:sp>
      <p:sp>
        <p:nvSpPr>
          <p:cNvPr id="31" name="Text 29"/>
          <p:cNvSpPr/>
          <p:nvPr/>
        </p:nvSpPr>
        <p:spPr>
          <a:xfrm>
            <a:off x="484632" y="3584448"/>
            <a:ext cx="8229600" cy="292608"/>
          </a:xfrm>
          <a:prstGeom prst="rect">
            <a:avLst/>
          </a:prstGeom>
          <a:noFill/>
          <a:ln/>
        </p:spPr>
        <p:txBody>
          <a:bodyPr wrap="square" rtlCol="0" anchor="ctr"/>
          <a:lstStyle/>
          <a:p>
            <a:pPr indent="0" marL="0">
              <a:buNone/>
            </a:pPr>
            <a:r>
              <a:rPr lang="en-US" sz="1100" b="1" dirty="0">
                <a:solidFill>
                  <a:srgbClr val="534AB7"/>
                </a:solidFill>
              </a:rPr>
              <a:t>具体例：「I deposited money in the bank」の場合</a:t>
            </a:r>
            <a:endParaRPr lang="en-US" sz="1100" dirty="0"/>
          </a:p>
        </p:txBody>
      </p:sp>
      <p:sp>
        <p:nvSpPr>
          <p:cNvPr id="32" name="Shape 30"/>
          <p:cNvSpPr/>
          <p:nvPr/>
        </p:nvSpPr>
        <p:spPr>
          <a:xfrm>
            <a:off x="438912" y="3931920"/>
            <a:ext cx="1499616" cy="1536192"/>
          </a:xfrm>
          <a:prstGeom prst="rect">
            <a:avLst/>
          </a:prstGeom>
          <a:solidFill>
            <a:srgbClr val="E6F1FB"/>
          </a:solidFill>
          <a:ln w="3810">
            <a:solidFill>
              <a:srgbClr val="185FA5"/>
            </a:solidFill>
            <a:prstDash val="solid"/>
          </a:ln>
        </p:spPr>
      </p:sp>
      <p:sp>
        <p:nvSpPr>
          <p:cNvPr id="33" name="Text 31"/>
          <p:cNvSpPr/>
          <p:nvPr/>
        </p:nvSpPr>
        <p:spPr>
          <a:xfrm>
            <a:off x="438912" y="3968496"/>
            <a:ext cx="1499616" cy="310896"/>
          </a:xfrm>
          <a:prstGeom prst="rect">
            <a:avLst/>
          </a:prstGeom>
          <a:noFill/>
          <a:ln/>
        </p:spPr>
        <p:txBody>
          <a:bodyPr wrap="square" rtlCol="0" anchor="ctr"/>
          <a:lstStyle/>
          <a:p>
            <a:pPr algn="ctr" indent="0" marL="0">
              <a:buNone/>
            </a:pPr>
            <a:r>
              <a:rPr lang="en-US" sz="950" b="1" dirty="0">
                <a:solidFill>
                  <a:srgbClr val="185FA5"/>
                </a:solidFill>
              </a:rPr>
              <a:t>Attention Output</a:t>
            </a:r>
            <a:endParaRPr lang="en-US" sz="950" dirty="0"/>
          </a:p>
          <a:p>
            <a:pPr algn="ctr" indent="0" marL="0">
              <a:buNone/>
            </a:pPr>
            <a:r>
              <a:rPr lang="en-US" sz="950" b="1" dirty="0">
                <a:solidFill>
                  <a:srgbClr val="185FA5"/>
                </a:solidFill>
              </a:rPr>
              <a:t>(bank)</a:t>
            </a:r>
            <a:endParaRPr lang="en-US" sz="950" dirty="0"/>
          </a:p>
        </p:txBody>
      </p:sp>
      <p:sp>
        <p:nvSpPr>
          <p:cNvPr id="34" name="Text 32"/>
          <p:cNvSpPr/>
          <p:nvPr/>
        </p:nvSpPr>
        <p:spPr>
          <a:xfrm>
            <a:off x="438912" y="4315968"/>
            <a:ext cx="1499616" cy="1078992"/>
          </a:xfrm>
          <a:prstGeom prst="rect">
            <a:avLst/>
          </a:prstGeom>
          <a:noFill/>
          <a:ln/>
        </p:spPr>
        <p:txBody>
          <a:bodyPr wrap="square" lIns="38100" tIns="38100" rIns="38100" bIns="38100" rtlCol="0" anchor="ctr"/>
          <a:lstStyle/>
          <a:p>
            <a:pPr algn="ctr" indent="0" marL="0">
              <a:buNone/>
            </a:pPr>
            <a:r>
              <a:rPr lang="en-US" sz="900" dirty="0">
                <a:solidFill>
                  <a:srgbClr val="1F2937"/>
                </a:solidFill>
              </a:rPr>
              <a:t>money(68%)+deposit(10%)</a:t>
            </a:r>
            <a:endParaRPr lang="en-US" sz="900" dirty="0"/>
          </a:p>
          <a:p>
            <a:pPr algn="ctr" indent="0" marL="0">
              <a:buNone/>
            </a:pPr>
            <a:r>
              <a:rPr lang="en-US" sz="900" dirty="0">
                <a:solidFill>
                  <a:srgbClr val="1F2937"/>
                </a:solidFill>
              </a:rPr>
              <a:t>+bank(8%)+…を混合</a:t>
            </a:r>
            <a:endParaRPr lang="en-US" sz="900" dirty="0"/>
          </a:p>
          <a:p>
            <a:pPr algn="ctr" indent="0" marL="0">
              <a:buNone/>
            </a:pPr>
            <a:r>
              <a:rPr lang="en-US" sz="900" dirty="0">
                <a:solidFill>
                  <a:srgbClr val="1F2937"/>
                </a:solidFill>
              </a:rPr>
              <a:t>→「金融bank」方向のベクトル</a:t>
            </a:r>
            <a:endParaRPr lang="en-US" sz="900" dirty="0"/>
          </a:p>
        </p:txBody>
      </p:sp>
      <p:sp>
        <p:nvSpPr>
          <p:cNvPr id="35" name="Shape 33"/>
          <p:cNvSpPr/>
          <p:nvPr/>
        </p:nvSpPr>
        <p:spPr>
          <a:xfrm>
            <a:off x="1938528" y="4700016"/>
            <a:ext cx="182880" cy="0"/>
          </a:xfrm>
          <a:prstGeom prst="line">
            <a:avLst/>
          </a:prstGeom>
          <a:noFill/>
          <a:ln w="12700">
            <a:solidFill>
              <a:srgbClr val="6B7280"/>
            </a:solidFill>
            <a:prstDash val="solid"/>
          </a:ln>
        </p:spPr>
      </p:sp>
      <p:sp>
        <p:nvSpPr>
          <p:cNvPr id="36" name="Shape 34"/>
          <p:cNvSpPr/>
          <p:nvPr/>
        </p:nvSpPr>
        <p:spPr>
          <a:xfrm>
            <a:off x="2121408" y="3931920"/>
            <a:ext cx="1499616" cy="1536192"/>
          </a:xfrm>
          <a:prstGeom prst="rect">
            <a:avLst/>
          </a:prstGeom>
          <a:solidFill>
            <a:srgbClr val="EEEDFE"/>
          </a:solidFill>
          <a:ln w="3810">
            <a:solidFill>
              <a:srgbClr val="534AB7"/>
            </a:solidFill>
            <a:prstDash val="solid"/>
          </a:ln>
        </p:spPr>
      </p:sp>
      <p:sp>
        <p:nvSpPr>
          <p:cNvPr id="37" name="Text 35"/>
          <p:cNvSpPr/>
          <p:nvPr/>
        </p:nvSpPr>
        <p:spPr>
          <a:xfrm>
            <a:off x="2121408" y="3968496"/>
            <a:ext cx="1499616" cy="310896"/>
          </a:xfrm>
          <a:prstGeom prst="rect">
            <a:avLst/>
          </a:prstGeom>
          <a:noFill/>
          <a:ln/>
        </p:spPr>
        <p:txBody>
          <a:bodyPr wrap="square" rtlCol="0" anchor="ctr"/>
          <a:lstStyle/>
          <a:p>
            <a:pPr algn="ctr" indent="0" marL="0">
              <a:buNone/>
            </a:pPr>
            <a:r>
              <a:rPr lang="en-US" sz="950" b="1" dirty="0">
                <a:solidFill>
                  <a:srgbClr val="534AB7"/>
                </a:solidFill>
              </a:rPr>
              <a:t>FFN変換後</a:t>
            </a:r>
            <a:endParaRPr lang="en-US" sz="950" dirty="0"/>
          </a:p>
        </p:txBody>
      </p:sp>
      <p:sp>
        <p:nvSpPr>
          <p:cNvPr id="38" name="Text 36"/>
          <p:cNvSpPr/>
          <p:nvPr/>
        </p:nvSpPr>
        <p:spPr>
          <a:xfrm>
            <a:off x="2121408" y="4315968"/>
            <a:ext cx="1499616" cy="1078992"/>
          </a:xfrm>
          <a:prstGeom prst="rect">
            <a:avLst/>
          </a:prstGeom>
          <a:noFill/>
          <a:ln/>
        </p:spPr>
        <p:txBody>
          <a:bodyPr wrap="square" lIns="38100" tIns="38100" rIns="38100" bIns="38100" rtlCol="0" anchor="ctr"/>
          <a:lstStyle/>
          <a:p>
            <a:pPr algn="ctr" indent="0" marL="0">
              <a:buNone/>
            </a:pPr>
            <a:r>
              <a:rPr lang="en-US" sz="900" dirty="0">
                <a:solidFill>
                  <a:srgbClr val="1F2937"/>
                </a:solidFill>
              </a:rPr>
              <a:t>「金融機関」の意味に</a:t>
            </a:r>
            <a:endParaRPr lang="en-US" sz="900" dirty="0"/>
          </a:p>
          <a:p>
            <a:pPr algn="ctr" indent="0" marL="0">
              <a:buNone/>
            </a:pPr>
            <a:r>
              <a:rPr lang="en-US" sz="900" dirty="0">
                <a:solidFill>
                  <a:srgbClr val="1F2937"/>
                </a:solidFill>
              </a:rPr>
              <a:t>抽象化されたベクトル</a:t>
            </a:r>
            <a:endParaRPr lang="en-US" sz="900" dirty="0"/>
          </a:p>
          <a:p>
            <a:pPr algn="ctr" indent="0" marL="0">
              <a:buNone/>
            </a:pPr>
            <a:r>
              <a:rPr lang="en-US" sz="900" dirty="0">
                <a:solidFill>
                  <a:srgbClr val="1F2937"/>
                </a:solidFill>
              </a:rPr>
              <a:t>[768次元]</a:t>
            </a:r>
            <a:endParaRPr lang="en-US" sz="900" dirty="0"/>
          </a:p>
        </p:txBody>
      </p:sp>
      <p:sp>
        <p:nvSpPr>
          <p:cNvPr id="39" name="Shape 37"/>
          <p:cNvSpPr/>
          <p:nvPr/>
        </p:nvSpPr>
        <p:spPr>
          <a:xfrm>
            <a:off x="3621024" y="4700016"/>
            <a:ext cx="182880" cy="0"/>
          </a:xfrm>
          <a:prstGeom prst="line">
            <a:avLst/>
          </a:prstGeom>
          <a:noFill/>
          <a:ln w="12700">
            <a:solidFill>
              <a:srgbClr val="6B7280"/>
            </a:solidFill>
            <a:prstDash val="solid"/>
          </a:ln>
        </p:spPr>
      </p:sp>
      <p:sp>
        <p:nvSpPr>
          <p:cNvPr id="40" name="Shape 38"/>
          <p:cNvSpPr/>
          <p:nvPr/>
        </p:nvSpPr>
        <p:spPr>
          <a:xfrm>
            <a:off x="3803904" y="3931920"/>
            <a:ext cx="1499616" cy="1536192"/>
          </a:xfrm>
          <a:prstGeom prst="rect">
            <a:avLst/>
          </a:prstGeom>
          <a:solidFill>
            <a:srgbClr val="FAEEDA"/>
          </a:solidFill>
          <a:ln w="3810">
            <a:solidFill>
              <a:srgbClr val="BA7517"/>
            </a:solidFill>
            <a:prstDash val="solid"/>
          </a:ln>
        </p:spPr>
      </p:sp>
      <p:sp>
        <p:nvSpPr>
          <p:cNvPr id="41" name="Text 39"/>
          <p:cNvSpPr/>
          <p:nvPr/>
        </p:nvSpPr>
        <p:spPr>
          <a:xfrm>
            <a:off x="3803904" y="3968496"/>
            <a:ext cx="1499616" cy="310896"/>
          </a:xfrm>
          <a:prstGeom prst="rect">
            <a:avLst/>
          </a:prstGeom>
          <a:noFill/>
          <a:ln/>
        </p:spPr>
        <p:txBody>
          <a:bodyPr wrap="square" rtlCol="0" anchor="ctr"/>
          <a:lstStyle/>
          <a:p>
            <a:pPr algn="ctr" indent="0" marL="0">
              <a:buNone/>
            </a:pPr>
            <a:r>
              <a:rPr lang="en-US" sz="950" b="1" dirty="0">
                <a:solidFill>
                  <a:srgbClr val="BA7517"/>
                </a:solidFill>
              </a:rPr>
              <a:t>Logits</a:t>
            </a:r>
            <a:endParaRPr lang="en-US" sz="950" dirty="0"/>
          </a:p>
        </p:txBody>
      </p:sp>
      <p:sp>
        <p:nvSpPr>
          <p:cNvPr id="42" name="Text 40"/>
          <p:cNvSpPr/>
          <p:nvPr/>
        </p:nvSpPr>
        <p:spPr>
          <a:xfrm>
            <a:off x="3803904" y="4315968"/>
            <a:ext cx="1499616" cy="1078992"/>
          </a:xfrm>
          <a:prstGeom prst="rect">
            <a:avLst/>
          </a:prstGeom>
          <a:noFill/>
          <a:ln/>
        </p:spPr>
        <p:txBody>
          <a:bodyPr wrap="square" lIns="38100" tIns="38100" rIns="38100" bIns="38100" rtlCol="0" anchor="ctr"/>
          <a:lstStyle/>
          <a:p>
            <a:pPr algn="ctr" indent="0" marL="0">
              <a:buNone/>
            </a:pPr>
            <a:r>
              <a:rPr lang="en-US" sz="900" dirty="0">
                <a:solidFill>
                  <a:srgbClr val="1F2937"/>
                </a:solidFill>
              </a:rPr>
              <a:t>次単語スコア</a:t>
            </a:r>
            <a:endParaRPr lang="en-US" sz="900" dirty="0"/>
          </a:p>
          <a:p>
            <a:pPr algn="ctr" indent="0" marL="0">
              <a:buNone/>
            </a:pPr>
            <a:r>
              <a:rPr lang="en-US" sz="900" dirty="0">
                <a:solidFill>
                  <a:srgbClr val="1F2937"/>
                </a:solidFill>
              </a:rPr>
              <a:t>transaction:8.2</a:t>
            </a:r>
            <a:endParaRPr lang="en-US" sz="900" dirty="0"/>
          </a:p>
          <a:p>
            <a:pPr algn="ctr" indent="0" marL="0">
              <a:buNone/>
            </a:pPr>
            <a:r>
              <a:rPr lang="en-US" sz="900" dirty="0">
                <a:solidFill>
                  <a:srgbClr val="1F2937"/>
                </a:solidFill>
              </a:rPr>
              <a:t>account:7.9</a:t>
            </a:r>
            <a:endParaRPr lang="en-US" sz="900" dirty="0"/>
          </a:p>
          <a:p>
            <a:pPr algn="ctr" indent="0" marL="0">
              <a:buNone/>
            </a:pPr>
            <a:r>
              <a:rPr lang="en-US" sz="900" dirty="0">
                <a:solidFill>
                  <a:srgbClr val="1F2937"/>
                </a:solidFill>
              </a:rPr>
              <a:t>river:1.2</a:t>
            </a:r>
            <a:endParaRPr lang="en-US" sz="900" dirty="0"/>
          </a:p>
        </p:txBody>
      </p:sp>
      <p:sp>
        <p:nvSpPr>
          <p:cNvPr id="43" name="Shape 41"/>
          <p:cNvSpPr/>
          <p:nvPr/>
        </p:nvSpPr>
        <p:spPr>
          <a:xfrm>
            <a:off x="5303520" y="4700016"/>
            <a:ext cx="182880" cy="0"/>
          </a:xfrm>
          <a:prstGeom prst="line">
            <a:avLst/>
          </a:prstGeom>
          <a:noFill/>
          <a:ln w="12700">
            <a:solidFill>
              <a:srgbClr val="6B7280"/>
            </a:solidFill>
            <a:prstDash val="solid"/>
          </a:ln>
        </p:spPr>
      </p:sp>
      <p:sp>
        <p:nvSpPr>
          <p:cNvPr id="44" name="Shape 42"/>
          <p:cNvSpPr/>
          <p:nvPr/>
        </p:nvSpPr>
        <p:spPr>
          <a:xfrm>
            <a:off x="5486400" y="3931920"/>
            <a:ext cx="1499616" cy="1536192"/>
          </a:xfrm>
          <a:prstGeom prst="rect">
            <a:avLst/>
          </a:prstGeom>
          <a:solidFill>
            <a:srgbClr val="E1F5EE"/>
          </a:solidFill>
          <a:ln w="3810">
            <a:solidFill>
              <a:srgbClr val="0F6E56"/>
            </a:solidFill>
            <a:prstDash val="solid"/>
          </a:ln>
        </p:spPr>
      </p:sp>
      <p:sp>
        <p:nvSpPr>
          <p:cNvPr id="45" name="Text 43"/>
          <p:cNvSpPr/>
          <p:nvPr/>
        </p:nvSpPr>
        <p:spPr>
          <a:xfrm>
            <a:off x="5486400" y="3968496"/>
            <a:ext cx="1499616" cy="310896"/>
          </a:xfrm>
          <a:prstGeom prst="rect">
            <a:avLst/>
          </a:prstGeom>
          <a:noFill/>
          <a:ln/>
        </p:spPr>
        <p:txBody>
          <a:bodyPr wrap="square" rtlCol="0" anchor="ctr"/>
          <a:lstStyle/>
          <a:p>
            <a:pPr algn="ctr" indent="0" marL="0">
              <a:buNone/>
            </a:pPr>
            <a:r>
              <a:rPr lang="en-US" sz="950" b="1" dirty="0">
                <a:solidFill>
                  <a:srgbClr val="0F6E56"/>
                </a:solidFill>
              </a:rPr>
              <a:t>Softmax後</a:t>
            </a:r>
            <a:endParaRPr lang="en-US" sz="950" dirty="0"/>
          </a:p>
        </p:txBody>
      </p:sp>
      <p:sp>
        <p:nvSpPr>
          <p:cNvPr id="46" name="Text 44"/>
          <p:cNvSpPr/>
          <p:nvPr/>
        </p:nvSpPr>
        <p:spPr>
          <a:xfrm>
            <a:off x="5486400" y="4315968"/>
            <a:ext cx="1499616" cy="1078992"/>
          </a:xfrm>
          <a:prstGeom prst="rect">
            <a:avLst/>
          </a:prstGeom>
          <a:noFill/>
          <a:ln/>
        </p:spPr>
        <p:txBody>
          <a:bodyPr wrap="square" lIns="38100" tIns="38100" rIns="38100" bIns="38100" rtlCol="0" anchor="ctr"/>
          <a:lstStyle/>
          <a:p>
            <a:pPr algn="ctr" indent="0" marL="0">
              <a:buNone/>
            </a:pPr>
            <a:r>
              <a:rPr lang="en-US" sz="900" dirty="0">
                <a:solidFill>
                  <a:srgbClr val="1F2937"/>
                </a:solidFill>
              </a:rPr>
              <a:t>transaction: 45%
account: 38%
river: 2%
</a:t>
            </a:r>
            <a:endParaRPr lang="en-US" sz="900" dirty="0"/>
          </a:p>
        </p:txBody>
      </p:sp>
      <p:sp>
        <p:nvSpPr>
          <p:cNvPr id="47" name="Shape 45"/>
          <p:cNvSpPr/>
          <p:nvPr/>
        </p:nvSpPr>
        <p:spPr>
          <a:xfrm>
            <a:off x="6986016" y="4700016"/>
            <a:ext cx="182880" cy="0"/>
          </a:xfrm>
          <a:prstGeom prst="line">
            <a:avLst/>
          </a:prstGeom>
          <a:noFill/>
          <a:ln w="12700">
            <a:solidFill>
              <a:srgbClr val="6B7280"/>
            </a:solidFill>
            <a:prstDash val="solid"/>
          </a:ln>
        </p:spPr>
      </p:sp>
      <p:sp>
        <p:nvSpPr>
          <p:cNvPr id="48" name="Shape 46"/>
          <p:cNvSpPr/>
          <p:nvPr/>
        </p:nvSpPr>
        <p:spPr>
          <a:xfrm>
            <a:off x="7168896" y="3931920"/>
            <a:ext cx="1499616" cy="1536192"/>
          </a:xfrm>
          <a:prstGeom prst="rect">
            <a:avLst/>
          </a:prstGeom>
          <a:solidFill>
            <a:srgbClr val="FAECE7"/>
          </a:solidFill>
          <a:ln w="3810">
            <a:solidFill>
              <a:srgbClr val="D85A30"/>
            </a:solidFill>
            <a:prstDash val="solid"/>
          </a:ln>
        </p:spPr>
      </p:sp>
      <p:sp>
        <p:nvSpPr>
          <p:cNvPr id="49" name="Text 47"/>
          <p:cNvSpPr/>
          <p:nvPr/>
        </p:nvSpPr>
        <p:spPr>
          <a:xfrm>
            <a:off x="7168896" y="3968496"/>
            <a:ext cx="1499616" cy="310896"/>
          </a:xfrm>
          <a:prstGeom prst="rect">
            <a:avLst/>
          </a:prstGeom>
          <a:noFill/>
          <a:ln/>
        </p:spPr>
        <p:txBody>
          <a:bodyPr wrap="square" rtlCol="0" anchor="ctr"/>
          <a:lstStyle/>
          <a:p>
            <a:pPr algn="ctr" indent="0" marL="0">
              <a:buNone/>
            </a:pPr>
            <a:r>
              <a:rPr lang="en-US" sz="950" b="1" dirty="0">
                <a:solidFill>
                  <a:srgbClr val="D85A30"/>
                </a:solidFill>
              </a:rPr>
              <a:t>Loss(正解=account)</a:t>
            </a:r>
            <a:endParaRPr lang="en-US" sz="950" dirty="0"/>
          </a:p>
        </p:txBody>
      </p:sp>
      <p:sp>
        <p:nvSpPr>
          <p:cNvPr id="50" name="Text 48"/>
          <p:cNvSpPr/>
          <p:nvPr/>
        </p:nvSpPr>
        <p:spPr>
          <a:xfrm>
            <a:off x="7168896" y="4315968"/>
            <a:ext cx="1499616" cy="1078992"/>
          </a:xfrm>
          <a:prstGeom prst="rect">
            <a:avLst/>
          </a:prstGeom>
          <a:noFill/>
          <a:ln/>
        </p:spPr>
        <p:txBody>
          <a:bodyPr wrap="square" lIns="38100" tIns="38100" rIns="38100" bIns="38100" rtlCol="0" anchor="ctr"/>
          <a:lstStyle/>
          <a:p>
            <a:pPr algn="ctr" indent="0" marL="0">
              <a:buNone/>
            </a:pPr>
            <a:r>
              <a:rPr lang="en-US" sz="900" dirty="0">
                <a:solidFill>
                  <a:srgbClr val="1F2937"/>
                </a:solidFill>
              </a:rPr>
              <a:t>−log(0.38) ≈ 0.97</a:t>
            </a:r>
            <a:endParaRPr lang="en-US" sz="900" dirty="0"/>
          </a:p>
          <a:p>
            <a:pPr algn="ctr" indent="0" marL="0">
              <a:buNone/>
            </a:pPr>
            <a:r>
              <a:rPr lang="en-US" sz="900" dirty="0">
                <a:solidFill>
                  <a:srgbClr val="1F2937"/>
                </a:solidFill>
              </a:rPr>
              <a:t>→ accountの確率が</a:t>
            </a:r>
            <a:endParaRPr lang="en-US" sz="900" dirty="0"/>
          </a:p>
          <a:p>
            <a:pPr algn="ctr" indent="0" marL="0">
              <a:buNone/>
            </a:pPr>
            <a:r>
              <a:rPr lang="en-US" sz="900" dirty="0">
                <a:solidFill>
                  <a:srgbClr val="1F2937"/>
                </a:solidFill>
              </a:rPr>
              <a:t>低いほどLossが大</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24 / 28</a:t>
            </a:r>
            <a:endParaRPr lang="en-US" sz="900" dirty="0"/>
          </a:p>
        </p:txBody>
      </p:sp>
      <p:sp>
        <p:nvSpPr>
          <p:cNvPr id="3" name="Shape 1"/>
          <p:cNvSpPr/>
          <p:nvPr/>
        </p:nvSpPr>
        <p:spPr>
          <a:xfrm>
            <a:off x="347472" y="274320"/>
            <a:ext cx="54864" cy="475488"/>
          </a:xfrm>
          <a:prstGeom prst="rect">
            <a:avLst/>
          </a:prstGeom>
          <a:solidFill>
            <a:srgbClr val="0F6E56"/>
          </a:solidFill>
          <a:ln w="12700">
            <a:solidFill>
              <a:srgbClr val="0F6E56"/>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Self-Supervised Learning — GT は誰が作るのか</a:t>
            </a:r>
            <a:endParaRPr lang="en-US" sz="2000" dirty="0"/>
          </a:p>
        </p:txBody>
      </p:sp>
      <p:sp>
        <p:nvSpPr>
          <p:cNvPr id="5" name="Text 3"/>
          <p:cNvSpPr/>
          <p:nvPr/>
        </p:nvSpPr>
        <p:spPr>
          <a:xfrm>
            <a:off x="347472" y="932688"/>
            <a:ext cx="8430768" cy="402336"/>
          </a:xfrm>
          <a:prstGeom prst="rect">
            <a:avLst/>
          </a:prstGeom>
          <a:noFill/>
          <a:ln/>
        </p:spPr>
        <p:txBody>
          <a:bodyPr wrap="square" rtlCol="0" anchor="ctr"/>
          <a:lstStyle/>
          <a:p>
            <a:pPr indent="0" marL="0">
              <a:buNone/>
            </a:pPr>
            <a:r>
              <a:rPr lang="en-US" sz="1100" i="1" dirty="0">
                <a:solidFill>
                  <a:srgbClr val="4B5563"/>
                </a:solidFill>
              </a:rPr>
              <a:t>逆伝播で「正解（GT）との誤差」を計算するが、LLMの事前学習では人間がラベルを付けていない。文章自身が自動でGTを生成する「自己教師あり学習」が核心にある。</a:t>
            </a:r>
            <a:endParaRPr lang="en-US" sz="1100" dirty="0"/>
          </a:p>
        </p:txBody>
      </p:sp>
      <p:sp>
        <p:nvSpPr>
          <p:cNvPr id="6" name="Shape 4"/>
          <p:cNvSpPr/>
          <p:nvPr/>
        </p:nvSpPr>
        <p:spPr>
          <a:xfrm>
            <a:off x="347472" y="1408176"/>
            <a:ext cx="4041648" cy="208483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7" name="Shape 5"/>
          <p:cNvSpPr/>
          <p:nvPr/>
        </p:nvSpPr>
        <p:spPr>
          <a:xfrm>
            <a:off x="347472" y="1408176"/>
            <a:ext cx="45720" cy="2084832"/>
          </a:xfrm>
          <a:prstGeom prst="rect">
            <a:avLst/>
          </a:prstGeom>
          <a:solidFill>
            <a:srgbClr val="D85A30"/>
          </a:solidFill>
          <a:ln w="12700">
            <a:solidFill>
              <a:srgbClr val="D85A30"/>
            </a:solidFill>
            <a:prstDash val="solid"/>
          </a:ln>
        </p:spPr>
      </p:sp>
      <p:sp>
        <p:nvSpPr>
          <p:cNvPr id="8" name="Text 6"/>
          <p:cNvSpPr/>
          <p:nvPr/>
        </p:nvSpPr>
        <p:spPr>
          <a:xfrm>
            <a:off x="484632" y="1463040"/>
            <a:ext cx="3767328" cy="310896"/>
          </a:xfrm>
          <a:prstGeom prst="rect">
            <a:avLst/>
          </a:prstGeom>
          <a:noFill/>
          <a:ln/>
        </p:spPr>
        <p:txBody>
          <a:bodyPr wrap="square" rtlCol="0" anchor="ctr"/>
          <a:lstStyle/>
          <a:p>
            <a:pPr indent="0" marL="0">
              <a:buNone/>
            </a:pPr>
            <a:r>
              <a:rPr lang="en-US" sz="1200" b="1" dirty="0">
                <a:solidFill>
                  <a:srgbClr val="D85A30"/>
                </a:solidFill>
              </a:rPr>
              <a:t>❌ 通常の教師あり学習</a:t>
            </a:r>
            <a:endParaRPr lang="en-US" sz="1200" dirty="0"/>
          </a:p>
        </p:txBody>
      </p:sp>
      <p:sp>
        <p:nvSpPr>
          <p:cNvPr id="9" name="Text 7"/>
          <p:cNvSpPr/>
          <p:nvPr/>
        </p:nvSpPr>
        <p:spPr>
          <a:xfrm>
            <a:off x="484632" y="1810512"/>
            <a:ext cx="3767328" cy="1609344"/>
          </a:xfrm>
          <a:prstGeom prst="rect">
            <a:avLst/>
          </a:prstGeom>
          <a:noFill/>
          <a:ln/>
        </p:spPr>
        <p:txBody>
          <a:bodyPr wrap="square" rtlCol="0" anchor="ctr"/>
          <a:lstStyle/>
          <a:p>
            <a:pPr indent="0" marL="0">
              <a:spcAft>
                <a:spcPts val="500"/>
              </a:spcAft>
              <a:buNone/>
            </a:pPr>
            <a:r>
              <a:rPr lang="en-US" sz="1100" dirty="0">
                <a:solidFill>
                  <a:srgbClr val="1F2937"/>
                </a:solidFill>
              </a:rPr>
              <a:t>人間が全データにラベルを付与</a:t>
            </a:r>
            <a:endParaRPr lang="en-US" sz="1100" dirty="0"/>
          </a:p>
          <a:p>
            <a:pPr indent="0" marL="0">
              <a:spcAft>
                <a:spcPts val="500"/>
              </a:spcAft>
              <a:buNone/>
            </a:pPr>
            <a:r>
              <a:rPr lang="en-US" sz="1100" dirty="0">
                <a:solidFill>
                  <a:srgbClr val="1F2937"/>
                </a:solidFill>
              </a:rPr>
              <a:t>「この文章はポジティブ」</a:t>
            </a:r>
            <a:endParaRPr lang="en-US" sz="1100" dirty="0"/>
          </a:p>
          <a:p>
            <a:pPr indent="0" marL="0">
              <a:spcAft>
                <a:spcPts val="500"/>
              </a:spcAft>
              <a:buNone/>
            </a:pPr>
            <a:r>
              <a:rPr lang="en-US" sz="1100" dirty="0">
                <a:solidFill>
                  <a:srgbClr val="1F2937"/>
                </a:solidFill>
              </a:rPr>
              <a:t>「この画像は猫」</a:t>
            </a:r>
            <a:endParaRPr lang="en-US" sz="1100" dirty="0"/>
          </a:p>
          <a:p>
            <a:pPr indent="0" marL="0">
              <a:spcAft>
                <a:spcPts val="500"/>
              </a:spcAft>
              <a:buNone/>
            </a:pPr>
            <a:endParaRPr lang="en-US" sz="1100" dirty="0"/>
          </a:p>
          <a:p>
            <a:pPr indent="0" marL="0">
              <a:spcAft>
                <a:spcPts val="500"/>
              </a:spcAft>
              <a:buNone/>
            </a:pPr>
            <a:r>
              <a:rPr lang="en-US" sz="1100" dirty="0">
                <a:solidFill>
                  <a:srgbClr val="1F2937"/>
                </a:solidFill>
              </a:rPr>
              <a:t>→ 数十億文には使えない</a:t>
            </a:r>
            <a:endParaRPr lang="en-US" sz="1100" dirty="0"/>
          </a:p>
          <a:p>
            <a:pPr indent="0" marL="0">
              <a:spcAft>
                <a:spcPts val="500"/>
              </a:spcAft>
              <a:buNone/>
            </a:pPr>
            <a:r>
              <a:rPr lang="en-US" sz="1100" dirty="0">
                <a:solidFill>
                  <a:srgbClr val="1F2937"/>
                </a:solidFill>
              </a:rPr>
              <a:t>→ コストが膨大</a:t>
            </a:r>
            <a:endParaRPr lang="en-US" sz="1100" dirty="0"/>
          </a:p>
        </p:txBody>
      </p:sp>
      <p:sp>
        <p:nvSpPr>
          <p:cNvPr id="10" name="Shape 8"/>
          <p:cNvSpPr/>
          <p:nvPr/>
        </p:nvSpPr>
        <p:spPr>
          <a:xfrm>
            <a:off x="4736592" y="1408176"/>
            <a:ext cx="4041648" cy="2084832"/>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11" name="Shape 9"/>
          <p:cNvSpPr/>
          <p:nvPr/>
        </p:nvSpPr>
        <p:spPr>
          <a:xfrm>
            <a:off x="4736592" y="1408176"/>
            <a:ext cx="45720" cy="2084832"/>
          </a:xfrm>
          <a:prstGeom prst="rect">
            <a:avLst/>
          </a:prstGeom>
          <a:solidFill>
            <a:srgbClr val="0F6E56"/>
          </a:solidFill>
          <a:ln w="12700">
            <a:solidFill>
              <a:srgbClr val="0F6E56"/>
            </a:solidFill>
            <a:prstDash val="solid"/>
          </a:ln>
        </p:spPr>
      </p:sp>
      <p:sp>
        <p:nvSpPr>
          <p:cNvPr id="12" name="Text 10"/>
          <p:cNvSpPr/>
          <p:nvPr/>
        </p:nvSpPr>
        <p:spPr>
          <a:xfrm>
            <a:off x="4873752" y="1463040"/>
            <a:ext cx="3767328" cy="310896"/>
          </a:xfrm>
          <a:prstGeom prst="rect">
            <a:avLst/>
          </a:prstGeom>
          <a:noFill/>
          <a:ln/>
        </p:spPr>
        <p:txBody>
          <a:bodyPr wrap="square" rtlCol="0" anchor="ctr"/>
          <a:lstStyle/>
          <a:p>
            <a:pPr indent="0" marL="0">
              <a:buNone/>
            </a:pPr>
            <a:r>
              <a:rPr lang="en-US" sz="1200" b="1" dirty="0">
                <a:solidFill>
                  <a:srgbClr val="0F6E56"/>
                </a:solidFill>
              </a:rPr>
              <a:t>✅ 自己教師あり学習（SSL）</a:t>
            </a:r>
            <a:endParaRPr lang="en-US" sz="1200" dirty="0"/>
          </a:p>
        </p:txBody>
      </p:sp>
      <p:sp>
        <p:nvSpPr>
          <p:cNvPr id="13" name="Text 11"/>
          <p:cNvSpPr/>
          <p:nvPr/>
        </p:nvSpPr>
        <p:spPr>
          <a:xfrm>
            <a:off x="4873752" y="1810512"/>
            <a:ext cx="3767328" cy="1609344"/>
          </a:xfrm>
          <a:prstGeom prst="rect">
            <a:avLst/>
          </a:prstGeom>
          <a:noFill/>
          <a:ln/>
        </p:spPr>
        <p:txBody>
          <a:bodyPr wrap="square" rtlCol="0" anchor="ctr"/>
          <a:lstStyle/>
          <a:p>
            <a:pPr indent="0" marL="0">
              <a:spcAft>
                <a:spcPts val="500"/>
              </a:spcAft>
              <a:buNone/>
            </a:pPr>
            <a:r>
              <a:rPr lang="en-US" sz="1100" dirty="0">
                <a:solidFill>
                  <a:srgbClr val="1F2937"/>
                </a:solidFill>
              </a:rPr>
              <a:t>文章を「1トークン右にずらす」</a:t>
            </a:r>
            <a:endParaRPr lang="en-US" sz="1100" dirty="0"/>
          </a:p>
          <a:p>
            <a:pPr indent="0" marL="0">
              <a:spcAft>
                <a:spcPts val="500"/>
              </a:spcAft>
              <a:buNone/>
            </a:pPr>
            <a:r>
              <a:rPr lang="en-US" sz="1100" dirty="0">
                <a:solidFill>
                  <a:srgbClr val="1F2937"/>
                </a:solidFill>
              </a:rPr>
              <a:t>だけで GT が自動生成される</a:t>
            </a:r>
            <a:endParaRPr lang="en-US" sz="1100" dirty="0"/>
          </a:p>
          <a:p>
            <a:pPr indent="0" marL="0">
              <a:spcAft>
                <a:spcPts val="500"/>
              </a:spcAft>
              <a:buNone/>
            </a:pPr>
            <a:endParaRPr lang="en-US" sz="1100" dirty="0"/>
          </a:p>
          <a:p>
            <a:pPr indent="0" marL="0">
              <a:spcAft>
                <a:spcPts val="500"/>
              </a:spcAft>
              <a:buNone/>
            </a:pPr>
            <a:r>
              <a:rPr lang="en-US" sz="1100" dirty="0">
                <a:solidFill>
                  <a:srgbClr val="1F2937"/>
                </a:solidFill>
              </a:rPr>
              <a:t>→ インターネット上の</a:t>
            </a:r>
            <a:endParaRPr lang="en-US" sz="1100" dirty="0"/>
          </a:p>
          <a:p>
            <a:pPr indent="0" marL="0">
              <a:spcAft>
                <a:spcPts val="500"/>
              </a:spcAft>
              <a:buNone/>
            </a:pPr>
            <a:r>
              <a:rPr lang="en-US" sz="1100" dirty="0">
                <a:solidFill>
                  <a:srgbClr val="1F2937"/>
                </a:solidFill>
              </a:rPr>
              <a:t xml:space="preserve">  全テキストが学習データに</a:t>
            </a:r>
            <a:endParaRPr lang="en-US" sz="1100" dirty="0"/>
          </a:p>
          <a:p>
            <a:pPr indent="0" marL="0">
              <a:spcAft>
                <a:spcPts val="500"/>
              </a:spcAft>
              <a:buNone/>
            </a:pPr>
            <a:r>
              <a:rPr lang="en-US" sz="1100" dirty="0">
                <a:solidFill>
                  <a:srgbClr val="1F2937"/>
                </a:solidFill>
              </a:rPr>
              <a:t>→ 人手ラベル不要</a:t>
            </a:r>
            <a:endParaRPr lang="en-US" sz="1100" dirty="0"/>
          </a:p>
        </p:txBody>
      </p:sp>
      <p:sp>
        <p:nvSpPr>
          <p:cNvPr id="14" name="Shape 12"/>
          <p:cNvSpPr/>
          <p:nvPr/>
        </p:nvSpPr>
        <p:spPr>
          <a:xfrm>
            <a:off x="347472" y="3584448"/>
            <a:ext cx="8430768" cy="1133856"/>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15" name="Shape 13"/>
          <p:cNvSpPr/>
          <p:nvPr/>
        </p:nvSpPr>
        <p:spPr>
          <a:xfrm>
            <a:off x="347472" y="3584448"/>
            <a:ext cx="45720" cy="1133856"/>
          </a:xfrm>
          <a:prstGeom prst="rect">
            <a:avLst/>
          </a:prstGeom>
          <a:solidFill>
            <a:srgbClr val="0F6E56"/>
          </a:solidFill>
          <a:ln w="12700">
            <a:solidFill>
              <a:srgbClr val="0F6E56"/>
            </a:solidFill>
            <a:prstDash val="solid"/>
          </a:ln>
        </p:spPr>
      </p:sp>
      <p:sp>
        <p:nvSpPr>
          <p:cNvPr id="16" name="Text 14"/>
          <p:cNvSpPr/>
          <p:nvPr/>
        </p:nvSpPr>
        <p:spPr>
          <a:xfrm>
            <a:off x="484632" y="3639312"/>
            <a:ext cx="8229600" cy="274320"/>
          </a:xfrm>
          <a:prstGeom prst="rect">
            <a:avLst/>
          </a:prstGeom>
          <a:noFill/>
          <a:ln/>
        </p:spPr>
        <p:txBody>
          <a:bodyPr wrap="square" rtlCol="0" anchor="ctr"/>
          <a:lstStyle/>
          <a:p>
            <a:pPr indent="0" marL="0">
              <a:buNone/>
            </a:pPr>
            <a:r>
              <a:rPr lang="en-US" sz="1100" b="1" dirty="0">
                <a:solidFill>
                  <a:srgbClr val="0F6E56"/>
                </a:solidFill>
              </a:rPr>
              <a:t>GT の自動生成プロセス（「私は昨日公園を歩いた」）</a:t>
            </a:r>
            <a:endParaRPr lang="en-US" sz="1100" dirty="0"/>
          </a:p>
        </p:txBody>
      </p:sp>
      <p:sp>
        <p:nvSpPr>
          <p:cNvPr id="17" name="Shape 15"/>
          <p:cNvSpPr/>
          <p:nvPr/>
        </p:nvSpPr>
        <p:spPr>
          <a:xfrm>
            <a:off x="484632" y="3968496"/>
            <a:ext cx="1499616" cy="566928"/>
          </a:xfrm>
          <a:prstGeom prst="roundRect">
            <a:avLst>
              <a:gd name="adj" fmla="val 6452"/>
            </a:avLst>
          </a:prstGeom>
          <a:solidFill>
            <a:srgbClr val="E6F1FB"/>
          </a:solidFill>
          <a:ln w="5080">
            <a:solidFill>
              <a:srgbClr val="185FA5"/>
            </a:solidFill>
            <a:prstDash val="solid"/>
          </a:ln>
        </p:spPr>
      </p:sp>
      <p:sp>
        <p:nvSpPr>
          <p:cNvPr id="18" name="Text 16"/>
          <p:cNvSpPr/>
          <p:nvPr/>
        </p:nvSpPr>
        <p:spPr>
          <a:xfrm>
            <a:off x="484632" y="3968496"/>
            <a:ext cx="1499616" cy="274320"/>
          </a:xfrm>
          <a:prstGeom prst="rect">
            <a:avLst/>
          </a:prstGeom>
          <a:noFill/>
          <a:ln/>
        </p:spPr>
        <p:txBody>
          <a:bodyPr wrap="square" rtlCol="0" anchor="ctr"/>
          <a:lstStyle/>
          <a:p>
            <a:pPr algn="ctr" indent="0" marL="0">
              <a:buNone/>
            </a:pPr>
            <a:r>
              <a:rPr lang="en-US" sz="900" dirty="0">
                <a:solidFill>
                  <a:srgbClr val="185FA5"/>
                </a:solidFill>
                <a:latin typeface="Consolas" pitchFamily="34" charset="0"/>
                <a:ea typeface="Consolas" pitchFamily="34" charset="-122"/>
                <a:cs typeface="Consolas" pitchFamily="34" charset="-120"/>
              </a:rPr>
              <a:t>入力: 私は</a:t>
            </a:r>
            <a:endParaRPr lang="en-US" sz="900" dirty="0"/>
          </a:p>
        </p:txBody>
      </p:sp>
      <p:sp>
        <p:nvSpPr>
          <p:cNvPr id="19" name="Shape 17"/>
          <p:cNvSpPr/>
          <p:nvPr/>
        </p:nvSpPr>
        <p:spPr>
          <a:xfrm>
            <a:off x="1984248" y="4251960"/>
            <a:ext cx="164592" cy="0"/>
          </a:xfrm>
          <a:prstGeom prst="line">
            <a:avLst/>
          </a:prstGeom>
          <a:noFill/>
          <a:ln w="12700">
            <a:solidFill>
              <a:srgbClr val="0F6E56"/>
            </a:solidFill>
            <a:prstDash val="solid"/>
          </a:ln>
        </p:spPr>
      </p:sp>
      <p:sp>
        <p:nvSpPr>
          <p:cNvPr id="20" name="Shape 18"/>
          <p:cNvSpPr/>
          <p:nvPr/>
        </p:nvSpPr>
        <p:spPr>
          <a:xfrm>
            <a:off x="685800" y="4279392"/>
            <a:ext cx="1097280" cy="365760"/>
          </a:xfrm>
          <a:prstGeom prst="roundRect">
            <a:avLst>
              <a:gd name="adj" fmla="val 10000"/>
            </a:avLst>
          </a:prstGeom>
          <a:solidFill>
            <a:srgbClr val="E1F5EE"/>
          </a:solidFill>
          <a:ln w="5080">
            <a:solidFill>
              <a:srgbClr val="0F6E56"/>
            </a:solidFill>
            <a:prstDash val="solid"/>
          </a:ln>
        </p:spPr>
      </p:sp>
      <p:sp>
        <p:nvSpPr>
          <p:cNvPr id="21" name="Text 19"/>
          <p:cNvSpPr/>
          <p:nvPr/>
        </p:nvSpPr>
        <p:spPr>
          <a:xfrm>
            <a:off x="685800" y="4279392"/>
            <a:ext cx="1097280" cy="365760"/>
          </a:xfrm>
          <a:prstGeom prst="rect">
            <a:avLst/>
          </a:prstGeom>
          <a:noFill/>
          <a:ln/>
        </p:spPr>
        <p:txBody>
          <a:bodyPr wrap="square" rtlCol="0" anchor="ctr"/>
          <a:lstStyle/>
          <a:p>
            <a:pPr algn="ctr" indent="0" marL="0">
              <a:buNone/>
            </a:pPr>
            <a:r>
              <a:rPr lang="en-US" sz="900" b="1" dirty="0">
                <a:solidFill>
                  <a:srgbClr val="0F6E56"/>
                </a:solidFill>
                <a:latin typeface="Consolas" pitchFamily="34" charset="0"/>
                <a:ea typeface="Consolas" pitchFamily="34" charset="-122"/>
                <a:cs typeface="Consolas" pitchFamily="34" charset="-120"/>
              </a:rPr>
              <a:t>GT: 昨日</a:t>
            </a:r>
            <a:endParaRPr lang="en-US" sz="900" dirty="0"/>
          </a:p>
        </p:txBody>
      </p:sp>
      <p:sp>
        <p:nvSpPr>
          <p:cNvPr id="22" name="Shape 20"/>
          <p:cNvSpPr/>
          <p:nvPr/>
        </p:nvSpPr>
        <p:spPr>
          <a:xfrm>
            <a:off x="3264408" y="3968496"/>
            <a:ext cx="1499616" cy="566928"/>
          </a:xfrm>
          <a:prstGeom prst="roundRect">
            <a:avLst>
              <a:gd name="adj" fmla="val 6452"/>
            </a:avLst>
          </a:prstGeom>
          <a:solidFill>
            <a:srgbClr val="E6F1FB"/>
          </a:solidFill>
          <a:ln w="5080">
            <a:solidFill>
              <a:srgbClr val="185FA5"/>
            </a:solidFill>
            <a:prstDash val="solid"/>
          </a:ln>
        </p:spPr>
      </p:sp>
      <p:sp>
        <p:nvSpPr>
          <p:cNvPr id="23" name="Text 21"/>
          <p:cNvSpPr/>
          <p:nvPr/>
        </p:nvSpPr>
        <p:spPr>
          <a:xfrm>
            <a:off x="3264408" y="3968496"/>
            <a:ext cx="1499616" cy="274320"/>
          </a:xfrm>
          <a:prstGeom prst="rect">
            <a:avLst/>
          </a:prstGeom>
          <a:noFill/>
          <a:ln/>
        </p:spPr>
        <p:txBody>
          <a:bodyPr wrap="square" rtlCol="0" anchor="ctr"/>
          <a:lstStyle/>
          <a:p>
            <a:pPr algn="ctr" indent="0" marL="0">
              <a:buNone/>
            </a:pPr>
            <a:r>
              <a:rPr lang="en-US" sz="900" dirty="0">
                <a:solidFill>
                  <a:srgbClr val="185FA5"/>
                </a:solidFill>
                <a:latin typeface="Consolas" pitchFamily="34" charset="0"/>
                <a:ea typeface="Consolas" pitchFamily="34" charset="-122"/>
                <a:cs typeface="Consolas" pitchFamily="34" charset="-120"/>
              </a:rPr>
              <a:t>入力: 私は 昨日</a:t>
            </a:r>
            <a:endParaRPr lang="en-US" sz="900" dirty="0"/>
          </a:p>
        </p:txBody>
      </p:sp>
      <p:sp>
        <p:nvSpPr>
          <p:cNvPr id="24" name="Shape 22"/>
          <p:cNvSpPr/>
          <p:nvPr/>
        </p:nvSpPr>
        <p:spPr>
          <a:xfrm>
            <a:off x="4764024" y="4251960"/>
            <a:ext cx="164592" cy="0"/>
          </a:xfrm>
          <a:prstGeom prst="line">
            <a:avLst/>
          </a:prstGeom>
          <a:noFill/>
          <a:ln w="12700">
            <a:solidFill>
              <a:srgbClr val="0F6E56"/>
            </a:solidFill>
            <a:prstDash val="solid"/>
          </a:ln>
        </p:spPr>
      </p:sp>
      <p:sp>
        <p:nvSpPr>
          <p:cNvPr id="25" name="Shape 23"/>
          <p:cNvSpPr/>
          <p:nvPr/>
        </p:nvSpPr>
        <p:spPr>
          <a:xfrm>
            <a:off x="3465576" y="4279392"/>
            <a:ext cx="1097280" cy="365760"/>
          </a:xfrm>
          <a:prstGeom prst="roundRect">
            <a:avLst>
              <a:gd name="adj" fmla="val 10000"/>
            </a:avLst>
          </a:prstGeom>
          <a:solidFill>
            <a:srgbClr val="E1F5EE"/>
          </a:solidFill>
          <a:ln w="5080">
            <a:solidFill>
              <a:srgbClr val="0F6E56"/>
            </a:solidFill>
            <a:prstDash val="solid"/>
          </a:ln>
        </p:spPr>
      </p:sp>
      <p:sp>
        <p:nvSpPr>
          <p:cNvPr id="26" name="Text 24"/>
          <p:cNvSpPr/>
          <p:nvPr/>
        </p:nvSpPr>
        <p:spPr>
          <a:xfrm>
            <a:off x="3465576" y="4279392"/>
            <a:ext cx="1097280" cy="365760"/>
          </a:xfrm>
          <a:prstGeom prst="rect">
            <a:avLst/>
          </a:prstGeom>
          <a:noFill/>
          <a:ln/>
        </p:spPr>
        <p:txBody>
          <a:bodyPr wrap="square" rtlCol="0" anchor="ctr"/>
          <a:lstStyle/>
          <a:p>
            <a:pPr algn="ctr" indent="0" marL="0">
              <a:buNone/>
            </a:pPr>
            <a:r>
              <a:rPr lang="en-US" sz="900" b="1" dirty="0">
                <a:solidFill>
                  <a:srgbClr val="0F6E56"/>
                </a:solidFill>
                <a:latin typeface="Consolas" pitchFamily="34" charset="0"/>
                <a:ea typeface="Consolas" pitchFamily="34" charset="-122"/>
                <a:cs typeface="Consolas" pitchFamily="34" charset="-120"/>
              </a:rPr>
              <a:t>GT: 公園を</a:t>
            </a:r>
            <a:endParaRPr lang="en-US" sz="900" dirty="0"/>
          </a:p>
        </p:txBody>
      </p:sp>
      <p:sp>
        <p:nvSpPr>
          <p:cNvPr id="27" name="Shape 25"/>
          <p:cNvSpPr/>
          <p:nvPr/>
        </p:nvSpPr>
        <p:spPr>
          <a:xfrm>
            <a:off x="6044184" y="3968496"/>
            <a:ext cx="1499616" cy="566928"/>
          </a:xfrm>
          <a:prstGeom prst="roundRect">
            <a:avLst>
              <a:gd name="adj" fmla="val 6452"/>
            </a:avLst>
          </a:prstGeom>
          <a:solidFill>
            <a:srgbClr val="E6F1FB"/>
          </a:solidFill>
          <a:ln w="5080">
            <a:solidFill>
              <a:srgbClr val="185FA5"/>
            </a:solidFill>
            <a:prstDash val="solid"/>
          </a:ln>
        </p:spPr>
      </p:sp>
      <p:sp>
        <p:nvSpPr>
          <p:cNvPr id="28" name="Text 26"/>
          <p:cNvSpPr/>
          <p:nvPr/>
        </p:nvSpPr>
        <p:spPr>
          <a:xfrm>
            <a:off x="6044184" y="3968496"/>
            <a:ext cx="1499616" cy="274320"/>
          </a:xfrm>
          <a:prstGeom prst="rect">
            <a:avLst/>
          </a:prstGeom>
          <a:noFill/>
          <a:ln/>
        </p:spPr>
        <p:txBody>
          <a:bodyPr wrap="square" rtlCol="0" anchor="ctr"/>
          <a:lstStyle/>
          <a:p>
            <a:pPr algn="ctr" indent="0" marL="0">
              <a:buNone/>
            </a:pPr>
            <a:r>
              <a:rPr lang="en-US" sz="900" dirty="0">
                <a:solidFill>
                  <a:srgbClr val="185FA5"/>
                </a:solidFill>
                <a:latin typeface="Consolas" pitchFamily="34" charset="0"/>
                <a:ea typeface="Consolas" pitchFamily="34" charset="-122"/>
                <a:cs typeface="Consolas" pitchFamily="34" charset="-120"/>
              </a:rPr>
              <a:t>入力: 私は 昨日 公園を</a:t>
            </a:r>
            <a:endParaRPr lang="en-US" sz="900" dirty="0"/>
          </a:p>
        </p:txBody>
      </p:sp>
      <p:sp>
        <p:nvSpPr>
          <p:cNvPr id="29" name="Shape 27"/>
          <p:cNvSpPr/>
          <p:nvPr/>
        </p:nvSpPr>
        <p:spPr>
          <a:xfrm>
            <a:off x="7543800" y="4251960"/>
            <a:ext cx="164592" cy="0"/>
          </a:xfrm>
          <a:prstGeom prst="line">
            <a:avLst/>
          </a:prstGeom>
          <a:noFill/>
          <a:ln w="12700">
            <a:solidFill>
              <a:srgbClr val="0F6E56"/>
            </a:solidFill>
            <a:prstDash val="solid"/>
          </a:ln>
        </p:spPr>
      </p:sp>
      <p:sp>
        <p:nvSpPr>
          <p:cNvPr id="30" name="Shape 28"/>
          <p:cNvSpPr/>
          <p:nvPr/>
        </p:nvSpPr>
        <p:spPr>
          <a:xfrm>
            <a:off x="6245352" y="4279392"/>
            <a:ext cx="1097280" cy="365760"/>
          </a:xfrm>
          <a:prstGeom prst="roundRect">
            <a:avLst>
              <a:gd name="adj" fmla="val 10000"/>
            </a:avLst>
          </a:prstGeom>
          <a:solidFill>
            <a:srgbClr val="E1F5EE"/>
          </a:solidFill>
          <a:ln w="5080">
            <a:solidFill>
              <a:srgbClr val="0F6E56"/>
            </a:solidFill>
            <a:prstDash val="solid"/>
          </a:ln>
        </p:spPr>
      </p:sp>
      <p:sp>
        <p:nvSpPr>
          <p:cNvPr id="31" name="Text 29"/>
          <p:cNvSpPr/>
          <p:nvPr/>
        </p:nvSpPr>
        <p:spPr>
          <a:xfrm>
            <a:off x="6245352" y="4279392"/>
            <a:ext cx="1097280" cy="365760"/>
          </a:xfrm>
          <a:prstGeom prst="rect">
            <a:avLst/>
          </a:prstGeom>
          <a:noFill/>
          <a:ln/>
        </p:spPr>
        <p:txBody>
          <a:bodyPr wrap="square" rtlCol="0" anchor="ctr"/>
          <a:lstStyle/>
          <a:p>
            <a:pPr algn="ctr" indent="0" marL="0">
              <a:buNone/>
            </a:pPr>
            <a:r>
              <a:rPr lang="en-US" sz="900" b="1" dirty="0">
                <a:solidFill>
                  <a:srgbClr val="0F6E56"/>
                </a:solidFill>
                <a:latin typeface="Consolas" pitchFamily="34" charset="0"/>
                <a:ea typeface="Consolas" pitchFamily="34" charset="-122"/>
                <a:cs typeface="Consolas" pitchFamily="34" charset="-120"/>
              </a:rPr>
              <a:t>GT: 歩いた</a:t>
            </a:r>
            <a:endParaRPr lang="en-US" sz="900" dirty="0"/>
          </a:p>
        </p:txBody>
      </p:sp>
      <p:sp>
        <p:nvSpPr>
          <p:cNvPr id="32" name="Shape 30"/>
          <p:cNvSpPr/>
          <p:nvPr/>
        </p:nvSpPr>
        <p:spPr>
          <a:xfrm>
            <a:off x="347472" y="4791456"/>
            <a:ext cx="8430768" cy="347472"/>
          </a:xfrm>
          <a:prstGeom prst="roundRect">
            <a:avLst>
              <a:gd name="adj" fmla="val 10526"/>
            </a:avLst>
          </a:prstGeom>
          <a:solidFill>
            <a:srgbClr val="1A1A2E"/>
          </a:solidFill>
          <a:ln w="6350">
            <a:solidFill>
              <a:srgbClr val="0F6E56"/>
            </a:solidFill>
            <a:prstDash val="solid"/>
          </a:ln>
        </p:spPr>
      </p:sp>
      <p:sp>
        <p:nvSpPr>
          <p:cNvPr id="33" name="Text 31"/>
          <p:cNvSpPr/>
          <p:nvPr/>
        </p:nvSpPr>
        <p:spPr>
          <a:xfrm>
            <a:off x="502920" y="4828032"/>
            <a:ext cx="8229600" cy="274320"/>
          </a:xfrm>
          <a:prstGeom prst="rect">
            <a:avLst/>
          </a:prstGeom>
          <a:noFill/>
          <a:ln/>
        </p:spPr>
        <p:txBody>
          <a:bodyPr wrap="square" rtlCol="0" anchor="ctr"/>
          <a:lstStyle/>
          <a:p>
            <a:pPr indent="0" marL="0">
              <a:buNone/>
            </a:pPr>
            <a:r>
              <a:rPr lang="en-US" sz="1050" dirty="0">
                <a:solidFill>
                  <a:srgbClr val="A0A8C0"/>
                </a:solidFill>
              </a:rPr>
              <a:t>数兆トークン → GT を自動生成 → 逆伝播 → 全パラメータ更新　</a:t>
            </a:r>
            <a:pPr indent="0" marL="0">
              <a:buNone/>
            </a:pPr>
            <a:r>
              <a:rPr lang="en-US" sz="1050" b="1" dirty="0">
                <a:solidFill>
                  <a:srgbClr val="FFFFFF"/>
                </a:solidFill>
              </a:rPr>
              <a:t>これが人手ラベルなしで大規模学習を可能にし、結果として推論的な振る舞いを獲得できた理由</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25 / 28</a:t>
            </a:r>
            <a:endParaRPr lang="en-US" sz="900" dirty="0"/>
          </a:p>
        </p:txBody>
      </p:sp>
      <p:sp>
        <p:nvSpPr>
          <p:cNvPr id="3" name="Shape 1"/>
          <p:cNvSpPr/>
          <p:nvPr/>
        </p:nvSpPr>
        <p:spPr>
          <a:xfrm>
            <a:off x="347472" y="274320"/>
            <a:ext cx="54864" cy="475488"/>
          </a:xfrm>
          <a:prstGeom prst="rect">
            <a:avLst/>
          </a:prstGeom>
          <a:solidFill>
            <a:srgbClr val="0F6E56"/>
          </a:solidFill>
          <a:ln w="12700">
            <a:solidFill>
              <a:srgbClr val="0F6E56"/>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バックプロパゲーション — 誤差から正解へ近づく仕組み</a:t>
            </a:r>
            <a:endParaRPr lang="en-US" sz="2000" dirty="0"/>
          </a:p>
        </p:txBody>
      </p:sp>
      <p:sp>
        <p:nvSpPr>
          <p:cNvPr id="5" name="Text 3"/>
          <p:cNvSpPr/>
          <p:nvPr/>
        </p:nvSpPr>
        <p:spPr>
          <a:xfrm>
            <a:off x="347472" y="950976"/>
            <a:ext cx="8430768" cy="402336"/>
          </a:xfrm>
          <a:prstGeom prst="rect">
            <a:avLst/>
          </a:prstGeom>
          <a:noFill/>
          <a:ln/>
        </p:spPr>
        <p:txBody>
          <a:bodyPr wrap="square" rtlCol="0" anchor="ctr"/>
          <a:lstStyle/>
          <a:p>
            <a:pPr indent="0" marL="0">
              <a:buNone/>
            </a:pPr>
            <a:r>
              <a:rPr lang="en-US" sz="1100" i="1" dirty="0">
                <a:solidFill>
                  <a:srgbClr val="4B5563"/>
                </a:solidFill>
              </a:rPr>
              <a:t>順伝播で予測を出し、正解との差＝損失を計算。誤差信号を逆向きに各層へ伝播させ、重みを修正する。これを何百万回と繰り返すことで推論が正確になる。</a:t>
            </a:r>
            <a:endParaRPr lang="en-US" sz="1100" dirty="0"/>
          </a:p>
        </p:txBody>
      </p:sp>
      <p:sp>
        <p:nvSpPr>
          <p:cNvPr id="6" name="Shape 4"/>
          <p:cNvSpPr/>
          <p:nvPr/>
        </p:nvSpPr>
        <p:spPr>
          <a:xfrm>
            <a:off x="347472" y="1426464"/>
            <a:ext cx="8430768" cy="877824"/>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7" name="Shape 5"/>
          <p:cNvSpPr/>
          <p:nvPr/>
        </p:nvSpPr>
        <p:spPr>
          <a:xfrm>
            <a:off x="347472" y="1426464"/>
            <a:ext cx="45720" cy="877824"/>
          </a:xfrm>
          <a:prstGeom prst="rect">
            <a:avLst/>
          </a:prstGeom>
          <a:solidFill>
            <a:srgbClr val="0F6E56"/>
          </a:solidFill>
          <a:ln w="12700">
            <a:solidFill>
              <a:srgbClr val="0F6E56"/>
            </a:solidFill>
            <a:prstDash val="solid"/>
          </a:ln>
        </p:spPr>
      </p:sp>
      <p:sp>
        <p:nvSpPr>
          <p:cNvPr id="8" name="Text 6"/>
          <p:cNvSpPr/>
          <p:nvPr/>
        </p:nvSpPr>
        <p:spPr>
          <a:xfrm>
            <a:off x="484632" y="1481328"/>
            <a:ext cx="4114800" cy="256032"/>
          </a:xfrm>
          <a:prstGeom prst="rect">
            <a:avLst/>
          </a:prstGeom>
          <a:noFill/>
          <a:ln/>
        </p:spPr>
        <p:txBody>
          <a:bodyPr wrap="square" rtlCol="0" anchor="ctr"/>
          <a:lstStyle/>
          <a:p>
            <a:pPr indent="0" marL="0">
              <a:buNone/>
            </a:pPr>
            <a:r>
              <a:rPr lang="en-US" sz="1100" b="1" dirty="0">
                <a:solidFill>
                  <a:srgbClr val="0F6E56"/>
                </a:solidFill>
              </a:rPr>
              <a:t>① 順伝播（Forward Pass）</a:t>
            </a:r>
            <a:endParaRPr lang="en-US" sz="1100" dirty="0"/>
          </a:p>
        </p:txBody>
      </p:sp>
      <p:sp>
        <p:nvSpPr>
          <p:cNvPr id="9" name="Shape 7"/>
          <p:cNvSpPr/>
          <p:nvPr/>
        </p:nvSpPr>
        <p:spPr>
          <a:xfrm>
            <a:off x="438912" y="1792224"/>
            <a:ext cx="1463040" cy="402336"/>
          </a:xfrm>
          <a:prstGeom prst="roundRect">
            <a:avLst>
              <a:gd name="adj" fmla="val 11364"/>
            </a:avLst>
          </a:prstGeom>
          <a:solidFill>
            <a:srgbClr val="6B7280"/>
          </a:solidFill>
          <a:ln w="12700">
            <a:solidFill>
              <a:srgbClr val="6B7280"/>
            </a:solidFill>
            <a:prstDash val="solid"/>
          </a:ln>
        </p:spPr>
      </p:sp>
      <p:sp>
        <p:nvSpPr>
          <p:cNvPr id="10" name="Text 8"/>
          <p:cNvSpPr/>
          <p:nvPr/>
        </p:nvSpPr>
        <p:spPr>
          <a:xfrm>
            <a:off x="438912" y="1792224"/>
            <a:ext cx="1463040" cy="402336"/>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入力</a:t>
            </a:r>
            <a:endParaRPr lang="en-US" sz="950" dirty="0"/>
          </a:p>
          <a:p>
            <a:pPr algn="ctr" indent="0" marL="0">
              <a:buNone/>
            </a:pPr>
            <a:r>
              <a:rPr lang="en-US" sz="950" b="1" dirty="0">
                <a:solidFill>
                  <a:srgbClr val="FFFFFF"/>
                </a:solidFill>
              </a:rPr>
              <a:t>Token</a:t>
            </a:r>
            <a:endParaRPr lang="en-US" sz="950" dirty="0"/>
          </a:p>
        </p:txBody>
      </p:sp>
      <p:sp>
        <p:nvSpPr>
          <p:cNvPr id="11" name="Shape 9"/>
          <p:cNvSpPr/>
          <p:nvPr/>
        </p:nvSpPr>
        <p:spPr>
          <a:xfrm>
            <a:off x="1901952" y="1993392"/>
            <a:ext cx="182880" cy="0"/>
          </a:xfrm>
          <a:prstGeom prst="line">
            <a:avLst/>
          </a:prstGeom>
          <a:noFill/>
          <a:ln w="12700">
            <a:solidFill>
              <a:srgbClr val="6B7280"/>
            </a:solidFill>
            <a:prstDash val="solid"/>
          </a:ln>
        </p:spPr>
      </p:sp>
      <p:sp>
        <p:nvSpPr>
          <p:cNvPr id="12" name="Shape 10"/>
          <p:cNvSpPr/>
          <p:nvPr/>
        </p:nvSpPr>
        <p:spPr>
          <a:xfrm>
            <a:off x="2084832" y="1792224"/>
            <a:ext cx="1463040" cy="402336"/>
          </a:xfrm>
          <a:prstGeom prst="roundRect">
            <a:avLst>
              <a:gd name="adj" fmla="val 11364"/>
            </a:avLst>
          </a:prstGeom>
          <a:solidFill>
            <a:srgbClr val="534AB7"/>
          </a:solidFill>
          <a:ln w="12700">
            <a:solidFill>
              <a:srgbClr val="534AB7"/>
            </a:solidFill>
            <a:prstDash val="solid"/>
          </a:ln>
        </p:spPr>
      </p:sp>
      <p:sp>
        <p:nvSpPr>
          <p:cNvPr id="13" name="Text 11"/>
          <p:cNvSpPr/>
          <p:nvPr/>
        </p:nvSpPr>
        <p:spPr>
          <a:xfrm>
            <a:off x="2084832" y="1792224"/>
            <a:ext cx="1463040" cy="402336"/>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Embedding</a:t>
            </a:r>
            <a:endParaRPr lang="en-US" sz="950" dirty="0"/>
          </a:p>
        </p:txBody>
      </p:sp>
      <p:sp>
        <p:nvSpPr>
          <p:cNvPr id="14" name="Shape 12"/>
          <p:cNvSpPr/>
          <p:nvPr/>
        </p:nvSpPr>
        <p:spPr>
          <a:xfrm>
            <a:off x="3547872" y="1993392"/>
            <a:ext cx="182880" cy="0"/>
          </a:xfrm>
          <a:prstGeom prst="line">
            <a:avLst/>
          </a:prstGeom>
          <a:noFill/>
          <a:ln w="12700">
            <a:solidFill>
              <a:srgbClr val="6B7280"/>
            </a:solidFill>
            <a:prstDash val="solid"/>
          </a:ln>
        </p:spPr>
      </p:sp>
      <p:sp>
        <p:nvSpPr>
          <p:cNvPr id="15" name="Shape 13"/>
          <p:cNvSpPr/>
          <p:nvPr/>
        </p:nvSpPr>
        <p:spPr>
          <a:xfrm>
            <a:off x="3730752" y="1792224"/>
            <a:ext cx="1463040" cy="402336"/>
          </a:xfrm>
          <a:prstGeom prst="roundRect">
            <a:avLst>
              <a:gd name="adj" fmla="val 11364"/>
            </a:avLst>
          </a:prstGeom>
          <a:solidFill>
            <a:srgbClr val="534AB7"/>
          </a:solidFill>
          <a:ln w="12700">
            <a:solidFill>
              <a:srgbClr val="534AB7"/>
            </a:solidFill>
            <a:prstDash val="solid"/>
          </a:ln>
        </p:spPr>
      </p:sp>
      <p:sp>
        <p:nvSpPr>
          <p:cNvPr id="16" name="Text 14"/>
          <p:cNvSpPr/>
          <p:nvPr/>
        </p:nvSpPr>
        <p:spPr>
          <a:xfrm>
            <a:off x="3730752" y="1792224"/>
            <a:ext cx="1463040" cy="402336"/>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Attention</a:t>
            </a:r>
            <a:endParaRPr lang="en-US" sz="950" dirty="0"/>
          </a:p>
          <a:p>
            <a:pPr algn="ctr" indent="0" marL="0">
              <a:buNone/>
            </a:pPr>
            <a:r>
              <a:rPr lang="en-US" sz="950" b="1" dirty="0">
                <a:solidFill>
                  <a:srgbClr val="FFFFFF"/>
                </a:solidFill>
              </a:rPr>
              <a:t>×N層</a:t>
            </a:r>
            <a:endParaRPr lang="en-US" sz="950" dirty="0"/>
          </a:p>
        </p:txBody>
      </p:sp>
      <p:sp>
        <p:nvSpPr>
          <p:cNvPr id="17" name="Shape 15"/>
          <p:cNvSpPr/>
          <p:nvPr/>
        </p:nvSpPr>
        <p:spPr>
          <a:xfrm>
            <a:off x="5193792" y="1993392"/>
            <a:ext cx="182880" cy="0"/>
          </a:xfrm>
          <a:prstGeom prst="line">
            <a:avLst/>
          </a:prstGeom>
          <a:noFill/>
          <a:ln w="12700">
            <a:solidFill>
              <a:srgbClr val="6B7280"/>
            </a:solidFill>
            <a:prstDash val="solid"/>
          </a:ln>
        </p:spPr>
      </p:sp>
      <p:sp>
        <p:nvSpPr>
          <p:cNvPr id="18" name="Shape 16"/>
          <p:cNvSpPr/>
          <p:nvPr/>
        </p:nvSpPr>
        <p:spPr>
          <a:xfrm>
            <a:off x="5376672" y="1792224"/>
            <a:ext cx="1463040" cy="402336"/>
          </a:xfrm>
          <a:prstGeom prst="roundRect">
            <a:avLst>
              <a:gd name="adj" fmla="val 11364"/>
            </a:avLst>
          </a:prstGeom>
          <a:solidFill>
            <a:srgbClr val="0F6E56"/>
          </a:solidFill>
          <a:ln w="12700">
            <a:solidFill>
              <a:srgbClr val="0F6E56"/>
            </a:solidFill>
            <a:prstDash val="solid"/>
          </a:ln>
        </p:spPr>
      </p:sp>
      <p:sp>
        <p:nvSpPr>
          <p:cNvPr id="19" name="Text 17"/>
          <p:cNvSpPr/>
          <p:nvPr/>
        </p:nvSpPr>
        <p:spPr>
          <a:xfrm>
            <a:off x="5376672" y="1792224"/>
            <a:ext cx="1463040" cy="402336"/>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出力層</a:t>
            </a:r>
            <a:endParaRPr lang="en-US" sz="950" dirty="0"/>
          </a:p>
        </p:txBody>
      </p:sp>
      <p:sp>
        <p:nvSpPr>
          <p:cNvPr id="20" name="Shape 18"/>
          <p:cNvSpPr/>
          <p:nvPr/>
        </p:nvSpPr>
        <p:spPr>
          <a:xfrm>
            <a:off x="6839712" y="1993392"/>
            <a:ext cx="182880" cy="0"/>
          </a:xfrm>
          <a:prstGeom prst="line">
            <a:avLst/>
          </a:prstGeom>
          <a:noFill/>
          <a:ln w="12700">
            <a:solidFill>
              <a:srgbClr val="6B7280"/>
            </a:solidFill>
            <a:prstDash val="solid"/>
          </a:ln>
        </p:spPr>
      </p:sp>
      <p:sp>
        <p:nvSpPr>
          <p:cNvPr id="21" name="Shape 19"/>
          <p:cNvSpPr/>
          <p:nvPr/>
        </p:nvSpPr>
        <p:spPr>
          <a:xfrm>
            <a:off x="7022592" y="1792224"/>
            <a:ext cx="1463040" cy="402336"/>
          </a:xfrm>
          <a:prstGeom prst="roundRect">
            <a:avLst>
              <a:gd name="adj" fmla="val 11364"/>
            </a:avLst>
          </a:prstGeom>
          <a:solidFill>
            <a:srgbClr val="0F6E56"/>
          </a:solidFill>
          <a:ln w="12700">
            <a:solidFill>
              <a:srgbClr val="0F6E56"/>
            </a:solidFill>
            <a:prstDash val="solid"/>
          </a:ln>
        </p:spPr>
      </p:sp>
      <p:sp>
        <p:nvSpPr>
          <p:cNvPr id="22" name="Text 20"/>
          <p:cNvSpPr/>
          <p:nvPr/>
        </p:nvSpPr>
        <p:spPr>
          <a:xfrm>
            <a:off x="7022592" y="1792224"/>
            <a:ext cx="1463040" cy="402336"/>
          </a:xfrm>
          <a:prstGeom prst="rect">
            <a:avLst/>
          </a:prstGeom>
          <a:noFill/>
          <a:ln/>
        </p:spPr>
        <p:txBody>
          <a:bodyPr wrap="square" lIns="25400" tIns="25400" rIns="25400" bIns="25400" rtlCol="0" anchor="ctr"/>
          <a:lstStyle/>
          <a:p>
            <a:pPr algn="ctr" indent="0" marL="0">
              <a:buNone/>
            </a:pPr>
            <a:r>
              <a:rPr lang="en-US" sz="950" b="1" dirty="0">
                <a:solidFill>
                  <a:srgbClr val="FFFFFF"/>
                </a:solidFill>
              </a:rPr>
              <a:t>予測確率</a:t>
            </a:r>
            <a:endParaRPr lang="en-US" sz="950" dirty="0"/>
          </a:p>
          <a:p>
            <a:pPr algn="ctr" indent="0" marL="0">
              <a:buNone/>
            </a:pPr>
            <a:r>
              <a:rPr lang="en-US" sz="950" b="1" dirty="0">
                <a:solidFill>
                  <a:srgbClr val="FFFFFF"/>
                </a:solidFill>
              </a:rPr>
              <a:t>分布</a:t>
            </a:r>
            <a:endParaRPr lang="en-US" sz="950" dirty="0"/>
          </a:p>
        </p:txBody>
      </p:sp>
      <p:sp>
        <p:nvSpPr>
          <p:cNvPr id="23" name="Text 21"/>
          <p:cNvSpPr/>
          <p:nvPr/>
        </p:nvSpPr>
        <p:spPr>
          <a:xfrm>
            <a:off x="484632" y="2231136"/>
            <a:ext cx="8229600" cy="219456"/>
          </a:xfrm>
          <a:prstGeom prst="rect">
            <a:avLst/>
          </a:prstGeom>
          <a:noFill/>
          <a:ln/>
        </p:spPr>
        <p:txBody>
          <a:bodyPr wrap="square" rtlCol="0" anchor="ctr"/>
          <a:lstStyle/>
          <a:p>
            <a:pPr algn="ctr" indent="0" marL="0">
              <a:buNone/>
            </a:pPr>
            <a:r>
              <a:rPr lang="en-US" sz="1000" dirty="0">
                <a:solidFill>
                  <a:srgbClr val="4B5563"/>
                </a:solidFill>
              </a:rPr>
              <a:t>GT（正解）「走る」  →  損失（Loss）= Cross-Entropy（予測, 正解）</a:t>
            </a:r>
            <a:endParaRPr lang="en-US" sz="1000" dirty="0"/>
          </a:p>
        </p:txBody>
      </p:sp>
      <p:sp>
        <p:nvSpPr>
          <p:cNvPr id="24" name="Shape 22"/>
          <p:cNvSpPr/>
          <p:nvPr/>
        </p:nvSpPr>
        <p:spPr>
          <a:xfrm>
            <a:off x="347472" y="2505456"/>
            <a:ext cx="8430768" cy="877824"/>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25" name="Shape 23"/>
          <p:cNvSpPr/>
          <p:nvPr/>
        </p:nvSpPr>
        <p:spPr>
          <a:xfrm>
            <a:off x="347472" y="2505456"/>
            <a:ext cx="45720" cy="877824"/>
          </a:xfrm>
          <a:prstGeom prst="rect">
            <a:avLst/>
          </a:prstGeom>
          <a:solidFill>
            <a:srgbClr val="D85A30"/>
          </a:solidFill>
          <a:ln w="12700">
            <a:solidFill>
              <a:srgbClr val="D85A30"/>
            </a:solidFill>
            <a:prstDash val="solid"/>
          </a:ln>
        </p:spPr>
      </p:sp>
      <p:sp>
        <p:nvSpPr>
          <p:cNvPr id="26" name="Text 24"/>
          <p:cNvSpPr/>
          <p:nvPr/>
        </p:nvSpPr>
        <p:spPr>
          <a:xfrm>
            <a:off x="484632" y="2560320"/>
            <a:ext cx="4572000" cy="256032"/>
          </a:xfrm>
          <a:prstGeom prst="rect">
            <a:avLst/>
          </a:prstGeom>
          <a:noFill/>
          <a:ln/>
        </p:spPr>
        <p:txBody>
          <a:bodyPr wrap="square" rtlCol="0" anchor="ctr"/>
          <a:lstStyle/>
          <a:p>
            <a:pPr indent="0" marL="0">
              <a:buNone/>
            </a:pPr>
            <a:r>
              <a:rPr lang="en-US" sz="1100" b="1" dirty="0">
                <a:solidFill>
                  <a:srgbClr val="D85A30"/>
                </a:solidFill>
              </a:rPr>
              <a:t>② 逆伝播（Backward Pass）</a:t>
            </a:r>
            <a:endParaRPr lang="en-US" sz="1100" dirty="0"/>
          </a:p>
        </p:txBody>
      </p:sp>
      <p:sp>
        <p:nvSpPr>
          <p:cNvPr id="27" name="Shape 25"/>
          <p:cNvSpPr/>
          <p:nvPr/>
        </p:nvSpPr>
        <p:spPr>
          <a:xfrm>
            <a:off x="7936992" y="2871216"/>
            <a:ext cx="1261872" cy="402336"/>
          </a:xfrm>
          <a:prstGeom prst="roundRect">
            <a:avLst>
              <a:gd name="adj" fmla="val 11364"/>
            </a:avLst>
          </a:prstGeom>
          <a:solidFill>
            <a:srgbClr val="D85A30"/>
          </a:solidFill>
          <a:ln w="12700">
            <a:solidFill>
              <a:srgbClr val="D85A30"/>
            </a:solidFill>
            <a:prstDash val="solid"/>
          </a:ln>
        </p:spPr>
      </p:sp>
      <p:sp>
        <p:nvSpPr>
          <p:cNvPr id="28" name="Text 26"/>
          <p:cNvSpPr/>
          <p:nvPr/>
        </p:nvSpPr>
        <p:spPr>
          <a:xfrm>
            <a:off x="7936992" y="2871216"/>
            <a:ext cx="1261872" cy="402336"/>
          </a:xfrm>
          <a:prstGeom prst="rect">
            <a:avLst/>
          </a:prstGeom>
          <a:noFill/>
          <a:ln/>
        </p:spPr>
        <p:txBody>
          <a:bodyPr wrap="square" lIns="25400" tIns="25400" rIns="25400" bIns="25400" rtlCol="0" anchor="ctr"/>
          <a:lstStyle/>
          <a:p>
            <a:pPr algn="ctr" indent="0" marL="0">
              <a:buNone/>
            </a:pPr>
            <a:r>
              <a:rPr lang="en-US" sz="850" b="1" dirty="0">
                <a:solidFill>
                  <a:srgbClr val="FFFFFF"/>
                </a:solidFill>
              </a:rPr>
              <a:t>損失 dL</a:t>
            </a:r>
            <a:endParaRPr lang="en-US" sz="850" dirty="0"/>
          </a:p>
          <a:p>
            <a:pPr algn="ctr" indent="0" marL="0">
              <a:buNone/>
            </a:pPr>
            <a:r>
              <a:rPr lang="en-US" sz="850" b="1" dirty="0">
                <a:solidFill>
                  <a:srgbClr val="FFFFFF"/>
                </a:solidFill>
              </a:rPr>
              <a:t>誤差の出発点</a:t>
            </a:r>
            <a:endParaRPr lang="en-US" sz="850" dirty="0"/>
          </a:p>
        </p:txBody>
      </p:sp>
      <p:sp>
        <p:nvSpPr>
          <p:cNvPr id="29" name="Shape 27"/>
          <p:cNvSpPr/>
          <p:nvPr/>
        </p:nvSpPr>
        <p:spPr>
          <a:xfrm>
            <a:off x="7772400" y="3072384"/>
            <a:ext cx="164592" cy="0"/>
          </a:xfrm>
          <a:prstGeom prst="line">
            <a:avLst/>
          </a:prstGeom>
          <a:noFill/>
          <a:ln w="12700">
            <a:solidFill>
              <a:srgbClr val="6B7280"/>
            </a:solidFill>
            <a:prstDash val="solid"/>
          </a:ln>
        </p:spPr>
      </p:sp>
      <p:sp>
        <p:nvSpPr>
          <p:cNvPr id="30" name="Shape 28"/>
          <p:cNvSpPr/>
          <p:nvPr/>
        </p:nvSpPr>
        <p:spPr>
          <a:xfrm>
            <a:off x="6510528" y="2871216"/>
            <a:ext cx="1261872" cy="402336"/>
          </a:xfrm>
          <a:prstGeom prst="roundRect">
            <a:avLst>
              <a:gd name="adj" fmla="val 11364"/>
            </a:avLst>
          </a:prstGeom>
          <a:solidFill>
            <a:srgbClr val="D85A30"/>
          </a:solidFill>
          <a:ln w="12700">
            <a:solidFill>
              <a:srgbClr val="D85A30"/>
            </a:solidFill>
            <a:prstDash val="solid"/>
          </a:ln>
        </p:spPr>
      </p:sp>
      <p:sp>
        <p:nvSpPr>
          <p:cNvPr id="31" name="Text 29"/>
          <p:cNvSpPr/>
          <p:nvPr/>
        </p:nvSpPr>
        <p:spPr>
          <a:xfrm>
            <a:off x="6510528" y="2871216"/>
            <a:ext cx="1261872" cy="402336"/>
          </a:xfrm>
          <a:prstGeom prst="rect">
            <a:avLst/>
          </a:prstGeom>
          <a:noFill/>
          <a:ln/>
        </p:spPr>
        <p:txBody>
          <a:bodyPr wrap="square" lIns="25400" tIns="25400" rIns="25400" bIns="25400" rtlCol="0" anchor="ctr"/>
          <a:lstStyle/>
          <a:p>
            <a:pPr algn="ctr" indent="0" marL="0">
              <a:buNone/>
            </a:pPr>
            <a:r>
              <a:rPr lang="en-US" sz="850" b="1" dirty="0">
                <a:solidFill>
                  <a:srgbClr val="FFFFFF"/>
                </a:solidFill>
              </a:rPr>
              <a:t>出力層勾配</a:t>
            </a:r>
            <a:endParaRPr lang="en-US" sz="850" dirty="0"/>
          </a:p>
          <a:p>
            <a:pPr algn="ctr" indent="0" marL="0">
              <a:buNone/>
            </a:pPr>
            <a:r>
              <a:rPr lang="en-US" sz="850" b="1" dirty="0">
                <a:solidFill>
                  <a:srgbClr val="FFFFFF"/>
                </a:solidFill>
              </a:rPr>
              <a:t>∂L/∂W</a:t>
            </a:r>
            <a:endParaRPr lang="en-US" sz="850" dirty="0"/>
          </a:p>
        </p:txBody>
      </p:sp>
      <p:sp>
        <p:nvSpPr>
          <p:cNvPr id="32" name="Shape 30"/>
          <p:cNvSpPr/>
          <p:nvPr/>
        </p:nvSpPr>
        <p:spPr>
          <a:xfrm>
            <a:off x="6345936" y="3072384"/>
            <a:ext cx="164592" cy="0"/>
          </a:xfrm>
          <a:prstGeom prst="line">
            <a:avLst/>
          </a:prstGeom>
          <a:noFill/>
          <a:ln w="12700">
            <a:solidFill>
              <a:srgbClr val="6B7280"/>
            </a:solidFill>
            <a:prstDash val="solid"/>
          </a:ln>
        </p:spPr>
      </p:sp>
      <p:sp>
        <p:nvSpPr>
          <p:cNvPr id="33" name="Shape 31"/>
          <p:cNvSpPr/>
          <p:nvPr/>
        </p:nvSpPr>
        <p:spPr>
          <a:xfrm>
            <a:off x="5084064" y="2871216"/>
            <a:ext cx="1261872" cy="402336"/>
          </a:xfrm>
          <a:prstGeom prst="roundRect">
            <a:avLst>
              <a:gd name="adj" fmla="val 11364"/>
            </a:avLst>
          </a:prstGeom>
          <a:solidFill>
            <a:srgbClr val="D85A30"/>
          </a:solidFill>
          <a:ln w="12700">
            <a:solidFill>
              <a:srgbClr val="D85A30"/>
            </a:solidFill>
            <a:prstDash val="solid"/>
          </a:ln>
        </p:spPr>
      </p:sp>
      <p:sp>
        <p:nvSpPr>
          <p:cNvPr id="34" name="Text 32"/>
          <p:cNvSpPr/>
          <p:nvPr/>
        </p:nvSpPr>
        <p:spPr>
          <a:xfrm>
            <a:off x="5084064" y="2871216"/>
            <a:ext cx="1261872" cy="402336"/>
          </a:xfrm>
          <a:prstGeom prst="rect">
            <a:avLst/>
          </a:prstGeom>
          <a:noFill/>
          <a:ln/>
        </p:spPr>
        <p:txBody>
          <a:bodyPr wrap="square" lIns="25400" tIns="25400" rIns="25400" bIns="25400" rtlCol="0" anchor="ctr"/>
          <a:lstStyle/>
          <a:p>
            <a:pPr algn="ctr" indent="0" marL="0">
              <a:buNone/>
            </a:pPr>
            <a:r>
              <a:rPr lang="en-US" sz="850" b="1" dirty="0">
                <a:solidFill>
                  <a:srgbClr val="FFFFFF"/>
                </a:solidFill>
              </a:rPr>
              <a:t>Attn 層勾配</a:t>
            </a:r>
            <a:endParaRPr lang="en-US" sz="850" dirty="0"/>
          </a:p>
          <a:p>
            <a:pPr algn="ctr" indent="0" marL="0">
              <a:buNone/>
            </a:pPr>
            <a:r>
              <a:rPr lang="en-US" sz="850" b="1" dirty="0">
                <a:solidFill>
                  <a:srgbClr val="FFFFFF"/>
                </a:solidFill>
              </a:rPr>
              <a:t>各 Head の重み</a:t>
            </a:r>
            <a:endParaRPr lang="en-US" sz="850" dirty="0"/>
          </a:p>
        </p:txBody>
      </p:sp>
      <p:sp>
        <p:nvSpPr>
          <p:cNvPr id="35" name="Shape 33"/>
          <p:cNvSpPr/>
          <p:nvPr/>
        </p:nvSpPr>
        <p:spPr>
          <a:xfrm>
            <a:off x="4919472" y="3072384"/>
            <a:ext cx="164592" cy="0"/>
          </a:xfrm>
          <a:prstGeom prst="line">
            <a:avLst/>
          </a:prstGeom>
          <a:noFill/>
          <a:ln w="12700">
            <a:solidFill>
              <a:srgbClr val="6B7280"/>
            </a:solidFill>
            <a:prstDash val="solid"/>
          </a:ln>
        </p:spPr>
      </p:sp>
      <p:sp>
        <p:nvSpPr>
          <p:cNvPr id="36" name="Shape 34"/>
          <p:cNvSpPr/>
          <p:nvPr/>
        </p:nvSpPr>
        <p:spPr>
          <a:xfrm>
            <a:off x="3657600" y="2871216"/>
            <a:ext cx="1261872" cy="402336"/>
          </a:xfrm>
          <a:prstGeom prst="roundRect">
            <a:avLst>
              <a:gd name="adj" fmla="val 11364"/>
            </a:avLst>
          </a:prstGeom>
          <a:solidFill>
            <a:srgbClr val="D85A30"/>
          </a:solidFill>
          <a:ln w="12700">
            <a:solidFill>
              <a:srgbClr val="D85A30"/>
            </a:solidFill>
            <a:prstDash val="solid"/>
          </a:ln>
        </p:spPr>
      </p:sp>
      <p:sp>
        <p:nvSpPr>
          <p:cNvPr id="37" name="Text 35"/>
          <p:cNvSpPr/>
          <p:nvPr/>
        </p:nvSpPr>
        <p:spPr>
          <a:xfrm>
            <a:off x="3657600" y="2871216"/>
            <a:ext cx="1261872" cy="402336"/>
          </a:xfrm>
          <a:prstGeom prst="rect">
            <a:avLst/>
          </a:prstGeom>
          <a:noFill/>
          <a:ln/>
        </p:spPr>
        <p:txBody>
          <a:bodyPr wrap="square" lIns="25400" tIns="25400" rIns="25400" bIns="25400" rtlCol="0" anchor="ctr"/>
          <a:lstStyle/>
          <a:p>
            <a:pPr algn="ctr" indent="0" marL="0">
              <a:buNone/>
            </a:pPr>
            <a:r>
              <a:rPr lang="en-US" sz="850" b="1" dirty="0">
                <a:solidFill>
                  <a:srgbClr val="FFFFFF"/>
                </a:solidFill>
              </a:rPr>
              <a:t>FFN 層勾配</a:t>
            </a:r>
            <a:endParaRPr lang="en-US" sz="850" dirty="0"/>
          </a:p>
          <a:p>
            <a:pPr algn="ctr" indent="0" marL="0">
              <a:buNone/>
            </a:pPr>
            <a:r>
              <a:rPr lang="en-US" sz="850" b="1" dirty="0">
                <a:solidFill>
                  <a:srgbClr val="FFFFFF"/>
                </a:solidFill>
              </a:rPr>
              <a:t>非線形重み</a:t>
            </a:r>
            <a:endParaRPr lang="en-US" sz="850" dirty="0"/>
          </a:p>
        </p:txBody>
      </p:sp>
      <p:sp>
        <p:nvSpPr>
          <p:cNvPr id="38" name="Shape 36"/>
          <p:cNvSpPr/>
          <p:nvPr/>
        </p:nvSpPr>
        <p:spPr>
          <a:xfrm>
            <a:off x="3493008" y="3072384"/>
            <a:ext cx="164592" cy="0"/>
          </a:xfrm>
          <a:prstGeom prst="line">
            <a:avLst/>
          </a:prstGeom>
          <a:noFill/>
          <a:ln w="12700">
            <a:solidFill>
              <a:srgbClr val="6B7280"/>
            </a:solidFill>
            <a:prstDash val="solid"/>
          </a:ln>
        </p:spPr>
      </p:sp>
      <p:sp>
        <p:nvSpPr>
          <p:cNvPr id="39" name="Shape 37"/>
          <p:cNvSpPr/>
          <p:nvPr/>
        </p:nvSpPr>
        <p:spPr>
          <a:xfrm>
            <a:off x="2231136" y="2871216"/>
            <a:ext cx="1261872" cy="402336"/>
          </a:xfrm>
          <a:prstGeom prst="roundRect">
            <a:avLst>
              <a:gd name="adj" fmla="val 11364"/>
            </a:avLst>
          </a:prstGeom>
          <a:solidFill>
            <a:srgbClr val="D85A30"/>
          </a:solidFill>
          <a:ln w="12700">
            <a:solidFill>
              <a:srgbClr val="D85A30"/>
            </a:solidFill>
            <a:prstDash val="solid"/>
          </a:ln>
        </p:spPr>
      </p:sp>
      <p:sp>
        <p:nvSpPr>
          <p:cNvPr id="40" name="Text 38"/>
          <p:cNvSpPr/>
          <p:nvPr/>
        </p:nvSpPr>
        <p:spPr>
          <a:xfrm>
            <a:off x="2231136" y="2871216"/>
            <a:ext cx="1261872" cy="402336"/>
          </a:xfrm>
          <a:prstGeom prst="rect">
            <a:avLst/>
          </a:prstGeom>
          <a:noFill/>
          <a:ln/>
        </p:spPr>
        <p:txBody>
          <a:bodyPr wrap="square" lIns="25400" tIns="25400" rIns="25400" bIns="25400" rtlCol="0" anchor="ctr"/>
          <a:lstStyle/>
          <a:p>
            <a:pPr algn="ctr" indent="0" marL="0">
              <a:buNone/>
            </a:pPr>
            <a:r>
              <a:rPr lang="en-US" sz="850" b="1" dirty="0">
                <a:solidFill>
                  <a:srgbClr val="FFFFFF"/>
                </a:solidFill>
              </a:rPr>
              <a:t>Emb 層勾配</a:t>
            </a:r>
            <a:endParaRPr lang="en-US" sz="850" dirty="0"/>
          </a:p>
          <a:p>
            <a:pPr algn="ctr" indent="0" marL="0">
              <a:buNone/>
            </a:pPr>
            <a:r>
              <a:rPr lang="en-US" sz="850" b="1" dirty="0">
                <a:solidFill>
                  <a:srgbClr val="FFFFFF"/>
                </a:solidFill>
              </a:rPr>
              <a:t>∂L/∂E</a:t>
            </a:r>
            <a:endParaRPr lang="en-US" sz="850" dirty="0"/>
          </a:p>
        </p:txBody>
      </p:sp>
      <p:sp>
        <p:nvSpPr>
          <p:cNvPr id="41" name="Shape 39"/>
          <p:cNvSpPr/>
          <p:nvPr/>
        </p:nvSpPr>
        <p:spPr>
          <a:xfrm>
            <a:off x="347472" y="3474720"/>
            <a:ext cx="8430768" cy="658368"/>
          </a:xfrm>
          <a:prstGeom prst="roundRect">
            <a:avLst>
              <a:gd name="adj" fmla="val 8333"/>
            </a:avLst>
          </a:prstGeom>
          <a:solidFill>
            <a:srgbClr val="FFF0E8"/>
          </a:solidFill>
          <a:ln w="10160">
            <a:solidFill>
              <a:srgbClr val="D85A30"/>
            </a:solidFill>
            <a:prstDash val="solid"/>
          </a:ln>
        </p:spPr>
      </p:sp>
      <p:sp>
        <p:nvSpPr>
          <p:cNvPr id="42" name="Text 40"/>
          <p:cNvSpPr/>
          <p:nvPr/>
        </p:nvSpPr>
        <p:spPr>
          <a:xfrm>
            <a:off x="502920" y="3529584"/>
            <a:ext cx="8229600" cy="548640"/>
          </a:xfrm>
          <a:prstGeom prst="rect">
            <a:avLst/>
          </a:prstGeom>
          <a:noFill/>
          <a:ln/>
        </p:spPr>
        <p:txBody>
          <a:bodyPr wrap="square" rtlCol="0" anchor="ctr"/>
          <a:lstStyle/>
          <a:p>
            <a:pPr indent="0" marL="0">
              <a:buNone/>
            </a:pPr>
            <a:r>
              <a:rPr lang="en-US" sz="1100" b="1" dirty="0">
                <a:solidFill>
                  <a:srgbClr val="D85A30"/>
                </a:solidFill>
              </a:rPr>
              <a:t>重要：</a:t>
            </a:r>
            <a:pPr indent="0" marL="0">
              <a:buNone/>
            </a:pPr>
            <a:r>
              <a:rPr lang="en-US" sz="1100" dirty="0">
                <a:solidFill>
                  <a:srgbClr val="1F2937"/>
                </a:solidFill>
              </a:rPr>
              <a:t xml:space="preserve">逆伝播によって </a:t>
            </a:r>
            <a:pPr indent="0" marL="0">
              <a:buNone/>
            </a:pPr>
            <a:r>
              <a:rPr lang="en-US" sz="1100" b="1" dirty="0">
                <a:solidFill>
                  <a:srgbClr val="D85A30"/>
                </a:solidFill>
              </a:rPr>
              <a:t>Embedding・Attention（Q/K/V 重み）・FFN の全パラメータが同時に更新される</a:t>
            </a:r>
            <a:pPr indent="0" marL="0">
              <a:buNone/>
            </a:pPr>
            <a:r>
              <a:rPr lang="en-US" sz="1100" dirty="0">
                <a:solidFill>
                  <a:srgbClr val="1F2937"/>
                </a:solidFill>
              </a:rPr>
              <a:t>。</a:t>
            </a:r>
            <a:endParaRPr lang="en-US" sz="1100" dirty="0"/>
          </a:p>
          <a:p>
            <a:pPr indent="0" marL="0">
              <a:buNone/>
            </a:pPr>
            <a:r>
              <a:rPr lang="en-US" sz="1100" dirty="0">
                <a:solidFill>
                  <a:srgbClr val="1F2937"/>
                </a:solidFill>
              </a:rPr>
              <a:t>ここで「猫」の Embedding ベクトルも・各 Head の Q/K/V 変換も・FFN の知識も — すべて一括で最適化されるのが AI が賢くなる仕組み。</a:t>
            </a:r>
            <a:endParaRPr lang="en-US" sz="1100" dirty="0"/>
          </a:p>
        </p:txBody>
      </p:sp>
      <p:sp>
        <p:nvSpPr>
          <p:cNvPr id="43" name="Shape 41"/>
          <p:cNvSpPr/>
          <p:nvPr/>
        </p:nvSpPr>
        <p:spPr>
          <a:xfrm>
            <a:off x="347472" y="4224528"/>
            <a:ext cx="4133088" cy="548640"/>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44" name="Shape 42"/>
          <p:cNvSpPr/>
          <p:nvPr/>
        </p:nvSpPr>
        <p:spPr>
          <a:xfrm>
            <a:off x="347472" y="4224528"/>
            <a:ext cx="45720" cy="548640"/>
          </a:xfrm>
          <a:prstGeom prst="rect">
            <a:avLst/>
          </a:prstGeom>
          <a:solidFill>
            <a:srgbClr val="0F6E56"/>
          </a:solidFill>
          <a:ln w="12700">
            <a:solidFill>
              <a:srgbClr val="0F6E56"/>
            </a:solidFill>
            <a:prstDash val="solid"/>
          </a:ln>
        </p:spPr>
      </p:sp>
      <p:sp>
        <p:nvSpPr>
          <p:cNvPr id="45" name="Text 43"/>
          <p:cNvSpPr/>
          <p:nvPr/>
        </p:nvSpPr>
        <p:spPr>
          <a:xfrm>
            <a:off x="484632" y="4279392"/>
            <a:ext cx="3913632" cy="420624"/>
          </a:xfrm>
          <a:prstGeom prst="rect">
            <a:avLst/>
          </a:prstGeom>
          <a:noFill/>
          <a:ln/>
        </p:spPr>
        <p:txBody>
          <a:bodyPr wrap="square" rtlCol="0" anchor="ctr"/>
          <a:lstStyle/>
          <a:p>
            <a:pPr indent="0" marL="0">
              <a:buNone/>
            </a:pPr>
            <a:r>
              <a:rPr lang="en-US" sz="1150" dirty="0">
                <a:solidFill>
                  <a:srgbClr val="0F6E56"/>
                </a:solidFill>
                <a:latin typeface="Consolas" pitchFamily="34" charset="0"/>
                <a:ea typeface="Consolas" pitchFamily="34" charset="-122"/>
                <a:cs typeface="Consolas" pitchFamily="34" charset="-120"/>
              </a:rPr>
              <a:t>③ 重みの更新：  W  ←  W  −  η × ∂L/∂W</a:t>
            </a:r>
            <a:endParaRPr lang="en-US" sz="1150" dirty="0"/>
          </a:p>
        </p:txBody>
      </p:sp>
      <p:sp>
        <p:nvSpPr>
          <p:cNvPr id="46" name="Shape 44"/>
          <p:cNvSpPr/>
          <p:nvPr/>
        </p:nvSpPr>
        <p:spPr>
          <a:xfrm>
            <a:off x="4617720" y="4224528"/>
            <a:ext cx="4160520" cy="548640"/>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47" name="Shape 45"/>
          <p:cNvSpPr/>
          <p:nvPr/>
        </p:nvSpPr>
        <p:spPr>
          <a:xfrm>
            <a:off x="4617720" y="4224528"/>
            <a:ext cx="45720" cy="548640"/>
          </a:xfrm>
          <a:prstGeom prst="rect">
            <a:avLst/>
          </a:prstGeom>
          <a:solidFill>
            <a:srgbClr val="BA7517"/>
          </a:solidFill>
          <a:ln w="12700">
            <a:solidFill>
              <a:srgbClr val="BA7517"/>
            </a:solidFill>
            <a:prstDash val="solid"/>
          </a:ln>
        </p:spPr>
      </p:sp>
      <p:sp>
        <p:nvSpPr>
          <p:cNvPr id="48" name="Text 46"/>
          <p:cNvSpPr/>
          <p:nvPr/>
        </p:nvSpPr>
        <p:spPr>
          <a:xfrm>
            <a:off x="4709160" y="4279392"/>
            <a:ext cx="914400" cy="420624"/>
          </a:xfrm>
          <a:prstGeom prst="rect">
            <a:avLst/>
          </a:prstGeom>
          <a:noFill/>
          <a:ln/>
        </p:spPr>
        <p:txBody>
          <a:bodyPr wrap="square" rtlCol="0" anchor="ctr"/>
          <a:lstStyle/>
          <a:p>
            <a:pPr algn="ctr" indent="0" marL="0">
              <a:buNone/>
            </a:pPr>
            <a:r>
              <a:rPr lang="en-US" sz="900" dirty="0">
                <a:solidFill>
                  <a:srgbClr val="1F2937"/>
                </a:solidFill>
              </a:rPr>
              <a:t>初期</a:t>
            </a:r>
            <a:endParaRPr lang="en-US" sz="900" dirty="0"/>
          </a:p>
          <a:p>
            <a:pPr algn="ctr" indent="0" marL="0">
              <a:buNone/>
            </a:pPr>
            <a:r>
              <a:rPr lang="en-US" sz="900" dirty="0">
                <a:solidFill>
                  <a:srgbClr val="1F2937"/>
                </a:solidFill>
              </a:rPr>
              <a:t>L=1.0</a:t>
            </a:r>
            <a:endParaRPr lang="en-US" sz="900" dirty="0"/>
          </a:p>
        </p:txBody>
      </p:sp>
      <p:sp>
        <p:nvSpPr>
          <p:cNvPr id="49" name="Shape 47"/>
          <p:cNvSpPr/>
          <p:nvPr/>
        </p:nvSpPr>
        <p:spPr>
          <a:xfrm>
            <a:off x="5577840" y="4489704"/>
            <a:ext cx="155448" cy="0"/>
          </a:xfrm>
          <a:prstGeom prst="line">
            <a:avLst/>
          </a:prstGeom>
          <a:noFill/>
          <a:ln w="12700">
            <a:solidFill>
              <a:srgbClr val="BA7517"/>
            </a:solidFill>
            <a:prstDash val="solid"/>
          </a:ln>
        </p:spPr>
      </p:sp>
      <p:sp>
        <p:nvSpPr>
          <p:cNvPr id="50" name="Text 48"/>
          <p:cNvSpPr/>
          <p:nvPr/>
        </p:nvSpPr>
        <p:spPr>
          <a:xfrm>
            <a:off x="5733288" y="4279392"/>
            <a:ext cx="914400" cy="420624"/>
          </a:xfrm>
          <a:prstGeom prst="rect">
            <a:avLst/>
          </a:prstGeom>
          <a:noFill/>
          <a:ln/>
        </p:spPr>
        <p:txBody>
          <a:bodyPr wrap="square" rtlCol="0" anchor="ctr"/>
          <a:lstStyle/>
          <a:p>
            <a:pPr algn="ctr" indent="0" marL="0">
              <a:buNone/>
            </a:pPr>
            <a:r>
              <a:rPr lang="en-US" sz="900" dirty="0">
                <a:solidFill>
                  <a:srgbClr val="1F2937"/>
                </a:solidFill>
              </a:rPr>
              <a:t>1万回</a:t>
            </a:r>
            <a:endParaRPr lang="en-US" sz="900" dirty="0"/>
          </a:p>
          <a:p>
            <a:pPr algn="ctr" indent="0" marL="0">
              <a:buNone/>
            </a:pPr>
            <a:r>
              <a:rPr lang="en-US" sz="900" dirty="0">
                <a:solidFill>
                  <a:srgbClr val="1F2937"/>
                </a:solidFill>
              </a:rPr>
              <a:t>L=0.72</a:t>
            </a:r>
            <a:endParaRPr lang="en-US" sz="900" dirty="0"/>
          </a:p>
        </p:txBody>
      </p:sp>
      <p:sp>
        <p:nvSpPr>
          <p:cNvPr id="51" name="Shape 49"/>
          <p:cNvSpPr/>
          <p:nvPr/>
        </p:nvSpPr>
        <p:spPr>
          <a:xfrm>
            <a:off x="6601968" y="4489704"/>
            <a:ext cx="155448" cy="0"/>
          </a:xfrm>
          <a:prstGeom prst="line">
            <a:avLst/>
          </a:prstGeom>
          <a:noFill/>
          <a:ln w="12700">
            <a:solidFill>
              <a:srgbClr val="BA7517"/>
            </a:solidFill>
            <a:prstDash val="solid"/>
          </a:ln>
        </p:spPr>
      </p:sp>
      <p:sp>
        <p:nvSpPr>
          <p:cNvPr id="52" name="Text 50"/>
          <p:cNvSpPr/>
          <p:nvPr/>
        </p:nvSpPr>
        <p:spPr>
          <a:xfrm>
            <a:off x="6757416" y="4279392"/>
            <a:ext cx="914400" cy="420624"/>
          </a:xfrm>
          <a:prstGeom prst="rect">
            <a:avLst/>
          </a:prstGeom>
          <a:noFill/>
          <a:ln/>
        </p:spPr>
        <p:txBody>
          <a:bodyPr wrap="square" rtlCol="0" anchor="ctr"/>
          <a:lstStyle/>
          <a:p>
            <a:pPr algn="ctr" indent="0" marL="0">
              <a:buNone/>
            </a:pPr>
            <a:r>
              <a:rPr lang="en-US" sz="900" dirty="0">
                <a:solidFill>
                  <a:srgbClr val="1F2937"/>
                </a:solidFill>
              </a:rPr>
              <a:t>10万回</a:t>
            </a:r>
            <a:endParaRPr lang="en-US" sz="900" dirty="0"/>
          </a:p>
          <a:p>
            <a:pPr algn="ctr" indent="0" marL="0">
              <a:buNone/>
            </a:pPr>
            <a:r>
              <a:rPr lang="en-US" sz="900" dirty="0">
                <a:solidFill>
                  <a:srgbClr val="1F2937"/>
                </a:solidFill>
              </a:rPr>
              <a:t>L=0.44</a:t>
            </a:r>
            <a:endParaRPr lang="en-US" sz="900" dirty="0"/>
          </a:p>
        </p:txBody>
      </p:sp>
      <p:sp>
        <p:nvSpPr>
          <p:cNvPr id="53" name="Shape 51"/>
          <p:cNvSpPr/>
          <p:nvPr/>
        </p:nvSpPr>
        <p:spPr>
          <a:xfrm>
            <a:off x="7626096" y="4489704"/>
            <a:ext cx="155448" cy="0"/>
          </a:xfrm>
          <a:prstGeom prst="line">
            <a:avLst/>
          </a:prstGeom>
          <a:noFill/>
          <a:ln w="12700">
            <a:solidFill>
              <a:srgbClr val="BA7517"/>
            </a:solidFill>
            <a:prstDash val="solid"/>
          </a:ln>
        </p:spPr>
      </p:sp>
      <p:sp>
        <p:nvSpPr>
          <p:cNvPr id="54" name="Text 52"/>
          <p:cNvSpPr/>
          <p:nvPr/>
        </p:nvSpPr>
        <p:spPr>
          <a:xfrm>
            <a:off x="7781544" y="4279392"/>
            <a:ext cx="914400" cy="420624"/>
          </a:xfrm>
          <a:prstGeom prst="rect">
            <a:avLst/>
          </a:prstGeom>
          <a:noFill/>
          <a:ln/>
        </p:spPr>
        <p:txBody>
          <a:bodyPr wrap="square" rtlCol="0" anchor="ctr"/>
          <a:lstStyle/>
          <a:p>
            <a:pPr algn="ctr" indent="0" marL="0">
              <a:buNone/>
            </a:pPr>
            <a:r>
              <a:rPr lang="en-US" sz="900" dirty="0">
                <a:solidFill>
                  <a:srgbClr val="1F2937"/>
                </a:solidFill>
              </a:rPr>
              <a:t>100万回</a:t>
            </a:r>
            <a:endParaRPr lang="en-US" sz="900" dirty="0"/>
          </a:p>
          <a:p>
            <a:pPr algn="ctr" indent="0" marL="0">
              <a:buNone/>
            </a:pPr>
            <a:r>
              <a:rPr lang="en-US" sz="900" dirty="0">
                <a:solidFill>
                  <a:srgbClr val="1F2937"/>
                </a:solidFill>
              </a:rPr>
              <a:t>L=0.08</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27 / 28</a:t>
            </a:r>
            <a:endParaRPr lang="en-US" sz="900" dirty="0"/>
          </a:p>
        </p:txBody>
      </p:sp>
      <p:sp>
        <p:nvSpPr>
          <p:cNvPr id="3" name="Shape 1"/>
          <p:cNvSpPr/>
          <p:nvPr/>
        </p:nvSpPr>
        <p:spPr>
          <a:xfrm>
            <a:off x="347472" y="274320"/>
            <a:ext cx="54864" cy="475488"/>
          </a:xfrm>
          <a:prstGeom prst="rect">
            <a:avLst/>
          </a:prstGeom>
          <a:solidFill>
            <a:srgbClr val="0F6E56"/>
          </a:solidFill>
          <a:ln w="12700">
            <a:solidFill>
              <a:srgbClr val="0F6E56"/>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Optimizer — 逆伝播が「方向」を教え、Optimizer が「歩幅」を決める</a:t>
            </a:r>
            <a:endParaRPr lang="en-US" sz="2000" dirty="0"/>
          </a:p>
        </p:txBody>
      </p:sp>
      <p:sp>
        <p:nvSpPr>
          <p:cNvPr id="5" name="Text 3"/>
          <p:cNvSpPr/>
          <p:nvPr/>
        </p:nvSpPr>
        <p:spPr>
          <a:xfrm>
            <a:off x="347472" y="932688"/>
            <a:ext cx="8430768" cy="347472"/>
          </a:xfrm>
          <a:prstGeom prst="rect">
            <a:avLst/>
          </a:prstGeom>
          <a:noFill/>
          <a:ln/>
        </p:spPr>
        <p:txBody>
          <a:bodyPr wrap="square" rtlCol="0" anchor="ctr"/>
          <a:lstStyle/>
          <a:p>
            <a:pPr indent="0" marL="0">
              <a:buNone/>
            </a:pPr>
            <a:r>
              <a:rPr lang="en-US" sz="1100" i="1" dirty="0">
                <a:solidFill>
                  <a:srgbClr val="4B5563"/>
                </a:solidFill>
              </a:rPr>
              <a:t>逆伝播で「どちらへ修正すべきか」の勾配が計算された。しかし「どれだけ修正するか」を決めるのは Optimizer の役割。</a:t>
            </a:r>
            <a:endParaRPr lang="en-US" sz="1100" dirty="0"/>
          </a:p>
        </p:txBody>
      </p:sp>
      <p:sp>
        <p:nvSpPr>
          <p:cNvPr id="6" name="Shape 4"/>
          <p:cNvSpPr/>
          <p:nvPr/>
        </p:nvSpPr>
        <p:spPr>
          <a:xfrm>
            <a:off x="347472" y="1371600"/>
            <a:ext cx="8430768" cy="512064"/>
          </a:xfrm>
          <a:prstGeom prst="rect">
            <a:avLst/>
          </a:prstGeom>
          <a:solidFill>
            <a:srgbClr val="FFFFFF"/>
          </a:solidFill>
          <a:ln w="6350">
            <a:solidFill>
              <a:srgbClr val="E5E7EB"/>
            </a:solidFill>
            <a:prstDash val="solid"/>
          </a:ln>
          <a:effectLst>
            <a:outerShdw sx="100000" sy="100000" kx="0" ky="0" algn="bl" rotWithShape="0" blurRad="50800" dist="25400" dir="8100000">
              <a:srgbClr val="000000">
                <a:alpha val="6000"/>
              </a:srgbClr>
            </a:outerShdw>
          </a:effectLst>
        </p:spPr>
      </p:sp>
      <p:sp>
        <p:nvSpPr>
          <p:cNvPr id="7" name="Shape 5"/>
          <p:cNvSpPr/>
          <p:nvPr/>
        </p:nvSpPr>
        <p:spPr>
          <a:xfrm>
            <a:off x="347472" y="1371600"/>
            <a:ext cx="45720" cy="512064"/>
          </a:xfrm>
          <a:prstGeom prst="rect">
            <a:avLst/>
          </a:prstGeom>
          <a:solidFill>
            <a:srgbClr val="0F6E56"/>
          </a:solidFill>
          <a:ln w="12700">
            <a:solidFill>
              <a:srgbClr val="0F6E56"/>
            </a:solidFill>
            <a:prstDash val="solid"/>
          </a:ln>
        </p:spPr>
      </p:sp>
      <p:sp>
        <p:nvSpPr>
          <p:cNvPr id="8" name="Text 6"/>
          <p:cNvSpPr/>
          <p:nvPr/>
        </p:nvSpPr>
        <p:spPr>
          <a:xfrm>
            <a:off x="502920" y="1408176"/>
            <a:ext cx="4114800" cy="402336"/>
          </a:xfrm>
          <a:prstGeom prst="rect">
            <a:avLst/>
          </a:prstGeom>
          <a:noFill/>
          <a:ln/>
        </p:spPr>
        <p:txBody>
          <a:bodyPr wrap="square" rtlCol="0" anchor="ctr"/>
          <a:lstStyle/>
          <a:p>
            <a:pPr algn="ctr" indent="0" marL="0">
              <a:buNone/>
            </a:pPr>
            <a:r>
              <a:rPr lang="en-US" sz="1600" b="1" dirty="0">
                <a:solidFill>
                  <a:srgbClr val="0F6E56"/>
                </a:solidFill>
                <a:latin typeface="Consolas" pitchFamily="34" charset="0"/>
                <a:ea typeface="Consolas" pitchFamily="34" charset="-122"/>
                <a:cs typeface="Consolas" pitchFamily="34" charset="-120"/>
              </a:rPr>
              <a:t>W  ←  W  −  η × ∂L/∂W</a:t>
            </a:r>
            <a:endParaRPr lang="en-US" sz="1600" dirty="0"/>
          </a:p>
        </p:txBody>
      </p:sp>
      <p:sp>
        <p:nvSpPr>
          <p:cNvPr id="9" name="Text 7"/>
          <p:cNvSpPr/>
          <p:nvPr/>
        </p:nvSpPr>
        <p:spPr>
          <a:xfrm>
            <a:off x="4709160" y="1408176"/>
            <a:ext cx="3931920" cy="402336"/>
          </a:xfrm>
          <a:prstGeom prst="rect">
            <a:avLst/>
          </a:prstGeom>
          <a:noFill/>
          <a:ln/>
        </p:spPr>
        <p:txBody>
          <a:bodyPr wrap="square" rtlCol="0" anchor="ctr"/>
          <a:lstStyle/>
          <a:p>
            <a:pPr indent="0" marL="0">
              <a:buNone/>
            </a:pPr>
            <a:r>
              <a:rPr lang="en-US" sz="1050" i="1" dirty="0">
                <a:solidFill>
                  <a:srgbClr val="4B5563"/>
                </a:solidFill>
              </a:rPr>
              <a:t>η（学習率）= どれだけ進むか   |   ∂L/∂W（勾配）= どの方向へ進むか</a:t>
            </a:r>
            <a:endParaRPr lang="en-US" sz="1050" dirty="0"/>
          </a:p>
        </p:txBody>
      </p:sp>
      <p:sp>
        <p:nvSpPr>
          <p:cNvPr id="10" name="Shape 8"/>
          <p:cNvSpPr/>
          <p:nvPr/>
        </p:nvSpPr>
        <p:spPr>
          <a:xfrm>
            <a:off x="347472" y="2011680"/>
            <a:ext cx="2651760" cy="2852928"/>
          </a:xfrm>
          <a:prstGeom prst="rect">
            <a:avLst/>
          </a:prstGeom>
          <a:solidFill>
            <a:srgbClr val="F3F4F6"/>
          </a:solidFill>
          <a:ln w="6350">
            <a:solidFill>
              <a:srgbClr val="6B7280"/>
            </a:solidFill>
            <a:prstDash val="solid"/>
          </a:ln>
        </p:spPr>
      </p:sp>
      <p:sp>
        <p:nvSpPr>
          <p:cNvPr id="11" name="Shape 9"/>
          <p:cNvSpPr/>
          <p:nvPr/>
        </p:nvSpPr>
        <p:spPr>
          <a:xfrm>
            <a:off x="347472" y="2011680"/>
            <a:ext cx="2651760" cy="36576"/>
          </a:xfrm>
          <a:prstGeom prst="rect">
            <a:avLst/>
          </a:prstGeom>
          <a:solidFill>
            <a:srgbClr val="6B7280"/>
          </a:solidFill>
          <a:ln w="12700">
            <a:solidFill>
              <a:srgbClr val="6B7280"/>
            </a:solidFill>
            <a:prstDash val="solid"/>
          </a:ln>
        </p:spPr>
      </p:sp>
      <p:sp>
        <p:nvSpPr>
          <p:cNvPr id="12" name="Text 10"/>
          <p:cNvSpPr/>
          <p:nvPr/>
        </p:nvSpPr>
        <p:spPr>
          <a:xfrm>
            <a:off x="438912" y="2066544"/>
            <a:ext cx="1280160" cy="347472"/>
          </a:xfrm>
          <a:prstGeom prst="rect">
            <a:avLst/>
          </a:prstGeom>
          <a:noFill/>
          <a:ln/>
        </p:spPr>
        <p:txBody>
          <a:bodyPr wrap="square" rtlCol="0" anchor="ctr"/>
          <a:lstStyle/>
          <a:p>
            <a:pPr indent="0" marL="0">
              <a:buNone/>
            </a:pPr>
            <a:r>
              <a:rPr lang="en-US" sz="1600" b="1" dirty="0">
                <a:solidFill>
                  <a:srgbClr val="6B7280"/>
                </a:solidFill>
              </a:rPr>
              <a:t>SGD</a:t>
            </a:r>
            <a:endParaRPr lang="en-US" sz="1600" dirty="0"/>
          </a:p>
        </p:txBody>
      </p:sp>
      <p:sp>
        <p:nvSpPr>
          <p:cNvPr id="13" name="Text 11"/>
          <p:cNvSpPr/>
          <p:nvPr/>
        </p:nvSpPr>
        <p:spPr>
          <a:xfrm>
            <a:off x="438912" y="2414016"/>
            <a:ext cx="2468880" cy="237744"/>
          </a:xfrm>
          <a:prstGeom prst="rect">
            <a:avLst/>
          </a:prstGeom>
          <a:noFill/>
          <a:ln/>
        </p:spPr>
        <p:txBody>
          <a:bodyPr wrap="square" rtlCol="0" anchor="ctr"/>
          <a:lstStyle/>
          <a:p>
            <a:pPr indent="0" marL="0">
              <a:buNone/>
            </a:pPr>
            <a:r>
              <a:rPr lang="en-US" sz="1000" i="1" dirty="0">
                <a:solidFill>
                  <a:srgbClr val="6B7280"/>
                </a:solidFill>
              </a:rPr>
              <a:t>確率的勾配降下法</a:t>
            </a:r>
            <a:endParaRPr lang="en-US" sz="1000" dirty="0"/>
          </a:p>
        </p:txBody>
      </p:sp>
      <p:sp>
        <p:nvSpPr>
          <p:cNvPr id="14" name="Text 12"/>
          <p:cNvSpPr/>
          <p:nvPr/>
        </p:nvSpPr>
        <p:spPr>
          <a:xfrm>
            <a:off x="438912" y="2688336"/>
            <a:ext cx="2468880" cy="1316736"/>
          </a:xfrm>
          <a:prstGeom prst="rect">
            <a:avLst/>
          </a:prstGeom>
          <a:noFill/>
          <a:ln/>
        </p:spPr>
        <p:txBody>
          <a:bodyPr wrap="square" rtlCol="0" anchor="ctr"/>
          <a:lstStyle/>
          <a:p>
            <a:pPr indent="0" marL="0">
              <a:spcAft>
                <a:spcPts val="300"/>
              </a:spcAft>
              <a:buNone/>
            </a:pPr>
            <a:r>
              <a:rPr lang="en-US" sz="1050" dirty="0">
                <a:solidFill>
                  <a:srgbClr val="1F2937"/>
                </a:solidFill>
              </a:rPr>
              <a:t>勾配の方向に一定の</a:t>
            </a:r>
            <a:endParaRPr lang="en-US" sz="1050" dirty="0"/>
          </a:p>
          <a:p>
            <a:pPr indent="0" marL="0">
              <a:spcAft>
                <a:spcPts val="300"/>
              </a:spcAft>
              <a:buNone/>
            </a:pPr>
            <a:r>
              <a:rPr lang="en-US" sz="1050" dirty="0">
                <a:solidFill>
                  <a:srgbClr val="1F2937"/>
                </a:solidFill>
              </a:rPr>
              <a:t>学習率 η で進む。</a:t>
            </a:r>
            <a:endParaRPr lang="en-US" sz="1050" dirty="0"/>
          </a:p>
          <a:p>
            <a:pPr indent="0" marL="0">
              <a:spcAft>
                <a:spcPts val="300"/>
              </a:spcAft>
              <a:buNone/>
            </a:pPr>
            <a:endParaRPr lang="en-US" sz="1050" dirty="0"/>
          </a:p>
          <a:p>
            <a:pPr indent="0" marL="0">
              <a:spcAft>
                <a:spcPts val="300"/>
              </a:spcAft>
              <a:buNone/>
            </a:pPr>
            <a:r>
              <a:rPr lang="en-US" sz="1050" dirty="0">
                <a:solidFill>
                  <a:srgbClr val="1F2937"/>
                </a:solidFill>
              </a:rPr>
              <a:t>単純だが収束が</a:t>
            </a:r>
            <a:endParaRPr lang="en-US" sz="1050" dirty="0"/>
          </a:p>
          <a:p>
            <a:pPr indent="0" marL="0">
              <a:spcAft>
                <a:spcPts val="300"/>
              </a:spcAft>
              <a:buNone/>
            </a:pPr>
            <a:r>
              <a:rPr lang="en-US" sz="1050" dirty="0">
                <a:solidFill>
                  <a:srgbClr val="1F2937"/>
                </a:solidFill>
              </a:rPr>
              <a:t>遅く不安定になる</a:t>
            </a:r>
            <a:endParaRPr lang="en-US" sz="1050" dirty="0"/>
          </a:p>
          <a:p>
            <a:pPr indent="0" marL="0">
              <a:spcAft>
                <a:spcPts val="300"/>
              </a:spcAft>
              <a:buNone/>
            </a:pPr>
            <a:r>
              <a:rPr lang="en-US" sz="1050" dirty="0">
                <a:solidFill>
                  <a:srgbClr val="1F2937"/>
                </a:solidFill>
              </a:rPr>
              <a:t>ことがある。</a:t>
            </a:r>
            <a:endParaRPr lang="en-US" sz="1050" dirty="0"/>
          </a:p>
        </p:txBody>
      </p:sp>
      <p:sp>
        <p:nvSpPr>
          <p:cNvPr id="15" name="Text 13"/>
          <p:cNvSpPr/>
          <p:nvPr/>
        </p:nvSpPr>
        <p:spPr>
          <a:xfrm>
            <a:off x="438912" y="4041648"/>
            <a:ext cx="2468880" cy="329184"/>
          </a:xfrm>
          <a:prstGeom prst="rect">
            <a:avLst/>
          </a:prstGeom>
          <a:noFill/>
          <a:ln/>
        </p:spPr>
        <p:txBody>
          <a:bodyPr wrap="square" rtlCol="0" anchor="ctr"/>
          <a:lstStyle/>
          <a:p>
            <a:pPr algn="ctr" indent="0" marL="0">
              <a:buNone/>
            </a:pPr>
            <a:r>
              <a:rPr lang="en-US" sz="850" dirty="0">
                <a:solidFill>
                  <a:srgbClr val="6B7280"/>
                </a:solidFill>
                <a:latin typeface="Consolas" pitchFamily="34" charset="0"/>
                <a:ea typeface="Consolas" pitchFamily="34" charset="-122"/>
                <a:cs typeface="Consolas" pitchFamily="34" charset="-120"/>
              </a:rPr>
              <a:t>W ← W − η × ∂L/∂W</a:t>
            </a:r>
            <a:endParaRPr lang="en-US" sz="850" dirty="0"/>
          </a:p>
        </p:txBody>
      </p:sp>
      <p:sp>
        <p:nvSpPr>
          <p:cNvPr id="16" name="Shape 14"/>
          <p:cNvSpPr/>
          <p:nvPr/>
        </p:nvSpPr>
        <p:spPr>
          <a:xfrm>
            <a:off x="621792" y="4425696"/>
            <a:ext cx="2103120" cy="237744"/>
          </a:xfrm>
          <a:prstGeom prst="roundRect">
            <a:avLst>
              <a:gd name="adj" fmla="val 15385"/>
            </a:avLst>
          </a:prstGeom>
          <a:solidFill>
            <a:srgbClr val="6B7280"/>
          </a:solidFill>
          <a:ln w="12700">
            <a:solidFill>
              <a:srgbClr val="6B7280"/>
            </a:solidFill>
            <a:prstDash val="solid"/>
          </a:ln>
        </p:spPr>
      </p:sp>
      <p:sp>
        <p:nvSpPr>
          <p:cNvPr id="17" name="Text 15"/>
          <p:cNvSpPr/>
          <p:nvPr/>
        </p:nvSpPr>
        <p:spPr>
          <a:xfrm>
            <a:off x="621792" y="4425696"/>
            <a:ext cx="2103120" cy="237744"/>
          </a:xfrm>
          <a:prstGeom prst="rect">
            <a:avLst/>
          </a:prstGeom>
          <a:noFill/>
          <a:ln/>
        </p:spPr>
        <p:txBody>
          <a:bodyPr wrap="square" rtlCol="0" anchor="ctr"/>
          <a:lstStyle/>
          <a:p>
            <a:pPr algn="ctr" indent="0" marL="0">
              <a:buNone/>
            </a:pPr>
            <a:r>
              <a:rPr lang="en-US" sz="1000" b="1" dirty="0">
                <a:solidFill>
                  <a:srgbClr val="FFFFFF"/>
                </a:solidFill>
              </a:rPr>
              <a:t>η = 固定</a:t>
            </a:r>
            <a:endParaRPr lang="en-US" sz="1000" dirty="0"/>
          </a:p>
        </p:txBody>
      </p:sp>
      <p:sp>
        <p:nvSpPr>
          <p:cNvPr id="18" name="Shape 16"/>
          <p:cNvSpPr/>
          <p:nvPr/>
        </p:nvSpPr>
        <p:spPr>
          <a:xfrm>
            <a:off x="3163824" y="2011680"/>
            <a:ext cx="2651760" cy="2852928"/>
          </a:xfrm>
          <a:prstGeom prst="rect">
            <a:avLst/>
          </a:prstGeom>
          <a:solidFill>
            <a:srgbClr val="EEEDFE"/>
          </a:solidFill>
          <a:ln w="6350">
            <a:solidFill>
              <a:srgbClr val="534AB7"/>
            </a:solidFill>
            <a:prstDash val="solid"/>
          </a:ln>
        </p:spPr>
      </p:sp>
      <p:sp>
        <p:nvSpPr>
          <p:cNvPr id="19" name="Shape 17"/>
          <p:cNvSpPr/>
          <p:nvPr/>
        </p:nvSpPr>
        <p:spPr>
          <a:xfrm>
            <a:off x="3163824" y="2011680"/>
            <a:ext cx="2651760" cy="36576"/>
          </a:xfrm>
          <a:prstGeom prst="rect">
            <a:avLst/>
          </a:prstGeom>
          <a:solidFill>
            <a:srgbClr val="534AB7"/>
          </a:solidFill>
          <a:ln w="12700">
            <a:solidFill>
              <a:srgbClr val="534AB7"/>
            </a:solidFill>
            <a:prstDash val="solid"/>
          </a:ln>
        </p:spPr>
      </p:sp>
      <p:sp>
        <p:nvSpPr>
          <p:cNvPr id="20" name="Text 18"/>
          <p:cNvSpPr/>
          <p:nvPr/>
        </p:nvSpPr>
        <p:spPr>
          <a:xfrm>
            <a:off x="3255264" y="2066544"/>
            <a:ext cx="1280160" cy="347472"/>
          </a:xfrm>
          <a:prstGeom prst="rect">
            <a:avLst/>
          </a:prstGeom>
          <a:noFill/>
          <a:ln/>
        </p:spPr>
        <p:txBody>
          <a:bodyPr wrap="square" rtlCol="0" anchor="ctr"/>
          <a:lstStyle/>
          <a:p>
            <a:pPr indent="0" marL="0">
              <a:buNone/>
            </a:pPr>
            <a:r>
              <a:rPr lang="en-US" sz="1600" b="1" dirty="0">
                <a:solidFill>
                  <a:srgbClr val="534AB7"/>
                </a:solidFill>
              </a:rPr>
              <a:t>Adam</a:t>
            </a:r>
            <a:endParaRPr lang="en-US" sz="1600" dirty="0"/>
          </a:p>
        </p:txBody>
      </p:sp>
      <p:sp>
        <p:nvSpPr>
          <p:cNvPr id="21" name="Text 19"/>
          <p:cNvSpPr/>
          <p:nvPr/>
        </p:nvSpPr>
        <p:spPr>
          <a:xfrm>
            <a:off x="3255264" y="2414016"/>
            <a:ext cx="2468880" cy="237744"/>
          </a:xfrm>
          <a:prstGeom prst="rect">
            <a:avLst/>
          </a:prstGeom>
          <a:noFill/>
          <a:ln/>
        </p:spPr>
        <p:txBody>
          <a:bodyPr wrap="square" rtlCol="0" anchor="ctr"/>
          <a:lstStyle/>
          <a:p>
            <a:pPr indent="0" marL="0">
              <a:buNone/>
            </a:pPr>
            <a:r>
              <a:rPr lang="en-US" sz="1000" i="1" dirty="0">
                <a:solidFill>
                  <a:srgbClr val="534AB7"/>
                </a:solidFill>
              </a:rPr>
              <a:t>Adaptive Moment</a:t>
            </a:r>
            <a:endParaRPr lang="en-US" sz="1000" dirty="0"/>
          </a:p>
        </p:txBody>
      </p:sp>
      <p:sp>
        <p:nvSpPr>
          <p:cNvPr id="22" name="Text 20"/>
          <p:cNvSpPr/>
          <p:nvPr/>
        </p:nvSpPr>
        <p:spPr>
          <a:xfrm>
            <a:off x="3255264" y="2688336"/>
            <a:ext cx="2468880" cy="1316736"/>
          </a:xfrm>
          <a:prstGeom prst="rect">
            <a:avLst/>
          </a:prstGeom>
          <a:noFill/>
          <a:ln/>
        </p:spPr>
        <p:txBody>
          <a:bodyPr wrap="square" rtlCol="0" anchor="ctr"/>
          <a:lstStyle/>
          <a:p>
            <a:pPr indent="0" marL="0">
              <a:spcAft>
                <a:spcPts val="300"/>
              </a:spcAft>
              <a:buNone/>
            </a:pPr>
            <a:r>
              <a:rPr lang="en-US" sz="1050" dirty="0">
                <a:solidFill>
                  <a:srgbClr val="1F2937"/>
                </a:solidFill>
              </a:rPr>
              <a:t>過去の勾配の</a:t>
            </a:r>
            <a:endParaRPr lang="en-US" sz="1050" dirty="0"/>
          </a:p>
          <a:p>
            <a:pPr indent="0" marL="0">
              <a:spcAft>
                <a:spcPts val="300"/>
              </a:spcAft>
              <a:buNone/>
            </a:pPr>
            <a:r>
              <a:rPr lang="en-US" sz="1050" dirty="0">
                <a:solidFill>
                  <a:srgbClr val="1F2937"/>
                </a:solidFill>
              </a:rPr>
              <a:t>平均（方向）と</a:t>
            </a:r>
            <a:endParaRPr lang="en-US" sz="1050" dirty="0"/>
          </a:p>
          <a:p>
            <a:pPr indent="0" marL="0">
              <a:spcAft>
                <a:spcPts val="300"/>
              </a:spcAft>
              <a:buNone/>
            </a:pPr>
            <a:r>
              <a:rPr lang="en-US" sz="1050" dirty="0">
                <a:solidFill>
                  <a:srgbClr val="1F2937"/>
                </a:solidFill>
              </a:rPr>
              <a:t>分散（勢い）を</a:t>
            </a:r>
            <a:endParaRPr lang="en-US" sz="1050" dirty="0"/>
          </a:p>
          <a:p>
            <a:pPr indent="0" marL="0">
              <a:spcAft>
                <a:spcPts val="300"/>
              </a:spcAft>
              <a:buNone/>
            </a:pPr>
            <a:r>
              <a:rPr lang="en-US" sz="1050" dirty="0">
                <a:solidFill>
                  <a:srgbClr val="1F2937"/>
                </a:solidFill>
              </a:rPr>
              <a:t>記憶して歩幅を</a:t>
            </a:r>
            <a:endParaRPr lang="en-US" sz="1050" dirty="0"/>
          </a:p>
          <a:p>
            <a:pPr indent="0" marL="0">
              <a:spcAft>
                <a:spcPts val="300"/>
              </a:spcAft>
              <a:buNone/>
            </a:pPr>
            <a:r>
              <a:rPr lang="en-US" sz="1050" dirty="0">
                <a:solidFill>
                  <a:srgbClr val="1F2937"/>
                </a:solidFill>
              </a:rPr>
              <a:t>自動調整する。</a:t>
            </a:r>
            <a:endParaRPr lang="en-US" sz="1050" dirty="0"/>
          </a:p>
        </p:txBody>
      </p:sp>
      <p:sp>
        <p:nvSpPr>
          <p:cNvPr id="23" name="Text 21"/>
          <p:cNvSpPr/>
          <p:nvPr/>
        </p:nvSpPr>
        <p:spPr>
          <a:xfrm>
            <a:off x="3255264" y="4041648"/>
            <a:ext cx="2468880" cy="329184"/>
          </a:xfrm>
          <a:prstGeom prst="rect">
            <a:avLst/>
          </a:prstGeom>
          <a:noFill/>
          <a:ln/>
        </p:spPr>
        <p:txBody>
          <a:bodyPr wrap="square" rtlCol="0" anchor="ctr"/>
          <a:lstStyle/>
          <a:p>
            <a:pPr algn="ctr" indent="0" marL="0">
              <a:buNone/>
            </a:pPr>
            <a:r>
              <a:rPr lang="en-US" sz="850" dirty="0">
                <a:solidFill>
                  <a:srgbClr val="534AB7"/>
                </a:solidFill>
                <a:latin typeface="Consolas" pitchFamily="34" charset="0"/>
                <a:ea typeface="Consolas" pitchFamily="34" charset="-122"/>
                <a:cs typeface="Consolas" pitchFamily="34" charset="-120"/>
              </a:rPr>
              <a:t>W ← W − η_t × m / (√v + ε)</a:t>
            </a:r>
            <a:endParaRPr lang="en-US" sz="850" dirty="0"/>
          </a:p>
        </p:txBody>
      </p:sp>
      <p:sp>
        <p:nvSpPr>
          <p:cNvPr id="24" name="Shape 22"/>
          <p:cNvSpPr/>
          <p:nvPr/>
        </p:nvSpPr>
        <p:spPr>
          <a:xfrm>
            <a:off x="3438144" y="4425696"/>
            <a:ext cx="2103120" cy="237744"/>
          </a:xfrm>
          <a:prstGeom prst="roundRect">
            <a:avLst>
              <a:gd name="adj" fmla="val 15385"/>
            </a:avLst>
          </a:prstGeom>
          <a:solidFill>
            <a:srgbClr val="534AB7"/>
          </a:solidFill>
          <a:ln w="12700">
            <a:solidFill>
              <a:srgbClr val="534AB7"/>
            </a:solidFill>
            <a:prstDash val="solid"/>
          </a:ln>
        </p:spPr>
      </p:sp>
      <p:sp>
        <p:nvSpPr>
          <p:cNvPr id="25" name="Text 23"/>
          <p:cNvSpPr/>
          <p:nvPr/>
        </p:nvSpPr>
        <p:spPr>
          <a:xfrm>
            <a:off x="3438144" y="4425696"/>
            <a:ext cx="2103120" cy="237744"/>
          </a:xfrm>
          <a:prstGeom prst="rect">
            <a:avLst/>
          </a:prstGeom>
          <a:noFill/>
          <a:ln/>
        </p:spPr>
        <p:txBody>
          <a:bodyPr wrap="square" rtlCol="0" anchor="ctr"/>
          <a:lstStyle/>
          <a:p>
            <a:pPr algn="ctr" indent="0" marL="0">
              <a:buNone/>
            </a:pPr>
            <a:r>
              <a:rPr lang="en-US" sz="1000" b="1" dirty="0">
                <a:solidFill>
                  <a:srgbClr val="FFFFFF"/>
                </a:solidFill>
              </a:rPr>
              <a:t>η = 自動調整</a:t>
            </a:r>
            <a:endParaRPr lang="en-US" sz="1000" dirty="0"/>
          </a:p>
        </p:txBody>
      </p:sp>
      <p:sp>
        <p:nvSpPr>
          <p:cNvPr id="26" name="Shape 24"/>
          <p:cNvSpPr/>
          <p:nvPr/>
        </p:nvSpPr>
        <p:spPr>
          <a:xfrm>
            <a:off x="5980176" y="2011680"/>
            <a:ext cx="2651760" cy="2852928"/>
          </a:xfrm>
          <a:prstGeom prst="rect">
            <a:avLst/>
          </a:prstGeom>
          <a:solidFill>
            <a:srgbClr val="E1F5EE"/>
          </a:solidFill>
          <a:ln w="6350">
            <a:solidFill>
              <a:srgbClr val="0F6E56"/>
            </a:solidFill>
            <a:prstDash val="solid"/>
          </a:ln>
        </p:spPr>
      </p:sp>
      <p:sp>
        <p:nvSpPr>
          <p:cNvPr id="27" name="Shape 25"/>
          <p:cNvSpPr/>
          <p:nvPr/>
        </p:nvSpPr>
        <p:spPr>
          <a:xfrm>
            <a:off x="5980176" y="2011680"/>
            <a:ext cx="2651760" cy="36576"/>
          </a:xfrm>
          <a:prstGeom prst="rect">
            <a:avLst/>
          </a:prstGeom>
          <a:solidFill>
            <a:srgbClr val="0F6E56"/>
          </a:solidFill>
          <a:ln w="12700">
            <a:solidFill>
              <a:srgbClr val="0F6E56"/>
            </a:solidFill>
            <a:prstDash val="solid"/>
          </a:ln>
        </p:spPr>
      </p:sp>
      <p:sp>
        <p:nvSpPr>
          <p:cNvPr id="28" name="Text 26"/>
          <p:cNvSpPr/>
          <p:nvPr/>
        </p:nvSpPr>
        <p:spPr>
          <a:xfrm>
            <a:off x="6071616" y="2066544"/>
            <a:ext cx="1280160" cy="347472"/>
          </a:xfrm>
          <a:prstGeom prst="rect">
            <a:avLst/>
          </a:prstGeom>
          <a:noFill/>
          <a:ln/>
        </p:spPr>
        <p:txBody>
          <a:bodyPr wrap="square" rtlCol="0" anchor="ctr"/>
          <a:lstStyle/>
          <a:p>
            <a:pPr indent="0" marL="0">
              <a:buNone/>
            </a:pPr>
            <a:r>
              <a:rPr lang="en-US" sz="1600" b="1" dirty="0">
                <a:solidFill>
                  <a:srgbClr val="0F6E56"/>
                </a:solidFill>
              </a:rPr>
              <a:t>AdamW</a:t>
            </a:r>
            <a:endParaRPr lang="en-US" sz="1600" dirty="0"/>
          </a:p>
        </p:txBody>
      </p:sp>
      <p:sp>
        <p:nvSpPr>
          <p:cNvPr id="29" name="Text 27"/>
          <p:cNvSpPr/>
          <p:nvPr/>
        </p:nvSpPr>
        <p:spPr>
          <a:xfrm>
            <a:off x="6071616" y="2414016"/>
            <a:ext cx="2468880" cy="237744"/>
          </a:xfrm>
          <a:prstGeom prst="rect">
            <a:avLst/>
          </a:prstGeom>
          <a:noFill/>
          <a:ln/>
        </p:spPr>
        <p:txBody>
          <a:bodyPr wrap="square" rtlCol="0" anchor="ctr"/>
          <a:lstStyle/>
          <a:p>
            <a:pPr indent="0" marL="0">
              <a:buNone/>
            </a:pPr>
            <a:r>
              <a:rPr lang="en-US" sz="1000" i="1" dirty="0">
                <a:solidFill>
                  <a:srgbClr val="0F6E56"/>
                </a:solidFill>
              </a:rPr>
              <a:t>Adam + Weight Decay</a:t>
            </a:r>
            <a:endParaRPr lang="en-US" sz="1000" dirty="0"/>
          </a:p>
        </p:txBody>
      </p:sp>
      <p:sp>
        <p:nvSpPr>
          <p:cNvPr id="30" name="Text 28"/>
          <p:cNvSpPr/>
          <p:nvPr/>
        </p:nvSpPr>
        <p:spPr>
          <a:xfrm>
            <a:off x="6071616" y="2688336"/>
            <a:ext cx="2468880" cy="1316736"/>
          </a:xfrm>
          <a:prstGeom prst="rect">
            <a:avLst/>
          </a:prstGeom>
          <a:noFill/>
          <a:ln/>
        </p:spPr>
        <p:txBody>
          <a:bodyPr wrap="square" rtlCol="0" anchor="ctr"/>
          <a:lstStyle/>
          <a:p>
            <a:pPr indent="0" marL="0">
              <a:spcAft>
                <a:spcPts val="300"/>
              </a:spcAft>
              <a:buNone/>
            </a:pPr>
            <a:r>
              <a:rPr lang="en-US" sz="1050" dirty="0">
                <a:solidFill>
                  <a:srgbClr val="1F2937"/>
                </a:solidFill>
              </a:rPr>
              <a:t>Adam に正則化</a:t>
            </a:r>
            <a:endParaRPr lang="en-US" sz="1050" dirty="0"/>
          </a:p>
          <a:p>
            <a:pPr indent="0" marL="0">
              <a:spcAft>
                <a:spcPts val="300"/>
              </a:spcAft>
              <a:buNone/>
            </a:pPr>
            <a:r>
              <a:rPr lang="en-US" sz="1050" dirty="0">
                <a:solidFill>
                  <a:srgbClr val="1F2937"/>
                </a:solidFill>
              </a:rPr>
              <a:t>（重みの減衰）を</a:t>
            </a:r>
            <a:endParaRPr lang="en-US" sz="1050" dirty="0"/>
          </a:p>
          <a:p>
            <a:pPr indent="0" marL="0">
              <a:spcAft>
                <a:spcPts val="300"/>
              </a:spcAft>
              <a:buNone/>
            </a:pPr>
            <a:r>
              <a:rPr lang="en-US" sz="1050" dirty="0">
                <a:solidFill>
                  <a:srgbClr val="1F2937"/>
                </a:solidFill>
              </a:rPr>
              <a:t>追加。過学習を</a:t>
            </a:r>
            <a:endParaRPr lang="en-US" sz="1050" dirty="0"/>
          </a:p>
          <a:p>
            <a:pPr indent="0" marL="0">
              <a:spcAft>
                <a:spcPts val="300"/>
              </a:spcAft>
              <a:buNone/>
            </a:pPr>
            <a:r>
              <a:rPr lang="en-US" sz="1050" dirty="0">
                <a:solidFill>
                  <a:srgbClr val="1F2937"/>
                </a:solidFill>
              </a:rPr>
              <a:t>防ぎつつ収束。</a:t>
            </a:r>
            <a:endParaRPr lang="en-US" sz="1050" dirty="0"/>
          </a:p>
          <a:p>
            <a:pPr indent="0" marL="0">
              <a:spcAft>
                <a:spcPts val="300"/>
              </a:spcAft>
              <a:buNone/>
            </a:pPr>
            <a:endParaRPr lang="en-US" sz="1050" dirty="0"/>
          </a:p>
          <a:p>
            <a:pPr indent="0" marL="0">
              <a:spcAft>
                <a:spcPts val="300"/>
              </a:spcAft>
              <a:buNone/>
            </a:pPr>
            <a:r>
              <a:rPr lang="en-US" sz="1050" dirty="0">
                <a:solidFill>
                  <a:srgbClr val="1F2937"/>
                </a:solidFill>
              </a:rPr>
              <a:t>GPT・LLaMA等</a:t>
            </a:r>
            <a:endParaRPr lang="en-US" sz="1050" dirty="0"/>
          </a:p>
          <a:p>
            <a:pPr indent="0" marL="0">
              <a:spcAft>
                <a:spcPts val="300"/>
              </a:spcAft>
              <a:buNone/>
            </a:pPr>
            <a:r>
              <a:rPr lang="en-US" sz="1050" dirty="0">
                <a:solidFill>
                  <a:srgbClr val="1F2937"/>
                </a:solidFill>
              </a:rPr>
              <a:t>現代LLMの主流。</a:t>
            </a:r>
            <a:endParaRPr lang="en-US" sz="1050" dirty="0"/>
          </a:p>
        </p:txBody>
      </p:sp>
      <p:sp>
        <p:nvSpPr>
          <p:cNvPr id="31" name="Text 29"/>
          <p:cNvSpPr/>
          <p:nvPr/>
        </p:nvSpPr>
        <p:spPr>
          <a:xfrm>
            <a:off x="6071616" y="4041648"/>
            <a:ext cx="2468880" cy="329184"/>
          </a:xfrm>
          <a:prstGeom prst="rect">
            <a:avLst/>
          </a:prstGeom>
          <a:noFill/>
          <a:ln/>
        </p:spPr>
        <p:txBody>
          <a:bodyPr wrap="square" rtlCol="0" anchor="ctr"/>
          <a:lstStyle/>
          <a:p>
            <a:pPr algn="ctr" indent="0" marL="0">
              <a:buNone/>
            </a:pPr>
            <a:r>
              <a:rPr lang="en-US" sz="850" dirty="0">
                <a:solidFill>
                  <a:srgbClr val="0F6E56"/>
                </a:solidFill>
                <a:latin typeface="Consolas" pitchFamily="34" charset="0"/>
                <a:ea typeface="Consolas" pitchFamily="34" charset="-122"/>
                <a:cs typeface="Consolas" pitchFamily="34" charset="-120"/>
              </a:rPr>
              <a:t>W ← (1−λ)W − η_t × m / (√v + ε)</a:t>
            </a:r>
            <a:endParaRPr lang="en-US" sz="850" dirty="0"/>
          </a:p>
        </p:txBody>
      </p:sp>
      <p:sp>
        <p:nvSpPr>
          <p:cNvPr id="32" name="Shape 30"/>
          <p:cNvSpPr/>
          <p:nvPr/>
        </p:nvSpPr>
        <p:spPr>
          <a:xfrm>
            <a:off x="6254496" y="4425696"/>
            <a:ext cx="2103120" cy="237744"/>
          </a:xfrm>
          <a:prstGeom prst="roundRect">
            <a:avLst>
              <a:gd name="adj" fmla="val 15385"/>
            </a:avLst>
          </a:prstGeom>
          <a:solidFill>
            <a:srgbClr val="0F6E56"/>
          </a:solidFill>
          <a:ln w="12700">
            <a:solidFill>
              <a:srgbClr val="0F6E56"/>
            </a:solidFill>
            <a:prstDash val="solid"/>
          </a:ln>
        </p:spPr>
      </p:sp>
      <p:sp>
        <p:nvSpPr>
          <p:cNvPr id="33" name="Text 31"/>
          <p:cNvSpPr/>
          <p:nvPr/>
        </p:nvSpPr>
        <p:spPr>
          <a:xfrm>
            <a:off x="6254496" y="4425696"/>
            <a:ext cx="2103120" cy="237744"/>
          </a:xfrm>
          <a:prstGeom prst="rect">
            <a:avLst/>
          </a:prstGeom>
          <a:noFill/>
          <a:ln/>
        </p:spPr>
        <p:txBody>
          <a:bodyPr wrap="square" rtlCol="0" anchor="ctr"/>
          <a:lstStyle/>
          <a:p>
            <a:pPr algn="ctr" indent="0" marL="0">
              <a:buNone/>
            </a:pPr>
            <a:r>
              <a:rPr lang="en-US" sz="1000" b="1" dirty="0">
                <a:solidFill>
                  <a:srgbClr val="FFFFFF"/>
                </a:solidFill>
              </a:rPr>
              <a:t>現代LLMの標準</a:t>
            </a:r>
            <a:endParaRPr lang="en-US" sz="1000" dirty="0"/>
          </a:p>
        </p:txBody>
      </p:sp>
      <p:sp>
        <p:nvSpPr>
          <p:cNvPr id="34" name="Shape 32"/>
          <p:cNvSpPr/>
          <p:nvPr/>
        </p:nvSpPr>
        <p:spPr>
          <a:xfrm>
            <a:off x="347472" y="4919472"/>
            <a:ext cx="8430768" cy="237744"/>
          </a:xfrm>
          <a:prstGeom prst="roundRect">
            <a:avLst>
              <a:gd name="adj" fmla="val 15385"/>
            </a:avLst>
          </a:prstGeom>
          <a:solidFill>
            <a:srgbClr val="1A1A2E"/>
          </a:solidFill>
          <a:ln w="6350">
            <a:solidFill>
              <a:srgbClr val="0F6E56"/>
            </a:solidFill>
            <a:prstDash val="solid"/>
          </a:ln>
        </p:spPr>
      </p:sp>
      <p:sp>
        <p:nvSpPr>
          <p:cNvPr id="35" name="Text 33"/>
          <p:cNvSpPr/>
          <p:nvPr/>
        </p:nvSpPr>
        <p:spPr>
          <a:xfrm>
            <a:off x="502920" y="4937760"/>
            <a:ext cx="8229600" cy="201168"/>
          </a:xfrm>
          <a:prstGeom prst="rect">
            <a:avLst/>
          </a:prstGeom>
          <a:noFill/>
          <a:ln/>
        </p:spPr>
        <p:txBody>
          <a:bodyPr wrap="square" rtlCol="0" anchor="ctr"/>
          <a:lstStyle/>
          <a:p>
            <a:pPr indent="0" marL="0">
              <a:buNone/>
            </a:pPr>
            <a:r>
              <a:rPr lang="en-US" sz="1000" b="1" dirty="0">
                <a:solidFill>
                  <a:srgbClr val="0F6E56"/>
                </a:solidFill>
              </a:rPr>
              <a:t>Adam の直感：</a:t>
            </a:r>
            <a:pPr indent="0" marL="0">
              <a:buNone/>
            </a:pPr>
            <a:r>
              <a:rPr lang="en-US" sz="1000" dirty="0">
                <a:solidFill>
                  <a:srgbClr val="A0A8C0"/>
                </a:solidFill>
              </a:rPr>
              <a:t xml:space="preserve">  過去も同じ方向に勾配 → 大きく更新  |  方向がぶれる → 小さく慎重に更新  |  Warmup + Cosine Decay でさらに安定化</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9">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28 / 28</a:t>
            </a:r>
            <a:endParaRPr lang="en-US" sz="900" dirty="0"/>
          </a:p>
        </p:txBody>
      </p:sp>
      <p:sp>
        <p:nvSpPr>
          <p:cNvPr id="3" name="Shape 1"/>
          <p:cNvSpPr/>
          <p:nvPr/>
        </p:nvSpPr>
        <p:spPr>
          <a:xfrm>
            <a:off x="347472" y="274320"/>
            <a:ext cx="54864" cy="475488"/>
          </a:xfrm>
          <a:prstGeom prst="rect">
            <a:avLst/>
          </a:prstGeom>
          <a:solidFill>
            <a:srgbClr val="0F6E56"/>
          </a:solidFill>
          <a:ln w="12700">
            <a:solidFill>
              <a:srgbClr val="0F6E56"/>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学習フェーズ vs 推論フェーズ — 重みは更新されるのか？</a:t>
            </a:r>
            <a:endParaRPr lang="en-US" sz="2000" dirty="0"/>
          </a:p>
        </p:txBody>
      </p:sp>
      <p:sp>
        <p:nvSpPr>
          <p:cNvPr id="5" name="Text 3"/>
          <p:cNvSpPr/>
          <p:nvPr/>
        </p:nvSpPr>
        <p:spPr>
          <a:xfrm>
            <a:off x="347472" y="932688"/>
            <a:ext cx="8430768" cy="365760"/>
          </a:xfrm>
          <a:prstGeom prst="rect">
            <a:avLst/>
          </a:prstGeom>
          <a:noFill/>
          <a:ln/>
        </p:spPr>
        <p:txBody>
          <a:bodyPr wrap="square" rtlCol="0" anchor="ctr"/>
          <a:lstStyle/>
          <a:p>
            <a:pPr indent="0" marL="0">
              <a:buNone/>
            </a:pPr>
            <a:r>
              <a:rPr lang="en-US" sz="1100" i="1" dirty="0">
                <a:solidFill>
                  <a:srgbClr val="4B5563"/>
                </a:solidFill>
              </a:rPr>
              <a:t>受講者が最もよく混乱するポイント：AIは「使うとき」も学習しているのか？ 答えはノー。学習と推論は完全に別のフェーズ。</a:t>
            </a:r>
            <a:endParaRPr lang="en-US" sz="1100" dirty="0"/>
          </a:p>
        </p:txBody>
      </p:sp>
      <p:sp>
        <p:nvSpPr>
          <p:cNvPr id="6" name="Shape 4"/>
          <p:cNvSpPr/>
          <p:nvPr/>
        </p:nvSpPr>
        <p:spPr>
          <a:xfrm>
            <a:off x="347472" y="1371600"/>
            <a:ext cx="3950208" cy="3493008"/>
          </a:xfrm>
          <a:prstGeom prst="rect">
            <a:avLst/>
          </a:prstGeom>
          <a:solidFill>
            <a:srgbClr val="E6F1FB"/>
          </a:solidFill>
          <a:ln w="6350">
            <a:solidFill>
              <a:srgbClr val="185FA5"/>
            </a:solidFill>
            <a:prstDash val="solid"/>
          </a:ln>
        </p:spPr>
      </p:sp>
      <p:sp>
        <p:nvSpPr>
          <p:cNvPr id="7" name="Shape 5"/>
          <p:cNvSpPr/>
          <p:nvPr/>
        </p:nvSpPr>
        <p:spPr>
          <a:xfrm>
            <a:off x="347472" y="1371600"/>
            <a:ext cx="3950208" cy="36576"/>
          </a:xfrm>
          <a:prstGeom prst="rect">
            <a:avLst/>
          </a:prstGeom>
          <a:solidFill>
            <a:srgbClr val="185FA5"/>
          </a:solidFill>
          <a:ln w="12700">
            <a:solidFill>
              <a:srgbClr val="185FA5"/>
            </a:solidFill>
            <a:prstDash val="solid"/>
          </a:ln>
        </p:spPr>
      </p:sp>
      <p:sp>
        <p:nvSpPr>
          <p:cNvPr id="8" name="Text 6"/>
          <p:cNvSpPr/>
          <p:nvPr/>
        </p:nvSpPr>
        <p:spPr>
          <a:xfrm>
            <a:off x="484632" y="1426464"/>
            <a:ext cx="3657600" cy="329184"/>
          </a:xfrm>
          <a:prstGeom prst="rect">
            <a:avLst/>
          </a:prstGeom>
          <a:noFill/>
          <a:ln/>
        </p:spPr>
        <p:txBody>
          <a:bodyPr wrap="square" rtlCol="0" anchor="ctr"/>
          <a:lstStyle/>
          <a:p>
            <a:pPr algn="ctr" indent="0" marL="0">
              <a:buNone/>
            </a:pPr>
            <a:r>
              <a:rPr lang="en-US" sz="1400" b="1" dirty="0">
                <a:solidFill>
                  <a:srgbClr val="185FA5"/>
                </a:solidFill>
              </a:rPr>
              <a:t>学習フェーズ（Training）</a:t>
            </a:r>
            <a:endParaRPr lang="en-US" sz="1400" dirty="0"/>
          </a:p>
        </p:txBody>
      </p:sp>
      <p:sp>
        <p:nvSpPr>
          <p:cNvPr id="9" name="Shape 7"/>
          <p:cNvSpPr/>
          <p:nvPr/>
        </p:nvSpPr>
        <p:spPr>
          <a:xfrm>
            <a:off x="530352" y="1865376"/>
            <a:ext cx="3456432" cy="402336"/>
          </a:xfrm>
          <a:prstGeom prst="roundRect">
            <a:avLst>
              <a:gd name="adj" fmla="val 11364"/>
            </a:avLst>
          </a:prstGeom>
          <a:solidFill>
            <a:srgbClr val="185FA5"/>
          </a:solidFill>
          <a:ln w="12700">
            <a:solidFill>
              <a:srgbClr val="185FA5"/>
            </a:solidFill>
            <a:prstDash val="solid"/>
          </a:ln>
        </p:spPr>
      </p:sp>
      <p:sp>
        <p:nvSpPr>
          <p:cNvPr id="10" name="Text 8"/>
          <p:cNvSpPr/>
          <p:nvPr/>
        </p:nvSpPr>
        <p:spPr>
          <a:xfrm>
            <a:off x="530352" y="1865376"/>
            <a:ext cx="3456432" cy="402336"/>
          </a:xfrm>
          <a:prstGeom prst="rect">
            <a:avLst/>
          </a:prstGeom>
          <a:noFill/>
          <a:ln/>
        </p:spPr>
        <p:txBody>
          <a:bodyPr wrap="square" rtlCol="0" anchor="ctr"/>
          <a:lstStyle/>
          <a:p>
            <a:pPr algn="ctr" indent="0" marL="0">
              <a:buNone/>
            </a:pPr>
            <a:r>
              <a:rPr lang="en-US" sz="1000" b="1" dirty="0">
                <a:solidFill>
                  <a:srgbClr val="FFFFFF"/>
                </a:solidFill>
              </a:rPr>
              <a:t>大量テキスト入力</a:t>
            </a:r>
            <a:endParaRPr lang="en-US" sz="1000" dirty="0"/>
          </a:p>
        </p:txBody>
      </p:sp>
      <p:sp>
        <p:nvSpPr>
          <p:cNvPr id="11" name="Shape 9"/>
          <p:cNvSpPr/>
          <p:nvPr/>
        </p:nvSpPr>
        <p:spPr>
          <a:xfrm>
            <a:off x="2258568" y="2267712"/>
            <a:ext cx="0" cy="182880"/>
          </a:xfrm>
          <a:prstGeom prst="line">
            <a:avLst/>
          </a:prstGeom>
          <a:noFill/>
          <a:ln w="12700">
            <a:solidFill>
              <a:srgbClr val="185FA5"/>
            </a:solidFill>
            <a:prstDash val="solid"/>
          </a:ln>
        </p:spPr>
      </p:sp>
      <p:sp>
        <p:nvSpPr>
          <p:cNvPr id="12" name="Text 10"/>
          <p:cNvSpPr/>
          <p:nvPr/>
        </p:nvSpPr>
        <p:spPr>
          <a:xfrm>
            <a:off x="530352" y="2267712"/>
            <a:ext cx="3456432" cy="164592"/>
          </a:xfrm>
          <a:prstGeom prst="rect">
            <a:avLst/>
          </a:prstGeom>
          <a:noFill/>
          <a:ln/>
        </p:spPr>
        <p:txBody>
          <a:bodyPr wrap="square" rtlCol="0" anchor="ctr"/>
          <a:lstStyle/>
          <a:p>
            <a:pPr algn="ctr" indent="0" marL="0">
              <a:buNone/>
            </a:pPr>
            <a:r>
              <a:rPr lang="en-US" sz="850" i="1" dirty="0">
                <a:solidFill>
                  <a:srgbClr val="185FA5"/>
                </a:solidFill>
              </a:rPr>
              <a:t>数兆トークンの訓練データ</a:t>
            </a:r>
            <a:endParaRPr lang="en-US" sz="850" dirty="0"/>
          </a:p>
        </p:txBody>
      </p:sp>
      <p:sp>
        <p:nvSpPr>
          <p:cNvPr id="13" name="Shape 11"/>
          <p:cNvSpPr/>
          <p:nvPr/>
        </p:nvSpPr>
        <p:spPr>
          <a:xfrm>
            <a:off x="530352" y="2450592"/>
            <a:ext cx="3456432" cy="402336"/>
          </a:xfrm>
          <a:prstGeom prst="roundRect">
            <a:avLst>
              <a:gd name="adj" fmla="val 11364"/>
            </a:avLst>
          </a:prstGeom>
          <a:solidFill>
            <a:srgbClr val="534AB7"/>
          </a:solidFill>
          <a:ln w="12700">
            <a:solidFill>
              <a:srgbClr val="534AB7"/>
            </a:solidFill>
            <a:prstDash val="solid"/>
          </a:ln>
        </p:spPr>
      </p:sp>
      <p:sp>
        <p:nvSpPr>
          <p:cNvPr id="14" name="Text 12"/>
          <p:cNvSpPr/>
          <p:nvPr/>
        </p:nvSpPr>
        <p:spPr>
          <a:xfrm>
            <a:off x="530352" y="2450592"/>
            <a:ext cx="3456432" cy="402336"/>
          </a:xfrm>
          <a:prstGeom prst="rect">
            <a:avLst/>
          </a:prstGeom>
          <a:noFill/>
          <a:ln/>
        </p:spPr>
        <p:txBody>
          <a:bodyPr wrap="square" rtlCol="0" anchor="ctr"/>
          <a:lstStyle/>
          <a:p>
            <a:pPr algn="ctr" indent="0" marL="0">
              <a:buNone/>
            </a:pPr>
            <a:r>
              <a:rPr lang="en-US" sz="1000" b="1" dirty="0">
                <a:solidFill>
                  <a:srgbClr val="FFFFFF"/>
                </a:solidFill>
              </a:rPr>
              <a:t>順伝播 → 次単語予測</a:t>
            </a:r>
            <a:endParaRPr lang="en-US" sz="1000" dirty="0"/>
          </a:p>
        </p:txBody>
      </p:sp>
      <p:sp>
        <p:nvSpPr>
          <p:cNvPr id="15" name="Shape 13"/>
          <p:cNvSpPr/>
          <p:nvPr/>
        </p:nvSpPr>
        <p:spPr>
          <a:xfrm>
            <a:off x="2258568" y="2852928"/>
            <a:ext cx="0" cy="182880"/>
          </a:xfrm>
          <a:prstGeom prst="line">
            <a:avLst/>
          </a:prstGeom>
          <a:noFill/>
          <a:ln w="12700">
            <a:solidFill>
              <a:srgbClr val="185FA5"/>
            </a:solidFill>
            <a:prstDash val="solid"/>
          </a:ln>
        </p:spPr>
      </p:sp>
      <p:sp>
        <p:nvSpPr>
          <p:cNvPr id="16" name="Text 14"/>
          <p:cNvSpPr/>
          <p:nvPr/>
        </p:nvSpPr>
        <p:spPr>
          <a:xfrm>
            <a:off x="530352" y="2852928"/>
            <a:ext cx="3456432" cy="164592"/>
          </a:xfrm>
          <a:prstGeom prst="rect">
            <a:avLst/>
          </a:prstGeom>
          <a:noFill/>
          <a:ln/>
        </p:spPr>
        <p:txBody>
          <a:bodyPr wrap="square" rtlCol="0" anchor="ctr"/>
          <a:lstStyle/>
          <a:p>
            <a:pPr algn="ctr" indent="0" marL="0">
              <a:buNone/>
            </a:pPr>
            <a:r>
              <a:rPr lang="en-US" sz="850" i="1" dirty="0">
                <a:solidFill>
                  <a:srgbClr val="185FA5"/>
                </a:solidFill>
              </a:rPr>
              <a:t>現在の重みで確率分布を計算</a:t>
            </a:r>
            <a:endParaRPr lang="en-US" sz="850" dirty="0"/>
          </a:p>
        </p:txBody>
      </p:sp>
      <p:sp>
        <p:nvSpPr>
          <p:cNvPr id="17" name="Shape 15"/>
          <p:cNvSpPr/>
          <p:nvPr/>
        </p:nvSpPr>
        <p:spPr>
          <a:xfrm>
            <a:off x="530352" y="3035808"/>
            <a:ext cx="3456432" cy="402336"/>
          </a:xfrm>
          <a:prstGeom prst="roundRect">
            <a:avLst>
              <a:gd name="adj" fmla="val 11364"/>
            </a:avLst>
          </a:prstGeom>
          <a:solidFill>
            <a:srgbClr val="BA7517"/>
          </a:solidFill>
          <a:ln w="12700">
            <a:solidFill>
              <a:srgbClr val="BA7517"/>
            </a:solidFill>
            <a:prstDash val="solid"/>
          </a:ln>
        </p:spPr>
      </p:sp>
      <p:sp>
        <p:nvSpPr>
          <p:cNvPr id="18" name="Text 16"/>
          <p:cNvSpPr/>
          <p:nvPr/>
        </p:nvSpPr>
        <p:spPr>
          <a:xfrm>
            <a:off x="530352" y="3035808"/>
            <a:ext cx="3456432" cy="402336"/>
          </a:xfrm>
          <a:prstGeom prst="rect">
            <a:avLst/>
          </a:prstGeom>
          <a:noFill/>
          <a:ln/>
        </p:spPr>
        <p:txBody>
          <a:bodyPr wrap="square" rtlCol="0" anchor="ctr"/>
          <a:lstStyle/>
          <a:p>
            <a:pPr algn="ctr" indent="0" marL="0">
              <a:buNone/>
            </a:pPr>
            <a:r>
              <a:rPr lang="en-US" sz="1000" b="1" dirty="0">
                <a:solidFill>
                  <a:srgbClr val="FFFFFF"/>
                </a:solidFill>
              </a:rPr>
              <a:t>GT との誤差（Loss）計算</a:t>
            </a:r>
            <a:endParaRPr lang="en-US" sz="1000" dirty="0"/>
          </a:p>
        </p:txBody>
      </p:sp>
      <p:sp>
        <p:nvSpPr>
          <p:cNvPr id="19" name="Shape 17"/>
          <p:cNvSpPr/>
          <p:nvPr/>
        </p:nvSpPr>
        <p:spPr>
          <a:xfrm>
            <a:off x="2258568" y="3438144"/>
            <a:ext cx="0" cy="182880"/>
          </a:xfrm>
          <a:prstGeom prst="line">
            <a:avLst/>
          </a:prstGeom>
          <a:noFill/>
          <a:ln w="12700">
            <a:solidFill>
              <a:srgbClr val="185FA5"/>
            </a:solidFill>
            <a:prstDash val="solid"/>
          </a:ln>
        </p:spPr>
      </p:sp>
      <p:sp>
        <p:nvSpPr>
          <p:cNvPr id="20" name="Text 18"/>
          <p:cNvSpPr/>
          <p:nvPr/>
        </p:nvSpPr>
        <p:spPr>
          <a:xfrm>
            <a:off x="530352" y="3438144"/>
            <a:ext cx="3456432" cy="164592"/>
          </a:xfrm>
          <a:prstGeom prst="rect">
            <a:avLst/>
          </a:prstGeom>
          <a:noFill/>
          <a:ln/>
        </p:spPr>
        <p:txBody>
          <a:bodyPr wrap="square" rtlCol="0" anchor="ctr"/>
          <a:lstStyle/>
          <a:p>
            <a:pPr algn="ctr" indent="0" marL="0">
              <a:buNone/>
            </a:pPr>
            <a:r>
              <a:rPr lang="en-US" sz="850" i="1" dirty="0">
                <a:solidFill>
                  <a:srgbClr val="185FA5"/>
                </a:solidFill>
              </a:rPr>
              <a:t>自己教師あり学習でGT自動生成</a:t>
            </a:r>
            <a:endParaRPr lang="en-US" sz="850" dirty="0"/>
          </a:p>
        </p:txBody>
      </p:sp>
      <p:sp>
        <p:nvSpPr>
          <p:cNvPr id="21" name="Shape 19"/>
          <p:cNvSpPr/>
          <p:nvPr/>
        </p:nvSpPr>
        <p:spPr>
          <a:xfrm>
            <a:off x="530352" y="3621024"/>
            <a:ext cx="3456432" cy="402336"/>
          </a:xfrm>
          <a:prstGeom prst="roundRect">
            <a:avLst>
              <a:gd name="adj" fmla="val 11364"/>
            </a:avLst>
          </a:prstGeom>
          <a:solidFill>
            <a:srgbClr val="D85A30"/>
          </a:solidFill>
          <a:ln w="12700">
            <a:solidFill>
              <a:srgbClr val="D85A30"/>
            </a:solidFill>
            <a:prstDash val="solid"/>
          </a:ln>
        </p:spPr>
      </p:sp>
      <p:sp>
        <p:nvSpPr>
          <p:cNvPr id="22" name="Text 20"/>
          <p:cNvSpPr/>
          <p:nvPr/>
        </p:nvSpPr>
        <p:spPr>
          <a:xfrm>
            <a:off x="530352" y="3621024"/>
            <a:ext cx="3456432" cy="402336"/>
          </a:xfrm>
          <a:prstGeom prst="rect">
            <a:avLst/>
          </a:prstGeom>
          <a:noFill/>
          <a:ln/>
        </p:spPr>
        <p:txBody>
          <a:bodyPr wrap="square" rtlCol="0" anchor="ctr"/>
          <a:lstStyle/>
          <a:p>
            <a:pPr algn="ctr" indent="0" marL="0">
              <a:buNone/>
            </a:pPr>
            <a:r>
              <a:rPr lang="en-US" sz="1000" b="1" dirty="0">
                <a:solidFill>
                  <a:srgbClr val="FFFFFF"/>
                </a:solidFill>
              </a:rPr>
              <a:t>逆伝播（Backprop）</a:t>
            </a:r>
            <a:endParaRPr lang="en-US" sz="1000" dirty="0"/>
          </a:p>
        </p:txBody>
      </p:sp>
      <p:sp>
        <p:nvSpPr>
          <p:cNvPr id="23" name="Shape 21"/>
          <p:cNvSpPr/>
          <p:nvPr/>
        </p:nvSpPr>
        <p:spPr>
          <a:xfrm>
            <a:off x="2258568" y="4023360"/>
            <a:ext cx="0" cy="182880"/>
          </a:xfrm>
          <a:prstGeom prst="line">
            <a:avLst/>
          </a:prstGeom>
          <a:noFill/>
          <a:ln w="12700">
            <a:solidFill>
              <a:srgbClr val="185FA5"/>
            </a:solidFill>
            <a:prstDash val="solid"/>
          </a:ln>
        </p:spPr>
      </p:sp>
      <p:sp>
        <p:nvSpPr>
          <p:cNvPr id="24" name="Text 22"/>
          <p:cNvSpPr/>
          <p:nvPr/>
        </p:nvSpPr>
        <p:spPr>
          <a:xfrm>
            <a:off x="530352" y="4023360"/>
            <a:ext cx="3456432" cy="164592"/>
          </a:xfrm>
          <a:prstGeom prst="rect">
            <a:avLst/>
          </a:prstGeom>
          <a:noFill/>
          <a:ln/>
        </p:spPr>
        <p:txBody>
          <a:bodyPr wrap="square" rtlCol="0" anchor="ctr"/>
          <a:lstStyle/>
          <a:p>
            <a:pPr algn="ctr" indent="0" marL="0">
              <a:buNone/>
            </a:pPr>
            <a:r>
              <a:rPr lang="en-US" sz="850" i="1" dirty="0">
                <a:solidFill>
                  <a:srgbClr val="185FA5"/>
                </a:solidFill>
              </a:rPr>
              <a:t>勾配を全層に伝播</a:t>
            </a:r>
            <a:endParaRPr lang="en-US" sz="850" dirty="0"/>
          </a:p>
        </p:txBody>
      </p:sp>
      <p:sp>
        <p:nvSpPr>
          <p:cNvPr id="25" name="Shape 23"/>
          <p:cNvSpPr/>
          <p:nvPr/>
        </p:nvSpPr>
        <p:spPr>
          <a:xfrm>
            <a:off x="530352" y="4206240"/>
            <a:ext cx="3456432" cy="402336"/>
          </a:xfrm>
          <a:prstGeom prst="roundRect">
            <a:avLst>
              <a:gd name="adj" fmla="val 11364"/>
            </a:avLst>
          </a:prstGeom>
          <a:solidFill>
            <a:srgbClr val="0F6E56"/>
          </a:solidFill>
          <a:ln w="12700">
            <a:solidFill>
              <a:srgbClr val="0F6E56"/>
            </a:solidFill>
            <a:prstDash val="solid"/>
          </a:ln>
        </p:spPr>
      </p:sp>
      <p:sp>
        <p:nvSpPr>
          <p:cNvPr id="26" name="Text 24"/>
          <p:cNvSpPr/>
          <p:nvPr/>
        </p:nvSpPr>
        <p:spPr>
          <a:xfrm>
            <a:off x="530352" y="4206240"/>
            <a:ext cx="3456432" cy="402336"/>
          </a:xfrm>
          <a:prstGeom prst="rect">
            <a:avLst/>
          </a:prstGeom>
          <a:noFill/>
          <a:ln/>
        </p:spPr>
        <p:txBody>
          <a:bodyPr wrap="square" rtlCol="0" anchor="ctr"/>
          <a:lstStyle/>
          <a:p>
            <a:pPr algn="ctr" indent="0" marL="0">
              <a:buNone/>
            </a:pPr>
            <a:r>
              <a:rPr lang="en-US" sz="1000" b="1" dirty="0">
                <a:solidFill>
                  <a:srgbClr val="FFFFFF"/>
                </a:solidFill>
              </a:rPr>
              <a:t>全重みを更新</a:t>
            </a:r>
            <a:endParaRPr lang="en-US" sz="1000" dirty="0"/>
          </a:p>
        </p:txBody>
      </p:sp>
      <p:sp>
        <p:nvSpPr>
          <p:cNvPr id="27" name="Text 25"/>
          <p:cNvSpPr/>
          <p:nvPr/>
        </p:nvSpPr>
        <p:spPr>
          <a:xfrm>
            <a:off x="530352" y="4608576"/>
            <a:ext cx="3456432" cy="164592"/>
          </a:xfrm>
          <a:prstGeom prst="rect">
            <a:avLst/>
          </a:prstGeom>
          <a:noFill/>
          <a:ln/>
        </p:spPr>
        <p:txBody>
          <a:bodyPr wrap="square" rtlCol="0" anchor="ctr"/>
          <a:lstStyle/>
          <a:p>
            <a:pPr algn="ctr" indent="0" marL="0">
              <a:buNone/>
            </a:pPr>
            <a:r>
              <a:rPr lang="en-US" sz="850" i="1" dirty="0">
                <a:solidFill>
                  <a:srgbClr val="185FA5"/>
                </a:solidFill>
              </a:rPr>
              <a:t>Embedding・Attention・FFN が同時更新</a:t>
            </a:r>
            <a:endParaRPr lang="en-US" sz="850" dirty="0"/>
          </a:p>
        </p:txBody>
      </p:sp>
      <p:sp>
        <p:nvSpPr>
          <p:cNvPr id="28" name="Shape 26"/>
          <p:cNvSpPr/>
          <p:nvPr/>
        </p:nvSpPr>
        <p:spPr>
          <a:xfrm>
            <a:off x="530352" y="4718304"/>
            <a:ext cx="3456432" cy="256032"/>
          </a:xfrm>
          <a:prstGeom prst="roundRect">
            <a:avLst>
              <a:gd name="adj" fmla="val 14286"/>
            </a:avLst>
          </a:prstGeom>
          <a:solidFill>
            <a:srgbClr val="185FA5"/>
          </a:solidFill>
          <a:ln w="12700">
            <a:solidFill>
              <a:srgbClr val="185FA5"/>
            </a:solidFill>
            <a:prstDash val="solid"/>
          </a:ln>
        </p:spPr>
      </p:sp>
      <p:sp>
        <p:nvSpPr>
          <p:cNvPr id="29" name="Text 27"/>
          <p:cNvSpPr/>
          <p:nvPr/>
        </p:nvSpPr>
        <p:spPr>
          <a:xfrm>
            <a:off x="530352" y="4718304"/>
            <a:ext cx="3456432" cy="256032"/>
          </a:xfrm>
          <a:prstGeom prst="rect">
            <a:avLst/>
          </a:prstGeom>
          <a:noFill/>
          <a:ln/>
        </p:spPr>
        <p:txBody>
          <a:bodyPr wrap="square" rtlCol="0" anchor="ctr"/>
          <a:lstStyle/>
          <a:p>
            <a:pPr algn="ctr" indent="0" marL="0">
              <a:buNone/>
            </a:pPr>
            <a:r>
              <a:rPr lang="en-US" sz="1100" b="1" dirty="0">
                <a:solidFill>
                  <a:srgbClr val="FFFFFF"/>
                </a:solidFill>
              </a:rPr>
              <a:t>⚡ 重みが更新される</a:t>
            </a:r>
            <a:endParaRPr lang="en-US" sz="1100" dirty="0"/>
          </a:p>
        </p:txBody>
      </p:sp>
      <p:sp>
        <p:nvSpPr>
          <p:cNvPr id="30" name="Shape 28"/>
          <p:cNvSpPr/>
          <p:nvPr/>
        </p:nvSpPr>
        <p:spPr>
          <a:xfrm>
            <a:off x="4389120" y="1371600"/>
            <a:ext cx="0" cy="3621024"/>
          </a:xfrm>
          <a:prstGeom prst="line">
            <a:avLst/>
          </a:prstGeom>
          <a:noFill/>
          <a:ln w="12700">
            <a:solidFill>
              <a:srgbClr val="E5E7EB"/>
            </a:solidFill>
            <a:prstDash val="dash"/>
          </a:ln>
        </p:spPr>
      </p:sp>
      <p:sp>
        <p:nvSpPr>
          <p:cNvPr id="31" name="Text 29"/>
          <p:cNvSpPr/>
          <p:nvPr/>
        </p:nvSpPr>
        <p:spPr>
          <a:xfrm>
            <a:off x="4251960" y="2926080"/>
            <a:ext cx="274320" cy="274320"/>
          </a:xfrm>
          <a:prstGeom prst="rect">
            <a:avLst/>
          </a:prstGeom>
          <a:noFill/>
          <a:ln/>
        </p:spPr>
        <p:txBody>
          <a:bodyPr wrap="square" rtlCol="0" anchor="ctr"/>
          <a:lstStyle/>
          <a:p>
            <a:pPr algn="ctr" indent="0" marL="0">
              <a:buNone/>
            </a:pPr>
            <a:r>
              <a:rPr lang="en-US" sz="1400" b="1" dirty="0">
                <a:solidFill>
                  <a:srgbClr val="6B7280"/>
                </a:solidFill>
              </a:rPr>
              <a:t>vs</a:t>
            </a:r>
            <a:endParaRPr lang="en-US" sz="1400" dirty="0"/>
          </a:p>
        </p:txBody>
      </p:sp>
      <p:sp>
        <p:nvSpPr>
          <p:cNvPr id="32" name="Shape 30"/>
          <p:cNvSpPr/>
          <p:nvPr/>
        </p:nvSpPr>
        <p:spPr>
          <a:xfrm>
            <a:off x="4846320" y="1371600"/>
            <a:ext cx="3950208" cy="3493008"/>
          </a:xfrm>
          <a:prstGeom prst="rect">
            <a:avLst/>
          </a:prstGeom>
          <a:solidFill>
            <a:srgbClr val="E1F5EE"/>
          </a:solidFill>
          <a:ln w="6350">
            <a:solidFill>
              <a:srgbClr val="0F6E56"/>
            </a:solidFill>
            <a:prstDash val="solid"/>
          </a:ln>
        </p:spPr>
      </p:sp>
      <p:sp>
        <p:nvSpPr>
          <p:cNvPr id="33" name="Shape 31"/>
          <p:cNvSpPr/>
          <p:nvPr/>
        </p:nvSpPr>
        <p:spPr>
          <a:xfrm>
            <a:off x="4846320" y="1371600"/>
            <a:ext cx="3950208" cy="36576"/>
          </a:xfrm>
          <a:prstGeom prst="rect">
            <a:avLst/>
          </a:prstGeom>
          <a:solidFill>
            <a:srgbClr val="0F6E56"/>
          </a:solidFill>
          <a:ln w="12700">
            <a:solidFill>
              <a:srgbClr val="0F6E56"/>
            </a:solidFill>
            <a:prstDash val="solid"/>
          </a:ln>
        </p:spPr>
      </p:sp>
      <p:sp>
        <p:nvSpPr>
          <p:cNvPr id="34" name="Text 32"/>
          <p:cNvSpPr/>
          <p:nvPr/>
        </p:nvSpPr>
        <p:spPr>
          <a:xfrm>
            <a:off x="4983480" y="1426464"/>
            <a:ext cx="3657600" cy="329184"/>
          </a:xfrm>
          <a:prstGeom prst="rect">
            <a:avLst/>
          </a:prstGeom>
          <a:noFill/>
          <a:ln/>
        </p:spPr>
        <p:txBody>
          <a:bodyPr wrap="square" rtlCol="0" anchor="ctr"/>
          <a:lstStyle/>
          <a:p>
            <a:pPr algn="ctr" indent="0" marL="0">
              <a:buNone/>
            </a:pPr>
            <a:r>
              <a:rPr lang="en-US" sz="1400" b="1" dirty="0">
                <a:solidFill>
                  <a:srgbClr val="0F6E56"/>
                </a:solidFill>
              </a:rPr>
              <a:t>推論フェーズ（Inference）</a:t>
            </a:r>
            <a:endParaRPr lang="en-US" sz="1400" dirty="0"/>
          </a:p>
        </p:txBody>
      </p:sp>
      <p:sp>
        <p:nvSpPr>
          <p:cNvPr id="35" name="Shape 33"/>
          <p:cNvSpPr/>
          <p:nvPr/>
        </p:nvSpPr>
        <p:spPr>
          <a:xfrm>
            <a:off x="5047488" y="1865376"/>
            <a:ext cx="3456432" cy="402336"/>
          </a:xfrm>
          <a:prstGeom prst="roundRect">
            <a:avLst>
              <a:gd name="adj" fmla="val 11364"/>
            </a:avLst>
          </a:prstGeom>
          <a:solidFill>
            <a:srgbClr val="6B7280"/>
          </a:solidFill>
          <a:ln w="12700">
            <a:solidFill>
              <a:srgbClr val="6B7280"/>
            </a:solidFill>
            <a:prstDash val="solid"/>
          </a:ln>
        </p:spPr>
      </p:sp>
      <p:sp>
        <p:nvSpPr>
          <p:cNvPr id="36" name="Text 34"/>
          <p:cNvSpPr/>
          <p:nvPr/>
        </p:nvSpPr>
        <p:spPr>
          <a:xfrm>
            <a:off x="5047488" y="1865376"/>
            <a:ext cx="3456432" cy="402336"/>
          </a:xfrm>
          <a:prstGeom prst="rect">
            <a:avLst/>
          </a:prstGeom>
          <a:noFill/>
          <a:ln/>
        </p:spPr>
        <p:txBody>
          <a:bodyPr wrap="square" rtlCol="0" anchor="ctr"/>
          <a:lstStyle/>
          <a:p>
            <a:pPr algn="ctr" indent="0" marL="0">
              <a:buNone/>
            </a:pPr>
            <a:r>
              <a:rPr lang="en-US" sz="1000" b="1" dirty="0">
                <a:solidFill>
                  <a:srgbClr val="FFFFFF"/>
                </a:solidFill>
              </a:rPr>
              <a:t>プロンプト入力</a:t>
            </a:r>
            <a:endParaRPr lang="en-US" sz="1000" dirty="0"/>
          </a:p>
        </p:txBody>
      </p:sp>
      <p:sp>
        <p:nvSpPr>
          <p:cNvPr id="37" name="Shape 35"/>
          <p:cNvSpPr/>
          <p:nvPr/>
        </p:nvSpPr>
        <p:spPr>
          <a:xfrm>
            <a:off x="6775704" y="2267712"/>
            <a:ext cx="0" cy="182880"/>
          </a:xfrm>
          <a:prstGeom prst="line">
            <a:avLst/>
          </a:prstGeom>
          <a:noFill/>
          <a:ln w="12700">
            <a:solidFill>
              <a:srgbClr val="0F6E56"/>
            </a:solidFill>
            <a:prstDash val="solid"/>
          </a:ln>
        </p:spPr>
      </p:sp>
      <p:sp>
        <p:nvSpPr>
          <p:cNvPr id="38" name="Text 36"/>
          <p:cNvSpPr/>
          <p:nvPr/>
        </p:nvSpPr>
        <p:spPr>
          <a:xfrm>
            <a:off x="5047488" y="2267712"/>
            <a:ext cx="3456432" cy="164592"/>
          </a:xfrm>
          <a:prstGeom prst="rect">
            <a:avLst/>
          </a:prstGeom>
          <a:noFill/>
          <a:ln/>
        </p:spPr>
        <p:txBody>
          <a:bodyPr wrap="square" rtlCol="0" anchor="ctr"/>
          <a:lstStyle/>
          <a:p>
            <a:pPr algn="ctr" indent="0" marL="0">
              <a:buNone/>
            </a:pPr>
            <a:r>
              <a:rPr lang="en-US" sz="850" i="1" dirty="0">
                <a:solidFill>
                  <a:srgbClr val="0F6E56"/>
                </a:solidFill>
              </a:rPr>
              <a:t>ユーザーの質問・指示</a:t>
            </a:r>
            <a:endParaRPr lang="en-US" sz="850" dirty="0"/>
          </a:p>
        </p:txBody>
      </p:sp>
      <p:sp>
        <p:nvSpPr>
          <p:cNvPr id="39" name="Shape 37"/>
          <p:cNvSpPr/>
          <p:nvPr/>
        </p:nvSpPr>
        <p:spPr>
          <a:xfrm>
            <a:off x="5047488" y="2450592"/>
            <a:ext cx="3456432" cy="402336"/>
          </a:xfrm>
          <a:prstGeom prst="roundRect">
            <a:avLst>
              <a:gd name="adj" fmla="val 11364"/>
            </a:avLst>
          </a:prstGeom>
          <a:solidFill>
            <a:srgbClr val="0F6E56"/>
          </a:solidFill>
          <a:ln w="12700">
            <a:solidFill>
              <a:srgbClr val="0F6E56"/>
            </a:solidFill>
            <a:prstDash val="solid"/>
          </a:ln>
        </p:spPr>
      </p:sp>
      <p:sp>
        <p:nvSpPr>
          <p:cNvPr id="40" name="Text 38"/>
          <p:cNvSpPr/>
          <p:nvPr/>
        </p:nvSpPr>
        <p:spPr>
          <a:xfrm>
            <a:off x="5047488" y="2450592"/>
            <a:ext cx="3456432" cy="402336"/>
          </a:xfrm>
          <a:prstGeom prst="rect">
            <a:avLst/>
          </a:prstGeom>
          <a:noFill/>
          <a:ln/>
        </p:spPr>
        <p:txBody>
          <a:bodyPr wrap="square" rtlCol="0" anchor="ctr"/>
          <a:lstStyle/>
          <a:p>
            <a:pPr algn="ctr" indent="0" marL="0">
              <a:buNone/>
            </a:pPr>
            <a:r>
              <a:rPr lang="en-US" sz="1000" b="1" dirty="0">
                <a:solidFill>
                  <a:srgbClr val="FFFFFF"/>
                </a:solidFill>
              </a:rPr>
              <a:t>順伝播のみ</a:t>
            </a:r>
            <a:endParaRPr lang="en-US" sz="1000" dirty="0"/>
          </a:p>
        </p:txBody>
      </p:sp>
      <p:sp>
        <p:nvSpPr>
          <p:cNvPr id="41" name="Shape 39"/>
          <p:cNvSpPr/>
          <p:nvPr/>
        </p:nvSpPr>
        <p:spPr>
          <a:xfrm>
            <a:off x="6775704" y="2852928"/>
            <a:ext cx="0" cy="182880"/>
          </a:xfrm>
          <a:prstGeom prst="line">
            <a:avLst/>
          </a:prstGeom>
          <a:noFill/>
          <a:ln w="12700">
            <a:solidFill>
              <a:srgbClr val="0F6E56"/>
            </a:solidFill>
            <a:prstDash val="solid"/>
          </a:ln>
        </p:spPr>
      </p:sp>
      <p:sp>
        <p:nvSpPr>
          <p:cNvPr id="42" name="Text 40"/>
          <p:cNvSpPr/>
          <p:nvPr/>
        </p:nvSpPr>
        <p:spPr>
          <a:xfrm>
            <a:off x="5047488" y="2852928"/>
            <a:ext cx="3456432" cy="164592"/>
          </a:xfrm>
          <a:prstGeom prst="rect">
            <a:avLst/>
          </a:prstGeom>
          <a:noFill/>
          <a:ln/>
        </p:spPr>
        <p:txBody>
          <a:bodyPr wrap="square" rtlCol="0" anchor="ctr"/>
          <a:lstStyle/>
          <a:p>
            <a:pPr algn="ctr" indent="0" marL="0">
              <a:buNone/>
            </a:pPr>
            <a:r>
              <a:rPr lang="en-US" sz="850" i="1" dirty="0">
                <a:solidFill>
                  <a:srgbClr val="0F6E56"/>
                </a:solidFill>
              </a:rPr>
              <a:t>学習済み重みを使って計算</a:t>
            </a:r>
            <a:endParaRPr lang="en-US" sz="850" dirty="0"/>
          </a:p>
        </p:txBody>
      </p:sp>
      <p:sp>
        <p:nvSpPr>
          <p:cNvPr id="43" name="Shape 41"/>
          <p:cNvSpPr/>
          <p:nvPr/>
        </p:nvSpPr>
        <p:spPr>
          <a:xfrm>
            <a:off x="5047488" y="3035808"/>
            <a:ext cx="3456432" cy="402336"/>
          </a:xfrm>
          <a:prstGeom prst="roundRect">
            <a:avLst>
              <a:gd name="adj" fmla="val 11364"/>
            </a:avLst>
          </a:prstGeom>
          <a:solidFill>
            <a:srgbClr val="0F6E56"/>
          </a:solidFill>
          <a:ln w="12700">
            <a:solidFill>
              <a:srgbClr val="0F6E56"/>
            </a:solidFill>
            <a:prstDash val="solid"/>
          </a:ln>
        </p:spPr>
      </p:sp>
      <p:sp>
        <p:nvSpPr>
          <p:cNvPr id="44" name="Text 42"/>
          <p:cNvSpPr/>
          <p:nvPr/>
        </p:nvSpPr>
        <p:spPr>
          <a:xfrm>
            <a:off x="5047488" y="3035808"/>
            <a:ext cx="3456432" cy="402336"/>
          </a:xfrm>
          <a:prstGeom prst="rect">
            <a:avLst/>
          </a:prstGeom>
          <a:noFill/>
          <a:ln/>
        </p:spPr>
        <p:txBody>
          <a:bodyPr wrap="square" rtlCol="0" anchor="ctr"/>
          <a:lstStyle/>
          <a:p>
            <a:pPr algn="ctr" indent="0" marL="0">
              <a:buNone/>
            </a:pPr>
            <a:r>
              <a:rPr lang="en-US" sz="1000" b="1" dirty="0">
                <a:solidFill>
                  <a:srgbClr val="FFFFFF"/>
                </a:solidFill>
              </a:rPr>
              <a:t>次トークンの確率分布を出力</a:t>
            </a:r>
            <a:endParaRPr lang="en-US" sz="1000" dirty="0"/>
          </a:p>
        </p:txBody>
      </p:sp>
      <p:sp>
        <p:nvSpPr>
          <p:cNvPr id="45" name="Shape 43"/>
          <p:cNvSpPr/>
          <p:nvPr/>
        </p:nvSpPr>
        <p:spPr>
          <a:xfrm>
            <a:off x="6775704" y="3438144"/>
            <a:ext cx="0" cy="182880"/>
          </a:xfrm>
          <a:prstGeom prst="line">
            <a:avLst/>
          </a:prstGeom>
          <a:noFill/>
          <a:ln w="12700">
            <a:solidFill>
              <a:srgbClr val="0F6E56"/>
            </a:solidFill>
            <a:prstDash val="solid"/>
          </a:ln>
        </p:spPr>
      </p:sp>
      <p:sp>
        <p:nvSpPr>
          <p:cNvPr id="46" name="Text 44"/>
          <p:cNvSpPr/>
          <p:nvPr/>
        </p:nvSpPr>
        <p:spPr>
          <a:xfrm>
            <a:off x="5047488" y="3438144"/>
            <a:ext cx="3456432" cy="164592"/>
          </a:xfrm>
          <a:prstGeom prst="rect">
            <a:avLst/>
          </a:prstGeom>
          <a:noFill/>
          <a:ln/>
        </p:spPr>
        <p:txBody>
          <a:bodyPr wrap="square" rtlCol="0" anchor="ctr"/>
          <a:lstStyle/>
          <a:p>
            <a:pPr algn="ctr" indent="0" marL="0">
              <a:buNone/>
            </a:pPr>
            <a:r>
              <a:rPr lang="en-US" sz="850" i="1" dirty="0">
                <a:solidFill>
                  <a:srgbClr val="0F6E56"/>
                </a:solidFill>
              </a:rPr>
              <a:t>Softmax で確率化</a:t>
            </a:r>
            <a:endParaRPr lang="en-US" sz="850" dirty="0"/>
          </a:p>
        </p:txBody>
      </p:sp>
      <p:sp>
        <p:nvSpPr>
          <p:cNvPr id="47" name="Shape 45"/>
          <p:cNvSpPr/>
          <p:nvPr/>
        </p:nvSpPr>
        <p:spPr>
          <a:xfrm>
            <a:off x="5047488" y="3621024"/>
            <a:ext cx="3456432" cy="402336"/>
          </a:xfrm>
          <a:prstGeom prst="roundRect">
            <a:avLst>
              <a:gd name="adj" fmla="val 11364"/>
            </a:avLst>
          </a:prstGeom>
          <a:solidFill>
            <a:srgbClr val="0F6E56"/>
          </a:solidFill>
          <a:ln w="12700">
            <a:solidFill>
              <a:srgbClr val="0F6E56"/>
            </a:solidFill>
            <a:prstDash val="solid"/>
          </a:ln>
        </p:spPr>
      </p:sp>
      <p:sp>
        <p:nvSpPr>
          <p:cNvPr id="48" name="Text 46"/>
          <p:cNvSpPr/>
          <p:nvPr/>
        </p:nvSpPr>
        <p:spPr>
          <a:xfrm>
            <a:off x="5047488" y="3621024"/>
            <a:ext cx="3456432" cy="402336"/>
          </a:xfrm>
          <a:prstGeom prst="rect">
            <a:avLst/>
          </a:prstGeom>
          <a:noFill/>
          <a:ln/>
        </p:spPr>
        <p:txBody>
          <a:bodyPr wrap="square" rtlCol="0" anchor="ctr"/>
          <a:lstStyle/>
          <a:p>
            <a:pPr algn="ctr" indent="0" marL="0">
              <a:buNone/>
            </a:pPr>
            <a:r>
              <a:rPr lang="en-US" sz="1000" b="1" dirty="0">
                <a:solidFill>
                  <a:srgbClr val="FFFFFF"/>
                </a:solidFill>
              </a:rPr>
              <a:t>最高確率のトークンを選択</a:t>
            </a:r>
            <a:endParaRPr lang="en-US" sz="1000" dirty="0"/>
          </a:p>
        </p:txBody>
      </p:sp>
      <p:sp>
        <p:nvSpPr>
          <p:cNvPr id="49" name="Shape 47"/>
          <p:cNvSpPr/>
          <p:nvPr/>
        </p:nvSpPr>
        <p:spPr>
          <a:xfrm>
            <a:off x="6775704" y="4023360"/>
            <a:ext cx="0" cy="182880"/>
          </a:xfrm>
          <a:prstGeom prst="line">
            <a:avLst/>
          </a:prstGeom>
          <a:noFill/>
          <a:ln w="12700">
            <a:solidFill>
              <a:srgbClr val="0F6E56"/>
            </a:solidFill>
            <a:prstDash val="solid"/>
          </a:ln>
        </p:spPr>
      </p:sp>
      <p:sp>
        <p:nvSpPr>
          <p:cNvPr id="50" name="Text 48"/>
          <p:cNvSpPr/>
          <p:nvPr/>
        </p:nvSpPr>
        <p:spPr>
          <a:xfrm>
            <a:off x="5047488" y="4023360"/>
            <a:ext cx="3456432" cy="164592"/>
          </a:xfrm>
          <a:prstGeom prst="rect">
            <a:avLst/>
          </a:prstGeom>
          <a:noFill/>
          <a:ln/>
        </p:spPr>
        <p:txBody>
          <a:bodyPr wrap="square" rtlCol="0" anchor="ctr"/>
          <a:lstStyle/>
          <a:p>
            <a:pPr algn="ctr" indent="0" marL="0">
              <a:buNone/>
            </a:pPr>
            <a:r>
              <a:rPr lang="en-US" sz="850" i="1" dirty="0">
                <a:solidFill>
                  <a:srgbClr val="0F6E56"/>
                </a:solidFill>
              </a:rPr>
              <a:t>生成・サンプリング戦略</a:t>
            </a:r>
            <a:endParaRPr lang="en-US" sz="850" dirty="0"/>
          </a:p>
        </p:txBody>
      </p:sp>
      <p:sp>
        <p:nvSpPr>
          <p:cNvPr id="51" name="Shape 49"/>
          <p:cNvSpPr/>
          <p:nvPr/>
        </p:nvSpPr>
        <p:spPr>
          <a:xfrm>
            <a:off x="5047488" y="4206240"/>
            <a:ext cx="3456432" cy="402336"/>
          </a:xfrm>
          <a:prstGeom prst="roundRect">
            <a:avLst>
              <a:gd name="adj" fmla="val 11364"/>
            </a:avLst>
          </a:prstGeom>
          <a:solidFill>
            <a:srgbClr val="0F6E56"/>
          </a:solidFill>
          <a:ln w="12700">
            <a:solidFill>
              <a:srgbClr val="0F6E56"/>
            </a:solidFill>
            <a:prstDash val="solid"/>
          </a:ln>
        </p:spPr>
      </p:sp>
      <p:sp>
        <p:nvSpPr>
          <p:cNvPr id="52" name="Text 50"/>
          <p:cNvSpPr/>
          <p:nvPr/>
        </p:nvSpPr>
        <p:spPr>
          <a:xfrm>
            <a:off x="5047488" y="4206240"/>
            <a:ext cx="3456432" cy="402336"/>
          </a:xfrm>
          <a:prstGeom prst="rect">
            <a:avLst/>
          </a:prstGeom>
          <a:noFill/>
          <a:ln/>
        </p:spPr>
        <p:txBody>
          <a:bodyPr wrap="square" rtlCol="0" anchor="ctr"/>
          <a:lstStyle/>
          <a:p>
            <a:pPr algn="ctr" indent="0" marL="0">
              <a:buNone/>
            </a:pPr>
            <a:r>
              <a:rPr lang="en-US" sz="1000" b="1" dirty="0">
                <a:solidFill>
                  <a:srgbClr val="FFFFFF"/>
                </a:solidFill>
              </a:rPr>
              <a:t>繰り返して文章を生成</a:t>
            </a:r>
            <a:endParaRPr lang="en-US" sz="1000" dirty="0"/>
          </a:p>
        </p:txBody>
      </p:sp>
      <p:sp>
        <p:nvSpPr>
          <p:cNvPr id="53" name="Text 51"/>
          <p:cNvSpPr/>
          <p:nvPr/>
        </p:nvSpPr>
        <p:spPr>
          <a:xfrm>
            <a:off x="5047488" y="4608576"/>
            <a:ext cx="3456432" cy="164592"/>
          </a:xfrm>
          <a:prstGeom prst="rect">
            <a:avLst/>
          </a:prstGeom>
          <a:noFill/>
          <a:ln/>
        </p:spPr>
        <p:txBody>
          <a:bodyPr wrap="square" rtlCol="0" anchor="ctr"/>
          <a:lstStyle/>
          <a:p>
            <a:pPr algn="ctr" indent="0" marL="0">
              <a:buNone/>
            </a:pPr>
            <a:r>
              <a:rPr lang="en-US" sz="850" i="1" dirty="0">
                <a:solidFill>
                  <a:srgbClr val="0F6E56"/>
                </a:solidFill>
              </a:rPr>
              <a:t>EOS トークンまで続ける</a:t>
            </a:r>
            <a:endParaRPr lang="en-US" sz="850" dirty="0"/>
          </a:p>
        </p:txBody>
      </p:sp>
      <p:sp>
        <p:nvSpPr>
          <p:cNvPr id="54" name="Shape 52"/>
          <p:cNvSpPr/>
          <p:nvPr/>
        </p:nvSpPr>
        <p:spPr>
          <a:xfrm>
            <a:off x="5047488" y="4718304"/>
            <a:ext cx="3456432" cy="256032"/>
          </a:xfrm>
          <a:prstGeom prst="roundRect">
            <a:avLst>
              <a:gd name="adj" fmla="val 14286"/>
            </a:avLst>
          </a:prstGeom>
          <a:solidFill>
            <a:srgbClr val="0F6E56"/>
          </a:solidFill>
          <a:ln w="12700">
            <a:solidFill>
              <a:srgbClr val="0F6E56"/>
            </a:solidFill>
            <a:prstDash val="solid"/>
          </a:ln>
        </p:spPr>
      </p:sp>
      <p:sp>
        <p:nvSpPr>
          <p:cNvPr id="55" name="Text 53"/>
          <p:cNvSpPr/>
          <p:nvPr/>
        </p:nvSpPr>
        <p:spPr>
          <a:xfrm>
            <a:off x="5047488" y="4718304"/>
            <a:ext cx="3456432" cy="256032"/>
          </a:xfrm>
          <a:prstGeom prst="rect">
            <a:avLst/>
          </a:prstGeom>
          <a:noFill/>
          <a:ln/>
        </p:spPr>
        <p:txBody>
          <a:bodyPr wrap="square" rtlCol="0" anchor="ctr"/>
          <a:lstStyle/>
          <a:p>
            <a:pPr algn="ctr" indent="0" marL="0">
              <a:buNone/>
            </a:pPr>
            <a:r>
              <a:rPr lang="en-US" sz="1100" b="1" dirty="0">
                <a:solidFill>
                  <a:srgbClr val="FFFFFF"/>
                </a:solidFill>
              </a:rPr>
              <a:t>🔒 重みは更新されない（固定）</a:t>
            </a:r>
            <a:endParaRPr lang="en-US" sz="1100" dirty="0"/>
          </a:p>
        </p:txBody>
      </p:sp>
      <p:sp>
        <p:nvSpPr>
          <p:cNvPr id="56" name="Shape 54"/>
          <p:cNvSpPr/>
          <p:nvPr/>
        </p:nvSpPr>
        <p:spPr>
          <a:xfrm>
            <a:off x="347472" y="5029200"/>
            <a:ext cx="8430768" cy="91440"/>
          </a:xfrm>
          <a:prstGeom prst="roundRect">
            <a:avLst/>
          </a:prstGeom>
          <a:solidFill>
            <a:srgbClr val="E5E7EB"/>
          </a:solidFill>
          <a:ln w="12700">
            <a:solidFill>
              <a:srgbClr val="E5E7EB"/>
            </a:solidFill>
            <a:prstDash val="solid"/>
          </a:ln>
        </p:spPr>
      </p:sp>
      <p:sp>
        <p:nvSpPr>
          <p:cNvPr id="57" name="Shape 55"/>
          <p:cNvSpPr/>
          <p:nvPr/>
        </p:nvSpPr>
        <p:spPr>
          <a:xfrm>
            <a:off x="347472" y="5029200"/>
            <a:ext cx="8430768" cy="54864"/>
          </a:xfrm>
          <a:prstGeom prst="roundRect">
            <a:avLst/>
          </a:prstGeom>
          <a:solidFill>
            <a:srgbClr val="1A1A2E"/>
          </a:solidFill>
          <a:ln w="12700">
            <a:solidFill>
              <a:srgbClr val="1A1A2E"/>
            </a:solidFill>
            <a:prstDash val="solid"/>
          </a:ln>
        </p:spPr>
      </p:sp>
      <p:sp>
        <p:nvSpPr>
          <p:cNvPr id="58" name="Shape 56"/>
          <p:cNvSpPr/>
          <p:nvPr/>
        </p:nvSpPr>
        <p:spPr>
          <a:xfrm>
            <a:off x="347472" y="4974336"/>
            <a:ext cx="8430768" cy="164592"/>
          </a:xfrm>
          <a:prstGeom prst="roundRect">
            <a:avLst>
              <a:gd name="adj" fmla="val 22222"/>
            </a:avLst>
          </a:prstGeom>
          <a:solidFill>
            <a:srgbClr val="1A1A2E"/>
          </a:solidFill>
          <a:ln w="6350">
            <a:solidFill>
              <a:srgbClr val="534AB7"/>
            </a:solidFill>
            <a:prstDash val="solid"/>
          </a:ln>
        </p:spPr>
      </p:sp>
      <p:sp>
        <p:nvSpPr>
          <p:cNvPr id="59" name="Text 57"/>
          <p:cNvSpPr/>
          <p:nvPr/>
        </p:nvSpPr>
        <p:spPr>
          <a:xfrm>
            <a:off x="502920" y="4992624"/>
            <a:ext cx="8229600" cy="146304"/>
          </a:xfrm>
          <a:prstGeom prst="rect">
            <a:avLst/>
          </a:prstGeom>
          <a:noFill/>
          <a:ln/>
        </p:spPr>
        <p:txBody>
          <a:bodyPr wrap="square" rtlCol="0" anchor="ctr"/>
          <a:lstStyle/>
          <a:p>
            <a:pPr indent="0" marL="0">
              <a:buNone/>
            </a:pPr>
            <a:r>
              <a:rPr lang="en-US" sz="950" dirty="0">
                <a:solidFill>
                  <a:srgbClr val="7080C0"/>
                </a:solidFill>
              </a:rPr>
              <a:t xml:space="preserve">次回シリーズへ：  </a:t>
            </a:r>
            <a:pPr indent="0" marL="0">
              <a:buNone/>
            </a:pPr>
            <a:r>
              <a:rPr lang="en-US" sz="950" b="1" dirty="0">
                <a:solidFill>
                  <a:srgbClr val="534AB7"/>
                </a:solidFill>
              </a:rPr>
              <a:t>SFT（Supervised Fine-Tuning）</a:t>
            </a:r>
            <a:pPr indent="0" marL="0">
              <a:buNone/>
            </a:pPr>
            <a:r>
              <a:rPr lang="en-US" sz="950" dirty="0">
                <a:solidFill>
                  <a:srgbClr val="A0A8C0"/>
                </a:solidFill>
              </a:rPr>
              <a:t xml:space="preserve">  = 推論フェーズの重みを少量データで再学習させる手法  →  LoRA / RLHF / GRPO へ接続</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F8F8FC"/>
        </a:solidFill>
      </p:bgPr>
    </p:bg>
    <p:spTree>
      <p:nvGrpSpPr>
        <p:cNvPr id="1" name=""/>
        <p:cNvGrpSpPr/>
        <p:nvPr/>
      </p:nvGrpSpPr>
      <p:grpSpPr>
        <a:xfrm>
          <a:off x="0" y="0"/>
          <a:ext cx="0" cy="0"/>
          <a:chOff x="0" y="0"/>
          <a:chExt cx="0" cy="0"/>
        </a:xfrm>
      </p:grpSpPr>
      <p:sp>
        <p:nvSpPr>
          <p:cNvPr id="2" name="Text 0"/>
          <p:cNvSpPr/>
          <p:nvPr/>
        </p:nvSpPr>
        <p:spPr>
          <a:xfrm>
            <a:off x="8046720" y="4800600"/>
            <a:ext cx="914400" cy="256032"/>
          </a:xfrm>
          <a:prstGeom prst="rect">
            <a:avLst/>
          </a:prstGeom>
          <a:noFill/>
          <a:ln/>
        </p:spPr>
        <p:txBody>
          <a:bodyPr wrap="square" rtlCol="0" anchor="ctr"/>
          <a:lstStyle/>
          <a:p>
            <a:pPr algn="r" indent="0" marL="0">
              <a:buNone/>
            </a:pPr>
            <a:r>
              <a:rPr lang="en-US" sz="900" dirty="0">
                <a:solidFill>
                  <a:srgbClr val="6B7280"/>
                </a:solidFill>
              </a:rPr>
              <a:t>28 / 28</a:t>
            </a:r>
            <a:endParaRPr lang="en-US" sz="900" dirty="0"/>
          </a:p>
        </p:txBody>
      </p:sp>
      <p:sp>
        <p:nvSpPr>
          <p:cNvPr id="3" name="Shape 1"/>
          <p:cNvSpPr/>
          <p:nvPr/>
        </p:nvSpPr>
        <p:spPr>
          <a:xfrm>
            <a:off x="347472" y="274320"/>
            <a:ext cx="54864" cy="475488"/>
          </a:xfrm>
          <a:prstGeom prst="rect">
            <a:avLst/>
          </a:prstGeom>
          <a:solidFill>
            <a:srgbClr val="0F6E56"/>
          </a:solidFill>
          <a:ln w="12700">
            <a:solidFill>
              <a:srgbClr val="0F6E56"/>
            </a:solidFill>
            <a:prstDash val="solid"/>
          </a:ln>
        </p:spPr>
      </p:sp>
      <p:sp>
        <p:nvSpPr>
          <p:cNvPr id="4" name="Text 2"/>
          <p:cNvSpPr/>
          <p:nvPr/>
        </p:nvSpPr>
        <p:spPr>
          <a:xfrm>
            <a:off x="502920" y="274320"/>
            <a:ext cx="8229600" cy="475488"/>
          </a:xfrm>
          <a:prstGeom prst="rect">
            <a:avLst/>
          </a:prstGeom>
          <a:noFill/>
          <a:ln/>
        </p:spPr>
        <p:txBody>
          <a:bodyPr wrap="square" rtlCol="0" anchor="ctr"/>
          <a:lstStyle/>
          <a:p>
            <a:pPr indent="0" marL="0">
              <a:buNone/>
            </a:pPr>
            <a:r>
              <a:rPr lang="en-US" sz="2000" b="1" dirty="0">
                <a:solidFill>
                  <a:srgbClr val="1F2937"/>
                </a:solidFill>
              </a:rPr>
              <a:t>全体像まとめ — 処理パイプラインと核心的理解</a:t>
            </a:r>
            <a:endParaRPr lang="en-US" sz="2000" dirty="0"/>
          </a:p>
        </p:txBody>
      </p:sp>
      <p:sp>
        <p:nvSpPr>
          <p:cNvPr id="5" name="Shape 3"/>
          <p:cNvSpPr/>
          <p:nvPr/>
        </p:nvSpPr>
        <p:spPr>
          <a:xfrm>
            <a:off x="347472" y="932688"/>
            <a:ext cx="859536" cy="512064"/>
          </a:xfrm>
          <a:prstGeom prst="roundRect">
            <a:avLst>
              <a:gd name="adj" fmla="val 8929"/>
            </a:avLst>
          </a:prstGeom>
          <a:solidFill>
            <a:srgbClr val="6B7280"/>
          </a:solidFill>
          <a:ln w="12700">
            <a:solidFill>
              <a:srgbClr val="6B7280"/>
            </a:solidFill>
            <a:prstDash val="solid"/>
          </a:ln>
        </p:spPr>
      </p:sp>
      <p:sp>
        <p:nvSpPr>
          <p:cNvPr id="6" name="Text 4"/>
          <p:cNvSpPr/>
          <p:nvPr/>
        </p:nvSpPr>
        <p:spPr>
          <a:xfrm>
            <a:off x="347472" y="932688"/>
            <a:ext cx="859536" cy="512064"/>
          </a:xfrm>
          <a:prstGeom prst="rect">
            <a:avLst/>
          </a:prstGeom>
          <a:noFill/>
          <a:ln/>
        </p:spPr>
        <p:txBody>
          <a:bodyPr wrap="square" lIns="25400" tIns="25400" rIns="25400" bIns="25400" rtlCol="0" anchor="ctr"/>
          <a:lstStyle/>
          <a:p>
            <a:pPr algn="ctr" indent="0" marL="0">
              <a:buNone/>
            </a:pPr>
            <a:r>
              <a:rPr lang="en-US" sz="850" b="1" dirty="0">
                <a:solidFill>
                  <a:srgbClr val="FFFFFF"/>
                </a:solidFill>
              </a:rPr>
              <a:t>Token入力</a:t>
            </a:r>
            <a:endParaRPr lang="en-US" sz="850" dirty="0"/>
          </a:p>
        </p:txBody>
      </p:sp>
      <p:sp>
        <p:nvSpPr>
          <p:cNvPr id="7" name="Shape 5"/>
          <p:cNvSpPr/>
          <p:nvPr/>
        </p:nvSpPr>
        <p:spPr>
          <a:xfrm>
            <a:off x="1207008" y="1188720"/>
            <a:ext cx="109728" cy="0"/>
          </a:xfrm>
          <a:prstGeom prst="line">
            <a:avLst/>
          </a:prstGeom>
          <a:noFill/>
          <a:ln w="12700">
            <a:solidFill>
              <a:srgbClr val="6B7280"/>
            </a:solidFill>
            <a:prstDash val="solid"/>
          </a:ln>
        </p:spPr>
      </p:sp>
      <p:sp>
        <p:nvSpPr>
          <p:cNvPr id="8" name="Shape 6"/>
          <p:cNvSpPr/>
          <p:nvPr/>
        </p:nvSpPr>
        <p:spPr>
          <a:xfrm>
            <a:off x="1316736" y="932688"/>
            <a:ext cx="859536" cy="512064"/>
          </a:xfrm>
          <a:prstGeom prst="roundRect">
            <a:avLst>
              <a:gd name="adj" fmla="val 8929"/>
            </a:avLst>
          </a:prstGeom>
          <a:solidFill>
            <a:srgbClr val="534AB7"/>
          </a:solidFill>
          <a:ln w="12700">
            <a:solidFill>
              <a:srgbClr val="534AB7"/>
            </a:solidFill>
            <a:prstDash val="solid"/>
          </a:ln>
        </p:spPr>
      </p:sp>
      <p:sp>
        <p:nvSpPr>
          <p:cNvPr id="9" name="Text 7"/>
          <p:cNvSpPr/>
          <p:nvPr/>
        </p:nvSpPr>
        <p:spPr>
          <a:xfrm>
            <a:off x="1316736" y="932688"/>
            <a:ext cx="859536" cy="512064"/>
          </a:xfrm>
          <a:prstGeom prst="rect">
            <a:avLst/>
          </a:prstGeom>
          <a:noFill/>
          <a:ln/>
        </p:spPr>
        <p:txBody>
          <a:bodyPr wrap="square" lIns="25400" tIns="25400" rIns="25400" bIns="25400" rtlCol="0" anchor="ctr"/>
          <a:lstStyle/>
          <a:p>
            <a:pPr algn="ctr" indent="0" marL="0">
              <a:buNone/>
            </a:pPr>
            <a:r>
              <a:rPr lang="en-US" sz="850" b="1" dirty="0">
                <a:solidFill>
                  <a:srgbClr val="FFFFFF"/>
                </a:solidFill>
              </a:rPr>
              <a:t>Embedding</a:t>
            </a:r>
            <a:endParaRPr lang="en-US" sz="850" dirty="0"/>
          </a:p>
        </p:txBody>
      </p:sp>
      <p:sp>
        <p:nvSpPr>
          <p:cNvPr id="10" name="Shape 8"/>
          <p:cNvSpPr/>
          <p:nvPr/>
        </p:nvSpPr>
        <p:spPr>
          <a:xfrm>
            <a:off x="2176272" y="1188720"/>
            <a:ext cx="109728" cy="0"/>
          </a:xfrm>
          <a:prstGeom prst="line">
            <a:avLst/>
          </a:prstGeom>
          <a:noFill/>
          <a:ln w="12700">
            <a:solidFill>
              <a:srgbClr val="6B7280"/>
            </a:solidFill>
            <a:prstDash val="solid"/>
          </a:ln>
        </p:spPr>
      </p:sp>
      <p:sp>
        <p:nvSpPr>
          <p:cNvPr id="11" name="Shape 9"/>
          <p:cNvSpPr/>
          <p:nvPr/>
        </p:nvSpPr>
        <p:spPr>
          <a:xfrm>
            <a:off x="2286000" y="932688"/>
            <a:ext cx="859536" cy="512064"/>
          </a:xfrm>
          <a:prstGeom prst="roundRect">
            <a:avLst>
              <a:gd name="adj" fmla="val 8929"/>
            </a:avLst>
          </a:prstGeom>
          <a:solidFill>
            <a:srgbClr val="534AB7"/>
          </a:solidFill>
          <a:ln w="12700">
            <a:solidFill>
              <a:srgbClr val="534AB7"/>
            </a:solidFill>
            <a:prstDash val="solid"/>
          </a:ln>
        </p:spPr>
      </p:sp>
      <p:sp>
        <p:nvSpPr>
          <p:cNvPr id="12" name="Text 10"/>
          <p:cNvSpPr/>
          <p:nvPr/>
        </p:nvSpPr>
        <p:spPr>
          <a:xfrm>
            <a:off x="2286000" y="932688"/>
            <a:ext cx="859536" cy="512064"/>
          </a:xfrm>
          <a:prstGeom prst="rect">
            <a:avLst/>
          </a:prstGeom>
          <a:noFill/>
          <a:ln/>
        </p:spPr>
        <p:txBody>
          <a:bodyPr wrap="square" lIns="25400" tIns="25400" rIns="25400" bIns="25400" rtlCol="0" anchor="ctr"/>
          <a:lstStyle/>
          <a:p>
            <a:pPr algn="ctr" indent="0" marL="0">
              <a:buNone/>
            </a:pPr>
            <a:r>
              <a:rPr lang="en-US" sz="850" b="1" dirty="0">
                <a:solidFill>
                  <a:srgbClr val="FFFFFF"/>
                </a:solidFill>
              </a:rPr>
              <a:t>Q/K/V生成</a:t>
            </a:r>
            <a:endParaRPr lang="en-US" sz="850" dirty="0"/>
          </a:p>
        </p:txBody>
      </p:sp>
      <p:sp>
        <p:nvSpPr>
          <p:cNvPr id="13" name="Shape 11"/>
          <p:cNvSpPr/>
          <p:nvPr/>
        </p:nvSpPr>
        <p:spPr>
          <a:xfrm>
            <a:off x="3145536" y="1188720"/>
            <a:ext cx="109728" cy="0"/>
          </a:xfrm>
          <a:prstGeom prst="line">
            <a:avLst/>
          </a:prstGeom>
          <a:noFill/>
          <a:ln w="12700">
            <a:solidFill>
              <a:srgbClr val="6B7280"/>
            </a:solidFill>
            <a:prstDash val="solid"/>
          </a:ln>
        </p:spPr>
      </p:sp>
      <p:sp>
        <p:nvSpPr>
          <p:cNvPr id="14" name="Shape 12"/>
          <p:cNvSpPr/>
          <p:nvPr/>
        </p:nvSpPr>
        <p:spPr>
          <a:xfrm>
            <a:off x="3255264" y="932688"/>
            <a:ext cx="859536" cy="512064"/>
          </a:xfrm>
          <a:prstGeom prst="roundRect">
            <a:avLst>
              <a:gd name="adj" fmla="val 8929"/>
            </a:avLst>
          </a:prstGeom>
          <a:solidFill>
            <a:srgbClr val="534AB7"/>
          </a:solidFill>
          <a:ln w="12700">
            <a:solidFill>
              <a:srgbClr val="534AB7"/>
            </a:solidFill>
            <a:prstDash val="solid"/>
          </a:ln>
        </p:spPr>
      </p:sp>
      <p:sp>
        <p:nvSpPr>
          <p:cNvPr id="15" name="Text 13"/>
          <p:cNvSpPr/>
          <p:nvPr/>
        </p:nvSpPr>
        <p:spPr>
          <a:xfrm>
            <a:off x="3255264" y="932688"/>
            <a:ext cx="859536" cy="512064"/>
          </a:xfrm>
          <a:prstGeom prst="rect">
            <a:avLst/>
          </a:prstGeom>
          <a:noFill/>
          <a:ln/>
        </p:spPr>
        <p:txBody>
          <a:bodyPr wrap="square" lIns="25400" tIns="25400" rIns="25400" bIns="25400" rtlCol="0" anchor="ctr"/>
          <a:lstStyle/>
          <a:p>
            <a:pPr algn="ctr" indent="0" marL="0">
              <a:buNone/>
            </a:pPr>
            <a:r>
              <a:rPr lang="en-US" sz="850" b="1" dirty="0">
                <a:solidFill>
                  <a:srgbClr val="FFFFFF"/>
                </a:solidFill>
              </a:rPr>
              <a:t>Multi-Head</a:t>
            </a:r>
            <a:endParaRPr lang="en-US" sz="850" dirty="0"/>
          </a:p>
          <a:p>
            <a:pPr algn="ctr" indent="0" marL="0">
              <a:buNone/>
            </a:pPr>
            <a:r>
              <a:rPr lang="en-US" sz="850" b="1" dirty="0">
                <a:solidFill>
                  <a:srgbClr val="FFFFFF"/>
                </a:solidFill>
              </a:rPr>
              <a:t>Attn</a:t>
            </a:r>
            <a:endParaRPr lang="en-US" sz="850" dirty="0"/>
          </a:p>
        </p:txBody>
      </p:sp>
      <p:sp>
        <p:nvSpPr>
          <p:cNvPr id="16" name="Shape 14"/>
          <p:cNvSpPr/>
          <p:nvPr/>
        </p:nvSpPr>
        <p:spPr>
          <a:xfrm>
            <a:off x="4114800" y="1188720"/>
            <a:ext cx="109728" cy="0"/>
          </a:xfrm>
          <a:prstGeom prst="line">
            <a:avLst/>
          </a:prstGeom>
          <a:noFill/>
          <a:ln w="12700">
            <a:solidFill>
              <a:srgbClr val="6B7280"/>
            </a:solidFill>
            <a:prstDash val="solid"/>
          </a:ln>
        </p:spPr>
      </p:sp>
      <p:sp>
        <p:nvSpPr>
          <p:cNvPr id="17" name="Shape 15"/>
          <p:cNvSpPr/>
          <p:nvPr/>
        </p:nvSpPr>
        <p:spPr>
          <a:xfrm>
            <a:off x="4224528" y="932688"/>
            <a:ext cx="859536" cy="512064"/>
          </a:xfrm>
          <a:prstGeom prst="roundRect">
            <a:avLst>
              <a:gd name="adj" fmla="val 8929"/>
            </a:avLst>
          </a:prstGeom>
          <a:solidFill>
            <a:srgbClr val="0F6E56"/>
          </a:solidFill>
          <a:ln w="12700">
            <a:solidFill>
              <a:srgbClr val="0F6E56"/>
            </a:solidFill>
            <a:prstDash val="solid"/>
          </a:ln>
        </p:spPr>
      </p:sp>
      <p:sp>
        <p:nvSpPr>
          <p:cNvPr id="18" name="Text 16"/>
          <p:cNvSpPr/>
          <p:nvPr/>
        </p:nvSpPr>
        <p:spPr>
          <a:xfrm>
            <a:off x="4224528" y="932688"/>
            <a:ext cx="859536" cy="512064"/>
          </a:xfrm>
          <a:prstGeom prst="rect">
            <a:avLst/>
          </a:prstGeom>
          <a:noFill/>
          <a:ln/>
        </p:spPr>
        <p:txBody>
          <a:bodyPr wrap="square" lIns="25400" tIns="25400" rIns="25400" bIns="25400" rtlCol="0" anchor="ctr"/>
          <a:lstStyle/>
          <a:p>
            <a:pPr algn="ctr" indent="0" marL="0">
              <a:buNone/>
            </a:pPr>
            <a:r>
              <a:rPr lang="en-US" sz="850" b="1" dirty="0">
                <a:solidFill>
                  <a:srgbClr val="FFFFFF"/>
                </a:solidFill>
              </a:rPr>
              <a:t>Residual+</a:t>
            </a:r>
            <a:endParaRPr lang="en-US" sz="850" dirty="0"/>
          </a:p>
          <a:p>
            <a:pPr algn="ctr" indent="0" marL="0">
              <a:buNone/>
            </a:pPr>
            <a:r>
              <a:rPr lang="en-US" sz="850" b="1" dirty="0">
                <a:solidFill>
                  <a:srgbClr val="FFFFFF"/>
                </a:solidFill>
              </a:rPr>
              <a:t>LayerNorm</a:t>
            </a:r>
            <a:endParaRPr lang="en-US" sz="850" dirty="0"/>
          </a:p>
        </p:txBody>
      </p:sp>
      <p:sp>
        <p:nvSpPr>
          <p:cNvPr id="19" name="Shape 17"/>
          <p:cNvSpPr/>
          <p:nvPr/>
        </p:nvSpPr>
        <p:spPr>
          <a:xfrm>
            <a:off x="5084064" y="1188720"/>
            <a:ext cx="109728" cy="0"/>
          </a:xfrm>
          <a:prstGeom prst="line">
            <a:avLst/>
          </a:prstGeom>
          <a:noFill/>
          <a:ln w="12700">
            <a:solidFill>
              <a:srgbClr val="6B7280"/>
            </a:solidFill>
            <a:prstDash val="solid"/>
          </a:ln>
        </p:spPr>
      </p:sp>
      <p:sp>
        <p:nvSpPr>
          <p:cNvPr id="20" name="Shape 18"/>
          <p:cNvSpPr/>
          <p:nvPr/>
        </p:nvSpPr>
        <p:spPr>
          <a:xfrm>
            <a:off x="5193792" y="932688"/>
            <a:ext cx="859536" cy="512064"/>
          </a:xfrm>
          <a:prstGeom prst="roundRect">
            <a:avLst>
              <a:gd name="adj" fmla="val 8929"/>
            </a:avLst>
          </a:prstGeom>
          <a:solidFill>
            <a:srgbClr val="D85A30"/>
          </a:solidFill>
          <a:ln w="12700">
            <a:solidFill>
              <a:srgbClr val="D85A30"/>
            </a:solidFill>
            <a:prstDash val="solid"/>
          </a:ln>
        </p:spPr>
      </p:sp>
      <p:sp>
        <p:nvSpPr>
          <p:cNvPr id="21" name="Text 19"/>
          <p:cNvSpPr/>
          <p:nvPr/>
        </p:nvSpPr>
        <p:spPr>
          <a:xfrm>
            <a:off x="5193792" y="932688"/>
            <a:ext cx="859536" cy="512064"/>
          </a:xfrm>
          <a:prstGeom prst="rect">
            <a:avLst/>
          </a:prstGeom>
          <a:noFill/>
          <a:ln/>
        </p:spPr>
        <p:txBody>
          <a:bodyPr wrap="square" lIns="25400" tIns="25400" rIns="25400" bIns="25400" rtlCol="0" anchor="ctr"/>
          <a:lstStyle/>
          <a:p>
            <a:pPr algn="ctr" indent="0" marL="0">
              <a:buNone/>
            </a:pPr>
            <a:r>
              <a:rPr lang="en-US" sz="850" b="1" dirty="0">
                <a:solidFill>
                  <a:srgbClr val="FFFFFF"/>
                </a:solidFill>
              </a:rPr>
              <a:t>FFN</a:t>
            </a:r>
            <a:endParaRPr lang="en-US" sz="850" dirty="0"/>
          </a:p>
        </p:txBody>
      </p:sp>
      <p:sp>
        <p:nvSpPr>
          <p:cNvPr id="22" name="Shape 20"/>
          <p:cNvSpPr/>
          <p:nvPr/>
        </p:nvSpPr>
        <p:spPr>
          <a:xfrm>
            <a:off x="6053328" y="1188720"/>
            <a:ext cx="109728" cy="0"/>
          </a:xfrm>
          <a:prstGeom prst="line">
            <a:avLst/>
          </a:prstGeom>
          <a:noFill/>
          <a:ln w="12700">
            <a:solidFill>
              <a:srgbClr val="6B7280"/>
            </a:solidFill>
            <a:prstDash val="solid"/>
          </a:ln>
        </p:spPr>
      </p:sp>
      <p:sp>
        <p:nvSpPr>
          <p:cNvPr id="23" name="Shape 21"/>
          <p:cNvSpPr/>
          <p:nvPr/>
        </p:nvSpPr>
        <p:spPr>
          <a:xfrm>
            <a:off x="6163056" y="932688"/>
            <a:ext cx="859536" cy="512064"/>
          </a:xfrm>
          <a:prstGeom prst="roundRect">
            <a:avLst>
              <a:gd name="adj" fmla="val 8929"/>
            </a:avLst>
          </a:prstGeom>
          <a:solidFill>
            <a:srgbClr val="0F6E56"/>
          </a:solidFill>
          <a:ln w="12700">
            <a:solidFill>
              <a:srgbClr val="0F6E56"/>
            </a:solidFill>
            <a:prstDash val="solid"/>
          </a:ln>
        </p:spPr>
      </p:sp>
      <p:sp>
        <p:nvSpPr>
          <p:cNvPr id="24" name="Text 22"/>
          <p:cNvSpPr/>
          <p:nvPr/>
        </p:nvSpPr>
        <p:spPr>
          <a:xfrm>
            <a:off x="6163056" y="932688"/>
            <a:ext cx="859536" cy="512064"/>
          </a:xfrm>
          <a:prstGeom prst="rect">
            <a:avLst/>
          </a:prstGeom>
          <a:noFill/>
          <a:ln/>
        </p:spPr>
        <p:txBody>
          <a:bodyPr wrap="square" lIns="25400" tIns="25400" rIns="25400" bIns="25400" rtlCol="0" anchor="ctr"/>
          <a:lstStyle/>
          <a:p>
            <a:pPr algn="ctr" indent="0" marL="0">
              <a:buNone/>
            </a:pPr>
            <a:r>
              <a:rPr lang="en-US" sz="850" b="1" dirty="0">
                <a:solidFill>
                  <a:srgbClr val="FFFFFF"/>
                </a:solidFill>
              </a:rPr>
              <a:t>Residual+</a:t>
            </a:r>
            <a:endParaRPr lang="en-US" sz="850" dirty="0"/>
          </a:p>
          <a:p>
            <a:pPr algn="ctr" indent="0" marL="0">
              <a:buNone/>
            </a:pPr>
            <a:r>
              <a:rPr lang="en-US" sz="850" b="1" dirty="0">
                <a:solidFill>
                  <a:srgbClr val="FFFFFF"/>
                </a:solidFill>
              </a:rPr>
              <a:t>LayerNorm</a:t>
            </a:r>
            <a:endParaRPr lang="en-US" sz="850" dirty="0"/>
          </a:p>
        </p:txBody>
      </p:sp>
      <p:sp>
        <p:nvSpPr>
          <p:cNvPr id="25" name="Shape 23"/>
          <p:cNvSpPr/>
          <p:nvPr/>
        </p:nvSpPr>
        <p:spPr>
          <a:xfrm>
            <a:off x="7022592" y="1188720"/>
            <a:ext cx="109728" cy="0"/>
          </a:xfrm>
          <a:prstGeom prst="line">
            <a:avLst/>
          </a:prstGeom>
          <a:noFill/>
          <a:ln w="12700">
            <a:solidFill>
              <a:srgbClr val="6B7280"/>
            </a:solidFill>
            <a:prstDash val="solid"/>
          </a:ln>
        </p:spPr>
      </p:sp>
      <p:sp>
        <p:nvSpPr>
          <p:cNvPr id="26" name="Shape 24"/>
          <p:cNvSpPr/>
          <p:nvPr/>
        </p:nvSpPr>
        <p:spPr>
          <a:xfrm>
            <a:off x="7132320" y="932688"/>
            <a:ext cx="859536" cy="512064"/>
          </a:xfrm>
          <a:prstGeom prst="roundRect">
            <a:avLst>
              <a:gd name="adj" fmla="val 8929"/>
            </a:avLst>
          </a:prstGeom>
          <a:solidFill>
            <a:srgbClr val="BA7517"/>
          </a:solidFill>
          <a:ln w="12700">
            <a:solidFill>
              <a:srgbClr val="BA7517"/>
            </a:solidFill>
            <a:prstDash val="solid"/>
          </a:ln>
        </p:spPr>
      </p:sp>
      <p:sp>
        <p:nvSpPr>
          <p:cNvPr id="27" name="Text 25"/>
          <p:cNvSpPr/>
          <p:nvPr/>
        </p:nvSpPr>
        <p:spPr>
          <a:xfrm>
            <a:off x="7132320" y="932688"/>
            <a:ext cx="859536" cy="512064"/>
          </a:xfrm>
          <a:prstGeom prst="rect">
            <a:avLst/>
          </a:prstGeom>
          <a:noFill/>
          <a:ln/>
        </p:spPr>
        <p:txBody>
          <a:bodyPr wrap="square" lIns="25400" tIns="25400" rIns="25400" bIns="25400" rtlCol="0" anchor="ctr"/>
          <a:lstStyle/>
          <a:p>
            <a:pPr algn="ctr" indent="0" marL="0">
              <a:buNone/>
            </a:pPr>
            <a:r>
              <a:rPr lang="en-US" sz="850" b="1" dirty="0">
                <a:solidFill>
                  <a:srgbClr val="FFFFFF"/>
                </a:solidFill>
              </a:rPr>
              <a:t>×N 層</a:t>
            </a:r>
            <a:endParaRPr lang="en-US" sz="850" dirty="0"/>
          </a:p>
        </p:txBody>
      </p:sp>
      <p:sp>
        <p:nvSpPr>
          <p:cNvPr id="28" name="Shape 26"/>
          <p:cNvSpPr/>
          <p:nvPr/>
        </p:nvSpPr>
        <p:spPr>
          <a:xfrm>
            <a:off x="7991856" y="1188720"/>
            <a:ext cx="109728" cy="0"/>
          </a:xfrm>
          <a:prstGeom prst="line">
            <a:avLst/>
          </a:prstGeom>
          <a:noFill/>
          <a:ln w="12700">
            <a:solidFill>
              <a:srgbClr val="6B7280"/>
            </a:solidFill>
            <a:prstDash val="solid"/>
          </a:ln>
        </p:spPr>
      </p:sp>
      <p:sp>
        <p:nvSpPr>
          <p:cNvPr id="29" name="Shape 27"/>
          <p:cNvSpPr/>
          <p:nvPr/>
        </p:nvSpPr>
        <p:spPr>
          <a:xfrm>
            <a:off x="8101584" y="932688"/>
            <a:ext cx="859536" cy="512064"/>
          </a:xfrm>
          <a:prstGeom prst="roundRect">
            <a:avLst>
              <a:gd name="adj" fmla="val 8929"/>
            </a:avLst>
          </a:prstGeom>
          <a:solidFill>
            <a:srgbClr val="0F6E56"/>
          </a:solidFill>
          <a:ln w="12700">
            <a:solidFill>
              <a:srgbClr val="0F6E56"/>
            </a:solidFill>
            <a:prstDash val="solid"/>
          </a:ln>
        </p:spPr>
      </p:sp>
      <p:sp>
        <p:nvSpPr>
          <p:cNvPr id="30" name="Text 28"/>
          <p:cNvSpPr/>
          <p:nvPr/>
        </p:nvSpPr>
        <p:spPr>
          <a:xfrm>
            <a:off x="8101584" y="932688"/>
            <a:ext cx="859536" cy="512064"/>
          </a:xfrm>
          <a:prstGeom prst="rect">
            <a:avLst/>
          </a:prstGeom>
          <a:noFill/>
          <a:ln/>
        </p:spPr>
        <p:txBody>
          <a:bodyPr wrap="square" lIns="25400" tIns="25400" rIns="25400" bIns="25400" rtlCol="0" anchor="ctr"/>
          <a:lstStyle/>
          <a:p>
            <a:pPr algn="ctr" indent="0" marL="0">
              <a:buNone/>
            </a:pPr>
            <a:r>
              <a:rPr lang="en-US" sz="850" b="1" dirty="0">
                <a:solidFill>
                  <a:srgbClr val="FFFFFF"/>
                </a:solidFill>
              </a:rPr>
              <a:t>次単語</a:t>
            </a:r>
            <a:endParaRPr lang="en-US" sz="850" dirty="0"/>
          </a:p>
          <a:p>
            <a:pPr algn="ctr" indent="0" marL="0">
              <a:buNone/>
            </a:pPr>
            <a:r>
              <a:rPr lang="en-US" sz="850" b="1" dirty="0">
                <a:solidFill>
                  <a:srgbClr val="FFFFFF"/>
                </a:solidFill>
              </a:rPr>
              <a:t>予測</a:t>
            </a:r>
            <a:endParaRPr lang="en-US" sz="850" dirty="0"/>
          </a:p>
        </p:txBody>
      </p:sp>
      <p:sp>
        <p:nvSpPr>
          <p:cNvPr id="31" name="Shape 29"/>
          <p:cNvSpPr/>
          <p:nvPr/>
        </p:nvSpPr>
        <p:spPr>
          <a:xfrm>
            <a:off x="347472" y="1591056"/>
            <a:ext cx="4133088" cy="1444752"/>
          </a:xfrm>
          <a:prstGeom prst="rect">
            <a:avLst/>
          </a:prstGeom>
          <a:solidFill>
            <a:srgbClr val="EEEDFE"/>
          </a:solidFill>
          <a:ln w="6350">
            <a:solidFill>
              <a:srgbClr val="534AB7"/>
            </a:solidFill>
            <a:prstDash val="solid"/>
          </a:ln>
        </p:spPr>
      </p:sp>
      <p:sp>
        <p:nvSpPr>
          <p:cNvPr id="32" name="Shape 30"/>
          <p:cNvSpPr/>
          <p:nvPr/>
        </p:nvSpPr>
        <p:spPr>
          <a:xfrm>
            <a:off x="347472" y="1591056"/>
            <a:ext cx="4133088" cy="36576"/>
          </a:xfrm>
          <a:prstGeom prst="rect">
            <a:avLst/>
          </a:prstGeom>
          <a:solidFill>
            <a:srgbClr val="534AB7"/>
          </a:solidFill>
          <a:ln w="12700">
            <a:solidFill>
              <a:srgbClr val="534AB7"/>
            </a:solidFill>
            <a:prstDash val="solid"/>
          </a:ln>
        </p:spPr>
      </p:sp>
      <p:sp>
        <p:nvSpPr>
          <p:cNvPr id="33" name="Text 31"/>
          <p:cNvSpPr/>
          <p:nvPr/>
        </p:nvSpPr>
        <p:spPr>
          <a:xfrm>
            <a:off x="457200" y="1682496"/>
            <a:ext cx="3913632" cy="347472"/>
          </a:xfrm>
          <a:prstGeom prst="rect">
            <a:avLst/>
          </a:prstGeom>
          <a:noFill/>
          <a:ln/>
        </p:spPr>
        <p:txBody>
          <a:bodyPr wrap="square" rtlCol="0" anchor="ctr"/>
          <a:lstStyle/>
          <a:p>
            <a:pPr indent="0" marL="0">
              <a:buNone/>
            </a:pPr>
            <a:r>
              <a:rPr lang="en-US" sz="1300" b="1" dirty="0">
                <a:solidFill>
                  <a:srgbClr val="534AB7"/>
                </a:solidFill>
              </a:rPr>
              <a:t>①  内積 = 連想検索</a:t>
            </a:r>
            <a:endParaRPr lang="en-US" sz="1300" dirty="0"/>
          </a:p>
        </p:txBody>
      </p:sp>
      <p:sp>
        <p:nvSpPr>
          <p:cNvPr id="34" name="Text 32"/>
          <p:cNvSpPr/>
          <p:nvPr/>
        </p:nvSpPr>
        <p:spPr>
          <a:xfrm>
            <a:off x="457200" y="2084832"/>
            <a:ext cx="3913632" cy="896112"/>
          </a:xfrm>
          <a:prstGeom prst="rect">
            <a:avLst/>
          </a:prstGeom>
          <a:noFill/>
          <a:ln/>
        </p:spPr>
        <p:txBody>
          <a:bodyPr wrap="square" rtlCol="0" anchor="ctr"/>
          <a:lstStyle/>
          <a:p>
            <a:pPr indent="0" marL="0">
              <a:buNone/>
            </a:pPr>
            <a:r>
              <a:rPr lang="en-US" sz="1100" dirty="0">
                <a:solidFill>
                  <a:srgbClr val="1F2937"/>
                </a:solidFill>
              </a:rPr>
              <a:t>Q と K の内積でベクトルDB検索と同じ原理。同じ文脈の情報が引き寄せられ、bank は文脈で意味が変わる。</a:t>
            </a:r>
            <a:endParaRPr lang="en-US" sz="1100" dirty="0"/>
          </a:p>
        </p:txBody>
      </p:sp>
      <p:sp>
        <p:nvSpPr>
          <p:cNvPr id="35" name="Shape 33"/>
          <p:cNvSpPr/>
          <p:nvPr/>
        </p:nvSpPr>
        <p:spPr>
          <a:xfrm>
            <a:off x="4700016" y="1591056"/>
            <a:ext cx="4133088" cy="1444752"/>
          </a:xfrm>
          <a:prstGeom prst="rect">
            <a:avLst/>
          </a:prstGeom>
          <a:solidFill>
            <a:srgbClr val="FAEEDA"/>
          </a:solidFill>
          <a:ln w="6350">
            <a:solidFill>
              <a:srgbClr val="BA7517"/>
            </a:solidFill>
            <a:prstDash val="solid"/>
          </a:ln>
        </p:spPr>
      </p:sp>
      <p:sp>
        <p:nvSpPr>
          <p:cNvPr id="36" name="Shape 34"/>
          <p:cNvSpPr/>
          <p:nvPr/>
        </p:nvSpPr>
        <p:spPr>
          <a:xfrm>
            <a:off x="4700016" y="1591056"/>
            <a:ext cx="4133088" cy="36576"/>
          </a:xfrm>
          <a:prstGeom prst="rect">
            <a:avLst/>
          </a:prstGeom>
          <a:solidFill>
            <a:srgbClr val="BA7517"/>
          </a:solidFill>
          <a:ln w="12700">
            <a:solidFill>
              <a:srgbClr val="BA7517"/>
            </a:solidFill>
            <a:prstDash val="solid"/>
          </a:ln>
        </p:spPr>
      </p:sp>
      <p:sp>
        <p:nvSpPr>
          <p:cNvPr id="37" name="Text 35"/>
          <p:cNvSpPr/>
          <p:nvPr/>
        </p:nvSpPr>
        <p:spPr>
          <a:xfrm>
            <a:off x="4809744" y="1682496"/>
            <a:ext cx="3913632" cy="347472"/>
          </a:xfrm>
          <a:prstGeom prst="rect">
            <a:avLst/>
          </a:prstGeom>
          <a:noFill/>
          <a:ln/>
        </p:spPr>
        <p:txBody>
          <a:bodyPr wrap="square" rtlCol="0" anchor="ctr"/>
          <a:lstStyle/>
          <a:p>
            <a:pPr indent="0" marL="0">
              <a:buNone/>
            </a:pPr>
            <a:r>
              <a:rPr lang="en-US" sz="1300" b="1" dirty="0">
                <a:solidFill>
                  <a:srgbClr val="BA7517"/>
                </a:solidFill>
              </a:rPr>
              <a:t>②  Softmax が注意を絞る</a:t>
            </a:r>
            <a:endParaRPr lang="en-US" sz="1300" dirty="0"/>
          </a:p>
        </p:txBody>
      </p:sp>
      <p:sp>
        <p:nvSpPr>
          <p:cNvPr id="38" name="Text 36"/>
          <p:cNvSpPr/>
          <p:nvPr/>
        </p:nvSpPr>
        <p:spPr>
          <a:xfrm>
            <a:off x="4809744" y="2084832"/>
            <a:ext cx="3913632" cy="896112"/>
          </a:xfrm>
          <a:prstGeom prst="rect">
            <a:avLst/>
          </a:prstGeom>
          <a:noFill/>
          <a:ln/>
        </p:spPr>
        <p:txBody>
          <a:bodyPr wrap="square" rtlCol="0" anchor="ctr"/>
          <a:lstStyle/>
          <a:p>
            <a:pPr indent="0" marL="0">
              <a:buNone/>
            </a:pPr>
            <a:r>
              <a:rPr lang="en-US" sz="1100" dirty="0">
                <a:solidFill>
                  <a:srgbClr val="1F2937"/>
                </a:solidFill>
              </a:rPr>
              <a:t>指数関数が差を強調し重要トークンが注意を独占。√dₖ で飽和を防ぐ。重要な関係の強調に特化。</a:t>
            </a:r>
            <a:endParaRPr lang="en-US" sz="1100" dirty="0"/>
          </a:p>
        </p:txBody>
      </p:sp>
      <p:sp>
        <p:nvSpPr>
          <p:cNvPr id="39" name="Shape 37"/>
          <p:cNvSpPr/>
          <p:nvPr/>
        </p:nvSpPr>
        <p:spPr>
          <a:xfrm>
            <a:off x="347472" y="3163824"/>
            <a:ext cx="4133088" cy="1444752"/>
          </a:xfrm>
          <a:prstGeom prst="rect">
            <a:avLst/>
          </a:prstGeom>
          <a:solidFill>
            <a:srgbClr val="FAECE7"/>
          </a:solidFill>
          <a:ln w="6350">
            <a:solidFill>
              <a:srgbClr val="D85A30"/>
            </a:solidFill>
            <a:prstDash val="solid"/>
          </a:ln>
        </p:spPr>
      </p:sp>
      <p:sp>
        <p:nvSpPr>
          <p:cNvPr id="40" name="Shape 38"/>
          <p:cNvSpPr/>
          <p:nvPr/>
        </p:nvSpPr>
        <p:spPr>
          <a:xfrm>
            <a:off x="347472" y="3163824"/>
            <a:ext cx="4133088" cy="36576"/>
          </a:xfrm>
          <a:prstGeom prst="rect">
            <a:avLst/>
          </a:prstGeom>
          <a:solidFill>
            <a:srgbClr val="D85A30"/>
          </a:solidFill>
          <a:ln w="12700">
            <a:solidFill>
              <a:srgbClr val="D85A30"/>
            </a:solidFill>
            <a:prstDash val="solid"/>
          </a:ln>
        </p:spPr>
      </p:sp>
      <p:sp>
        <p:nvSpPr>
          <p:cNvPr id="41" name="Text 39"/>
          <p:cNvSpPr/>
          <p:nvPr/>
        </p:nvSpPr>
        <p:spPr>
          <a:xfrm>
            <a:off x="457200" y="3255264"/>
            <a:ext cx="3913632" cy="347472"/>
          </a:xfrm>
          <a:prstGeom prst="rect">
            <a:avLst/>
          </a:prstGeom>
          <a:noFill/>
          <a:ln/>
        </p:spPr>
        <p:txBody>
          <a:bodyPr wrap="square" rtlCol="0" anchor="ctr"/>
          <a:lstStyle/>
          <a:p>
            <a:pPr indent="0" marL="0">
              <a:buNone/>
            </a:pPr>
            <a:r>
              <a:rPr lang="en-US" sz="1300" b="1" dirty="0">
                <a:solidFill>
                  <a:srgbClr val="D85A30"/>
                </a:solidFill>
              </a:rPr>
              <a:t>③  抽象化 = 4要素の連携</a:t>
            </a:r>
            <a:endParaRPr lang="en-US" sz="1300" dirty="0"/>
          </a:p>
        </p:txBody>
      </p:sp>
      <p:sp>
        <p:nvSpPr>
          <p:cNvPr id="42" name="Text 40"/>
          <p:cNvSpPr/>
          <p:nvPr/>
        </p:nvSpPr>
        <p:spPr>
          <a:xfrm>
            <a:off x="457200" y="3657600"/>
            <a:ext cx="3913632" cy="896112"/>
          </a:xfrm>
          <a:prstGeom prst="rect">
            <a:avLst/>
          </a:prstGeom>
          <a:noFill/>
          <a:ln/>
        </p:spPr>
        <p:txBody>
          <a:bodyPr wrap="square" rtlCol="0" anchor="ctr"/>
          <a:lstStyle/>
          <a:p>
            <a:pPr indent="0" marL="0">
              <a:buNone/>
            </a:pPr>
            <a:r>
              <a:rPr lang="en-US" sz="1100" dirty="0">
                <a:solidFill>
                  <a:srgbClr val="1F2937"/>
                </a:solidFill>
              </a:rPr>
              <a:t>Multi-Head Attention＋FFN＋Residual＋深さが組み合わさって抽象化が生まれる。Softmax 単独ではない。</a:t>
            </a:r>
            <a:endParaRPr lang="en-US" sz="1100" dirty="0"/>
          </a:p>
        </p:txBody>
      </p:sp>
      <p:sp>
        <p:nvSpPr>
          <p:cNvPr id="43" name="Shape 41"/>
          <p:cNvSpPr/>
          <p:nvPr/>
        </p:nvSpPr>
        <p:spPr>
          <a:xfrm>
            <a:off x="4700016" y="3163824"/>
            <a:ext cx="4133088" cy="1444752"/>
          </a:xfrm>
          <a:prstGeom prst="rect">
            <a:avLst/>
          </a:prstGeom>
          <a:solidFill>
            <a:srgbClr val="E1F5EE"/>
          </a:solidFill>
          <a:ln w="6350">
            <a:solidFill>
              <a:srgbClr val="0F6E56"/>
            </a:solidFill>
            <a:prstDash val="solid"/>
          </a:ln>
        </p:spPr>
      </p:sp>
      <p:sp>
        <p:nvSpPr>
          <p:cNvPr id="44" name="Shape 42"/>
          <p:cNvSpPr/>
          <p:nvPr/>
        </p:nvSpPr>
        <p:spPr>
          <a:xfrm>
            <a:off x="4700016" y="3163824"/>
            <a:ext cx="4133088" cy="36576"/>
          </a:xfrm>
          <a:prstGeom prst="rect">
            <a:avLst/>
          </a:prstGeom>
          <a:solidFill>
            <a:srgbClr val="0F6E56"/>
          </a:solidFill>
          <a:ln w="12700">
            <a:solidFill>
              <a:srgbClr val="0F6E56"/>
            </a:solidFill>
            <a:prstDash val="solid"/>
          </a:ln>
        </p:spPr>
      </p:sp>
      <p:sp>
        <p:nvSpPr>
          <p:cNvPr id="45" name="Text 43"/>
          <p:cNvSpPr/>
          <p:nvPr/>
        </p:nvSpPr>
        <p:spPr>
          <a:xfrm>
            <a:off x="4809744" y="3255264"/>
            <a:ext cx="3913632" cy="347472"/>
          </a:xfrm>
          <a:prstGeom prst="rect">
            <a:avLst/>
          </a:prstGeom>
          <a:noFill/>
          <a:ln/>
        </p:spPr>
        <p:txBody>
          <a:bodyPr wrap="square" rtlCol="0" anchor="ctr"/>
          <a:lstStyle/>
          <a:p>
            <a:pPr indent="0" marL="0">
              <a:buNone/>
            </a:pPr>
            <a:r>
              <a:rPr lang="en-US" sz="1300" b="1" dirty="0">
                <a:solidFill>
                  <a:srgbClr val="0F6E56"/>
                </a:solidFill>
              </a:rPr>
              <a:t>④  推論の本質は模倣</a:t>
            </a:r>
            <a:endParaRPr lang="en-US" sz="1300" dirty="0"/>
          </a:p>
        </p:txBody>
      </p:sp>
      <p:sp>
        <p:nvSpPr>
          <p:cNvPr id="46" name="Text 44"/>
          <p:cNvSpPr/>
          <p:nvPr/>
        </p:nvSpPr>
        <p:spPr>
          <a:xfrm>
            <a:off x="4809744" y="3657600"/>
            <a:ext cx="3913632" cy="896112"/>
          </a:xfrm>
          <a:prstGeom prst="rect">
            <a:avLst/>
          </a:prstGeom>
          <a:noFill/>
          <a:ln/>
        </p:spPr>
        <p:txBody>
          <a:bodyPr wrap="square" rtlCol="0" anchor="ctr"/>
          <a:lstStyle/>
          <a:p>
            <a:pPr indent="0" marL="0">
              <a:buNone/>
            </a:pPr>
            <a:r>
              <a:rPr lang="en-US" sz="1100" dirty="0">
                <a:solidFill>
                  <a:srgbClr val="1F2937"/>
                </a:solidFill>
              </a:rPr>
              <a:t>「知識の保有」でなく「関係性パターンの圧縮」。「考える」でなく「思考軌道の模倣」。全重みが逆伝播で同時最適化。</a:t>
            </a:r>
            <a:endParaRPr lang="en-US" sz="1100" dirty="0"/>
          </a:p>
        </p:txBody>
      </p:sp>
      <p:sp>
        <p:nvSpPr>
          <p:cNvPr id="47" name="Shape 45"/>
          <p:cNvSpPr/>
          <p:nvPr/>
        </p:nvSpPr>
        <p:spPr>
          <a:xfrm>
            <a:off x="347472" y="4754880"/>
            <a:ext cx="8430768" cy="347472"/>
          </a:xfrm>
          <a:prstGeom prst="roundRect">
            <a:avLst>
              <a:gd name="adj" fmla="val 10526"/>
            </a:avLst>
          </a:prstGeom>
          <a:solidFill>
            <a:srgbClr val="1A1A2E"/>
          </a:solidFill>
          <a:ln w="6350">
            <a:solidFill>
              <a:srgbClr val="534AB7"/>
            </a:solidFill>
            <a:prstDash val="solid"/>
          </a:ln>
        </p:spPr>
      </p:sp>
      <p:sp>
        <p:nvSpPr>
          <p:cNvPr id="48" name="Text 46"/>
          <p:cNvSpPr/>
          <p:nvPr/>
        </p:nvSpPr>
        <p:spPr>
          <a:xfrm>
            <a:off x="502920" y="4791456"/>
            <a:ext cx="8229600" cy="274320"/>
          </a:xfrm>
          <a:prstGeom prst="rect">
            <a:avLst/>
          </a:prstGeom>
          <a:noFill/>
          <a:ln/>
        </p:spPr>
        <p:txBody>
          <a:bodyPr wrap="square" rtlCol="0" anchor="ctr"/>
          <a:lstStyle/>
          <a:p>
            <a:pPr indent="0" marL="0">
              <a:buNone/>
            </a:pPr>
            <a:r>
              <a:rPr lang="en-US" sz="1050" dirty="0">
                <a:solidFill>
                  <a:srgbClr val="7080C0"/>
                </a:solidFill>
              </a:rPr>
              <a:t xml:space="preserve">次のトピック：  </a:t>
            </a:r>
            <a:pPr indent="0" marL="0">
              <a:buNone/>
            </a:pPr>
            <a:r>
              <a:rPr lang="en-US" sz="1050" b="1" dirty="0">
                <a:solidFill>
                  <a:srgbClr val="534AB7"/>
                </a:solidFill>
              </a:rPr>
              <a:t>Chain of Thought　In-Context Learning　RLHF / GRPO　Reasoning Model　MoE　KV Cache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Transformerはなぜ推論できるのか？ v4</dc:title>
  <dc:subject>PptxGenJS Presentation</dc:subject>
  <dc:creator>PptxGenJS</dc:creator>
  <cp:lastModifiedBy>PptxGenJS</cp:lastModifiedBy>
  <cp:revision>1</cp:revision>
  <dcterms:created xsi:type="dcterms:W3CDTF">2026-06-02T23:53:47Z</dcterms:created>
  <dcterms:modified xsi:type="dcterms:W3CDTF">2026-06-02T23:53:47Z</dcterms:modified>
</cp:coreProperties>
</file>