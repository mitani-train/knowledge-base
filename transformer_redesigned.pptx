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200400"/>
            <a:ext cx="3200400" cy="3200400"/>
          </a:xfrm>
          <a:prstGeom prst="ellipse">
            <a:avLst/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0"/>
            <a:ext cx="2286000" cy="2286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Transformerは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なぜ推論できるのか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640080" cy="640080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00507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862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今日の問い：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「次の単語を当てる」ことしか学習していないのに、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なぜ考えているように見える振る舞いが生まれるのか？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全体像：入力から出力まで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入力文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256032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20116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011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内部処理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変換の繰り返し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89320" y="256032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0116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次の単語の確率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" y="38404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この「内部処理」の箱の中身を、これから1つずつ開けていきます。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Tokenizer：文章を単位に分ける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コンピュータは文字をそのまま理解できません。まず文章を「トークン」という単位に分割します。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21040" y="594360"/>
            <a:ext cx="475488" cy="475488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658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057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" y="246888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468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rained, so she took the umbrella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297680" y="3154680"/>
            <a:ext cx="548640" cy="365760"/>
          </a:xfrm>
          <a:prstGeom prst="down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トークン列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004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27000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7000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21996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1996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16992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6992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11988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988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06984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6984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01980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980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96976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6976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91972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1972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umbrella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Embedding：意味空間は学習で生まれる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各トークンIDはEmbeddingベクトルに変換されます。学習を繰り返すと意味が近い単語ほど自然に近づきます。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3566160" cy="3474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学習前：ランダムな配置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queen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2971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apple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41605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prince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7947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banana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77640" y="3291840"/>
            <a:ext cx="640080" cy="45720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8404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（次単語予測を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何度も繰り返す）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57800" y="1965960"/>
            <a:ext cx="3566160" cy="3474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学習後：意味が近い単語が集まる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2606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queen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king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prince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2606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apple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banana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it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" y="56235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「意味 = 位置」は最初から与えられているのではなく、学習の結果として作られます。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Q・K・V：Embeddingを3つの見方に変換する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同じEmbeddingベクトルを3種類の重み行列（WQ・WK・WV）で変換すると、3つの特徴が得られます。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011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Embeddingベクトル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280160" y="2743200"/>
            <a:ext cx="457200" cy="4114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WQ で変換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「何を知りたいか」＝質問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06240" y="2743200"/>
            <a:ext cx="457200" cy="4114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で変換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77640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83280" y="4251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「自分は何を提供できるか」＝見出し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32320" y="2743200"/>
            <a:ext cx="457200" cy="4114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WV で変換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03720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4251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「実際の中身」＝情報そのもの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55321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同じ「bank」という単語でも、Q・K・Vとしては異なるベクトルになります。この後のAttentionでは、あるQが全単語のKと比較されます。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Attention：全単語が全単語を見る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すべての単語のQが、全単語のKと「内積（似ている度合いの計算）」で比較されます。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\ K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508760" y="19659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697480" y="19659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886200" y="19659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走る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508760" y="26060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697480" y="26060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886200" y="26060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508760" y="3246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2697480" y="3246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3886200" y="3246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20040" y="388620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走る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1508760" y="388620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8FC1CE"/>
          </a:solidFill>
          <a:ln w="12700">
            <a:solidFill>
              <a:srgbClr val="8FC1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0876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2697480" y="388620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8FC1CE"/>
          </a:solidFill>
          <a:ln w="12700">
            <a:solidFill>
              <a:srgbClr val="8FC1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3886200" y="388620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8FC1CE"/>
          </a:solidFill>
          <a:ln w="12700">
            <a:solidFill>
              <a:srgbClr val="8FC1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5212080" y="3977640"/>
            <a:ext cx="457200" cy="32004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3566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Softmax（行を正規化）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合計 = 100%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669280" y="4800600"/>
            <a:ext cx="3108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4983480"/>
            <a:ext cx="1005840" cy="2743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09560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0" y="5349240"/>
            <a:ext cx="640080" cy="274320"/>
          </a:xfrm>
          <a:prstGeom prst="rect">
            <a:avLst/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公園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43800" y="5349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58000" y="5715000"/>
            <a:ext cx="182880" cy="274320"/>
          </a:xfrm>
          <a:prstGeom prst="rect">
            <a:avLst/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5715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走る（自身）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86600" y="5715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全単語のQが全単語のKと比較される＝Self-Attention。これがAttention MatrixやMulti-Head Attentionの土台になります。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Multi-Head：QKV生成から複数系統を並列実行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各Headが異なる重み（WQ・WK・WV）を持つため、注目する箇所が異なり、違った特徴を生み出します。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542032"/>
            <a:ext cx="457200" cy="32004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260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QKV生成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(WQ¹・WK¹・WV¹)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43000" y="3730752"/>
            <a:ext cx="457200" cy="27432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0690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160520" y="2542032"/>
            <a:ext cx="457200" cy="32004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9260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QKV生成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(WQ²・WK²・WV²)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160520" y="3730752"/>
            <a:ext cx="457200" cy="27432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40690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178040" y="2542032"/>
            <a:ext cx="457200" cy="32004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9260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QKV生成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(WQ³・WK³・WV³)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178040" y="3730752"/>
            <a:ext cx="457200" cy="27432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0690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188720" y="4690872"/>
            <a:ext cx="457200" cy="27432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4690872"/>
            <a:ext cx="457200" cy="27432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4690872"/>
            <a:ext cx="457200" cy="27432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502920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50292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Concat（結合）　→　Linear（線形変換）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320040" y="57150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重みが異なるからこそHeadごとに注目する箇所が変わります。この役割分担は学習の結果として自然に生まれます。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Block：MultiHead と FFN を1つにまとめる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→ Residual → LayerNorm → FFN → Residual → LayerNorm で Block が完成。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8288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の出力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07408" y="2322576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523744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52374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＋Residual（元の情報を残しつつ足す）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07408" y="3017520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21868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21868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LayerNorm（数値のばらつきを整えて安定）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07408" y="3712464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3913632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91363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07408" y="4407408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4608576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60857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＋Residual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407408" y="5102352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530352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5303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62362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「層」とは、このTransformer BlockをN回積み重ねたものです。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FFN：次元を広げて重要な特徴を強調する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Attentionが文脈情報を「集める」処理なら、FFNは情報を広げ絞り込むことで抽象的な意味表現を作ります。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0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768次元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元のベクトル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35124" y="26974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6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6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3072次元に拡張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特徴を細かく分離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21124" y="26974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2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2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重要な特徴を強調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活性化関数＋線形変換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07124" y="26974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8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8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768次元に圧縮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抽象化された意味表現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320040" cy="25603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77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重要な特徴（強調）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3977640"/>
            <a:ext cx="320040" cy="256032"/>
          </a:xfrm>
          <a:prstGeom prst="rect">
            <a:avLst/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977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重要でない特徴（弱める）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" y="44348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例：「bank」の特徴も、周囲に "river" があれば「川岸」、"money" があれば「銀行」の特徴が強調され、具体的な意味に仕上がります。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層を重ねると何が起きるか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「層」とは、Transformer BlockをN回積み重ねたものです。Blockを繰り返すたびに情報はより抽象的になります。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抽象度が上がる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457200" cy="3200400"/>
          </a:xfrm>
          <a:prstGeom prst="up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46888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4688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高層　文章全体の意図・文脈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554480" y="36576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65760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中層　文法・構造の把握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54480" y="484632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8463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低層　単語そのものの意味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次単語予測：出力の正体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最終層の情報をもとに、語彙の中の各単語が「次に来る確率」を計算します。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umbrella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5029200" cy="5029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97480" y="2971800"/>
            <a:ext cx="1460090" cy="502920"/>
          </a:xfrm>
          <a:prstGeom prst="rect">
            <a:avLst/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9010" y="28803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749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97480" y="3840480"/>
            <a:ext cx="730045" cy="502920"/>
          </a:xfrm>
          <a:prstGeom prst="rect">
            <a:avLst/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8965" y="37490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617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697480" y="4709160"/>
            <a:ext cx="274320" cy="502920"/>
          </a:xfrm>
          <a:prstGeom prst="rect">
            <a:avLst/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46177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697480" y="5577840"/>
            <a:ext cx="274320" cy="502920"/>
          </a:xfrm>
          <a:prstGeom prst="rect">
            <a:avLst/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54864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自己教師あり学習：ラベル不要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人手でラベルを付ける必要がありません。文章そのものの「次の単語」が正解になるからです。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21040" y="594360"/>
            <a:ext cx="475488" cy="475488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658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48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" y="257860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5786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rained, so she took the ______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297680" y="3310128"/>
            <a:ext cx="548640" cy="365760"/>
          </a:xfrm>
          <a:prstGeom prst="down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7947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0040" y="422452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 ＝ "umbrella"（文章内にすでにある）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0040" y="50749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膨大な文章データをそのまま学習に使える。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学習の仕組み：ズレを減らし続ける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予測と正解のズレを測り、そのズレを減らす方向にモデル内部の数値を少しずつ調整します。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21040" y="594360"/>
            <a:ext cx="475488" cy="475488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658368"/>
            <a:ext cx="347472" cy="347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予測する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71800" y="24688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正解とのズレを測る（Loss）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126480" y="24688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ズレを減らす方向に調整する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686800" y="2103120"/>
            <a:ext cx="182880" cy="182880"/>
          </a:xfrm>
          <a:prstGeom prst="bent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これを何億回も繰り返す＝学習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657600" y="4206240"/>
            <a:ext cx="1828800" cy="1828800"/>
          </a:xfrm>
          <a:prstGeom prst="ellipse">
            <a:avLst/>
          </a:prstGeom>
          <a:solidFill>
            <a:srgbClr val="EEF3FB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0" y="46634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核心テーマ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なぜ推論できるのか 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「次の単語を当てる」ことは、実はとても難しい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正しく当てるには、単なる文法だけでなく…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文脈の流れ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登場人物の関係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常識・世界知識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論理的な整合性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を理解する必要があります。単なる丸暗記では、多様な文脈すべてに対応できません。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核心テーマ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なぜ推論できるのか 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推論的な振る舞いは「副産物」として生まれる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Transformerは「推論する方法」を学習したわけではありません。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次単語予測の精度を上げ続ける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3410712"/>
            <a:ext cx="548640" cy="365760"/>
          </a:xfrm>
          <a:prstGeom prst="down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文法理解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4612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常識・世界知識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論理的整合性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97680" y="4645152"/>
            <a:ext cx="548640" cy="365760"/>
          </a:xfrm>
          <a:prstGeom prst="down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516636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1336" y="5239512"/>
            <a:ext cx="475488" cy="4754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5212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推論的な振る舞い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学習と推論の違い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EEF3FB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691640"/>
            <a:ext cx="1280160" cy="1280160"/>
          </a:xfrm>
          <a:prstGeom prst="ellipse">
            <a:avLst/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1837944"/>
            <a:ext cx="987552" cy="987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学習（Training）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パラメータを作る作業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一度きり（学習フェーズ）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予測とズレを繰り返し比較し、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7200" y="5029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内部の数値を調整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37760" y="141732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691640"/>
            <a:ext cx="1280160" cy="1280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837944"/>
            <a:ext cx="987552" cy="9875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推論（Inference）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02920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完成したパラメータを使う作業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50292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何度でも繰り返し利用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502920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次単語予測を1つずつ実行し、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5029200" y="5029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応答を生成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-169164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169164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6172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4228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4228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69564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7620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7620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（文脈収集）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62956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1012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1012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層を重ね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抽象化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56348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4404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04404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273572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290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正確な予測のために言語や常識の構造を内部に取り込んだ結果、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推論のような振る舞いが生まれる。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023360" y="5166360"/>
            <a:ext cx="1097280" cy="10972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5321808"/>
            <a:ext cx="786384" cy="7863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2026-08-25T00:07:27Z</dcterms:created>
  <dcterms:modified xsi:type="dcterms:W3CDTF">2026-08-25T00:07:27Z</dcterms:modified>
</cp:coreProperties>
</file>